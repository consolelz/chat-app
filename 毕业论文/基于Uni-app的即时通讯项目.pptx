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4F7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1.png"/><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0" Type="http://schemas.openxmlformats.org/officeDocument/2006/relationships/notesSlide" Target="../notesSlides/notesSlide8.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33.jpeg"/><Relationship Id="rId1" Type="http://schemas.openxmlformats.org/officeDocument/2006/relationships/image" Target="../media/image32.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xml"/><Relationship Id="rId4" Type="http://schemas.openxmlformats.org/officeDocument/2006/relationships/image" Target="../media/image37.jpeg"/><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38.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40.jpeg"/><Relationship Id="rId1" Type="http://schemas.openxmlformats.org/officeDocument/2006/relationships/image" Target="../media/image39.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42.jpeg"/><Relationship Id="rId1" Type="http://schemas.openxmlformats.org/officeDocument/2006/relationships/image" Target="../media/image41.pn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xml"/><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4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48.png"/></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56.png"/><Relationship Id="rId7" Type="http://schemas.openxmlformats.org/officeDocument/2006/relationships/image" Target="../media/image55.png"/><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3" Type="http://schemas.openxmlformats.org/officeDocument/2006/relationships/image" Target="../media/image51.png"/><Relationship Id="rId2" Type="http://schemas.openxmlformats.org/officeDocument/2006/relationships/image" Target="../media/image50.png"/><Relationship Id="rId10" Type="http://schemas.openxmlformats.org/officeDocument/2006/relationships/notesSlide" Target="../notesSlides/notesSlide21.xml"/><Relationship Id="rId1" Type="http://schemas.openxmlformats.org/officeDocument/2006/relationships/image" Target="../media/image4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57.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58.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1.xml"/><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59.pn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1.xml"/><Relationship Id="rId4" Type="http://schemas.openxmlformats.org/officeDocument/2006/relationships/image" Target="../media/image65.png"/><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image" Target="../media/image62.pn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1.xml"/><Relationship Id="rId4" Type="http://schemas.openxmlformats.org/officeDocument/2006/relationships/image" Target="../media/image69.png"/><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image" Target="../media/image6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70.png"/></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1.xml"/><Relationship Id="rId4" Type="http://schemas.openxmlformats.org/officeDocument/2006/relationships/image" Target="../media/image74.png"/><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image" Target="../media/image71.png"/></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slideLayout" Target="../slideLayouts/slideLayout1.xml"/><Relationship Id="rId4" Type="http://schemas.openxmlformats.org/officeDocument/2006/relationships/image" Target="../media/image78.png"/><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image" Target="../media/image75.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xml"/><Relationship Id="rId2" Type="http://schemas.openxmlformats.org/officeDocument/2006/relationships/image" Target="../media/image80.png"/><Relationship Id="rId1" Type="http://schemas.openxmlformats.org/officeDocument/2006/relationships/image" Target="../media/image79.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832765" y="1813914"/>
            <a:ext cx="3277287" cy="484632"/>
          </a:xfrm>
          <a:prstGeom prst="rect">
            <a:avLst/>
          </a:prstGeom>
          <a:noFill/>
        </p:spPr>
        <p:txBody>
          <a:bodyPr wrap="square" lIns="95250" tIns="95250" rIns="95250" bIns="95250" rtlCol="0" anchor="t"/>
          <a:lstStyle/>
          <a:p>
            <a:pPr marL="0" indent="0" algn="ctr">
              <a:lnSpc>
                <a:spcPct val="113000"/>
              </a:lnSpc>
              <a:spcBef>
                <a:spcPts val="375"/>
              </a:spcBef>
              <a:buNone/>
            </a:pPr>
            <a:r>
              <a:rPr lang="en-US" sz="1585" b="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设计与实现跨平台应用</a:t>
            </a:r>
            <a:endParaRPr lang="en-US" sz="1440" dirty="0"/>
          </a:p>
        </p:txBody>
      </p:sp>
      <p:sp>
        <p:nvSpPr>
          <p:cNvPr id="3" name="Text 1"/>
          <p:cNvSpPr/>
          <p:nvPr/>
        </p:nvSpPr>
        <p:spPr>
          <a:xfrm>
            <a:off x="80645" y="972820"/>
            <a:ext cx="8983345" cy="841375"/>
          </a:xfrm>
          <a:prstGeom prst="rect">
            <a:avLst/>
          </a:prstGeom>
          <a:noFill/>
        </p:spPr>
        <p:txBody>
          <a:bodyPr wrap="square" lIns="95250" tIns="95250" rIns="95250" bIns="95250" rtlCol="0" anchor="t"/>
          <a:lstStyle/>
          <a:p>
            <a:pPr marL="0" indent="0" algn="ctr">
              <a:lnSpc>
                <a:spcPct val="113000"/>
              </a:lnSpc>
              <a:spcBef>
                <a:spcPts val="375"/>
              </a:spcBef>
              <a:buNone/>
            </a:pPr>
            <a:r>
              <a:rPr lang="en-US" sz="3455" b="1" kern="0" spc="144"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基于Uni-app即时通讯项目</a:t>
            </a:r>
            <a:r>
              <a:rPr lang="zh-CN" altLang="en-US" sz="3455" b="1" kern="0" spc="144"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的设计与</a:t>
            </a:r>
            <a:r>
              <a:rPr lang="zh-CN" altLang="en-US" sz="3455" b="1" kern="0" spc="144"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实现</a:t>
            </a:r>
            <a:endParaRPr lang="zh-CN" altLang="en-US" sz="3455" b="1" kern="0" spc="144"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Text 2"/>
          <p:cNvSpPr/>
          <p:nvPr/>
        </p:nvSpPr>
        <p:spPr>
          <a:xfrm>
            <a:off x="3445241" y="2493054"/>
            <a:ext cx="2051588" cy="457200"/>
          </a:xfrm>
          <a:prstGeom prst="rect">
            <a:avLst/>
          </a:prstGeom>
          <a:noFill/>
        </p:spPr>
        <p:txBody>
          <a:bodyPr wrap="square" lIns="95250" tIns="95250" rIns="95250" bIns="95250" rtlCol="0" anchor="t"/>
          <a:lstStyle/>
          <a:p>
            <a:pPr marL="0" indent="0" algn="ctr">
              <a:lnSpc>
                <a:spcPct val="113000"/>
              </a:lnSpc>
              <a:spcBef>
                <a:spcPts val="375"/>
              </a:spcBef>
              <a:buNone/>
            </a:pPr>
            <a:r>
              <a:rPr lang="en-US" sz="1295"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汇报人</a:t>
            </a:r>
            <a:r>
              <a:rPr lang="en-US" sz="1295" dirty="0">
                <a:solidFill>
                  <a:srgbClr val="FFFFFF"/>
                </a:solidFill>
                <a:latin typeface="Arial" panose="020B0604020202020204" pitchFamily="34" charset="0"/>
                <a:ea typeface="Arial" panose="020B0604020202020204" pitchFamily="34" charset="-122"/>
                <a:cs typeface="Arial" panose="020B0604020202020204" pitchFamily="34" charset="-120"/>
              </a:rPr>
              <a:t>:</a:t>
            </a:r>
            <a:r>
              <a:rPr lang="en-US" sz="1295"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 </a:t>
            </a:r>
            <a:r>
              <a:rPr lang="zh-CN" altLang="en-US" sz="1295"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刘哲</a:t>
            </a:r>
            <a:endParaRPr lang="zh-CN" altLang="en-US" sz="1295"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786792" y="576488"/>
            <a:ext cx="4313208" cy="1088136"/>
          </a:xfrm>
          <a:prstGeom prst="rect">
            <a:avLst/>
          </a:prstGeom>
          <a:noFill/>
        </p:spPr>
        <p:txBody>
          <a:bodyPr wrap="square" lIns="95250" tIns="95250" rIns="95250" bIns="95250" rtlCol="0" anchor="t"/>
          <a:lstStyle/>
          <a:p>
            <a:pPr marL="0" indent="0">
              <a:lnSpc>
                <a:spcPct val="113000"/>
              </a:lnSpc>
              <a:spcBef>
                <a:spcPts val="375"/>
              </a:spcBef>
              <a:buNone/>
            </a:pPr>
            <a:r>
              <a:rPr lang="en-US" sz="4750" b="1" dirty="0">
                <a:solidFill>
                  <a:srgbClr val="3D4D83">
                    <a:alpha val="10000"/>
                  </a:srgbClr>
                </a:solidFill>
                <a:latin typeface="微软雅黑" panose="020B0503020204020204" pitchFamily="34" charset="-122"/>
                <a:ea typeface="微软雅黑" panose="020B0503020204020204" pitchFamily="34" charset="-122"/>
                <a:cs typeface="微软雅黑" panose="020B0503020204020204" pitchFamily="34" charset="-120"/>
              </a:rPr>
              <a:t>CONTENT</a:t>
            </a:r>
            <a:endParaRPr lang="en-US" sz="1440" dirty="0"/>
          </a:p>
        </p:txBody>
      </p:sp>
      <p:sp>
        <p:nvSpPr>
          <p:cNvPr id="3" name="Text 1"/>
          <p:cNvSpPr/>
          <p:nvPr/>
        </p:nvSpPr>
        <p:spPr>
          <a:xfrm>
            <a:off x="3494077" y="837104"/>
            <a:ext cx="1675953" cy="731520"/>
          </a:xfrm>
          <a:prstGeom prst="rect">
            <a:avLst/>
          </a:prstGeom>
          <a:noFill/>
        </p:spPr>
        <p:txBody>
          <a:bodyPr wrap="square" lIns="95250" tIns="95250" rIns="95250" bIns="95250" rtlCol="0" anchor="t"/>
          <a:lstStyle/>
          <a:p>
            <a:pPr marL="0" indent="0" algn="ctr">
              <a:lnSpc>
                <a:spcPct val="113000"/>
              </a:lnSpc>
              <a:spcBef>
                <a:spcPts val="375"/>
              </a:spcBef>
              <a:buNone/>
            </a:pPr>
            <a:r>
              <a:rPr lang="en-US" sz="2880" b="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目录</a:t>
            </a:r>
            <a:endParaRPr lang="en-US" sz="1440" dirty="0"/>
          </a:p>
        </p:txBody>
      </p:sp>
      <p:sp>
        <p:nvSpPr>
          <p:cNvPr id="4" name="Text 2"/>
          <p:cNvSpPr/>
          <p:nvPr/>
        </p:nvSpPr>
        <p:spPr>
          <a:xfrm>
            <a:off x="1520202" y="1810315"/>
            <a:ext cx="3236976" cy="512064"/>
          </a:xfrm>
          <a:prstGeom prst="rect">
            <a:avLst/>
          </a:prstGeom>
          <a:noFill/>
        </p:spPr>
        <p:txBody>
          <a:bodyPr wrap="square" lIns="95250" tIns="95250" rIns="95250" bIns="95250" rtlCol="0" anchor="t"/>
          <a:lstStyle/>
          <a:p>
            <a:pPr marL="0" indent="0">
              <a:lnSpc>
                <a:spcPct val="113000"/>
              </a:lnSpc>
              <a:spcBef>
                <a:spcPts val="375"/>
              </a:spcBef>
              <a:buNone/>
            </a:pPr>
            <a:r>
              <a:rPr lang="en-US" sz="17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项目背景与意义</a:t>
            </a:r>
            <a:endParaRPr lang="en-US" sz="1440" dirty="0"/>
          </a:p>
        </p:txBody>
      </p:sp>
      <p:sp>
        <p:nvSpPr>
          <p:cNvPr id="5" name="Text 3"/>
          <p:cNvSpPr/>
          <p:nvPr/>
        </p:nvSpPr>
        <p:spPr>
          <a:xfrm>
            <a:off x="966844" y="1764595"/>
            <a:ext cx="713232" cy="621792"/>
          </a:xfrm>
          <a:prstGeom prst="rect">
            <a:avLst/>
          </a:prstGeom>
          <a:noFill/>
        </p:spPr>
        <p:txBody>
          <a:bodyPr wrap="square" lIns="95250" tIns="95250" rIns="95250" bIns="95250" rtlCol="0" anchor="t"/>
          <a:lstStyle/>
          <a:p>
            <a:pPr marL="0" indent="0">
              <a:lnSpc>
                <a:spcPct val="113000"/>
              </a:lnSpc>
              <a:spcBef>
                <a:spcPts val="375"/>
              </a:spcBef>
              <a:buNone/>
            </a:pPr>
            <a:r>
              <a:rPr lang="en-US" sz="230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6" name="Text 4"/>
          <p:cNvSpPr/>
          <p:nvPr/>
        </p:nvSpPr>
        <p:spPr>
          <a:xfrm>
            <a:off x="5334968" y="1810315"/>
            <a:ext cx="3236855" cy="512064"/>
          </a:xfrm>
          <a:prstGeom prst="rect">
            <a:avLst/>
          </a:prstGeom>
          <a:noFill/>
        </p:spPr>
        <p:txBody>
          <a:bodyPr wrap="square" lIns="95250" tIns="95250" rIns="95250" bIns="95250" rtlCol="0" anchor="t"/>
          <a:lstStyle/>
          <a:p>
            <a:pPr marL="0" indent="0">
              <a:lnSpc>
                <a:spcPct val="113000"/>
              </a:lnSpc>
              <a:spcBef>
                <a:spcPts val="375"/>
              </a:spcBef>
              <a:buNone/>
            </a:pPr>
            <a:r>
              <a:rPr lang="en-US" sz="17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技术框架与环境</a:t>
            </a:r>
            <a:endParaRPr lang="en-US" sz="1440" dirty="0"/>
          </a:p>
        </p:txBody>
      </p:sp>
      <p:sp>
        <p:nvSpPr>
          <p:cNvPr id="7" name="Text 5"/>
          <p:cNvSpPr/>
          <p:nvPr/>
        </p:nvSpPr>
        <p:spPr>
          <a:xfrm>
            <a:off x="4781610" y="1764595"/>
            <a:ext cx="713232" cy="621792"/>
          </a:xfrm>
          <a:prstGeom prst="rect">
            <a:avLst/>
          </a:prstGeom>
          <a:noFill/>
        </p:spPr>
        <p:txBody>
          <a:bodyPr wrap="square" lIns="95250" tIns="95250" rIns="95250" bIns="95250" rtlCol="0" anchor="t"/>
          <a:lstStyle/>
          <a:p>
            <a:pPr marL="0" indent="0">
              <a:lnSpc>
                <a:spcPct val="113000"/>
              </a:lnSpc>
              <a:spcBef>
                <a:spcPts val="375"/>
              </a:spcBef>
              <a:buNone/>
            </a:pPr>
            <a:r>
              <a:rPr lang="en-US" sz="230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8" name="Text 6"/>
          <p:cNvSpPr/>
          <p:nvPr/>
        </p:nvSpPr>
        <p:spPr>
          <a:xfrm>
            <a:off x="1520354" y="2438812"/>
            <a:ext cx="3236976" cy="512064"/>
          </a:xfrm>
          <a:prstGeom prst="rect">
            <a:avLst/>
          </a:prstGeom>
          <a:noFill/>
        </p:spPr>
        <p:txBody>
          <a:bodyPr wrap="square" lIns="95250" tIns="95250" rIns="95250" bIns="95250" rtlCol="0" anchor="t"/>
          <a:lstStyle/>
          <a:p>
            <a:pPr marL="0" indent="0">
              <a:lnSpc>
                <a:spcPct val="113000"/>
              </a:lnSpc>
              <a:spcBef>
                <a:spcPts val="375"/>
              </a:spcBef>
              <a:buNone/>
            </a:pPr>
            <a:r>
              <a:rPr lang="en-US" sz="17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系统设计与实现</a:t>
            </a:r>
            <a:endParaRPr lang="en-US" sz="1440" dirty="0"/>
          </a:p>
        </p:txBody>
      </p:sp>
      <p:sp>
        <p:nvSpPr>
          <p:cNvPr id="9" name="Text 7"/>
          <p:cNvSpPr/>
          <p:nvPr/>
        </p:nvSpPr>
        <p:spPr>
          <a:xfrm>
            <a:off x="966996" y="2393092"/>
            <a:ext cx="713232" cy="621792"/>
          </a:xfrm>
          <a:prstGeom prst="rect">
            <a:avLst/>
          </a:prstGeom>
          <a:noFill/>
        </p:spPr>
        <p:txBody>
          <a:bodyPr wrap="square" lIns="95250" tIns="95250" rIns="95250" bIns="95250" rtlCol="0" anchor="t"/>
          <a:lstStyle/>
          <a:p>
            <a:pPr marL="0" indent="0">
              <a:lnSpc>
                <a:spcPct val="113000"/>
              </a:lnSpc>
              <a:spcBef>
                <a:spcPts val="375"/>
              </a:spcBef>
              <a:buNone/>
            </a:pPr>
            <a:r>
              <a:rPr lang="en-US" sz="230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10" name="Text 8"/>
          <p:cNvSpPr/>
          <p:nvPr/>
        </p:nvSpPr>
        <p:spPr>
          <a:xfrm>
            <a:off x="5334846" y="2438812"/>
            <a:ext cx="3236976" cy="512064"/>
          </a:xfrm>
          <a:prstGeom prst="rect">
            <a:avLst/>
          </a:prstGeom>
          <a:noFill/>
        </p:spPr>
        <p:txBody>
          <a:bodyPr wrap="square" lIns="95250" tIns="95250" rIns="95250" bIns="95250" rtlCol="0" anchor="t"/>
          <a:lstStyle/>
          <a:p>
            <a:pPr marL="0" indent="0">
              <a:lnSpc>
                <a:spcPct val="113000"/>
              </a:lnSpc>
              <a:spcBef>
                <a:spcPts val="375"/>
              </a:spcBef>
              <a:buNone/>
            </a:pPr>
            <a:r>
              <a:rPr lang="en-US" sz="17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实时通讯技术</a:t>
            </a:r>
            <a:endParaRPr lang="en-US" sz="1440" dirty="0"/>
          </a:p>
        </p:txBody>
      </p:sp>
      <p:sp>
        <p:nvSpPr>
          <p:cNvPr id="11" name="Text 9"/>
          <p:cNvSpPr/>
          <p:nvPr/>
        </p:nvSpPr>
        <p:spPr>
          <a:xfrm>
            <a:off x="4781488" y="2393092"/>
            <a:ext cx="713232" cy="621792"/>
          </a:xfrm>
          <a:prstGeom prst="rect">
            <a:avLst/>
          </a:prstGeom>
          <a:noFill/>
        </p:spPr>
        <p:txBody>
          <a:bodyPr wrap="square" lIns="95250" tIns="95250" rIns="95250" bIns="95250" rtlCol="0" anchor="t"/>
          <a:lstStyle/>
          <a:p>
            <a:pPr marL="0" indent="0">
              <a:lnSpc>
                <a:spcPct val="113000"/>
              </a:lnSpc>
              <a:spcBef>
                <a:spcPts val="375"/>
              </a:spcBef>
              <a:buNone/>
            </a:pPr>
            <a:r>
              <a:rPr lang="en-US" sz="230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1440" dirty="0"/>
          </a:p>
        </p:txBody>
      </p:sp>
      <p:sp>
        <p:nvSpPr>
          <p:cNvPr id="12" name="Text 10"/>
          <p:cNvSpPr/>
          <p:nvPr/>
        </p:nvSpPr>
        <p:spPr>
          <a:xfrm>
            <a:off x="1520281" y="3067310"/>
            <a:ext cx="3236976" cy="512064"/>
          </a:xfrm>
          <a:prstGeom prst="rect">
            <a:avLst/>
          </a:prstGeom>
          <a:noFill/>
        </p:spPr>
        <p:txBody>
          <a:bodyPr wrap="square" lIns="95250" tIns="95250" rIns="95250" bIns="95250" rtlCol="0" anchor="t"/>
          <a:lstStyle/>
          <a:p>
            <a:pPr marL="0" indent="0">
              <a:lnSpc>
                <a:spcPct val="113000"/>
              </a:lnSpc>
              <a:spcBef>
                <a:spcPts val="375"/>
              </a:spcBef>
              <a:buNone/>
            </a:pPr>
            <a:r>
              <a:rPr lang="en-US" sz="17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测试与质量保证</a:t>
            </a:r>
            <a:endParaRPr lang="en-US" sz="1440" dirty="0"/>
          </a:p>
        </p:txBody>
      </p:sp>
      <p:sp>
        <p:nvSpPr>
          <p:cNvPr id="13" name="Text 11"/>
          <p:cNvSpPr/>
          <p:nvPr/>
        </p:nvSpPr>
        <p:spPr>
          <a:xfrm>
            <a:off x="966924" y="3021590"/>
            <a:ext cx="713232" cy="621792"/>
          </a:xfrm>
          <a:prstGeom prst="rect">
            <a:avLst/>
          </a:prstGeom>
          <a:noFill/>
        </p:spPr>
        <p:txBody>
          <a:bodyPr wrap="square" lIns="95250" tIns="95250" rIns="95250" bIns="95250" rtlCol="0" anchor="t"/>
          <a:lstStyle/>
          <a:p>
            <a:pPr marL="0" indent="0">
              <a:lnSpc>
                <a:spcPct val="113000"/>
              </a:lnSpc>
              <a:spcBef>
                <a:spcPts val="375"/>
              </a:spcBef>
              <a:buNone/>
            </a:pPr>
            <a:r>
              <a:rPr lang="en-US" sz="230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05</a:t>
            </a:r>
            <a:endParaRPr lang="en-US" sz="1440" dirty="0"/>
          </a:p>
        </p:txBody>
      </p:sp>
      <p:sp>
        <p:nvSpPr>
          <p:cNvPr id="14" name="Text 12"/>
          <p:cNvSpPr/>
          <p:nvPr/>
        </p:nvSpPr>
        <p:spPr>
          <a:xfrm>
            <a:off x="5334846" y="3067310"/>
            <a:ext cx="3236976" cy="512064"/>
          </a:xfrm>
          <a:prstGeom prst="rect">
            <a:avLst/>
          </a:prstGeom>
          <a:noFill/>
        </p:spPr>
        <p:txBody>
          <a:bodyPr wrap="square" lIns="95250" tIns="95250" rIns="95250" bIns="95250" rtlCol="0" anchor="t"/>
          <a:lstStyle/>
          <a:p>
            <a:pPr marL="0" indent="0">
              <a:lnSpc>
                <a:spcPct val="113000"/>
              </a:lnSpc>
              <a:spcBef>
                <a:spcPts val="375"/>
              </a:spcBef>
              <a:buNone/>
            </a:pPr>
            <a:r>
              <a:rPr lang="en-US" sz="17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市场现状与趋势</a:t>
            </a:r>
            <a:endParaRPr lang="en-US" sz="1440" dirty="0"/>
          </a:p>
        </p:txBody>
      </p:sp>
      <p:sp>
        <p:nvSpPr>
          <p:cNvPr id="15" name="Text 13"/>
          <p:cNvSpPr/>
          <p:nvPr/>
        </p:nvSpPr>
        <p:spPr>
          <a:xfrm>
            <a:off x="4781488" y="3021590"/>
            <a:ext cx="713232" cy="621792"/>
          </a:xfrm>
          <a:prstGeom prst="rect">
            <a:avLst/>
          </a:prstGeom>
          <a:noFill/>
        </p:spPr>
        <p:txBody>
          <a:bodyPr wrap="square" lIns="95250" tIns="95250" rIns="95250" bIns="95250" rtlCol="0" anchor="t"/>
          <a:lstStyle/>
          <a:p>
            <a:pPr marL="0" indent="0">
              <a:lnSpc>
                <a:spcPct val="113000"/>
              </a:lnSpc>
              <a:spcBef>
                <a:spcPts val="375"/>
              </a:spcBef>
              <a:buNone/>
            </a:pPr>
            <a:r>
              <a:rPr lang="en-US" sz="230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06</a:t>
            </a:r>
            <a:endParaRPr lang="en-US" sz="1440" dirty="0"/>
          </a:p>
        </p:txBody>
      </p:sp>
      <p:sp>
        <p:nvSpPr>
          <p:cNvPr id="16" name="Text 14"/>
          <p:cNvSpPr/>
          <p:nvPr/>
        </p:nvSpPr>
        <p:spPr>
          <a:xfrm>
            <a:off x="1520091" y="3695808"/>
            <a:ext cx="3236976" cy="512064"/>
          </a:xfrm>
          <a:prstGeom prst="rect">
            <a:avLst/>
          </a:prstGeom>
          <a:noFill/>
        </p:spPr>
        <p:txBody>
          <a:bodyPr wrap="square" lIns="95250" tIns="95250" rIns="95250" bIns="95250" rtlCol="0" anchor="t"/>
          <a:lstStyle/>
          <a:p>
            <a:pPr marL="0" indent="0">
              <a:lnSpc>
                <a:spcPct val="113000"/>
              </a:lnSpc>
              <a:spcBef>
                <a:spcPts val="375"/>
              </a:spcBef>
              <a:buNone/>
            </a:pPr>
            <a:r>
              <a:rPr lang="en-US" sz="17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项目成果与展望</a:t>
            </a:r>
            <a:endParaRPr lang="en-US" sz="1440" dirty="0"/>
          </a:p>
        </p:txBody>
      </p:sp>
      <p:sp>
        <p:nvSpPr>
          <p:cNvPr id="17" name="Text 15"/>
          <p:cNvSpPr/>
          <p:nvPr/>
        </p:nvSpPr>
        <p:spPr>
          <a:xfrm>
            <a:off x="966733" y="3650088"/>
            <a:ext cx="713232" cy="621792"/>
          </a:xfrm>
          <a:prstGeom prst="rect">
            <a:avLst/>
          </a:prstGeom>
          <a:noFill/>
        </p:spPr>
        <p:txBody>
          <a:bodyPr wrap="square" lIns="95250" tIns="95250" rIns="95250" bIns="95250" rtlCol="0" anchor="t"/>
          <a:lstStyle/>
          <a:p>
            <a:pPr marL="0" indent="0">
              <a:lnSpc>
                <a:spcPct val="113000"/>
              </a:lnSpc>
              <a:spcBef>
                <a:spcPts val="375"/>
              </a:spcBef>
              <a:buNone/>
            </a:pPr>
            <a:r>
              <a:rPr lang="en-US" sz="230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07</a:t>
            </a:r>
            <a:endParaRPr lang="en-US" sz="14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91482" y="2114883"/>
            <a:ext cx="1085027" cy="731520"/>
          </a:xfrm>
          <a:prstGeom prst="rect">
            <a:avLst/>
          </a:prstGeom>
          <a:noFill/>
        </p:spPr>
        <p:txBody>
          <a:bodyPr wrap="square" lIns="95250" tIns="95250" rIns="95250" bIns="95250" rtlCol="0" anchor="t"/>
          <a:lstStyle/>
          <a:p>
            <a:pPr marL="0" indent="0" algn="ctr">
              <a:lnSpc>
                <a:spcPct val="100000"/>
              </a:lnSpc>
              <a:spcBef>
                <a:spcPts val="375"/>
              </a:spcBef>
              <a:buNone/>
            </a:pPr>
            <a:r>
              <a:rPr lang="en-US" sz="4320" b="1" dirty="0">
                <a:solidFill>
                  <a:srgbClr val="2E3E74"/>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3" name="Text 1"/>
          <p:cNvSpPr/>
          <p:nvPr/>
        </p:nvSpPr>
        <p:spPr>
          <a:xfrm>
            <a:off x="1376509" y="2114883"/>
            <a:ext cx="7241265" cy="731520"/>
          </a:xfrm>
          <a:prstGeom prst="rect">
            <a:avLst/>
          </a:prstGeom>
          <a:noFill/>
        </p:spPr>
        <p:txBody>
          <a:bodyPr wrap="square" lIns="95250" tIns="95250" rIns="95250" bIns="95250" rtlCol="0" anchor="t"/>
          <a:lstStyle/>
          <a:p>
            <a:pPr marL="0" indent="0">
              <a:lnSpc>
                <a:spcPct val="113000"/>
              </a:lnSpc>
              <a:spcBef>
                <a:spcPts val="375"/>
              </a:spcBef>
              <a:buNone/>
            </a:pPr>
            <a:r>
              <a:rPr lang="en-US" sz="288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项目背景与意义</a:t>
            </a:r>
            <a:endParaRPr lang="en-US" sz="14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p:spPr>
        <p:txBody>
          <a:bodyPr wrap="square" lIns="95250" tIns="95250" rIns="95250" bIns="95250" rtlCol="0" anchor="t"/>
          <a:lstStyle/>
          <a:p>
            <a:pPr marL="0" indent="0">
              <a:lnSpc>
                <a:spcPct val="113000"/>
              </a:lnSpc>
              <a:spcBef>
                <a:spcPts val="375"/>
              </a:spcBef>
              <a:buNone/>
            </a:pPr>
            <a:r>
              <a:rPr lang="en-US" sz="259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移动互联网发展需求</a:t>
            </a:r>
            <a:endParaRPr lang="en-US" sz="1440" dirty="0"/>
          </a:p>
        </p:txBody>
      </p:sp>
      <p:pic>
        <p:nvPicPr>
          <p:cNvPr id="3" name="Image 0" descr="preencoded.png"/>
          <p:cNvPicPr>
            <a:picLocks noChangeAspect="1"/>
          </p:cNvPicPr>
          <p:nvPr/>
        </p:nvPicPr>
        <p:blipFill>
          <a:blip r:embed="rId2"/>
          <a:stretch>
            <a:fillRect/>
          </a:stretch>
        </p:blipFill>
        <p:spPr>
          <a:xfrm>
            <a:off x="293270" y="1548323"/>
            <a:ext cx="2910748" cy="523935"/>
          </a:xfrm>
          <a:prstGeom prst="rect">
            <a:avLst/>
          </a:prstGeom>
        </p:spPr>
      </p:pic>
      <p:sp>
        <p:nvSpPr>
          <p:cNvPr id="4" name="Shape 1"/>
          <p:cNvSpPr/>
          <p:nvPr/>
        </p:nvSpPr>
        <p:spPr>
          <a:xfrm>
            <a:off x="465745" y="1311452"/>
            <a:ext cx="426472" cy="426472"/>
          </a:xfrm>
          <a:custGeom>
            <a:avLst/>
            <a:gdLst/>
            <a:ahLst/>
            <a:cxnLst/>
            <a:rect l="l" t="t" r="r" b="b"/>
            <a:pathLst>
              <a:path w="426472" h="426472">
                <a:moveTo>
                  <a:pt x="213236" y="0"/>
                </a:moveTo>
                <a:moveTo>
                  <a:pt x="213236" y="0"/>
                </a:moveTo>
                <a:cubicBezTo>
                  <a:pt x="330924" y="0"/>
                  <a:pt x="426472" y="95548"/>
                  <a:pt x="426472" y="213236"/>
                </a:cubicBezTo>
                <a:cubicBezTo>
                  <a:pt x="426472" y="330924"/>
                  <a:pt x="330924" y="426472"/>
                  <a:pt x="213236" y="426472"/>
                </a:cubicBezTo>
                <a:cubicBezTo>
                  <a:pt x="95548" y="426472"/>
                  <a:pt x="0" y="330924"/>
                  <a:pt x="0" y="213236"/>
                </a:cubicBezTo>
                <a:cubicBezTo>
                  <a:pt x="0" y="95548"/>
                  <a:pt x="95548" y="0"/>
                  <a:pt x="213236" y="0"/>
                </a:cubicBezTo>
                <a:close/>
              </a:path>
            </a:pathLst>
          </a:custGeom>
          <a:solidFill>
            <a:srgbClr val="3D4D83"/>
          </a:solidFill>
          <a:ln w="38100">
            <a:solidFill>
              <a:srgbClr val="F4F7FF"/>
            </a:solidFill>
            <a:prstDash val="solid"/>
          </a:ln>
        </p:spPr>
      </p:sp>
      <p:sp>
        <p:nvSpPr>
          <p:cNvPr id="5" name="Text 2"/>
          <p:cNvSpPr/>
          <p:nvPr/>
        </p:nvSpPr>
        <p:spPr>
          <a:xfrm>
            <a:off x="290535" y="1282372"/>
            <a:ext cx="776892" cy="484632"/>
          </a:xfrm>
          <a:prstGeom prst="rect">
            <a:avLst/>
          </a:prstGeom>
          <a:noFill/>
        </p:spPr>
        <p:txBody>
          <a:bodyPr wrap="square" lIns="95250" tIns="95250" rIns="95250" bIns="95250" rtlCol="0" anchor="ctr">
            <a:spAutoFit/>
          </a:bodyPr>
          <a:lstStyle/>
          <a:p>
            <a:pPr marL="0" indent="0" algn="ctr">
              <a:lnSpc>
                <a:spcPct val="113000"/>
              </a:lnSpc>
              <a:spcBef>
                <a:spcPts val="375"/>
              </a:spcBef>
              <a:buNone/>
            </a:pPr>
            <a:r>
              <a:rPr lang="en-US" sz="1585"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pic>
        <p:nvPicPr>
          <p:cNvPr id="6" name="Image 1" descr="preencoded.png"/>
          <p:cNvPicPr>
            <a:picLocks noChangeAspect="1"/>
          </p:cNvPicPr>
          <p:nvPr/>
        </p:nvPicPr>
        <p:blipFill>
          <a:blip r:embed="rId3"/>
          <a:stretch>
            <a:fillRect/>
          </a:stretch>
        </p:blipFill>
        <p:spPr>
          <a:xfrm>
            <a:off x="3116626" y="1548323"/>
            <a:ext cx="2910748" cy="523935"/>
          </a:xfrm>
          <a:prstGeom prst="rect">
            <a:avLst/>
          </a:prstGeom>
        </p:spPr>
      </p:pic>
      <p:sp>
        <p:nvSpPr>
          <p:cNvPr id="7" name="Shape 3"/>
          <p:cNvSpPr/>
          <p:nvPr/>
        </p:nvSpPr>
        <p:spPr>
          <a:xfrm>
            <a:off x="3289101" y="1311452"/>
            <a:ext cx="426472" cy="426472"/>
          </a:xfrm>
          <a:custGeom>
            <a:avLst/>
            <a:gdLst/>
            <a:ahLst/>
            <a:cxnLst/>
            <a:rect l="l" t="t" r="r" b="b"/>
            <a:pathLst>
              <a:path w="426472" h="426472">
                <a:moveTo>
                  <a:pt x="213236" y="0"/>
                </a:moveTo>
                <a:moveTo>
                  <a:pt x="213236" y="0"/>
                </a:moveTo>
                <a:cubicBezTo>
                  <a:pt x="330924" y="0"/>
                  <a:pt x="426472" y="95548"/>
                  <a:pt x="426472" y="213236"/>
                </a:cubicBezTo>
                <a:cubicBezTo>
                  <a:pt x="426472" y="330924"/>
                  <a:pt x="330924" y="426472"/>
                  <a:pt x="213236" y="426472"/>
                </a:cubicBezTo>
                <a:cubicBezTo>
                  <a:pt x="95548" y="426472"/>
                  <a:pt x="0" y="330924"/>
                  <a:pt x="0" y="213236"/>
                </a:cubicBezTo>
                <a:cubicBezTo>
                  <a:pt x="0" y="95548"/>
                  <a:pt x="95548" y="0"/>
                  <a:pt x="213236" y="0"/>
                </a:cubicBezTo>
                <a:close/>
              </a:path>
            </a:pathLst>
          </a:custGeom>
          <a:solidFill>
            <a:srgbClr val="949BF0"/>
          </a:solidFill>
          <a:ln w="38100">
            <a:solidFill>
              <a:srgbClr val="F4F7FF"/>
            </a:solidFill>
            <a:prstDash val="solid"/>
          </a:ln>
        </p:spPr>
      </p:sp>
      <p:sp>
        <p:nvSpPr>
          <p:cNvPr id="8" name="Text 4"/>
          <p:cNvSpPr/>
          <p:nvPr/>
        </p:nvSpPr>
        <p:spPr>
          <a:xfrm>
            <a:off x="3107455" y="1282372"/>
            <a:ext cx="776892" cy="484632"/>
          </a:xfrm>
          <a:prstGeom prst="rect">
            <a:avLst/>
          </a:prstGeom>
          <a:noFill/>
        </p:spPr>
        <p:txBody>
          <a:bodyPr wrap="square" lIns="95250" tIns="95250" rIns="95250" bIns="95250" rtlCol="0" anchor="ctr">
            <a:spAutoFit/>
          </a:bodyPr>
          <a:lstStyle/>
          <a:p>
            <a:pPr marL="0" indent="0" algn="ctr">
              <a:lnSpc>
                <a:spcPct val="113000"/>
              </a:lnSpc>
              <a:spcBef>
                <a:spcPts val="375"/>
              </a:spcBef>
              <a:buNone/>
            </a:pPr>
            <a:r>
              <a:rPr lang="en-US" sz="1585"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pic>
        <p:nvPicPr>
          <p:cNvPr id="9" name="Image 2" descr="preencoded.png"/>
          <p:cNvPicPr>
            <a:picLocks noChangeAspect="1"/>
          </p:cNvPicPr>
          <p:nvPr/>
        </p:nvPicPr>
        <p:blipFill>
          <a:blip r:embed="rId2"/>
          <a:stretch>
            <a:fillRect/>
          </a:stretch>
        </p:blipFill>
        <p:spPr>
          <a:xfrm>
            <a:off x="5939982" y="1548323"/>
            <a:ext cx="2910748" cy="523935"/>
          </a:xfrm>
          <a:prstGeom prst="rect">
            <a:avLst/>
          </a:prstGeom>
        </p:spPr>
      </p:pic>
      <p:sp>
        <p:nvSpPr>
          <p:cNvPr id="10" name="Shape 5"/>
          <p:cNvSpPr/>
          <p:nvPr/>
        </p:nvSpPr>
        <p:spPr>
          <a:xfrm>
            <a:off x="6112457" y="1311452"/>
            <a:ext cx="426472" cy="426472"/>
          </a:xfrm>
          <a:custGeom>
            <a:avLst/>
            <a:gdLst/>
            <a:ahLst/>
            <a:cxnLst/>
            <a:rect l="l" t="t" r="r" b="b"/>
            <a:pathLst>
              <a:path w="426472" h="426472">
                <a:moveTo>
                  <a:pt x="213236" y="0"/>
                </a:moveTo>
                <a:moveTo>
                  <a:pt x="213236" y="0"/>
                </a:moveTo>
                <a:cubicBezTo>
                  <a:pt x="330924" y="0"/>
                  <a:pt x="426472" y="95548"/>
                  <a:pt x="426472" y="213236"/>
                </a:cubicBezTo>
                <a:cubicBezTo>
                  <a:pt x="426472" y="330924"/>
                  <a:pt x="330924" y="426472"/>
                  <a:pt x="213236" y="426472"/>
                </a:cubicBezTo>
                <a:cubicBezTo>
                  <a:pt x="95548" y="426472"/>
                  <a:pt x="0" y="330924"/>
                  <a:pt x="0" y="213236"/>
                </a:cubicBezTo>
                <a:cubicBezTo>
                  <a:pt x="0" y="95548"/>
                  <a:pt x="95548" y="0"/>
                  <a:pt x="213236" y="0"/>
                </a:cubicBezTo>
                <a:close/>
              </a:path>
            </a:pathLst>
          </a:custGeom>
          <a:solidFill>
            <a:srgbClr val="3D4D83"/>
          </a:solidFill>
          <a:ln w="38100">
            <a:solidFill>
              <a:srgbClr val="F4F7FF"/>
            </a:solidFill>
            <a:prstDash val="solid"/>
          </a:ln>
        </p:spPr>
      </p:sp>
      <p:sp>
        <p:nvSpPr>
          <p:cNvPr id="11" name="Text 6"/>
          <p:cNvSpPr/>
          <p:nvPr/>
        </p:nvSpPr>
        <p:spPr>
          <a:xfrm>
            <a:off x="5937247" y="1282372"/>
            <a:ext cx="776892" cy="484632"/>
          </a:xfrm>
          <a:prstGeom prst="rect">
            <a:avLst/>
          </a:prstGeom>
          <a:noFill/>
        </p:spPr>
        <p:txBody>
          <a:bodyPr wrap="square" lIns="95250" tIns="95250" rIns="95250" bIns="95250" rtlCol="0" anchor="ctr">
            <a:spAutoFit/>
          </a:bodyPr>
          <a:lstStyle/>
          <a:p>
            <a:pPr marL="0" indent="0" algn="ctr">
              <a:lnSpc>
                <a:spcPct val="113000"/>
              </a:lnSpc>
              <a:spcBef>
                <a:spcPts val="375"/>
              </a:spcBef>
              <a:buNone/>
            </a:pPr>
            <a:r>
              <a:rPr lang="en-US" sz="1585"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12" name="Text 7"/>
          <p:cNvSpPr/>
          <p:nvPr/>
        </p:nvSpPr>
        <p:spPr>
          <a:xfrm>
            <a:off x="894747" y="1539179"/>
            <a:ext cx="2116833" cy="523935"/>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跨平台兼容性需求</a:t>
            </a:r>
            <a:endParaRPr lang="en-US" sz="1440" dirty="0"/>
          </a:p>
        </p:txBody>
      </p:sp>
      <p:sp>
        <p:nvSpPr>
          <p:cNvPr id="13" name="Text 8"/>
          <p:cNvSpPr/>
          <p:nvPr/>
        </p:nvSpPr>
        <p:spPr>
          <a:xfrm>
            <a:off x="579933" y="2207480"/>
            <a:ext cx="2337423" cy="1207008"/>
          </a:xfrm>
          <a:prstGeom prst="rect">
            <a:avLst/>
          </a:prstGeom>
          <a:noFill/>
        </p:spPr>
        <p:txBody>
          <a:bodyPr wrap="square" lIns="95250" tIns="95250" rIns="95250" bIns="95250" rtlCol="0" anchor="t">
            <a:spAutoFit/>
          </a:bodyPr>
          <a:lstStyle/>
          <a:p>
            <a:pPr marL="0" indent="0">
              <a:lnSpc>
                <a:spcPct val="101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随着智能手机的普及，用户期望在不同设备和系统上无缝使用即时通讯应用。uni-app框架的出现，使得一次编写、多端运行成为可能，极大提高了开发效率。</a:t>
            </a:r>
            <a:endParaRPr lang="en-US" sz="1440" dirty="0"/>
          </a:p>
        </p:txBody>
      </p:sp>
      <p:sp>
        <p:nvSpPr>
          <p:cNvPr id="14" name="Text 9"/>
          <p:cNvSpPr/>
          <p:nvPr/>
        </p:nvSpPr>
        <p:spPr>
          <a:xfrm>
            <a:off x="3770719" y="1539179"/>
            <a:ext cx="2116833" cy="523935"/>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高效稳定的性能要求</a:t>
            </a:r>
            <a:endParaRPr lang="en-US" sz="1440" dirty="0"/>
          </a:p>
        </p:txBody>
      </p:sp>
      <p:sp>
        <p:nvSpPr>
          <p:cNvPr id="15" name="Text 10"/>
          <p:cNvSpPr/>
          <p:nvPr/>
        </p:nvSpPr>
        <p:spPr>
          <a:xfrm>
            <a:off x="3403289" y="2207480"/>
            <a:ext cx="2337423" cy="1207008"/>
          </a:xfrm>
          <a:prstGeom prst="rect">
            <a:avLst/>
          </a:prstGeom>
          <a:noFill/>
        </p:spPr>
        <p:txBody>
          <a:bodyPr wrap="square" lIns="95250" tIns="95250" rIns="95250" bIns="95250" rtlCol="0" anchor="t">
            <a:spAutoFit/>
          </a:bodyPr>
          <a:lstStyle/>
          <a:p>
            <a:pPr marL="0" indent="0">
              <a:lnSpc>
                <a:spcPct val="101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用户对即时通讯应用的要求日益多样化和个性化，不仅需要实现多种形式的信息交流，还希望应用具有高效稳定的性能，包括高效的信息传输、稳定的网络连接以及良好的用户体验。</a:t>
            </a:r>
            <a:endParaRPr lang="en-US" sz="1440" dirty="0"/>
          </a:p>
        </p:txBody>
      </p:sp>
      <p:sp>
        <p:nvSpPr>
          <p:cNvPr id="16" name="Text 11"/>
          <p:cNvSpPr/>
          <p:nvPr/>
        </p:nvSpPr>
        <p:spPr>
          <a:xfrm>
            <a:off x="6646690" y="1539179"/>
            <a:ext cx="2106699" cy="523935"/>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实时消息传输的重要性</a:t>
            </a:r>
            <a:endParaRPr lang="en-US" sz="1440" dirty="0"/>
          </a:p>
        </p:txBody>
      </p:sp>
      <p:sp>
        <p:nvSpPr>
          <p:cNvPr id="17" name="Text 12"/>
          <p:cNvSpPr/>
          <p:nvPr/>
        </p:nvSpPr>
        <p:spPr>
          <a:xfrm>
            <a:off x="6226645" y="2207480"/>
            <a:ext cx="2337423" cy="1207008"/>
          </a:xfrm>
          <a:prstGeom prst="rect">
            <a:avLst/>
          </a:prstGeom>
          <a:noFill/>
        </p:spPr>
        <p:txBody>
          <a:bodyPr wrap="square" lIns="95250" tIns="95250" rIns="95250" bIns="95250" rtlCol="0" anchor="t">
            <a:spAutoFit/>
          </a:bodyPr>
          <a:lstStyle/>
          <a:p>
            <a:pPr marL="0" indent="0">
              <a:lnSpc>
                <a:spcPct val="101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作为日常沟通交流的重要工具，即时通讯应用的核心功能是实现实时消息传输。采用WebSocket协议可以确保消息的实时性和稳定性，同时利用数据库存储聊天记录等数据。</a:t>
            </a:r>
            <a:endParaRPr lang="en-US" sz="14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p:spPr>
        <p:txBody>
          <a:bodyPr wrap="square" lIns="95250" tIns="95250" rIns="95250" bIns="95250" rtlCol="0" anchor="t"/>
          <a:lstStyle/>
          <a:p>
            <a:pPr marL="0" indent="0">
              <a:lnSpc>
                <a:spcPct val="113000"/>
              </a:lnSpc>
              <a:spcBef>
                <a:spcPts val="375"/>
              </a:spcBef>
              <a:buNone/>
            </a:pPr>
            <a:r>
              <a:rPr lang="en-US" sz="259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传统开发方式局限</a:t>
            </a:r>
            <a:endParaRPr lang="en-US" sz="1440" dirty="0"/>
          </a:p>
        </p:txBody>
      </p:sp>
      <p:pic>
        <p:nvPicPr>
          <p:cNvPr id="3" name="Image 0" descr="preencoded.png"/>
          <p:cNvPicPr>
            <a:picLocks noChangeAspect="1"/>
          </p:cNvPicPr>
          <p:nvPr/>
        </p:nvPicPr>
        <p:blipFill>
          <a:blip r:embed="rId2"/>
          <a:stretch>
            <a:fillRect/>
          </a:stretch>
        </p:blipFill>
        <p:spPr>
          <a:xfrm>
            <a:off x="2292401" y="1328506"/>
            <a:ext cx="6190318" cy="715773"/>
          </a:xfrm>
          <a:prstGeom prst="rect">
            <a:avLst/>
          </a:prstGeom>
        </p:spPr>
      </p:pic>
      <p:sp>
        <p:nvSpPr>
          <p:cNvPr id="4" name="Shape 1"/>
          <p:cNvSpPr/>
          <p:nvPr/>
        </p:nvSpPr>
        <p:spPr>
          <a:xfrm>
            <a:off x="7947616" y="1261402"/>
            <a:ext cx="849980" cy="849980"/>
          </a:xfrm>
          <a:custGeom>
            <a:avLst/>
            <a:gdLst/>
            <a:ahLst/>
            <a:cxnLst/>
            <a:rect l="l" t="t" r="r" b="b"/>
            <a:pathLst>
              <a:path w="849980" h="849980">
                <a:moveTo>
                  <a:pt x="424990" y="0"/>
                </a:moveTo>
                <a:moveTo>
                  <a:pt x="424990" y="0"/>
                </a:moveTo>
                <a:cubicBezTo>
                  <a:pt x="659549" y="0"/>
                  <a:pt x="849980" y="190432"/>
                  <a:pt x="849980" y="424990"/>
                </a:cubicBezTo>
                <a:cubicBezTo>
                  <a:pt x="849980" y="659549"/>
                  <a:pt x="659549" y="849980"/>
                  <a:pt x="424990" y="849980"/>
                </a:cubicBezTo>
                <a:cubicBezTo>
                  <a:pt x="190432" y="849980"/>
                  <a:pt x="0" y="659549"/>
                  <a:pt x="0" y="424990"/>
                </a:cubicBezTo>
                <a:cubicBezTo>
                  <a:pt x="0" y="190432"/>
                  <a:pt x="190432" y="0"/>
                  <a:pt x="424990" y="0"/>
                </a:cubicBezTo>
                <a:close/>
              </a:path>
            </a:pathLst>
          </a:custGeom>
          <a:solidFill>
            <a:srgbClr val="3D4D83"/>
          </a:solidFill>
        </p:spPr>
      </p:sp>
      <p:pic>
        <p:nvPicPr>
          <p:cNvPr id="5" name="Image 1" descr="preencoded.png"/>
          <p:cNvPicPr>
            <a:picLocks noChangeAspect="1"/>
          </p:cNvPicPr>
          <p:nvPr/>
        </p:nvPicPr>
        <p:blipFill>
          <a:blip r:embed="rId3"/>
          <a:stretch>
            <a:fillRect/>
          </a:stretch>
        </p:blipFill>
        <p:spPr>
          <a:xfrm>
            <a:off x="8156770" y="1470556"/>
            <a:ext cx="431673" cy="431673"/>
          </a:xfrm>
          <a:prstGeom prst="rect">
            <a:avLst/>
          </a:prstGeom>
        </p:spPr>
      </p:pic>
      <p:pic>
        <p:nvPicPr>
          <p:cNvPr id="6" name="Image 2" descr="preencoded.png"/>
          <p:cNvPicPr>
            <a:picLocks noChangeAspect="1"/>
          </p:cNvPicPr>
          <p:nvPr/>
        </p:nvPicPr>
        <p:blipFill>
          <a:blip r:embed="rId2"/>
          <a:stretch>
            <a:fillRect/>
          </a:stretch>
        </p:blipFill>
        <p:spPr>
          <a:xfrm>
            <a:off x="2292401" y="2465646"/>
            <a:ext cx="6190318" cy="715773"/>
          </a:xfrm>
          <a:prstGeom prst="rect">
            <a:avLst/>
          </a:prstGeom>
        </p:spPr>
      </p:pic>
      <p:sp>
        <p:nvSpPr>
          <p:cNvPr id="7" name="Shape 2"/>
          <p:cNvSpPr/>
          <p:nvPr/>
        </p:nvSpPr>
        <p:spPr>
          <a:xfrm>
            <a:off x="7947616" y="2398542"/>
            <a:ext cx="849980" cy="849980"/>
          </a:xfrm>
          <a:custGeom>
            <a:avLst/>
            <a:gdLst/>
            <a:ahLst/>
            <a:cxnLst/>
            <a:rect l="l" t="t" r="r" b="b"/>
            <a:pathLst>
              <a:path w="849980" h="849980">
                <a:moveTo>
                  <a:pt x="424990" y="0"/>
                </a:moveTo>
                <a:moveTo>
                  <a:pt x="424990" y="0"/>
                </a:moveTo>
                <a:cubicBezTo>
                  <a:pt x="659549" y="0"/>
                  <a:pt x="849980" y="190432"/>
                  <a:pt x="849980" y="424990"/>
                </a:cubicBezTo>
                <a:cubicBezTo>
                  <a:pt x="849980" y="659549"/>
                  <a:pt x="659549" y="849980"/>
                  <a:pt x="424990" y="849980"/>
                </a:cubicBezTo>
                <a:cubicBezTo>
                  <a:pt x="190432" y="849980"/>
                  <a:pt x="0" y="659549"/>
                  <a:pt x="0" y="424990"/>
                </a:cubicBezTo>
                <a:cubicBezTo>
                  <a:pt x="0" y="190432"/>
                  <a:pt x="190432" y="0"/>
                  <a:pt x="424990" y="0"/>
                </a:cubicBezTo>
                <a:close/>
              </a:path>
            </a:pathLst>
          </a:custGeom>
          <a:solidFill>
            <a:srgbClr val="3D4D83"/>
          </a:solidFill>
        </p:spPr>
      </p:sp>
      <p:pic>
        <p:nvPicPr>
          <p:cNvPr id="8" name="Image 3" descr="preencoded.png"/>
          <p:cNvPicPr>
            <a:picLocks noChangeAspect="1"/>
          </p:cNvPicPr>
          <p:nvPr/>
        </p:nvPicPr>
        <p:blipFill>
          <a:blip r:embed="rId2"/>
          <a:stretch>
            <a:fillRect/>
          </a:stretch>
        </p:blipFill>
        <p:spPr>
          <a:xfrm>
            <a:off x="2292401" y="3602785"/>
            <a:ext cx="6190318" cy="715773"/>
          </a:xfrm>
          <a:prstGeom prst="rect">
            <a:avLst/>
          </a:prstGeom>
        </p:spPr>
      </p:pic>
      <p:sp>
        <p:nvSpPr>
          <p:cNvPr id="9" name="Shape 3"/>
          <p:cNvSpPr/>
          <p:nvPr/>
        </p:nvSpPr>
        <p:spPr>
          <a:xfrm>
            <a:off x="7947616" y="3535681"/>
            <a:ext cx="849980" cy="849980"/>
          </a:xfrm>
          <a:custGeom>
            <a:avLst/>
            <a:gdLst/>
            <a:ahLst/>
            <a:cxnLst/>
            <a:rect l="l" t="t" r="r" b="b"/>
            <a:pathLst>
              <a:path w="849980" h="849980">
                <a:moveTo>
                  <a:pt x="424990" y="0"/>
                </a:moveTo>
                <a:moveTo>
                  <a:pt x="424990" y="0"/>
                </a:moveTo>
                <a:cubicBezTo>
                  <a:pt x="659549" y="0"/>
                  <a:pt x="849980" y="190432"/>
                  <a:pt x="849980" y="424990"/>
                </a:cubicBezTo>
                <a:cubicBezTo>
                  <a:pt x="849980" y="659549"/>
                  <a:pt x="659549" y="849980"/>
                  <a:pt x="424990" y="849980"/>
                </a:cubicBezTo>
                <a:cubicBezTo>
                  <a:pt x="190432" y="849980"/>
                  <a:pt x="0" y="659549"/>
                  <a:pt x="0" y="424990"/>
                </a:cubicBezTo>
                <a:cubicBezTo>
                  <a:pt x="0" y="190432"/>
                  <a:pt x="190432" y="0"/>
                  <a:pt x="424990" y="0"/>
                </a:cubicBezTo>
                <a:close/>
              </a:path>
            </a:pathLst>
          </a:custGeom>
          <a:solidFill>
            <a:srgbClr val="3D4D83"/>
          </a:solidFill>
        </p:spPr>
      </p:sp>
      <p:sp>
        <p:nvSpPr>
          <p:cNvPr id="10" name="Shape 4"/>
          <p:cNvSpPr/>
          <p:nvPr/>
        </p:nvSpPr>
        <p:spPr>
          <a:xfrm>
            <a:off x="2112529" y="948422"/>
            <a:ext cx="0" cy="3858464"/>
          </a:xfrm>
          <a:custGeom>
            <a:avLst/>
            <a:gdLst/>
            <a:ahLst/>
            <a:cxnLst/>
            <a:rect l="l" t="t" r="r" b="b"/>
            <a:pathLst>
              <a:path h="3858464">
                <a:moveTo>
                  <a:pt x="0" y="0"/>
                </a:moveTo>
                <a:moveTo>
                  <a:pt x="0" y="0"/>
                </a:moveTo>
                <a:lnTo>
                  <a:pt x="0" y="3858464"/>
                </a:lnTo>
              </a:path>
            </a:pathLst>
          </a:custGeom>
          <a:noFill/>
          <a:ln w="9525">
            <a:solidFill>
              <a:srgbClr val="3D4D83">
                <a:alpha val="47059"/>
              </a:srgbClr>
            </a:solidFill>
            <a:prstDash val="solid"/>
            <a:headEnd type="none"/>
            <a:tailEnd type="none"/>
          </a:ln>
        </p:spPr>
      </p:sp>
      <p:pic>
        <p:nvPicPr>
          <p:cNvPr id="11" name="Image 4" descr="preencoded.png"/>
          <p:cNvPicPr>
            <a:picLocks noChangeAspect="1"/>
          </p:cNvPicPr>
          <p:nvPr/>
        </p:nvPicPr>
        <p:blipFill>
          <a:blip r:embed="rId4"/>
          <a:stretch>
            <a:fillRect/>
          </a:stretch>
        </p:blipFill>
        <p:spPr>
          <a:xfrm>
            <a:off x="2021089" y="1087716"/>
            <a:ext cx="182880" cy="3444250"/>
          </a:xfrm>
          <a:prstGeom prst="rect">
            <a:avLst/>
          </a:prstGeom>
        </p:spPr>
      </p:pic>
      <p:sp>
        <p:nvSpPr>
          <p:cNvPr id="12" name="Text 5"/>
          <p:cNvSpPr/>
          <p:nvPr/>
        </p:nvSpPr>
        <p:spPr>
          <a:xfrm>
            <a:off x="346989" y="1375496"/>
            <a:ext cx="1674101" cy="566928"/>
          </a:xfrm>
          <a:prstGeom prst="rect">
            <a:avLst/>
          </a:prstGeom>
          <a:noFill/>
        </p:spPr>
        <p:txBody>
          <a:bodyPr wrap="square" lIns="95250" tIns="95250" rIns="95250" bIns="95250" rtlCol="0" anchor="ctr"/>
          <a:lstStyle/>
          <a:p>
            <a:pPr marL="0" indent="0">
              <a:lnSpc>
                <a:spcPct val="100000"/>
              </a:lnSpc>
              <a:spcBef>
                <a:spcPts val="375"/>
              </a:spcBef>
              <a:buNone/>
            </a:pPr>
            <a:r>
              <a:rPr lang="en-US" sz="144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平台依赖性</a:t>
            </a:r>
            <a:endParaRPr lang="en-US" sz="1440" dirty="0"/>
          </a:p>
        </p:txBody>
      </p:sp>
      <p:sp>
        <p:nvSpPr>
          <p:cNvPr id="13" name="Text 6"/>
          <p:cNvSpPr/>
          <p:nvPr/>
        </p:nvSpPr>
        <p:spPr>
          <a:xfrm>
            <a:off x="2476522" y="1384640"/>
            <a:ext cx="5525701"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传统开发方式需为每个目标平台单独开发，增加了成本和时间，同时难以保证各平台间用户体验的一致性。</a:t>
            </a:r>
            <a:endParaRPr lang="en-US" sz="1440" dirty="0"/>
          </a:p>
        </p:txBody>
      </p:sp>
      <p:sp>
        <p:nvSpPr>
          <p:cNvPr id="14" name="Text 7"/>
          <p:cNvSpPr/>
          <p:nvPr/>
        </p:nvSpPr>
        <p:spPr>
          <a:xfrm>
            <a:off x="346404" y="2541339"/>
            <a:ext cx="1674686" cy="566928"/>
          </a:xfrm>
          <a:prstGeom prst="rect">
            <a:avLst/>
          </a:prstGeom>
          <a:noFill/>
        </p:spPr>
        <p:txBody>
          <a:bodyPr wrap="square" lIns="95250" tIns="95250" rIns="95250" bIns="95250" rtlCol="0" anchor="ctr"/>
          <a:lstStyle/>
          <a:p>
            <a:pPr marL="0" indent="0">
              <a:lnSpc>
                <a:spcPct val="100000"/>
              </a:lnSpc>
              <a:spcBef>
                <a:spcPts val="375"/>
              </a:spcBef>
              <a:buNone/>
            </a:pPr>
            <a:r>
              <a:rPr lang="en-US" sz="144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维护困难</a:t>
            </a:r>
            <a:endParaRPr lang="en-US" sz="1440" dirty="0"/>
          </a:p>
        </p:txBody>
      </p:sp>
      <p:sp>
        <p:nvSpPr>
          <p:cNvPr id="15" name="Text 8"/>
          <p:cNvSpPr/>
          <p:nvPr/>
        </p:nvSpPr>
        <p:spPr>
          <a:xfrm>
            <a:off x="2476522" y="2521780"/>
            <a:ext cx="5525701"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在多个平台上维护同一款应用意味着任何功能更新或bug修复都需要在每个平台上重复进行，这显著增加了维护的复杂性和成本。</a:t>
            </a:r>
            <a:endParaRPr lang="en-US" sz="1440" dirty="0"/>
          </a:p>
        </p:txBody>
      </p:sp>
      <p:sp>
        <p:nvSpPr>
          <p:cNvPr id="16" name="Text 9"/>
          <p:cNvSpPr/>
          <p:nvPr/>
        </p:nvSpPr>
        <p:spPr>
          <a:xfrm>
            <a:off x="346404" y="3678478"/>
            <a:ext cx="1674686" cy="621792"/>
          </a:xfrm>
          <a:prstGeom prst="rect">
            <a:avLst/>
          </a:prstGeom>
          <a:noFill/>
        </p:spPr>
        <p:txBody>
          <a:bodyPr wrap="square" lIns="95250" tIns="95250" rIns="95250" bIns="95250" rtlCol="0" anchor="ctr"/>
          <a:lstStyle/>
          <a:p>
            <a:pPr marL="0" indent="0">
              <a:lnSpc>
                <a:spcPct val="100000"/>
              </a:lnSpc>
              <a:spcBef>
                <a:spcPts val="375"/>
              </a:spcBef>
              <a:buNone/>
            </a:pPr>
            <a:r>
              <a:rPr lang="en-US" sz="144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资源利用效率低</a:t>
            </a:r>
            <a:endParaRPr lang="en-US" sz="1440" dirty="0"/>
          </a:p>
        </p:txBody>
      </p:sp>
      <p:sp>
        <p:nvSpPr>
          <p:cNvPr id="17" name="Text 10"/>
          <p:cNvSpPr/>
          <p:nvPr/>
        </p:nvSpPr>
        <p:spPr>
          <a:xfrm>
            <a:off x="2476522" y="3658920"/>
            <a:ext cx="5525701"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由于需要为不同平台编写不同的代码，因此无法充分利用共享的代码库和资源，导致资源利用效率低下。</a:t>
            </a:r>
            <a:endParaRPr lang="en-US" sz="1440" dirty="0"/>
          </a:p>
        </p:txBody>
      </p:sp>
      <p:pic>
        <p:nvPicPr>
          <p:cNvPr id="18" name="Image 5" descr="preencoded.png"/>
          <p:cNvPicPr>
            <a:picLocks noChangeAspect="1"/>
          </p:cNvPicPr>
          <p:nvPr/>
        </p:nvPicPr>
        <p:blipFill>
          <a:blip r:embed="rId5"/>
          <a:stretch>
            <a:fillRect/>
          </a:stretch>
        </p:blipFill>
        <p:spPr>
          <a:xfrm>
            <a:off x="8200597" y="3788662"/>
            <a:ext cx="344018" cy="344018"/>
          </a:xfrm>
          <a:prstGeom prst="rect">
            <a:avLst/>
          </a:prstGeom>
        </p:spPr>
      </p:pic>
      <p:pic>
        <p:nvPicPr>
          <p:cNvPr id="19" name="Image 6" descr="preencoded.png"/>
          <p:cNvPicPr>
            <a:picLocks noChangeAspect="1"/>
          </p:cNvPicPr>
          <p:nvPr/>
        </p:nvPicPr>
        <p:blipFill>
          <a:blip r:embed="rId6"/>
          <a:stretch>
            <a:fillRect/>
          </a:stretch>
        </p:blipFill>
        <p:spPr>
          <a:xfrm>
            <a:off x="8166866" y="2617792"/>
            <a:ext cx="411480" cy="4114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p:spPr>
        <p:txBody>
          <a:bodyPr wrap="square" lIns="95250" tIns="95250" rIns="95250" bIns="95250" rtlCol="0" anchor="t"/>
          <a:lstStyle/>
          <a:p>
            <a:pPr marL="0" indent="0">
              <a:lnSpc>
                <a:spcPct val="113000"/>
              </a:lnSpc>
              <a:spcBef>
                <a:spcPts val="375"/>
              </a:spcBef>
              <a:buNone/>
            </a:pPr>
            <a:r>
              <a:rPr lang="en-US" sz="259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跨平台应用重要性</a:t>
            </a:r>
            <a:endParaRPr lang="en-US" sz="1440" dirty="0"/>
          </a:p>
        </p:txBody>
      </p:sp>
      <p:sp>
        <p:nvSpPr>
          <p:cNvPr id="3" name="Shape 1"/>
          <p:cNvSpPr/>
          <p:nvPr/>
        </p:nvSpPr>
        <p:spPr>
          <a:xfrm>
            <a:off x="6257372" y="1047877"/>
            <a:ext cx="2425553" cy="3557553"/>
          </a:xfrm>
          <a:custGeom>
            <a:avLst/>
            <a:gdLst/>
            <a:ahLst/>
            <a:cxnLst/>
            <a:rect l="l" t="t" r="r" b="b"/>
            <a:pathLst>
              <a:path w="2425553" h="3557553">
                <a:moveTo>
                  <a:pt x="0" y="0"/>
                </a:moveTo>
                <a:moveTo>
                  <a:pt x="0" y="0"/>
                </a:moveTo>
                <a:lnTo>
                  <a:pt x="2425553" y="0"/>
                </a:lnTo>
                <a:lnTo>
                  <a:pt x="2425553" y="3557553"/>
                </a:lnTo>
                <a:lnTo>
                  <a:pt x="0" y="3557553"/>
                </a:lnTo>
                <a:close/>
              </a:path>
            </a:pathLst>
          </a:custGeom>
          <a:solidFill>
            <a:srgbClr val="3D4D83">
              <a:alpha val="0"/>
            </a:srgbClr>
          </a:solidFill>
          <a:ln w="19050">
            <a:solidFill>
              <a:srgbClr val="3D4D83"/>
            </a:solidFill>
            <a:prstDash val="solid"/>
          </a:ln>
        </p:spPr>
      </p:sp>
      <p:sp>
        <p:nvSpPr>
          <p:cNvPr id="4" name="Shape 2"/>
          <p:cNvSpPr/>
          <p:nvPr/>
        </p:nvSpPr>
        <p:spPr>
          <a:xfrm>
            <a:off x="3306491" y="1047877"/>
            <a:ext cx="2425553" cy="3557553"/>
          </a:xfrm>
          <a:custGeom>
            <a:avLst/>
            <a:gdLst/>
            <a:ahLst/>
            <a:cxnLst/>
            <a:rect l="l" t="t" r="r" b="b"/>
            <a:pathLst>
              <a:path w="2425553" h="3557553">
                <a:moveTo>
                  <a:pt x="0" y="0"/>
                </a:moveTo>
                <a:moveTo>
                  <a:pt x="0" y="0"/>
                </a:moveTo>
                <a:lnTo>
                  <a:pt x="2425553" y="0"/>
                </a:lnTo>
                <a:lnTo>
                  <a:pt x="2425553" y="3557553"/>
                </a:lnTo>
                <a:lnTo>
                  <a:pt x="0" y="3557553"/>
                </a:lnTo>
                <a:close/>
              </a:path>
            </a:pathLst>
          </a:custGeom>
          <a:solidFill>
            <a:srgbClr val="3D4D83">
              <a:alpha val="0"/>
            </a:srgbClr>
          </a:solidFill>
          <a:ln w="19050">
            <a:solidFill>
              <a:srgbClr val="949BF0"/>
            </a:solidFill>
            <a:prstDash val="solid"/>
          </a:ln>
        </p:spPr>
      </p:sp>
      <p:pic>
        <p:nvPicPr>
          <p:cNvPr id="5" name="Image 0" descr="preencoded.png"/>
          <p:cNvPicPr>
            <a:picLocks noChangeAspect="1"/>
          </p:cNvPicPr>
          <p:nvPr/>
        </p:nvPicPr>
        <p:blipFill>
          <a:blip r:embed="rId2"/>
          <a:stretch>
            <a:fillRect/>
          </a:stretch>
        </p:blipFill>
        <p:spPr>
          <a:xfrm>
            <a:off x="4232788" y="1249753"/>
            <a:ext cx="625013" cy="625013"/>
          </a:xfrm>
          <a:prstGeom prst="rect">
            <a:avLst/>
          </a:prstGeom>
        </p:spPr>
      </p:pic>
      <p:pic>
        <p:nvPicPr>
          <p:cNvPr id="6" name="Image 1" descr="preencoded.png"/>
          <p:cNvPicPr>
            <a:picLocks noChangeAspect="1"/>
          </p:cNvPicPr>
          <p:nvPr/>
        </p:nvPicPr>
        <p:blipFill>
          <a:blip r:embed="rId3"/>
          <a:stretch>
            <a:fillRect/>
          </a:stretch>
        </p:blipFill>
        <p:spPr>
          <a:xfrm>
            <a:off x="7165500" y="1249753"/>
            <a:ext cx="609297" cy="609297"/>
          </a:xfrm>
          <a:prstGeom prst="rect">
            <a:avLst/>
          </a:prstGeom>
        </p:spPr>
      </p:pic>
      <p:sp>
        <p:nvSpPr>
          <p:cNvPr id="7" name="Shape 3"/>
          <p:cNvSpPr/>
          <p:nvPr/>
        </p:nvSpPr>
        <p:spPr>
          <a:xfrm>
            <a:off x="406585" y="1047877"/>
            <a:ext cx="2425553" cy="3557553"/>
          </a:xfrm>
          <a:custGeom>
            <a:avLst/>
            <a:gdLst/>
            <a:ahLst/>
            <a:cxnLst/>
            <a:rect l="l" t="t" r="r" b="b"/>
            <a:pathLst>
              <a:path w="2425553" h="3557553">
                <a:moveTo>
                  <a:pt x="0" y="0"/>
                </a:moveTo>
                <a:moveTo>
                  <a:pt x="0" y="0"/>
                </a:moveTo>
                <a:lnTo>
                  <a:pt x="2425553" y="0"/>
                </a:lnTo>
                <a:lnTo>
                  <a:pt x="2425553" y="3557553"/>
                </a:lnTo>
                <a:lnTo>
                  <a:pt x="0" y="3557553"/>
                </a:lnTo>
                <a:close/>
              </a:path>
            </a:pathLst>
          </a:custGeom>
          <a:solidFill>
            <a:srgbClr val="3D4D83">
              <a:alpha val="0"/>
            </a:srgbClr>
          </a:solidFill>
          <a:ln w="19050">
            <a:solidFill>
              <a:srgbClr val="3D4D83"/>
            </a:solidFill>
            <a:prstDash val="solid"/>
          </a:ln>
        </p:spPr>
      </p:sp>
      <p:pic>
        <p:nvPicPr>
          <p:cNvPr id="8" name="Image 2" descr="preencoded.png"/>
          <p:cNvPicPr>
            <a:picLocks noChangeAspect="1"/>
          </p:cNvPicPr>
          <p:nvPr/>
        </p:nvPicPr>
        <p:blipFill>
          <a:blip r:embed="rId4"/>
          <a:stretch>
            <a:fillRect/>
          </a:stretch>
        </p:blipFill>
        <p:spPr>
          <a:xfrm>
            <a:off x="1363165" y="1307883"/>
            <a:ext cx="566883" cy="566883"/>
          </a:xfrm>
          <a:prstGeom prst="rect">
            <a:avLst/>
          </a:prstGeom>
        </p:spPr>
      </p:pic>
      <p:sp>
        <p:nvSpPr>
          <p:cNvPr id="9" name="Shape 4"/>
          <p:cNvSpPr/>
          <p:nvPr/>
        </p:nvSpPr>
        <p:spPr>
          <a:xfrm>
            <a:off x="269764" y="4280507"/>
            <a:ext cx="2753685" cy="251251"/>
          </a:xfrm>
          <a:custGeom>
            <a:avLst/>
            <a:gdLst/>
            <a:ahLst/>
            <a:cxnLst/>
            <a:rect l="l" t="t" r="r" b="b"/>
            <a:pathLst>
              <a:path w="2753685" h="251251">
                <a:moveTo>
                  <a:pt x="0" y="0"/>
                </a:moveTo>
                <a:moveTo>
                  <a:pt x="0" y="0"/>
                </a:moveTo>
                <a:lnTo>
                  <a:pt x="2753685" y="0"/>
                </a:lnTo>
                <a:lnTo>
                  <a:pt x="2753685" y="251251"/>
                </a:lnTo>
                <a:lnTo>
                  <a:pt x="0" y="251251"/>
                </a:lnTo>
                <a:close/>
              </a:path>
            </a:pathLst>
          </a:custGeom>
          <a:solidFill>
            <a:srgbClr val="3D4D83"/>
          </a:solidFill>
        </p:spPr>
      </p:sp>
      <p:sp>
        <p:nvSpPr>
          <p:cNvPr id="10" name="Shape 5"/>
          <p:cNvSpPr/>
          <p:nvPr/>
        </p:nvSpPr>
        <p:spPr>
          <a:xfrm>
            <a:off x="3169671" y="4280507"/>
            <a:ext cx="2753685" cy="251251"/>
          </a:xfrm>
          <a:custGeom>
            <a:avLst/>
            <a:gdLst/>
            <a:ahLst/>
            <a:cxnLst/>
            <a:rect l="l" t="t" r="r" b="b"/>
            <a:pathLst>
              <a:path w="2753685" h="251251">
                <a:moveTo>
                  <a:pt x="0" y="0"/>
                </a:moveTo>
                <a:moveTo>
                  <a:pt x="0" y="0"/>
                </a:moveTo>
                <a:lnTo>
                  <a:pt x="2753685" y="0"/>
                </a:lnTo>
                <a:lnTo>
                  <a:pt x="2753685" y="251251"/>
                </a:lnTo>
                <a:lnTo>
                  <a:pt x="0" y="251251"/>
                </a:lnTo>
                <a:close/>
              </a:path>
            </a:pathLst>
          </a:custGeom>
          <a:solidFill>
            <a:srgbClr val="949BF0"/>
          </a:solidFill>
        </p:spPr>
      </p:sp>
      <p:sp>
        <p:nvSpPr>
          <p:cNvPr id="11" name="Shape 6"/>
          <p:cNvSpPr/>
          <p:nvPr/>
        </p:nvSpPr>
        <p:spPr>
          <a:xfrm>
            <a:off x="6120551" y="4280507"/>
            <a:ext cx="2753685" cy="251251"/>
          </a:xfrm>
          <a:custGeom>
            <a:avLst/>
            <a:gdLst/>
            <a:ahLst/>
            <a:cxnLst/>
            <a:rect l="l" t="t" r="r" b="b"/>
            <a:pathLst>
              <a:path w="2753685" h="251251">
                <a:moveTo>
                  <a:pt x="0" y="0"/>
                </a:moveTo>
                <a:moveTo>
                  <a:pt x="0" y="0"/>
                </a:moveTo>
                <a:lnTo>
                  <a:pt x="2753685" y="0"/>
                </a:lnTo>
                <a:lnTo>
                  <a:pt x="2753685" y="251251"/>
                </a:lnTo>
                <a:lnTo>
                  <a:pt x="0" y="251251"/>
                </a:lnTo>
                <a:close/>
              </a:path>
            </a:pathLst>
          </a:custGeom>
          <a:solidFill>
            <a:srgbClr val="3D4D83"/>
          </a:solidFill>
        </p:spPr>
      </p:sp>
      <p:sp>
        <p:nvSpPr>
          <p:cNvPr id="12" name="Text 7"/>
          <p:cNvSpPr/>
          <p:nvPr/>
        </p:nvSpPr>
        <p:spPr>
          <a:xfrm>
            <a:off x="422752" y="2129591"/>
            <a:ext cx="2417503" cy="389722"/>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满足多样化用户需求</a:t>
            </a:r>
            <a:endParaRPr lang="en-US" sz="1440" dirty="0"/>
          </a:p>
        </p:txBody>
      </p:sp>
      <p:sp>
        <p:nvSpPr>
          <p:cNvPr id="13" name="Text 8"/>
          <p:cNvSpPr/>
          <p:nvPr/>
        </p:nvSpPr>
        <p:spPr>
          <a:xfrm>
            <a:off x="541522" y="2697365"/>
            <a:ext cx="2176004"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跨平台应用确保用户在不同设备上获得一致体验，无论是手机、平板还是PC，都能享受到相同的功能和服务，极大地提升了用户的满意度和忠诚度。</a:t>
            </a:r>
            <a:endParaRPr lang="en-US" sz="1440" dirty="0"/>
          </a:p>
        </p:txBody>
      </p:sp>
      <p:sp>
        <p:nvSpPr>
          <p:cNvPr id="14" name="Text 9"/>
          <p:cNvSpPr/>
          <p:nvPr/>
        </p:nvSpPr>
        <p:spPr>
          <a:xfrm>
            <a:off x="3322658" y="2129591"/>
            <a:ext cx="2417503" cy="389722"/>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949BF0"/>
                </a:solidFill>
                <a:latin typeface="微软雅黑" panose="020B0503020204020204" pitchFamily="34" charset="-122"/>
                <a:ea typeface="微软雅黑" panose="020B0503020204020204" pitchFamily="34" charset="-122"/>
                <a:cs typeface="微软雅黑" panose="020B0503020204020204" pitchFamily="34" charset="-120"/>
              </a:rPr>
              <a:t>降低开发成本与时间</a:t>
            </a:r>
            <a:endParaRPr lang="en-US" sz="1440" dirty="0"/>
          </a:p>
        </p:txBody>
      </p:sp>
      <p:sp>
        <p:nvSpPr>
          <p:cNvPr id="15" name="Text 10"/>
          <p:cNvSpPr/>
          <p:nvPr/>
        </p:nvSpPr>
        <p:spPr>
          <a:xfrm>
            <a:off x="3441429" y="2697365"/>
            <a:ext cx="2176004"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通过一次编写、多端运行的方式，跨平台应用显著减少了开发和维护的成本，同时缩短了产品上市的时间，使企业能够快速响应市场变化。</a:t>
            </a:r>
            <a:endParaRPr lang="en-US" sz="1440" dirty="0"/>
          </a:p>
        </p:txBody>
      </p:sp>
      <p:sp>
        <p:nvSpPr>
          <p:cNvPr id="16" name="Text 11"/>
          <p:cNvSpPr/>
          <p:nvPr/>
        </p:nvSpPr>
        <p:spPr>
          <a:xfrm>
            <a:off x="6273538" y="2129591"/>
            <a:ext cx="2417503" cy="389722"/>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提高市场竞争力</a:t>
            </a:r>
            <a:endParaRPr lang="en-US" sz="1440" dirty="0"/>
          </a:p>
        </p:txBody>
      </p:sp>
      <p:sp>
        <p:nvSpPr>
          <p:cNvPr id="17" name="Text 12"/>
          <p:cNvSpPr/>
          <p:nvPr/>
        </p:nvSpPr>
        <p:spPr>
          <a:xfrm>
            <a:off x="6392309" y="2697365"/>
            <a:ext cx="2176004" cy="1024128"/>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跨平台应用能够迅速覆盖更广泛的用户群体，扩大市场份额，同时快速更新和优化功能，帮助企业在激烈的市场竞争中保持领先地位。</a:t>
            </a:r>
            <a:endParaRPr lang="en-US" sz="14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91482" y="2114883"/>
            <a:ext cx="1085027" cy="731520"/>
          </a:xfrm>
          <a:prstGeom prst="rect">
            <a:avLst/>
          </a:prstGeom>
          <a:noFill/>
        </p:spPr>
        <p:txBody>
          <a:bodyPr wrap="square" lIns="95250" tIns="95250" rIns="95250" bIns="95250" rtlCol="0" anchor="t"/>
          <a:lstStyle/>
          <a:p>
            <a:pPr marL="0" indent="0" algn="ctr">
              <a:lnSpc>
                <a:spcPct val="100000"/>
              </a:lnSpc>
              <a:spcBef>
                <a:spcPts val="375"/>
              </a:spcBef>
              <a:buNone/>
            </a:pPr>
            <a:r>
              <a:rPr lang="en-US" sz="4320" b="1" dirty="0">
                <a:solidFill>
                  <a:srgbClr val="2E3E74"/>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3" name="Text 1"/>
          <p:cNvSpPr/>
          <p:nvPr/>
        </p:nvSpPr>
        <p:spPr>
          <a:xfrm>
            <a:off x="1376509" y="2114883"/>
            <a:ext cx="7241265" cy="731520"/>
          </a:xfrm>
          <a:prstGeom prst="rect">
            <a:avLst/>
          </a:prstGeom>
          <a:noFill/>
        </p:spPr>
        <p:txBody>
          <a:bodyPr wrap="square" lIns="95250" tIns="95250" rIns="95250" bIns="95250" rtlCol="0" anchor="t"/>
          <a:lstStyle/>
          <a:p>
            <a:pPr marL="0" indent="0">
              <a:lnSpc>
                <a:spcPct val="113000"/>
              </a:lnSpc>
              <a:spcBef>
                <a:spcPts val="375"/>
              </a:spcBef>
              <a:buNone/>
            </a:pPr>
            <a:r>
              <a:rPr lang="en-US" sz="288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技术框架与环境</a:t>
            </a:r>
            <a:endParaRPr lang="en-US" sz="14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p:spPr>
        <p:txBody>
          <a:bodyPr wrap="square" lIns="95250" tIns="95250" rIns="95250" bIns="95250" rtlCol="0" anchor="t"/>
          <a:lstStyle/>
          <a:p>
            <a:pPr marL="0" indent="0">
              <a:lnSpc>
                <a:spcPct val="113000"/>
              </a:lnSpc>
              <a:spcBef>
                <a:spcPts val="375"/>
              </a:spcBef>
              <a:buNone/>
            </a:pPr>
            <a:r>
              <a:rPr lang="en-US" sz="259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Uni-app特性介绍</a:t>
            </a:r>
            <a:endParaRPr lang="en-US" sz="1440" dirty="0"/>
          </a:p>
        </p:txBody>
      </p:sp>
      <p:sp>
        <p:nvSpPr>
          <p:cNvPr id="3" name="Shape 1"/>
          <p:cNvSpPr/>
          <p:nvPr/>
        </p:nvSpPr>
        <p:spPr>
          <a:xfrm>
            <a:off x="3738792" y="1064374"/>
            <a:ext cx="5164082" cy="969023"/>
          </a:xfrm>
          <a:custGeom>
            <a:avLst/>
            <a:gdLst/>
            <a:ahLst/>
            <a:cxnLst/>
            <a:rect l="l" t="t" r="r" b="b"/>
            <a:pathLst>
              <a:path w="5164082" h="969023">
                <a:moveTo>
                  <a:pt x="111280" y="0"/>
                </a:moveTo>
                <a:moveTo>
                  <a:pt x="111280" y="0"/>
                </a:moveTo>
                <a:lnTo>
                  <a:pt x="5052802" y="0"/>
                </a:lnTo>
                <a:quadBezTo>
                  <a:pt x="5164082" y="0"/>
                  <a:pt x="5164082" y="91952"/>
                </a:quadBezTo>
                <a:lnTo>
                  <a:pt x="5164082" y="877071"/>
                </a:lnTo>
                <a:quadBezTo>
                  <a:pt x="5164082" y="969023"/>
                  <a:pt x="5052802" y="969023"/>
                </a:quadBezTo>
                <a:lnTo>
                  <a:pt x="111280" y="969023"/>
                </a:lnTo>
                <a:quadBezTo>
                  <a:pt x="0" y="969023"/>
                  <a:pt x="0" y="877071"/>
                </a:quadBezTo>
                <a:lnTo>
                  <a:pt x="0" y="91952"/>
                </a:lnTo>
                <a:quadBezTo>
                  <a:pt x="0" y="0"/>
                  <a:pt x="111280" y="0"/>
                </a:quadBezTo>
                <a:close/>
              </a:path>
            </a:pathLst>
          </a:custGeom>
          <a:solidFill>
            <a:srgbClr val="F4F7FF"/>
          </a:solidFill>
          <a:effectLst>
            <a:outerShdw blurRad="19050" dist="25400" dir="2700000" algn="bl" rotWithShape="0">
              <a:srgbClr val="DADADA">
                <a:alpha val="100000"/>
              </a:srgbClr>
            </a:outerShdw>
          </a:effectLst>
        </p:spPr>
      </p:sp>
      <p:pic>
        <p:nvPicPr>
          <p:cNvPr id="4" name="Image 0" descr="preencoded.png"/>
          <p:cNvPicPr>
            <a:picLocks noChangeAspect="1"/>
          </p:cNvPicPr>
          <p:nvPr/>
        </p:nvPicPr>
        <p:blipFill>
          <a:blip r:embed="rId2"/>
          <a:stretch>
            <a:fillRect/>
          </a:stretch>
        </p:blipFill>
        <p:spPr>
          <a:xfrm flipH="1">
            <a:off x="3330900" y="1170001"/>
            <a:ext cx="757769" cy="757769"/>
          </a:xfrm>
          <a:prstGeom prst="rect">
            <a:avLst/>
          </a:prstGeom>
        </p:spPr>
      </p:pic>
      <p:pic>
        <p:nvPicPr>
          <p:cNvPr id="5" name="Image 1" descr="preencoded.png"/>
          <p:cNvPicPr>
            <a:picLocks noChangeAspect="1"/>
          </p:cNvPicPr>
          <p:nvPr/>
        </p:nvPicPr>
        <p:blipFill>
          <a:blip r:embed="rId3"/>
          <a:stretch>
            <a:fillRect/>
          </a:stretch>
        </p:blipFill>
        <p:spPr>
          <a:xfrm>
            <a:off x="264013" y="1064374"/>
            <a:ext cx="3274332" cy="969023"/>
          </a:xfrm>
          <a:prstGeom prst="rect">
            <a:avLst/>
          </a:prstGeom>
        </p:spPr>
      </p:pic>
      <p:sp>
        <p:nvSpPr>
          <p:cNvPr id="6" name="Shape 2"/>
          <p:cNvSpPr/>
          <p:nvPr/>
        </p:nvSpPr>
        <p:spPr>
          <a:xfrm>
            <a:off x="3738792" y="2326835"/>
            <a:ext cx="5164082" cy="969023"/>
          </a:xfrm>
          <a:custGeom>
            <a:avLst/>
            <a:gdLst/>
            <a:ahLst/>
            <a:cxnLst/>
            <a:rect l="l" t="t" r="r" b="b"/>
            <a:pathLst>
              <a:path w="5164082" h="969023">
                <a:moveTo>
                  <a:pt x="111280" y="0"/>
                </a:moveTo>
                <a:moveTo>
                  <a:pt x="111280" y="0"/>
                </a:moveTo>
                <a:lnTo>
                  <a:pt x="5052802" y="0"/>
                </a:lnTo>
                <a:quadBezTo>
                  <a:pt x="5164082" y="0"/>
                  <a:pt x="5164082" y="91952"/>
                </a:quadBezTo>
                <a:lnTo>
                  <a:pt x="5164082" y="877071"/>
                </a:lnTo>
                <a:quadBezTo>
                  <a:pt x="5164082" y="969023"/>
                  <a:pt x="5052802" y="969023"/>
                </a:quadBezTo>
                <a:lnTo>
                  <a:pt x="111280" y="969023"/>
                </a:lnTo>
                <a:quadBezTo>
                  <a:pt x="0" y="969023"/>
                  <a:pt x="0" y="877071"/>
                </a:quadBezTo>
                <a:lnTo>
                  <a:pt x="0" y="91952"/>
                </a:lnTo>
                <a:quadBezTo>
                  <a:pt x="0" y="0"/>
                  <a:pt x="111280" y="0"/>
                </a:quadBezTo>
                <a:close/>
              </a:path>
            </a:pathLst>
          </a:custGeom>
          <a:solidFill>
            <a:srgbClr val="F4F7FF"/>
          </a:solidFill>
          <a:effectLst>
            <a:outerShdw blurRad="19050" dist="25400" dir="2700000" algn="bl" rotWithShape="0">
              <a:srgbClr val="DADADA">
                <a:alpha val="100000"/>
              </a:srgbClr>
            </a:outerShdw>
          </a:effectLst>
        </p:spPr>
      </p:sp>
      <p:pic>
        <p:nvPicPr>
          <p:cNvPr id="7" name="Image 2" descr="preencoded.png"/>
          <p:cNvPicPr>
            <a:picLocks noChangeAspect="1"/>
          </p:cNvPicPr>
          <p:nvPr/>
        </p:nvPicPr>
        <p:blipFill>
          <a:blip r:embed="rId4"/>
          <a:stretch>
            <a:fillRect/>
          </a:stretch>
        </p:blipFill>
        <p:spPr>
          <a:xfrm flipH="1">
            <a:off x="3330900" y="2432462"/>
            <a:ext cx="757769" cy="757769"/>
          </a:xfrm>
          <a:prstGeom prst="rect">
            <a:avLst/>
          </a:prstGeom>
        </p:spPr>
      </p:pic>
      <p:pic>
        <p:nvPicPr>
          <p:cNvPr id="8" name="Image 3" descr="preencoded.png"/>
          <p:cNvPicPr>
            <a:picLocks noChangeAspect="1"/>
          </p:cNvPicPr>
          <p:nvPr/>
        </p:nvPicPr>
        <p:blipFill>
          <a:blip r:embed="rId5"/>
          <a:stretch>
            <a:fillRect/>
          </a:stretch>
        </p:blipFill>
        <p:spPr>
          <a:xfrm>
            <a:off x="264013" y="2326835"/>
            <a:ext cx="3274332" cy="969023"/>
          </a:xfrm>
          <a:prstGeom prst="rect">
            <a:avLst/>
          </a:prstGeom>
        </p:spPr>
      </p:pic>
      <p:sp>
        <p:nvSpPr>
          <p:cNvPr id="9" name="Shape 3"/>
          <p:cNvSpPr/>
          <p:nvPr/>
        </p:nvSpPr>
        <p:spPr>
          <a:xfrm>
            <a:off x="3738792" y="3589296"/>
            <a:ext cx="5164082" cy="969023"/>
          </a:xfrm>
          <a:custGeom>
            <a:avLst/>
            <a:gdLst/>
            <a:ahLst/>
            <a:cxnLst/>
            <a:rect l="l" t="t" r="r" b="b"/>
            <a:pathLst>
              <a:path w="5164082" h="969023">
                <a:moveTo>
                  <a:pt x="111280" y="0"/>
                </a:moveTo>
                <a:moveTo>
                  <a:pt x="111280" y="0"/>
                </a:moveTo>
                <a:lnTo>
                  <a:pt x="5052802" y="0"/>
                </a:lnTo>
                <a:quadBezTo>
                  <a:pt x="5164082" y="0"/>
                  <a:pt x="5164082" y="91952"/>
                </a:quadBezTo>
                <a:lnTo>
                  <a:pt x="5164082" y="877071"/>
                </a:lnTo>
                <a:quadBezTo>
                  <a:pt x="5164082" y="969023"/>
                  <a:pt x="5052802" y="969023"/>
                </a:quadBezTo>
                <a:lnTo>
                  <a:pt x="111280" y="969023"/>
                </a:lnTo>
                <a:quadBezTo>
                  <a:pt x="0" y="969023"/>
                  <a:pt x="0" y="877071"/>
                </a:quadBezTo>
                <a:lnTo>
                  <a:pt x="0" y="91952"/>
                </a:lnTo>
                <a:quadBezTo>
                  <a:pt x="0" y="0"/>
                  <a:pt x="111280" y="0"/>
                </a:quadBezTo>
                <a:close/>
              </a:path>
            </a:pathLst>
          </a:custGeom>
          <a:solidFill>
            <a:srgbClr val="F4F7FF"/>
          </a:solidFill>
          <a:effectLst>
            <a:outerShdw blurRad="19050" dist="25400" dir="2700000" algn="bl" rotWithShape="0">
              <a:srgbClr val="DADADA">
                <a:alpha val="100000"/>
              </a:srgbClr>
            </a:outerShdw>
          </a:effectLst>
        </p:spPr>
      </p:sp>
      <p:pic>
        <p:nvPicPr>
          <p:cNvPr id="10" name="Image 4" descr="preencoded.png"/>
          <p:cNvPicPr>
            <a:picLocks noChangeAspect="1"/>
          </p:cNvPicPr>
          <p:nvPr/>
        </p:nvPicPr>
        <p:blipFill>
          <a:blip r:embed="rId2"/>
          <a:stretch>
            <a:fillRect/>
          </a:stretch>
        </p:blipFill>
        <p:spPr>
          <a:xfrm flipH="1">
            <a:off x="3330900" y="3694923"/>
            <a:ext cx="757769" cy="757769"/>
          </a:xfrm>
          <a:prstGeom prst="rect">
            <a:avLst/>
          </a:prstGeom>
        </p:spPr>
      </p:pic>
      <p:pic>
        <p:nvPicPr>
          <p:cNvPr id="11" name="Image 5" descr="preencoded.png"/>
          <p:cNvPicPr>
            <a:picLocks noChangeAspect="1"/>
          </p:cNvPicPr>
          <p:nvPr/>
        </p:nvPicPr>
        <p:blipFill>
          <a:blip r:embed="rId3"/>
          <a:stretch>
            <a:fillRect/>
          </a:stretch>
        </p:blipFill>
        <p:spPr>
          <a:xfrm>
            <a:off x="264013" y="3589296"/>
            <a:ext cx="3274332" cy="969023"/>
          </a:xfrm>
          <a:prstGeom prst="rect">
            <a:avLst/>
          </a:prstGeom>
        </p:spPr>
      </p:pic>
      <p:sp>
        <p:nvSpPr>
          <p:cNvPr id="12" name="Text 4"/>
          <p:cNvSpPr/>
          <p:nvPr/>
        </p:nvSpPr>
        <p:spPr>
          <a:xfrm>
            <a:off x="1157224" y="1356861"/>
            <a:ext cx="2123132"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kern="0" spc="72"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跨平台兼容性</a:t>
            </a:r>
            <a:endParaRPr lang="en-US" sz="1440" dirty="0"/>
          </a:p>
        </p:txBody>
      </p:sp>
      <p:sp>
        <p:nvSpPr>
          <p:cNvPr id="13" name="Text 5"/>
          <p:cNvSpPr/>
          <p:nvPr/>
        </p:nvSpPr>
        <p:spPr>
          <a:xfrm>
            <a:off x="4193049" y="1064374"/>
            <a:ext cx="4626983" cy="969023"/>
          </a:xfrm>
          <a:prstGeom prst="rect">
            <a:avLst/>
          </a:prstGeom>
          <a:noFill/>
        </p:spPr>
        <p:txBody>
          <a:bodyPr wrap="square" lIns="95250" tIns="95250" rIns="95250" bIns="95250" rtlCol="0" anchor="ct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Uni-app支持iOS、Android和Web等多个平台，开发者只需编写一次代码，即可在多个平台上运行，大大减少了开发和维护的工作量。</a:t>
            </a:r>
            <a:endParaRPr lang="en-US" sz="1440" dirty="0"/>
          </a:p>
        </p:txBody>
      </p:sp>
      <p:sp>
        <p:nvSpPr>
          <p:cNvPr id="14" name="Text 6"/>
          <p:cNvSpPr/>
          <p:nvPr/>
        </p:nvSpPr>
        <p:spPr>
          <a:xfrm>
            <a:off x="1157224" y="2619323"/>
            <a:ext cx="2123132" cy="347472"/>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kern="0" spc="72"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高效的开发体验</a:t>
            </a:r>
            <a:endParaRPr lang="en-US" sz="1440" dirty="0"/>
          </a:p>
        </p:txBody>
      </p:sp>
      <p:sp>
        <p:nvSpPr>
          <p:cNvPr id="15" name="Text 7"/>
          <p:cNvSpPr/>
          <p:nvPr/>
        </p:nvSpPr>
        <p:spPr>
          <a:xfrm>
            <a:off x="4193049" y="2326835"/>
            <a:ext cx="4626983" cy="969023"/>
          </a:xfrm>
          <a:prstGeom prst="rect">
            <a:avLst/>
          </a:prstGeom>
          <a:noFill/>
        </p:spPr>
        <p:txBody>
          <a:bodyPr wrap="square" lIns="95250" tIns="95250" rIns="95250" bIns="95250" rtlCol="0" anchor="ct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Uni-app提供了丰富的插件和工具，如HBuilderX、VSCode等，这些工具可以帮助开发者快速构建和调试应用，提高开发效率。</a:t>
            </a:r>
            <a:endParaRPr lang="en-US" sz="1440" dirty="0"/>
          </a:p>
        </p:txBody>
      </p:sp>
      <p:sp>
        <p:nvSpPr>
          <p:cNvPr id="16" name="Text 8"/>
          <p:cNvSpPr/>
          <p:nvPr/>
        </p:nvSpPr>
        <p:spPr>
          <a:xfrm>
            <a:off x="1157224" y="3881784"/>
            <a:ext cx="2123132"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kern="0" spc="72"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强大的社区支持</a:t>
            </a:r>
            <a:endParaRPr lang="en-US" sz="1440" dirty="0"/>
          </a:p>
        </p:txBody>
      </p:sp>
      <p:sp>
        <p:nvSpPr>
          <p:cNvPr id="17" name="Text 9"/>
          <p:cNvSpPr/>
          <p:nvPr/>
        </p:nvSpPr>
        <p:spPr>
          <a:xfrm>
            <a:off x="4193049" y="3589296"/>
            <a:ext cx="4626983" cy="969023"/>
          </a:xfrm>
          <a:prstGeom prst="rect">
            <a:avLst/>
          </a:prstGeom>
          <a:noFill/>
        </p:spPr>
        <p:txBody>
          <a:bodyPr wrap="square" lIns="95250" tIns="95250" rIns="95250" bIns="95250" rtlCol="0" anchor="ct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Uni-app拥有活跃的开发者社区，提供了大量的文档、教程和示例代码，帮助开发者解决遇到的问题，并定期举办各种技术交流活动和培训课程。</a:t>
            </a:r>
            <a:endParaRPr lang="en-US" sz="1440" dirty="0"/>
          </a:p>
        </p:txBody>
      </p:sp>
      <p:sp>
        <p:nvSpPr>
          <p:cNvPr id="18" name="Shape 10"/>
          <p:cNvSpPr/>
          <p:nvPr/>
        </p:nvSpPr>
        <p:spPr>
          <a:xfrm>
            <a:off x="528675" y="1234611"/>
            <a:ext cx="628549" cy="628549"/>
          </a:xfrm>
          <a:custGeom>
            <a:avLst/>
            <a:gdLst/>
            <a:ahLst/>
            <a:cxnLst/>
            <a:rect l="l" t="t" r="r" b="b"/>
            <a:pathLst>
              <a:path w="628549" h="628549">
                <a:moveTo>
                  <a:pt x="314274" y="0"/>
                </a:moveTo>
                <a:moveTo>
                  <a:pt x="314274" y="0"/>
                </a:moveTo>
                <a:cubicBezTo>
                  <a:pt x="487727" y="0"/>
                  <a:pt x="628549" y="140822"/>
                  <a:pt x="628549" y="314274"/>
                </a:cubicBezTo>
                <a:cubicBezTo>
                  <a:pt x="628549" y="487727"/>
                  <a:pt x="487727" y="628549"/>
                  <a:pt x="314274" y="628549"/>
                </a:cubicBezTo>
                <a:cubicBezTo>
                  <a:pt x="140822" y="628549"/>
                  <a:pt x="0" y="487727"/>
                  <a:pt x="0" y="314274"/>
                </a:cubicBezTo>
                <a:cubicBezTo>
                  <a:pt x="0" y="140822"/>
                  <a:pt x="140822" y="0"/>
                  <a:pt x="314274" y="0"/>
                </a:cubicBezTo>
                <a:close/>
              </a:path>
            </a:pathLst>
          </a:custGeom>
          <a:solidFill>
            <a:srgbClr val="F4F7FF"/>
          </a:solidFill>
        </p:spPr>
      </p:sp>
      <p:pic>
        <p:nvPicPr>
          <p:cNvPr id="19" name="Image 6" descr="preencoded.png"/>
          <p:cNvPicPr>
            <a:picLocks noChangeAspect="1"/>
          </p:cNvPicPr>
          <p:nvPr/>
        </p:nvPicPr>
        <p:blipFill>
          <a:blip r:embed="rId6"/>
          <a:stretch>
            <a:fillRect/>
          </a:stretch>
        </p:blipFill>
        <p:spPr>
          <a:xfrm>
            <a:off x="704320" y="1410255"/>
            <a:ext cx="277260" cy="277260"/>
          </a:xfrm>
          <a:prstGeom prst="rect">
            <a:avLst/>
          </a:prstGeom>
        </p:spPr>
      </p:pic>
      <p:sp>
        <p:nvSpPr>
          <p:cNvPr id="20" name="Shape 11"/>
          <p:cNvSpPr/>
          <p:nvPr/>
        </p:nvSpPr>
        <p:spPr>
          <a:xfrm>
            <a:off x="528675" y="2497072"/>
            <a:ext cx="628549" cy="628549"/>
          </a:xfrm>
          <a:custGeom>
            <a:avLst/>
            <a:gdLst/>
            <a:ahLst/>
            <a:cxnLst/>
            <a:rect l="l" t="t" r="r" b="b"/>
            <a:pathLst>
              <a:path w="628549" h="628549">
                <a:moveTo>
                  <a:pt x="314274" y="0"/>
                </a:moveTo>
                <a:moveTo>
                  <a:pt x="314274" y="0"/>
                </a:moveTo>
                <a:cubicBezTo>
                  <a:pt x="487727" y="0"/>
                  <a:pt x="628549" y="140822"/>
                  <a:pt x="628549" y="314274"/>
                </a:cubicBezTo>
                <a:cubicBezTo>
                  <a:pt x="628549" y="487727"/>
                  <a:pt x="487727" y="628549"/>
                  <a:pt x="314274" y="628549"/>
                </a:cubicBezTo>
                <a:cubicBezTo>
                  <a:pt x="140822" y="628549"/>
                  <a:pt x="0" y="487727"/>
                  <a:pt x="0" y="314274"/>
                </a:cubicBezTo>
                <a:cubicBezTo>
                  <a:pt x="0" y="140822"/>
                  <a:pt x="140822" y="0"/>
                  <a:pt x="314274" y="0"/>
                </a:cubicBezTo>
                <a:close/>
              </a:path>
            </a:pathLst>
          </a:custGeom>
          <a:solidFill>
            <a:srgbClr val="F4F7FF"/>
          </a:solidFill>
        </p:spPr>
      </p:sp>
      <p:sp>
        <p:nvSpPr>
          <p:cNvPr id="21" name="Shape 12"/>
          <p:cNvSpPr/>
          <p:nvPr/>
        </p:nvSpPr>
        <p:spPr>
          <a:xfrm>
            <a:off x="528675" y="3759533"/>
            <a:ext cx="628549" cy="628549"/>
          </a:xfrm>
          <a:custGeom>
            <a:avLst/>
            <a:gdLst/>
            <a:ahLst/>
            <a:cxnLst/>
            <a:rect l="l" t="t" r="r" b="b"/>
            <a:pathLst>
              <a:path w="628549" h="628549">
                <a:moveTo>
                  <a:pt x="314274" y="0"/>
                </a:moveTo>
                <a:moveTo>
                  <a:pt x="314274" y="0"/>
                </a:moveTo>
                <a:cubicBezTo>
                  <a:pt x="487727" y="0"/>
                  <a:pt x="628549" y="140822"/>
                  <a:pt x="628549" y="314274"/>
                </a:cubicBezTo>
                <a:cubicBezTo>
                  <a:pt x="628549" y="487727"/>
                  <a:pt x="487727" y="628549"/>
                  <a:pt x="314274" y="628549"/>
                </a:cubicBezTo>
                <a:cubicBezTo>
                  <a:pt x="140822" y="628549"/>
                  <a:pt x="0" y="487727"/>
                  <a:pt x="0" y="314274"/>
                </a:cubicBezTo>
                <a:cubicBezTo>
                  <a:pt x="0" y="140822"/>
                  <a:pt x="140822" y="0"/>
                  <a:pt x="314274" y="0"/>
                </a:cubicBezTo>
                <a:close/>
              </a:path>
            </a:pathLst>
          </a:custGeom>
          <a:solidFill>
            <a:srgbClr val="F4F7FF"/>
          </a:solidFill>
        </p:spPr>
      </p:sp>
      <p:pic>
        <p:nvPicPr>
          <p:cNvPr id="22" name="Image 7" descr="preencoded.png"/>
          <p:cNvPicPr>
            <a:picLocks noChangeAspect="1"/>
          </p:cNvPicPr>
          <p:nvPr/>
        </p:nvPicPr>
        <p:blipFill>
          <a:blip r:embed="rId7"/>
          <a:stretch>
            <a:fillRect/>
          </a:stretch>
        </p:blipFill>
        <p:spPr>
          <a:xfrm>
            <a:off x="698475" y="2666871"/>
            <a:ext cx="288950" cy="288950"/>
          </a:xfrm>
          <a:prstGeom prst="rect">
            <a:avLst/>
          </a:prstGeom>
        </p:spPr>
      </p:pic>
      <p:pic>
        <p:nvPicPr>
          <p:cNvPr id="23" name="Image 8" descr="preencoded.png"/>
          <p:cNvPicPr>
            <a:picLocks noChangeAspect="1"/>
          </p:cNvPicPr>
          <p:nvPr/>
        </p:nvPicPr>
        <p:blipFill>
          <a:blip r:embed="rId8"/>
          <a:stretch>
            <a:fillRect/>
          </a:stretch>
        </p:blipFill>
        <p:spPr>
          <a:xfrm>
            <a:off x="710362" y="3941220"/>
            <a:ext cx="265176" cy="26517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p:spPr>
        <p:txBody>
          <a:bodyPr wrap="square" lIns="95250" tIns="95250" rIns="95250" bIns="95250" rtlCol="0" anchor="t"/>
          <a:lstStyle/>
          <a:p>
            <a:pPr marL="0" indent="0">
              <a:lnSpc>
                <a:spcPct val="113000"/>
              </a:lnSpc>
              <a:spcBef>
                <a:spcPts val="375"/>
              </a:spcBef>
              <a:buNone/>
            </a:pPr>
            <a:r>
              <a:rPr lang="en-US" sz="259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开发工具与语言</a:t>
            </a:r>
            <a:endParaRPr lang="en-US" sz="1440" dirty="0"/>
          </a:p>
        </p:txBody>
      </p:sp>
      <p:pic>
        <p:nvPicPr>
          <p:cNvPr id="3" name="Image 0" descr="preencoded.png"/>
          <p:cNvPicPr>
            <a:picLocks noChangeAspect="1"/>
          </p:cNvPicPr>
          <p:nvPr/>
        </p:nvPicPr>
        <p:blipFill>
          <a:blip r:embed="rId2"/>
          <a:stretch>
            <a:fillRect/>
          </a:stretch>
        </p:blipFill>
        <p:spPr>
          <a:xfrm>
            <a:off x="3223432" y="969009"/>
            <a:ext cx="2759752" cy="2759752"/>
          </a:xfrm>
          <a:prstGeom prst="rect">
            <a:avLst/>
          </a:prstGeom>
        </p:spPr>
      </p:pic>
      <p:pic>
        <p:nvPicPr>
          <p:cNvPr id="4" name="Image 1" descr="preencoded.png"/>
          <p:cNvPicPr>
            <a:picLocks noChangeAspect="1"/>
          </p:cNvPicPr>
          <p:nvPr/>
        </p:nvPicPr>
        <p:blipFill>
          <a:blip r:embed="rId3"/>
          <a:stretch>
            <a:fillRect/>
          </a:stretch>
        </p:blipFill>
        <p:spPr>
          <a:xfrm>
            <a:off x="3223432" y="969009"/>
            <a:ext cx="2759752" cy="2759752"/>
          </a:xfrm>
          <a:prstGeom prst="rect">
            <a:avLst/>
          </a:prstGeom>
        </p:spPr>
      </p:pic>
      <p:sp>
        <p:nvSpPr>
          <p:cNvPr id="5" name="Text 1"/>
          <p:cNvSpPr/>
          <p:nvPr/>
        </p:nvSpPr>
        <p:spPr>
          <a:xfrm>
            <a:off x="3241720" y="1781957"/>
            <a:ext cx="714089" cy="566928"/>
          </a:xfrm>
          <a:prstGeom prst="rect">
            <a:avLst/>
          </a:prstGeom>
          <a:noFill/>
        </p:spPr>
        <p:txBody>
          <a:bodyPr wrap="square" lIns="95250" tIns="95250" rIns="95250" bIns="95250" rtlCol="0" anchor="ctr">
            <a:spAutoFit/>
          </a:bodyPr>
          <a:lstStyle/>
          <a:p>
            <a:pPr marL="0" indent="0" algn="ctr">
              <a:lnSpc>
                <a:spcPct val="113000"/>
              </a:lnSpc>
              <a:spcBef>
                <a:spcPts val="375"/>
              </a:spcBef>
              <a:buNone/>
            </a:pPr>
            <a:r>
              <a:rPr lang="en-US" sz="2015"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6" name="Text 2"/>
          <p:cNvSpPr/>
          <p:nvPr/>
        </p:nvSpPr>
        <p:spPr>
          <a:xfrm>
            <a:off x="5214104" y="1781957"/>
            <a:ext cx="714089" cy="566928"/>
          </a:xfrm>
          <a:prstGeom prst="rect">
            <a:avLst/>
          </a:prstGeom>
          <a:noFill/>
        </p:spPr>
        <p:txBody>
          <a:bodyPr wrap="square" lIns="95250" tIns="95250" rIns="95250" bIns="95250" rtlCol="0" anchor="ctr">
            <a:spAutoFit/>
          </a:bodyPr>
          <a:lstStyle/>
          <a:p>
            <a:pPr marL="0" indent="0" algn="ctr">
              <a:lnSpc>
                <a:spcPct val="113000"/>
              </a:lnSpc>
              <a:spcBef>
                <a:spcPts val="375"/>
              </a:spcBef>
              <a:buNone/>
            </a:pPr>
            <a:r>
              <a:rPr lang="en-US" sz="2015"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7" name="Text 3"/>
          <p:cNvSpPr/>
          <p:nvPr/>
        </p:nvSpPr>
        <p:spPr>
          <a:xfrm>
            <a:off x="4246693" y="3087872"/>
            <a:ext cx="714089" cy="566928"/>
          </a:xfrm>
          <a:prstGeom prst="rect">
            <a:avLst/>
          </a:prstGeom>
          <a:noFill/>
        </p:spPr>
        <p:txBody>
          <a:bodyPr wrap="square" lIns="95250" tIns="95250" rIns="95250" bIns="95250" rtlCol="0" anchor="ctr">
            <a:spAutoFit/>
          </a:bodyPr>
          <a:lstStyle/>
          <a:p>
            <a:pPr marL="0" indent="0" algn="ctr">
              <a:lnSpc>
                <a:spcPct val="113000"/>
              </a:lnSpc>
              <a:spcBef>
                <a:spcPts val="375"/>
              </a:spcBef>
              <a:buNone/>
            </a:pPr>
            <a:r>
              <a:rPr lang="en-US" sz="2015"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8" name="Text 4"/>
          <p:cNvSpPr/>
          <p:nvPr/>
        </p:nvSpPr>
        <p:spPr>
          <a:xfrm>
            <a:off x="278358" y="1469441"/>
            <a:ext cx="2810028" cy="393192"/>
          </a:xfrm>
          <a:prstGeom prst="rect">
            <a:avLst/>
          </a:prstGeom>
          <a:noFill/>
        </p:spPr>
        <p:txBody>
          <a:bodyPr wrap="square" lIns="95250" tIns="95250" rIns="95250" bIns="95250" rtlCol="0" anchor="b"/>
          <a:lstStyle/>
          <a:p>
            <a:pPr marL="0" indent="0" algn="r">
              <a:lnSpc>
                <a:spcPct val="100000"/>
              </a:lnSpc>
              <a:spcBef>
                <a:spcPts val="375"/>
              </a:spcBef>
              <a:buNone/>
            </a:pPr>
            <a:r>
              <a:rPr lang="en-US" sz="158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HTML基础与应用</a:t>
            </a:r>
            <a:endParaRPr lang="en-US" sz="1440" dirty="0"/>
          </a:p>
        </p:txBody>
      </p:sp>
      <p:sp>
        <p:nvSpPr>
          <p:cNvPr id="9" name="Text 5"/>
          <p:cNvSpPr/>
          <p:nvPr/>
        </p:nvSpPr>
        <p:spPr>
          <a:xfrm>
            <a:off x="278358" y="1782166"/>
            <a:ext cx="2810028" cy="813816"/>
          </a:xfrm>
          <a:prstGeom prst="rect">
            <a:avLst/>
          </a:prstGeom>
          <a:noFill/>
        </p:spPr>
        <p:txBody>
          <a:bodyPr wrap="square" lIns="95250" tIns="95250" rIns="95250" bIns="95250" rtlCol="0" anchor="t">
            <a:spAutoFit/>
          </a:bodyPr>
          <a:lstStyle/>
          <a:p>
            <a:pPr marL="0" indent="0" algn="r">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HTML作为构建网页的基础语言，通过标记符号定义页面内容和结构。它支持各种媒体格式的嵌入，是开发静态网页的首选工具，为网站提供基本骨架。</a:t>
            </a:r>
            <a:endParaRPr lang="en-US" sz="1440" dirty="0"/>
          </a:p>
        </p:txBody>
      </p:sp>
      <p:sp>
        <p:nvSpPr>
          <p:cNvPr id="10" name="Text 6"/>
          <p:cNvSpPr/>
          <p:nvPr/>
        </p:nvSpPr>
        <p:spPr>
          <a:xfrm>
            <a:off x="6055865" y="1460240"/>
            <a:ext cx="2850672" cy="393192"/>
          </a:xfrm>
          <a:prstGeom prst="rect">
            <a:avLst/>
          </a:prstGeom>
          <a:noFill/>
        </p:spPr>
        <p:txBody>
          <a:bodyPr wrap="square" lIns="95250" tIns="95250" rIns="95250" bIns="95250" rtlCol="0" anchor="b"/>
          <a:lstStyle/>
          <a:p>
            <a:pPr marL="0" indent="0">
              <a:lnSpc>
                <a:spcPct val="100000"/>
              </a:lnSpc>
              <a:spcBef>
                <a:spcPts val="375"/>
              </a:spcBef>
              <a:buNone/>
            </a:pPr>
            <a:r>
              <a:rPr lang="en-US" sz="158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CSS样式设计</a:t>
            </a:r>
            <a:endParaRPr lang="en-US" sz="1440" dirty="0"/>
          </a:p>
        </p:txBody>
      </p:sp>
      <p:sp>
        <p:nvSpPr>
          <p:cNvPr id="11" name="Text 7"/>
          <p:cNvSpPr/>
          <p:nvPr/>
        </p:nvSpPr>
        <p:spPr>
          <a:xfrm>
            <a:off x="6055614" y="1773022"/>
            <a:ext cx="2850923" cy="81381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CSS用于设置HTML内容的视觉表现，包括布局、颜色、字体等。它使得网页更加美观且易于维护，通过外部或内部样式表实现页面元素的统一控制和动态效果。</a:t>
            </a:r>
            <a:endParaRPr lang="en-US" sz="1440" dirty="0"/>
          </a:p>
        </p:txBody>
      </p:sp>
      <p:sp>
        <p:nvSpPr>
          <p:cNvPr id="12" name="Text 8"/>
          <p:cNvSpPr/>
          <p:nvPr/>
        </p:nvSpPr>
        <p:spPr>
          <a:xfrm>
            <a:off x="1639282" y="3756193"/>
            <a:ext cx="5866175" cy="393192"/>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JavaScript交互编程</a:t>
            </a:r>
            <a:endParaRPr lang="en-US" sz="1440" dirty="0"/>
          </a:p>
        </p:txBody>
      </p:sp>
      <p:sp>
        <p:nvSpPr>
          <p:cNvPr id="13" name="Text 9"/>
          <p:cNvSpPr/>
          <p:nvPr/>
        </p:nvSpPr>
        <p:spPr>
          <a:xfrm>
            <a:off x="1609169" y="4058160"/>
            <a:ext cx="5925662" cy="60350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JavaScript是一种强大的客户端脚本语言，能够实现网页的复杂功能和用户交互。它允许开发者创建响应用户操作的动态内容，极大地提升了网站的互动性和用户体验。</a:t>
            </a:r>
            <a:endParaRPr lang="en-US" sz="14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p:spPr>
        <p:txBody>
          <a:bodyPr wrap="square" lIns="95250" tIns="95250" rIns="95250" bIns="95250" rtlCol="0" anchor="t"/>
          <a:lstStyle/>
          <a:p>
            <a:pPr marL="0" indent="0">
              <a:lnSpc>
                <a:spcPct val="113000"/>
              </a:lnSpc>
              <a:spcBef>
                <a:spcPts val="375"/>
              </a:spcBef>
              <a:buNone/>
            </a:pPr>
            <a:r>
              <a:rPr lang="en-US" sz="259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B/S架构优势</a:t>
            </a:r>
            <a:endParaRPr lang="en-US" sz="1440" dirty="0"/>
          </a:p>
        </p:txBody>
      </p:sp>
      <p:pic>
        <p:nvPicPr>
          <p:cNvPr id="3" name="Image 0" descr="preencoded.png"/>
          <p:cNvPicPr>
            <a:picLocks noChangeAspect="1"/>
          </p:cNvPicPr>
          <p:nvPr/>
        </p:nvPicPr>
        <p:blipFill>
          <a:blip r:embed="rId2"/>
          <a:stretch>
            <a:fillRect/>
          </a:stretch>
        </p:blipFill>
        <p:spPr>
          <a:xfrm>
            <a:off x="329280" y="1177557"/>
            <a:ext cx="8485441" cy="959092"/>
          </a:xfrm>
          <a:prstGeom prst="rect">
            <a:avLst/>
          </a:prstGeom>
        </p:spPr>
      </p:pic>
      <p:sp>
        <p:nvSpPr>
          <p:cNvPr id="4" name="Text 1"/>
          <p:cNvSpPr/>
          <p:nvPr/>
        </p:nvSpPr>
        <p:spPr>
          <a:xfrm>
            <a:off x="7893066" y="1106493"/>
            <a:ext cx="682508" cy="103327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4465" b="1" i="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1</a:t>
            </a:r>
            <a:endParaRPr lang="en-US" sz="1440" dirty="0"/>
          </a:p>
        </p:txBody>
      </p:sp>
      <p:sp>
        <p:nvSpPr>
          <p:cNvPr id="5" name="Shape 2"/>
          <p:cNvSpPr/>
          <p:nvPr/>
        </p:nvSpPr>
        <p:spPr>
          <a:xfrm>
            <a:off x="8821224" y="1379939"/>
            <a:ext cx="0" cy="530087"/>
          </a:xfrm>
          <a:custGeom>
            <a:avLst/>
            <a:gdLst/>
            <a:ahLst/>
            <a:cxnLst/>
            <a:rect l="l" t="t" r="r" b="b"/>
            <a:pathLst>
              <a:path h="530087">
                <a:moveTo>
                  <a:pt x="0" y="0"/>
                </a:moveTo>
                <a:moveTo>
                  <a:pt x="0" y="0"/>
                </a:moveTo>
                <a:lnTo>
                  <a:pt x="0" y="530087"/>
                </a:lnTo>
              </a:path>
            </a:pathLst>
          </a:custGeom>
          <a:noFill/>
          <a:ln w="59333">
            <a:solidFill>
              <a:srgbClr val="3D4D83"/>
            </a:solidFill>
            <a:prstDash val="solid"/>
            <a:headEnd type="none"/>
            <a:tailEnd type="none"/>
          </a:ln>
        </p:spPr>
      </p:sp>
      <p:sp>
        <p:nvSpPr>
          <p:cNvPr id="6" name="Shape 3"/>
          <p:cNvSpPr/>
          <p:nvPr/>
        </p:nvSpPr>
        <p:spPr>
          <a:xfrm>
            <a:off x="517789" y="967604"/>
            <a:ext cx="4236009" cy="417704"/>
          </a:xfrm>
          <a:custGeom>
            <a:avLst/>
            <a:gdLst/>
            <a:ahLst/>
            <a:cxnLst/>
            <a:rect l="l" t="t" r="r" b="b"/>
            <a:pathLst>
              <a:path w="4236009" h="417704">
                <a:moveTo>
                  <a:pt x="128110" y="0"/>
                </a:moveTo>
                <a:moveTo>
                  <a:pt x="128110" y="0"/>
                </a:moveTo>
                <a:lnTo>
                  <a:pt x="4107899" y="0"/>
                </a:lnTo>
                <a:quadBezTo>
                  <a:pt x="4236009" y="0"/>
                  <a:pt x="4236009" y="128110"/>
                </a:quadBezTo>
                <a:lnTo>
                  <a:pt x="4236009" y="289594"/>
                </a:lnTo>
                <a:quadBezTo>
                  <a:pt x="4236009" y="417704"/>
                  <a:pt x="4107899" y="417704"/>
                </a:quadBezTo>
                <a:lnTo>
                  <a:pt x="128110" y="417704"/>
                </a:lnTo>
                <a:quadBezTo>
                  <a:pt x="0" y="417704"/>
                  <a:pt x="0" y="289594"/>
                </a:quadBezTo>
                <a:lnTo>
                  <a:pt x="0" y="128110"/>
                </a:lnTo>
                <a:quadBezTo>
                  <a:pt x="0" y="0"/>
                  <a:pt x="128110" y="0"/>
                </a:quadBezTo>
                <a:close/>
              </a:path>
            </a:pathLst>
          </a:custGeom>
          <a:solidFill>
            <a:srgbClr val="3D4D83"/>
          </a:solidFill>
        </p:spPr>
      </p:sp>
      <p:sp>
        <p:nvSpPr>
          <p:cNvPr id="7" name="Shape 4"/>
          <p:cNvSpPr/>
          <p:nvPr/>
        </p:nvSpPr>
        <p:spPr>
          <a:xfrm>
            <a:off x="5119699" y="1356828"/>
            <a:ext cx="828261" cy="0"/>
          </a:xfrm>
          <a:custGeom>
            <a:avLst/>
            <a:gdLst/>
            <a:ahLst/>
            <a:cxnLst/>
            <a:rect l="l" t="t" r="r" b="b"/>
            <a:pathLst>
              <a:path w="828261">
                <a:moveTo>
                  <a:pt x="0" y="0"/>
                </a:moveTo>
                <a:moveTo>
                  <a:pt x="0" y="0"/>
                </a:moveTo>
                <a:lnTo>
                  <a:pt x="828261" y="0"/>
                </a:lnTo>
              </a:path>
            </a:pathLst>
          </a:custGeom>
          <a:noFill/>
          <a:ln w="19778">
            <a:solidFill>
              <a:srgbClr val="3D4D83">
                <a:alpha val="10196"/>
              </a:srgbClr>
            </a:solidFill>
            <a:prstDash val="solid"/>
            <a:headEnd type="none"/>
            <a:tailEnd type="none"/>
          </a:ln>
        </p:spPr>
      </p:sp>
      <p:pic>
        <p:nvPicPr>
          <p:cNvPr id="8" name="Image 1" descr="preencoded.png"/>
          <p:cNvPicPr>
            <a:picLocks noChangeAspect="1"/>
          </p:cNvPicPr>
          <p:nvPr/>
        </p:nvPicPr>
        <p:blipFill>
          <a:blip r:embed="rId3"/>
          <a:stretch>
            <a:fillRect/>
          </a:stretch>
        </p:blipFill>
        <p:spPr>
          <a:xfrm>
            <a:off x="357001" y="2483684"/>
            <a:ext cx="8485441" cy="959092"/>
          </a:xfrm>
          <a:prstGeom prst="rect">
            <a:avLst/>
          </a:prstGeom>
        </p:spPr>
      </p:pic>
      <p:sp>
        <p:nvSpPr>
          <p:cNvPr id="9" name="Text 5"/>
          <p:cNvSpPr/>
          <p:nvPr/>
        </p:nvSpPr>
        <p:spPr>
          <a:xfrm>
            <a:off x="490731" y="2412620"/>
            <a:ext cx="682508" cy="103327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4465" b="1" i="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2</a:t>
            </a:r>
            <a:endParaRPr lang="en-US" sz="1440" dirty="0"/>
          </a:p>
        </p:txBody>
      </p:sp>
      <p:sp>
        <p:nvSpPr>
          <p:cNvPr id="10" name="Shape 6"/>
          <p:cNvSpPr/>
          <p:nvPr/>
        </p:nvSpPr>
        <p:spPr>
          <a:xfrm>
            <a:off x="355674" y="2688063"/>
            <a:ext cx="0" cy="530087"/>
          </a:xfrm>
          <a:custGeom>
            <a:avLst/>
            <a:gdLst/>
            <a:ahLst/>
            <a:cxnLst/>
            <a:rect l="l" t="t" r="r" b="b"/>
            <a:pathLst>
              <a:path h="530087">
                <a:moveTo>
                  <a:pt x="0" y="0"/>
                </a:moveTo>
                <a:moveTo>
                  <a:pt x="0" y="0"/>
                </a:moveTo>
                <a:lnTo>
                  <a:pt x="0" y="530087"/>
                </a:lnTo>
              </a:path>
            </a:pathLst>
          </a:custGeom>
          <a:noFill/>
          <a:ln w="59333">
            <a:solidFill>
              <a:srgbClr val="949BF0"/>
            </a:solidFill>
            <a:prstDash val="solid"/>
            <a:headEnd type="none"/>
            <a:tailEnd type="none"/>
          </a:ln>
        </p:spPr>
      </p:sp>
      <p:sp>
        <p:nvSpPr>
          <p:cNvPr id="11" name="Shape 7"/>
          <p:cNvSpPr/>
          <p:nvPr/>
        </p:nvSpPr>
        <p:spPr>
          <a:xfrm>
            <a:off x="4181712" y="2274832"/>
            <a:ext cx="4235897" cy="417704"/>
          </a:xfrm>
          <a:custGeom>
            <a:avLst/>
            <a:gdLst/>
            <a:ahLst/>
            <a:cxnLst/>
            <a:rect l="l" t="t" r="r" b="b"/>
            <a:pathLst>
              <a:path w="4235897" h="417704">
                <a:moveTo>
                  <a:pt x="128110" y="0"/>
                </a:moveTo>
                <a:moveTo>
                  <a:pt x="128110" y="0"/>
                </a:moveTo>
                <a:lnTo>
                  <a:pt x="4107787" y="0"/>
                </a:lnTo>
                <a:quadBezTo>
                  <a:pt x="4235897" y="0"/>
                  <a:pt x="4235897" y="128110"/>
                </a:quadBezTo>
                <a:lnTo>
                  <a:pt x="4235897" y="289594"/>
                </a:lnTo>
                <a:quadBezTo>
                  <a:pt x="4235897" y="417704"/>
                  <a:pt x="4107787" y="417704"/>
                </a:quadBezTo>
                <a:lnTo>
                  <a:pt x="128110" y="417704"/>
                </a:lnTo>
                <a:quadBezTo>
                  <a:pt x="0" y="417704"/>
                  <a:pt x="0" y="289594"/>
                </a:quadBezTo>
                <a:lnTo>
                  <a:pt x="0" y="128110"/>
                </a:lnTo>
                <a:quadBezTo>
                  <a:pt x="0" y="0"/>
                  <a:pt x="128110" y="0"/>
                </a:quadBezTo>
                <a:close/>
              </a:path>
            </a:pathLst>
          </a:custGeom>
          <a:solidFill>
            <a:srgbClr val="949BF0"/>
          </a:solidFill>
        </p:spPr>
      </p:sp>
      <p:sp>
        <p:nvSpPr>
          <p:cNvPr id="12" name="Shape 8"/>
          <p:cNvSpPr/>
          <p:nvPr/>
        </p:nvSpPr>
        <p:spPr>
          <a:xfrm>
            <a:off x="2950918" y="2649816"/>
            <a:ext cx="828261" cy="0"/>
          </a:xfrm>
          <a:custGeom>
            <a:avLst/>
            <a:gdLst/>
            <a:ahLst/>
            <a:cxnLst/>
            <a:rect l="l" t="t" r="r" b="b"/>
            <a:pathLst>
              <a:path w="828261">
                <a:moveTo>
                  <a:pt x="0" y="0"/>
                </a:moveTo>
                <a:moveTo>
                  <a:pt x="0" y="0"/>
                </a:moveTo>
                <a:lnTo>
                  <a:pt x="828261" y="0"/>
                </a:lnTo>
              </a:path>
            </a:pathLst>
          </a:custGeom>
          <a:noFill/>
          <a:ln w="19778">
            <a:solidFill>
              <a:srgbClr val="3D4D83">
                <a:alpha val="10196"/>
              </a:srgbClr>
            </a:solidFill>
            <a:prstDash val="solid"/>
            <a:headEnd type="none"/>
            <a:tailEnd type="none"/>
          </a:ln>
        </p:spPr>
      </p:sp>
      <p:pic>
        <p:nvPicPr>
          <p:cNvPr id="13" name="Image 2" descr="preencoded.png"/>
          <p:cNvPicPr>
            <a:picLocks noChangeAspect="1"/>
          </p:cNvPicPr>
          <p:nvPr/>
        </p:nvPicPr>
        <p:blipFill>
          <a:blip r:embed="rId2"/>
          <a:stretch>
            <a:fillRect/>
          </a:stretch>
        </p:blipFill>
        <p:spPr>
          <a:xfrm>
            <a:off x="301558" y="3790912"/>
            <a:ext cx="8485441" cy="959092"/>
          </a:xfrm>
          <a:prstGeom prst="rect">
            <a:avLst/>
          </a:prstGeom>
        </p:spPr>
      </p:pic>
      <p:sp>
        <p:nvSpPr>
          <p:cNvPr id="14" name="Text 9"/>
          <p:cNvSpPr/>
          <p:nvPr/>
        </p:nvSpPr>
        <p:spPr>
          <a:xfrm>
            <a:off x="7866008" y="3719848"/>
            <a:ext cx="682508" cy="103327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4465" b="1" i="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1440" dirty="0"/>
          </a:p>
        </p:txBody>
      </p:sp>
      <p:sp>
        <p:nvSpPr>
          <p:cNvPr id="15" name="Shape 10"/>
          <p:cNvSpPr/>
          <p:nvPr/>
        </p:nvSpPr>
        <p:spPr>
          <a:xfrm>
            <a:off x="8794166" y="3993294"/>
            <a:ext cx="0" cy="530087"/>
          </a:xfrm>
          <a:custGeom>
            <a:avLst/>
            <a:gdLst/>
            <a:ahLst/>
            <a:cxnLst/>
            <a:rect l="l" t="t" r="r" b="b"/>
            <a:pathLst>
              <a:path h="530087">
                <a:moveTo>
                  <a:pt x="0" y="0"/>
                </a:moveTo>
                <a:moveTo>
                  <a:pt x="0" y="0"/>
                </a:moveTo>
                <a:lnTo>
                  <a:pt x="0" y="530087"/>
                </a:lnTo>
              </a:path>
            </a:pathLst>
          </a:custGeom>
          <a:noFill/>
          <a:ln w="59333">
            <a:solidFill>
              <a:srgbClr val="3D4D83"/>
            </a:solidFill>
            <a:prstDash val="solid"/>
            <a:headEnd type="none"/>
            <a:tailEnd type="none"/>
          </a:ln>
        </p:spPr>
      </p:sp>
      <p:sp>
        <p:nvSpPr>
          <p:cNvPr id="16" name="Shape 11"/>
          <p:cNvSpPr/>
          <p:nvPr/>
        </p:nvSpPr>
        <p:spPr>
          <a:xfrm>
            <a:off x="5135088" y="3951197"/>
            <a:ext cx="828261" cy="0"/>
          </a:xfrm>
          <a:custGeom>
            <a:avLst/>
            <a:gdLst/>
            <a:ahLst/>
            <a:cxnLst/>
            <a:rect l="l" t="t" r="r" b="b"/>
            <a:pathLst>
              <a:path w="828261">
                <a:moveTo>
                  <a:pt x="0" y="0"/>
                </a:moveTo>
                <a:moveTo>
                  <a:pt x="0" y="0"/>
                </a:moveTo>
                <a:lnTo>
                  <a:pt x="828261" y="0"/>
                </a:lnTo>
              </a:path>
            </a:pathLst>
          </a:custGeom>
          <a:noFill/>
          <a:ln w="19778">
            <a:solidFill>
              <a:srgbClr val="3D4D83">
                <a:alpha val="10196"/>
              </a:srgbClr>
            </a:solidFill>
            <a:prstDash val="solid"/>
            <a:headEnd type="none"/>
            <a:tailEnd type="none"/>
          </a:ln>
        </p:spPr>
      </p:sp>
      <p:sp>
        <p:nvSpPr>
          <p:cNvPr id="17" name="Shape 12"/>
          <p:cNvSpPr/>
          <p:nvPr/>
        </p:nvSpPr>
        <p:spPr>
          <a:xfrm>
            <a:off x="490731" y="3580959"/>
            <a:ext cx="4235897" cy="417704"/>
          </a:xfrm>
          <a:custGeom>
            <a:avLst/>
            <a:gdLst/>
            <a:ahLst/>
            <a:cxnLst/>
            <a:rect l="l" t="t" r="r" b="b"/>
            <a:pathLst>
              <a:path w="4235897" h="417704">
                <a:moveTo>
                  <a:pt x="128110" y="0"/>
                </a:moveTo>
                <a:moveTo>
                  <a:pt x="128110" y="0"/>
                </a:moveTo>
                <a:lnTo>
                  <a:pt x="4107787" y="0"/>
                </a:lnTo>
                <a:quadBezTo>
                  <a:pt x="4235897" y="0"/>
                  <a:pt x="4235897" y="128110"/>
                </a:quadBezTo>
                <a:lnTo>
                  <a:pt x="4235897" y="289594"/>
                </a:lnTo>
                <a:quadBezTo>
                  <a:pt x="4235897" y="417704"/>
                  <a:pt x="4107787" y="417704"/>
                </a:quadBezTo>
                <a:lnTo>
                  <a:pt x="128110" y="417704"/>
                </a:lnTo>
                <a:quadBezTo>
                  <a:pt x="0" y="417704"/>
                  <a:pt x="0" y="289594"/>
                </a:quadBezTo>
                <a:lnTo>
                  <a:pt x="0" y="128110"/>
                </a:lnTo>
                <a:quadBezTo>
                  <a:pt x="0" y="0"/>
                  <a:pt x="128110" y="0"/>
                </a:quadBezTo>
                <a:close/>
              </a:path>
            </a:pathLst>
          </a:custGeom>
          <a:solidFill>
            <a:srgbClr val="3D4D83"/>
          </a:solidFill>
        </p:spPr>
      </p:sp>
      <p:sp>
        <p:nvSpPr>
          <p:cNvPr id="18" name="Text 13"/>
          <p:cNvSpPr/>
          <p:nvPr/>
        </p:nvSpPr>
        <p:spPr>
          <a:xfrm>
            <a:off x="517789" y="967604"/>
            <a:ext cx="4235897" cy="389224"/>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跨平台性</a:t>
            </a:r>
            <a:endParaRPr lang="en-US" sz="1440" dirty="0"/>
          </a:p>
        </p:txBody>
      </p:sp>
      <p:sp>
        <p:nvSpPr>
          <p:cNvPr id="19" name="Text 14"/>
          <p:cNvSpPr/>
          <p:nvPr/>
        </p:nvSpPr>
        <p:spPr>
          <a:xfrm>
            <a:off x="517789" y="1378221"/>
            <a:ext cx="7137907"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B/S架构的应用通过浏览器操作，支持几乎所有操作系统，确保了不同设备和系统间的无缝使用，极大提升了应用的可访问性和便利性。</a:t>
            </a:r>
            <a:endParaRPr lang="en-US" sz="1440" dirty="0"/>
          </a:p>
        </p:txBody>
      </p:sp>
      <p:sp>
        <p:nvSpPr>
          <p:cNvPr id="20" name="Text 15"/>
          <p:cNvSpPr/>
          <p:nvPr/>
        </p:nvSpPr>
        <p:spPr>
          <a:xfrm>
            <a:off x="4181712" y="2289072"/>
            <a:ext cx="4235897" cy="389224"/>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易于维护和升级</a:t>
            </a:r>
            <a:endParaRPr lang="en-US" sz="1440" dirty="0"/>
          </a:p>
        </p:txBody>
      </p:sp>
      <p:sp>
        <p:nvSpPr>
          <p:cNvPr id="21" name="Text 16"/>
          <p:cNvSpPr/>
          <p:nvPr/>
        </p:nvSpPr>
        <p:spPr>
          <a:xfrm>
            <a:off x="1179396" y="2692365"/>
            <a:ext cx="7212987" cy="393192"/>
          </a:xfrm>
          <a:prstGeom prst="rect">
            <a:avLst/>
          </a:prstGeom>
          <a:noFill/>
        </p:spPr>
        <p:txBody>
          <a:bodyPr wrap="square" lIns="95250" tIns="95250" rIns="95250" bIns="95250" rtlCol="0" anchor="t">
            <a:spAutoFit/>
          </a:bodyPr>
          <a:lstStyle/>
          <a:p>
            <a:pPr marL="0" indent="0" algn="r">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在B/S架构中，业务逻辑和数据处理集中在服务器端，使得更新和维护工作只需在服务器进行，简化了维护流程，降低了成本。</a:t>
            </a:r>
            <a:endParaRPr lang="en-US" sz="1440" dirty="0"/>
          </a:p>
        </p:txBody>
      </p:sp>
      <p:sp>
        <p:nvSpPr>
          <p:cNvPr id="22" name="Text 17"/>
          <p:cNvSpPr/>
          <p:nvPr/>
        </p:nvSpPr>
        <p:spPr>
          <a:xfrm>
            <a:off x="490731" y="3580959"/>
            <a:ext cx="4235897" cy="389224"/>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成本效益</a:t>
            </a:r>
            <a:endParaRPr lang="en-US" sz="1440" dirty="0"/>
          </a:p>
        </p:txBody>
      </p:sp>
      <p:sp>
        <p:nvSpPr>
          <p:cNvPr id="23" name="Text 18"/>
          <p:cNvSpPr/>
          <p:nvPr/>
        </p:nvSpPr>
        <p:spPr>
          <a:xfrm>
            <a:off x="490731" y="3991576"/>
            <a:ext cx="7192023"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相较于C/S架构，B/S架构减少了客户端软件的安装和维护成本，用户仅需一个浏览器即可访问系统，有效降低了总体拥有成本。</a:t>
            </a:r>
            <a:endParaRPr lang="en-US" sz="14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91482" y="2114883"/>
            <a:ext cx="1085027" cy="731520"/>
          </a:xfrm>
          <a:prstGeom prst="rect">
            <a:avLst/>
          </a:prstGeom>
          <a:noFill/>
        </p:spPr>
        <p:txBody>
          <a:bodyPr wrap="square" lIns="95250" tIns="95250" rIns="95250" bIns="95250" rtlCol="0" anchor="t"/>
          <a:lstStyle/>
          <a:p>
            <a:pPr marL="0" indent="0" algn="ctr">
              <a:lnSpc>
                <a:spcPct val="100000"/>
              </a:lnSpc>
              <a:spcBef>
                <a:spcPts val="375"/>
              </a:spcBef>
              <a:buNone/>
            </a:pPr>
            <a:r>
              <a:rPr lang="en-US" sz="4320" b="1" dirty="0">
                <a:solidFill>
                  <a:srgbClr val="2E3E74"/>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3" name="Text 1"/>
          <p:cNvSpPr/>
          <p:nvPr/>
        </p:nvSpPr>
        <p:spPr>
          <a:xfrm>
            <a:off x="1376509" y="2114883"/>
            <a:ext cx="7241265" cy="731520"/>
          </a:xfrm>
          <a:prstGeom prst="rect">
            <a:avLst/>
          </a:prstGeom>
          <a:noFill/>
        </p:spPr>
        <p:txBody>
          <a:bodyPr wrap="square" lIns="95250" tIns="95250" rIns="95250" bIns="95250" rtlCol="0" anchor="t"/>
          <a:lstStyle/>
          <a:p>
            <a:pPr marL="0" indent="0">
              <a:lnSpc>
                <a:spcPct val="113000"/>
              </a:lnSpc>
              <a:spcBef>
                <a:spcPts val="375"/>
              </a:spcBef>
              <a:buNone/>
            </a:pPr>
            <a:r>
              <a:rPr lang="en-US" sz="288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系统设计与实现</a:t>
            </a:r>
            <a:endParaRPr lang="en-US" sz="14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p:spPr>
        <p:txBody>
          <a:bodyPr wrap="square" lIns="95250" tIns="95250" rIns="95250" bIns="95250" rtlCol="0" anchor="t"/>
          <a:lstStyle/>
          <a:p>
            <a:pPr marL="0" indent="0">
              <a:lnSpc>
                <a:spcPct val="113000"/>
              </a:lnSpc>
              <a:spcBef>
                <a:spcPts val="375"/>
              </a:spcBef>
              <a:buNone/>
            </a:pPr>
            <a:r>
              <a:rPr lang="en-US" sz="259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核心功能设计</a:t>
            </a:r>
            <a:endParaRPr lang="en-US" sz="1440" dirty="0"/>
          </a:p>
        </p:txBody>
      </p:sp>
      <p:sp>
        <p:nvSpPr>
          <p:cNvPr id="3" name="Shape 1"/>
          <p:cNvSpPr/>
          <p:nvPr/>
        </p:nvSpPr>
        <p:spPr>
          <a:xfrm>
            <a:off x="4605633" y="2476271"/>
            <a:ext cx="0" cy="337765"/>
          </a:xfrm>
          <a:custGeom>
            <a:avLst/>
            <a:gdLst/>
            <a:ahLst/>
            <a:cxnLst/>
            <a:rect l="l" t="t" r="r" b="b"/>
            <a:pathLst>
              <a:path h="337765">
                <a:moveTo>
                  <a:pt x="0" y="0"/>
                </a:moveTo>
                <a:moveTo>
                  <a:pt x="0" y="0"/>
                </a:moveTo>
                <a:lnTo>
                  <a:pt x="0" y="337765"/>
                </a:lnTo>
              </a:path>
            </a:pathLst>
          </a:custGeom>
          <a:noFill/>
          <a:ln w="9525">
            <a:solidFill>
              <a:srgbClr val="A0A9B5"/>
            </a:solidFill>
            <a:prstDash val="solid"/>
            <a:headEnd type="none"/>
            <a:tailEnd type="arrow"/>
          </a:ln>
        </p:spPr>
      </p:sp>
      <p:sp>
        <p:nvSpPr>
          <p:cNvPr id="4" name="Shape 2"/>
          <p:cNvSpPr/>
          <p:nvPr/>
        </p:nvSpPr>
        <p:spPr>
          <a:xfrm>
            <a:off x="1277853" y="996893"/>
            <a:ext cx="849980" cy="849980"/>
          </a:xfrm>
          <a:custGeom>
            <a:avLst/>
            <a:gdLst/>
            <a:ahLst/>
            <a:cxnLst/>
            <a:rect l="l" t="t" r="r" b="b"/>
            <a:pathLst>
              <a:path w="849980" h="849980">
                <a:moveTo>
                  <a:pt x="424990" y="0"/>
                </a:moveTo>
                <a:moveTo>
                  <a:pt x="424990" y="0"/>
                </a:moveTo>
                <a:cubicBezTo>
                  <a:pt x="659549" y="0"/>
                  <a:pt x="849980" y="190432"/>
                  <a:pt x="849980" y="424990"/>
                </a:cubicBezTo>
                <a:cubicBezTo>
                  <a:pt x="849980" y="659549"/>
                  <a:pt x="659549" y="849980"/>
                  <a:pt x="424990" y="849980"/>
                </a:cubicBezTo>
                <a:cubicBezTo>
                  <a:pt x="190432" y="849980"/>
                  <a:pt x="0" y="659549"/>
                  <a:pt x="0" y="424990"/>
                </a:cubicBezTo>
                <a:cubicBezTo>
                  <a:pt x="0" y="190432"/>
                  <a:pt x="190432" y="0"/>
                  <a:pt x="424990" y="0"/>
                </a:cubicBezTo>
                <a:close/>
              </a:path>
            </a:pathLst>
          </a:custGeom>
          <a:solidFill>
            <a:srgbClr val="949BF0"/>
          </a:solidFill>
        </p:spPr>
      </p:sp>
      <p:sp>
        <p:nvSpPr>
          <p:cNvPr id="5" name="Shape 3"/>
          <p:cNvSpPr/>
          <p:nvPr/>
        </p:nvSpPr>
        <p:spPr>
          <a:xfrm>
            <a:off x="4170327" y="2964042"/>
            <a:ext cx="849980" cy="849980"/>
          </a:xfrm>
          <a:custGeom>
            <a:avLst/>
            <a:gdLst/>
            <a:ahLst/>
            <a:cxnLst/>
            <a:rect l="l" t="t" r="r" b="b"/>
            <a:pathLst>
              <a:path w="849980" h="849980">
                <a:moveTo>
                  <a:pt x="424990" y="0"/>
                </a:moveTo>
                <a:moveTo>
                  <a:pt x="424990" y="0"/>
                </a:moveTo>
                <a:cubicBezTo>
                  <a:pt x="659549" y="0"/>
                  <a:pt x="849980" y="190432"/>
                  <a:pt x="849980" y="424990"/>
                </a:cubicBezTo>
                <a:cubicBezTo>
                  <a:pt x="849980" y="659549"/>
                  <a:pt x="659549" y="849980"/>
                  <a:pt x="424990" y="849980"/>
                </a:cubicBezTo>
                <a:cubicBezTo>
                  <a:pt x="190432" y="849980"/>
                  <a:pt x="0" y="659549"/>
                  <a:pt x="0" y="424990"/>
                </a:cubicBezTo>
                <a:cubicBezTo>
                  <a:pt x="0" y="190432"/>
                  <a:pt x="190432" y="0"/>
                  <a:pt x="424990" y="0"/>
                </a:cubicBezTo>
                <a:close/>
              </a:path>
            </a:pathLst>
          </a:custGeom>
          <a:solidFill>
            <a:srgbClr val="949BF0"/>
          </a:solidFill>
        </p:spPr>
      </p:sp>
      <p:sp>
        <p:nvSpPr>
          <p:cNvPr id="6" name="Shape 4"/>
          <p:cNvSpPr/>
          <p:nvPr/>
        </p:nvSpPr>
        <p:spPr>
          <a:xfrm>
            <a:off x="2526406" y="1416515"/>
            <a:ext cx="1354237" cy="251800"/>
          </a:xfrm>
          <a:custGeom>
            <a:avLst/>
            <a:gdLst/>
            <a:ahLst/>
            <a:cxnLst/>
            <a:rect l="l" t="t" r="r" b="b"/>
            <a:pathLst>
              <a:path w="1354237" h="251800">
                <a:moveTo>
                  <a:pt x="1354237" y="251800"/>
                </a:moveTo>
                <a:moveTo>
                  <a:pt x="1354237" y="251800"/>
                </a:moveTo>
                <a:lnTo>
                  <a:pt x="0" y="0"/>
                </a:lnTo>
              </a:path>
            </a:pathLst>
          </a:custGeom>
          <a:noFill/>
          <a:ln w="9525">
            <a:solidFill>
              <a:srgbClr val="A0A9B5"/>
            </a:solidFill>
            <a:prstDash val="solid"/>
            <a:headEnd type="none"/>
            <a:tailEnd type="arrow"/>
          </a:ln>
        </p:spPr>
      </p:sp>
      <p:sp>
        <p:nvSpPr>
          <p:cNvPr id="7" name="Shape 5"/>
          <p:cNvSpPr/>
          <p:nvPr/>
        </p:nvSpPr>
        <p:spPr>
          <a:xfrm>
            <a:off x="3833940" y="996893"/>
            <a:ext cx="1543386" cy="1543386"/>
          </a:xfrm>
          <a:custGeom>
            <a:avLst/>
            <a:gdLst/>
            <a:ahLst/>
            <a:cxnLst/>
            <a:rect l="l" t="t" r="r" b="b"/>
            <a:pathLst>
              <a:path w="1543386" h="1543386">
                <a:moveTo>
                  <a:pt x="771693" y="0"/>
                </a:moveTo>
                <a:moveTo>
                  <a:pt x="771693" y="0"/>
                </a:moveTo>
                <a:cubicBezTo>
                  <a:pt x="1197602" y="0"/>
                  <a:pt x="1543386" y="345784"/>
                  <a:pt x="1543386" y="771693"/>
                </a:cubicBezTo>
                <a:cubicBezTo>
                  <a:pt x="1543386" y="1197602"/>
                  <a:pt x="1197602" y="1543386"/>
                  <a:pt x="771693" y="1543386"/>
                </a:cubicBezTo>
                <a:cubicBezTo>
                  <a:pt x="345784" y="1543386"/>
                  <a:pt x="0" y="1197602"/>
                  <a:pt x="0" y="771693"/>
                </a:cubicBezTo>
                <a:cubicBezTo>
                  <a:pt x="0" y="345784"/>
                  <a:pt x="345784" y="0"/>
                  <a:pt x="771693" y="0"/>
                </a:cubicBezTo>
                <a:close/>
              </a:path>
            </a:pathLst>
          </a:custGeom>
          <a:solidFill>
            <a:srgbClr val="3D4D83"/>
          </a:solidFill>
        </p:spPr>
      </p:sp>
      <p:pic>
        <p:nvPicPr>
          <p:cNvPr id="8" name="Image 0" descr="preencoded.png"/>
          <p:cNvPicPr>
            <a:picLocks noChangeAspect="1"/>
          </p:cNvPicPr>
          <p:nvPr/>
        </p:nvPicPr>
        <p:blipFill>
          <a:blip r:embed="rId2"/>
          <a:stretch>
            <a:fillRect/>
          </a:stretch>
        </p:blipFill>
        <p:spPr>
          <a:xfrm>
            <a:off x="4209273" y="1372227"/>
            <a:ext cx="792719" cy="792719"/>
          </a:xfrm>
          <a:prstGeom prst="rect">
            <a:avLst/>
          </a:prstGeom>
        </p:spPr>
      </p:pic>
      <p:pic>
        <p:nvPicPr>
          <p:cNvPr id="9" name="Image 1" descr="preencoded.png"/>
          <p:cNvPicPr>
            <a:picLocks noChangeAspect="1"/>
          </p:cNvPicPr>
          <p:nvPr/>
        </p:nvPicPr>
        <p:blipFill>
          <a:blip r:embed="rId3"/>
          <a:stretch>
            <a:fillRect/>
          </a:stretch>
        </p:blipFill>
        <p:spPr>
          <a:xfrm>
            <a:off x="4345020" y="3138735"/>
            <a:ext cx="500594" cy="500594"/>
          </a:xfrm>
          <a:prstGeom prst="rect">
            <a:avLst/>
          </a:prstGeom>
        </p:spPr>
      </p:pic>
      <p:pic>
        <p:nvPicPr>
          <p:cNvPr id="10" name="Image 2" descr="preencoded.png"/>
          <p:cNvPicPr>
            <a:picLocks noChangeAspect="1"/>
          </p:cNvPicPr>
          <p:nvPr/>
        </p:nvPicPr>
        <p:blipFill>
          <a:blip r:embed="rId4"/>
          <a:stretch>
            <a:fillRect/>
          </a:stretch>
        </p:blipFill>
        <p:spPr>
          <a:xfrm>
            <a:off x="1452547" y="1171587"/>
            <a:ext cx="500594" cy="500594"/>
          </a:xfrm>
          <a:prstGeom prst="rect">
            <a:avLst/>
          </a:prstGeom>
        </p:spPr>
      </p:pic>
      <p:sp>
        <p:nvSpPr>
          <p:cNvPr id="11" name="Shape 6"/>
          <p:cNvSpPr/>
          <p:nvPr/>
        </p:nvSpPr>
        <p:spPr>
          <a:xfrm>
            <a:off x="7057314" y="996893"/>
            <a:ext cx="849980" cy="849980"/>
          </a:xfrm>
          <a:custGeom>
            <a:avLst/>
            <a:gdLst/>
            <a:ahLst/>
            <a:cxnLst/>
            <a:rect l="l" t="t" r="r" b="b"/>
            <a:pathLst>
              <a:path w="849980" h="849980">
                <a:moveTo>
                  <a:pt x="424990" y="0"/>
                </a:moveTo>
                <a:moveTo>
                  <a:pt x="424990" y="0"/>
                </a:moveTo>
                <a:cubicBezTo>
                  <a:pt x="659549" y="0"/>
                  <a:pt x="849980" y="190432"/>
                  <a:pt x="849980" y="424990"/>
                </a:cubicBezTo>
                <a:cubicBezTo>
                  <a:pt x="849980" y="659549"/>
                  <a:pt x="659549" y="849980"/>
                  <a:pt x="424990" y="849980"/>
                </a:cubicBezTo>
                <a:cubicBezTo>
                  <a:pt x="190432" y="849980"/>
                  <a:pt x="0" y="659549"/>
                  <a:pt x="0" y="424990"/>
                </a:cubicBezTo>
                <a:cubicBezTo>
                  <a:pt x="0" y="190432"/>
                  <a:pt x="190432" y="0"/>
                  <a:pt x="424990" y="0"/>
                </a:cubicBezTo>
                <a:close/>
              </a:path>
            </a:pathLst>
          </a:custGeom>
          <a:solidFill>
            <a:srgbClr val="949BF0"/>
          </a:solidFill>
        </p:spPr>
      </p:sp>
      <p:pic>
        <p:nvPicPr>
          <p:cNvPr id="12" name="Image 3" descr="preencoded.png"/>
          <p:cNvPicPr>
            <a:picLocks noChangeAspect="1"/>
          </p:cNvPicPr>
          <p:nvPr/>
        </p:nvPicPr>
        <p:blipFill>
          <a:blip r:embed="rId5"/>
          <a:stretch>
            <a:fillRect/>
          </a:stretch>
        </p:blipFill>
        <p:spPr>
          <a:xfrm>
            <a:off x="7232008" y="1171587"/>
            <a:ext cx="500594" cy="500594"/>
          </a:xfrm>
          <a:prstGeom prst="rect">
            <a:avLst/>
          </a:prstGeom>
        </p:spPr>
      </p:pic>
      <p:sp>
        <p:nvSpPr>
          <p:cNvPr id="13" name="Shape 7"/>
          <p:cNvSpPr/>
          <p:nvPr/>
        </p:nvSpPr>
        <p:spPr>
          <a:xfrm>
            <a:off x="5377325" y="1414343"/>
            <a:ext cx="1221223" cy="253972"/>
          </a:xfrm>
          <a:custGeom>
            <a:avLst/>
            <a:gdLst/>
            <a:ahLst/>
            <a:cxnLst/>
            <a:rect l="l" t="t" r="r" b="b"/>
            <a:pathLst>
              <a:path w="1221223" h="253972">
                <a:moveTo>
                  <a:pt x="0" y="253972"/>
                </a:moveTo>
                <a:moveTo>
                  <a:pt x="0" y="253972"/>
                </a:moveTo>
                <a:lnTo>
                  <a:pt x="1221223" y="0"/>
                </a:lnTo>
              </a:path>
            </a:pathLst>
          </a:custGeom>
          <a:noFill/>
          <a:ln w="9525">
            <a:solidFill>
              <a:srgbClr val="A0A9B5"/>
            </a:solidFill>
            <a:prstDash val="solid"/>
            <a:headEnd type="none"/>
            <a:tailEnd type="arrow"/>
          </a:ln>
        </p:spPr>
      </p:sp>
      <p:sp>
        <p:nvSpPr>
          <p:cNvPr id="14" name="Text 8"/>
          <p:cNvSpPr/>
          <p:nvPr/>
        </p:nvSpPr>
        <p:spPr>
          <a:xfrm>
            <a:off x="293876" y="1944929"/>
            <a:ext cx="2700304"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用户管理功能</a:t>
            </a:r>
            <a:endParaRPr lang="en-US" sz="1440" dirty="0"/>
          </a:p>
        </p:txBody>
      </p:sp>
      <p:sp>
        <p:nvSpPr>
          <p:cNvPr id="15" name="Text 9"/>
          <p:cNvSpPr/>
          <p:nvPr/>
        </p:nvSpPr>
        <p:spPr>
          <a:xfrm>
            <a:off x="268784" y="2346822"/>
            <a:ext cx="2724431" cy="81381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01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用户管理功能是核心设计之一，包括注册登录和个人信息设置等，确保用户能安全便捷地使用平台，同时保护个人隐私。</a:t>
            </a:r>
            <a:endParaRPr lang="en-US" sz="1440" dirty="0"/>
          </a:p>
        </p:txBody>
      </p:sp>
      <p:sp>
        <p:nvSpPr>
          <p:cNvPr id="16" name="Text 10"/>
          <p:cNvSpPr/>
          <p:nvPr/>
        </p:nvSpPr>
        <p:spPr>
          <a:xfrm>
            <a:off x="6191629" y="1945308"/>
            <a:ext cx="2683587"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好友与群组互动</a:t>
            </a:r>
            <a:endParaRPr lang="en-US" sz="1440" dirty="0"/>
          </a:p>
        </p:txBody>
      </p:sp>
      <p:sp>
        <p:nvSpPr>
          <p:cNvPr id="17" name="Text 11"/>
          <p:cNvSpPr/>
          <p:nvPr/>
        </p:nvSpPr>
        <p:spPr>
          <a:xfrm>
            <a:off x="6191629" y="2346822"/>
            <a:ext cx="2683587" cy="81381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01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通过好友管理和群组管理，用户可以添加好友、创建群聊和管理群信息，增强用户间的互动和沟通，提升社交体验。</a:t>
            </a:r>
            <a:endParaRPr lang="en-US" sz="1440" dirty="0"/>
          </a:p>
        </p:txBody>
      </p:sp>
      <p:sp>
        <p:nvSpPr>
          <p:cNvPr id="18" name="Text 12"/>
          <p:cNvSpPr/>
          <p:nvPr/>
        </p:nvSpPr>
        <p:spPr>
          <a:xfrm>
            <a:off x="1946278" y="3813962"/>
            <a:ext cx="5228539" cy="393192"/>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44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通讯功能实现</a:t>
            </a:r>
            <a:endParaRPr lang="en-US" sz="1440" dirty="0"/>
          </a:p>
        </p:txBody>
      </p:sp>
      <p:sp>
        <p:nvSpPr>
          <p:cNvPr id="19" name="Text 13"/>
          <p:cNvSpPr/>
          <p:nvPr/>
        </p:nvSpPr>
        <p:spPr>
          <a:xfrm>
            <a:off x="1447472" y="4096512"/>
            <a:ext cx="6226150" cy="60350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01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通讯功能支持文字聊天和语音聊天，使消息的发送与接收更加高效，满足不同场景下的交流需求，优化用户体验。</a:t>
            </a:r>
            <a:endParaRPr lang="en-US" sz="144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p:spPr>
        <p:txBody>
          <a:bodyPr wrap="square" lIns="95250" tIns="95250" rIns="95250" bIns="95250" rtlCol="0" anchor="t"/>
          <a:lstStyle/>
          <a:p>
            <a:pPr marL="0" indent="0">
              <a:lnSpc>
                <a:spcPct val="113000"/>
              </a:lnSpc>
              <a:spcBef>
                <a:spcPts val="375"/>
              </a:spcBef>
              <a:buNone/>
            </a:pPr>
            <a:r>
              <a:rPr lang="en-US" sz="259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数据库设计</a:t>
            </a:r>
            <a:endParaRPr lang="en-US" sz="1440" dirty="0"/>
          </a:p>
        </p:txBody>
      </p:sp>
      <p:pic>
        <p:nvPicPr>
          <p:cNvPr id="3" name="Image 0" descr="https://sgw-dx.xf-yun.com/api/v1/sparkdesk/_1746801133512bcb88c4c6f97457aa70e5f2d3a294f6d.jpg?authorization=c2ltcGxlLWp3dCBhaz1zcGFya2Rlc2s4MDAwMDAwMDAwMDE7ZXhwPTMzMjM2MDExMzM7YWxnbz1obWFjLXNoYTI1NjtzaWc9L01rOUFFcEVhZG40ODFJT29ObXpTWFJJckxEM3BxQUJmYWRNSXBOajM5ST0=&amp;x_location=7YfmxI7B7uKO7jlRxIftd6UpfPD="/>
          <p:cNvPicPr>
            <a:picLocks noChangeAspect="1"/>
          </p:cNvPicPr>
          <p:nvPr/>
        </p:nvPicPr>
        <p:blipFill>
          <a:blip r:embed="rId2"/>
          <a:srcRect/>
          <a:stretch>
            <a:fillRect/>
          </a:stretch>
        </p:blipFill>
        <p:spPr>
          <a:xfrm flipH="1">
            <a:off x="272721" y="1295117"/>
            <a:ext cx="3341028" cy="3341028"/>
          </a:xfrm>
          <a:prstGeom prst="rect">
            <a:avLst/>
          </a:prstGeom>
        </p:spPr>
      </p:pic>
      <p:sp>
        <p:nvSpPr>
          <p:cNvPr id="4" name="Shape 1"/>
          <p:cNvSpPr/>
          <p:nvPr/>
        </p:nvSpPr>
        <p:spPr>
          <a:xfrm>
            <a:off x="3161753" y="1043279"/>
            <a:ext cx="5709526" cy="1090281"/>
          </a:xfrm>
          <a:custGeom>
            <a:avLst/>
            <a:gdLst/>
            <a:ahLst/>
            <a:cxnLst/>
            <a:rect l="l" t="t" r="r" b="b"/>
            <a:pathLst>
              <a:path w="5709526" h="1090281">
                <a:moveTo>
                  <a:pt x="0" y="1090281"/>
                </a:moveTo>
                <a:moveTo>
                  <a:pt x="0" y="1090281"/>
                </a:moveTo>
                <a:lnTo>
                  <a:pt x="0" y="0"/>
                </a:lnTo>
                <a:lnTo>
                  <a:pt x="5491469" y="0"/>
                </a:lnTo>
                <a:lnTo>
                  <a:pt x="5709526" y="218056"/>
                </a:lnTo>
                <a:lnTo>
                  <a:pt x="5709526" y="1090281"/>
                </a:lnTo>
                <a:close/>
              </a:path>
            </a:pathLst>
          </a:custGeom>
          <a:solidFill>
            <a:srgbClr val="F4F7FF"/>
          </a:solidFill>
          <a:ln w="9525">
            <a:solidFill>
              <a:srgbClr val="3D4D83">
                <a:alpha val="30980"/>
              </a:srgbClr>
            </a:solidFill>
            <a:prstDash val="solid"/>
          </a:ln>
        </p:spPr>
      </p:sp>
      <p:sp>
        <p:nvSpPr>
          <p:cNvPr id="5" name="Shape 2"/>
          <p:cNvSpPr/>
          <p:nvPr/>
        </p:nvSpPr>
        <p:spPr>
          <a:xfrm>
            <a:off x="2811196" y="2348022"/>
            <a:ext cx="5795609" cy="1090281"/>
          </a:xfrm>
          <a:custGeom>
            <a:avLst/>
            <a:gdLst/>
            <a:ahLst/>
            <a:cxnLst/>
            <a:rect l="l" t="t" r="r" b="b"/>
            <a:pathLst>
              <a:path w="5795609" h="1090281">
                <a:moveTo>
                  <a:pt x="0" y="1090281"/>
                </a:moveTo>
                <a:moveTo>
                  <a:pt x="0" y="1090281"/>
                </a:moveTo>
                <a:lnTo>
                  <a:pt x="0" y="0"/>
                </a:lnTo>
                <a:lnTo>
                  <a:pt x="5577553" y="0"/>
                </a:lnTo>
                <a:lnTo>
                  <a:pt x="5795609" y="218056"/>
                </a:lnTo>
                <a:lnTo>
                  <a:pt x="5795609" y="1090281"/>
                </a:lnTo>
                <a:close/>
              </a:path>
            </a:pathLst>
          </a:custGeom>
          <a:solidFill>
            <a:srgbClr val="F4F7FF"/>
          </a:solidFill>
          <a:ln w="9525">
            <a:solidFill>
              <a:srgbClr val="3D4D83">
                <a:alpha val="30980"/>
              </a:srgbClr>
            </a:solidFill>
            <a:prstDash val="solid"/>
          </a:ln>
        </p:spPr>
      </p:sp>
      <p:sp>
        <p:nvSpPr>
          <p:cNvPr id="6" name="Shape 3"/>
          <p:cNvSpPr/>
          <p:nvPr/>
        </p:nvSpPr>
        <p:spPr>
          <a:xfrm>
            <a:off x="3161753" y="3652765"/>
            <a:ext cx="5709526" cy="1090281"/>
          </a:xfrm>
          <a:custGeom>
            <a:avLst/>
            <a:gdLst/>
            <a:ahLst/>
            <a:cxnLst/>
            <a:rect l="l" t="t" r="r" b="b"/>
            <a:pathLst>
              <a:path w="5709526" h="1090281">
                <a:moveTo>
                  <a:pt x="0" y="1090281"/>
                </a:moveTo>
                <a:moveTo>
                  <a:pt x="0" y="1090281"/>
                </a:moveTo>
                <a:lnTo>
                  <a:pt x="0" y="0"/>
                </a:lnTo>
                <a:lnTo>
                  <a:pt x="5491469" y="0"/>
                </a:lnTo>
                <a:lnTo>
                  <a:pt x="5709526" y="218056"/>
                </a:lnTo>
                <a:lnTo>
                  <a:pt x="5709526" y="1090281"/>
                </a:lnTo>
                <a:close/>
              </a:path>
            </a:pathLst>
          </a:custGeom>
          <a:solidFill>
            <a:srgbClr val="F4F7FF"/>
          </a:solidFill>
          <a:ln w="9525">
            <a:solidFill>
              <a:srgbClr val="3D4D83">
                <a:alpha val="30980"/>
              </a:srgbClr>
            </a:solidFill>
            <a:prstDash val="solid"/>
          </a:ln>
        </p:spPr>
      </p:sp>
      <p:sp>
        <p:nvSpPr>
          <p:cNvPr id="7" name="Text 4"/>
          <p:cNvSpPr/>
          <p:nvPr/>
        </p:nvSpPr>
        <p:spPr>
          <a:xfrm>
            <a:off x="3735181" y="1118241"/>
            <a:ext cx="4911136" cy="359047"/>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概念设计的重要性</a:t>
            </a:r>
            <a:endParaRPr lang="en-US" sz="1440" dirty="0"/>
          </a:p>
        </p:txBody>
      </p:sp>
      <p:sp>
        <p:nvSpPr>
          <p:cNvPr id="8" name="Text 5"/>
          <p:cNvSpPr/>
          <p:nvPr/>
        </p:nvSpPr>
        <p:spPr>
          <a:xfrm>
            <a:off x="3312941" y="1424841"/>
            <a:ext cx="5459228"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概念设计是数据库设计的基础，它定义了数据的基本结构和关系，为后续的逻辑和表结构设计提供了清晰的蓝图，确保系统设计的合理性和可行性。</a:t>
            </a:r>
            <a:endParaRPr lang="en-US" sz="1440" dirty="0"/>
          </a:p>
        </p:txBody>
      </p:sp>
      <p:sp>
        <p:nvSpPr>
          <p:cNvPr id="9" name="Text 6"/>
          <p:cNvSpPr/>
          <p:nvPr/>
        </p:nvSpPr>
        <p:spPr>
          <a:xfrm>
            <a:off x="3397345" y="2422984"/>
            <a:ext cx="4881554" cy="359047"/>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逻辑结构设计的角色</a:t>
            </a:r>
            <a:endParaRPr lang="en-US" sz="1440" dirty="0"/>
          </a:p>
        </p:txBody>
      </p:sp>
      <p:sp>
        <p:nvSpPr>
          <p:cNvPr id="10" name="Text 7"/>
          <p:cNvSpPr/>
          <p:nvPr/>
        </p:nvSpPr>
        <p:spPr>
          <a:xfrm>
            <a:off x="2893424" y="2729585"/>
            <a:ext cx="5484398"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逻辑结构设计将概念模型转化为具体的数据模型，通过定义实体、属性及其间的关系，构建出系统的骨架，为数据库的实现打下坚实的基础。</a:t>
            </a:r>
            <a:endParaRPr lang="en-US" sz="1440" dirty="0"/>
          </a:p>
        </p:txBody>
      </p:sp>
      <p:sp>
        <p:nvSpPr>
          <p:cNvPr id="11" name="Text 8"/>
          <p:cNvSpPr/>
          <p:nvPr/>
        </p:nvSpPr>
        <p:spPr>
          <a:xfrm>
            <a:off x="3735181" y="3727728"/>
            <a:ext cx="4911136" cy="359047"/>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表结构设计的精细度</a:t>
            </a:r>
            <a:endParaRPr lang="en-US" sz="1440" dirty="0"/>
          </a:p>
        </p:txBody>
      </p:sp>
      <p:sp>
        <p:nvSpPr>
          <p:cNvPr id="12" name="Text 9"/>
          <p:cNvSpPr/>
          <p:nvPr/>
        </p:nvSpPr>
        <p:spPr>
          <a:xfrm>
            <a:off x="3266233" y="4034328"/>
            <a:ext cx="5505936"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表结构设计是数据库设计的最终环节，涉及字段的选择、数据类型的确定以及索引的设置等，直接影响到数据库的性能和数据的完整性。</a:t>
            </a:r>
            <a:endParaRPr lang="en-US" sz="1440" dirty="0"/>
          </a:p>
        </p:txBody>
      </p:sp>
      <p:sp>
        <p:nvSpPr>
          <p:cNvPr id="13" name="Shape 10"/>
          <p:cNvSpPr/>
          <p:nvPr/>
        </p:nvSpPr>
        <p:spPr>
          <a:xfrm>
            <a:off x="3304548" y="1118241"/>
            <a:ext cx="365164" cy="353752"/>
          </a:xfrm>
          <a:custGeom>
            <a:avLst/>
            <a:gdLst/>
            <a:ahLst/>
            <a:cxnLst/>
            <a:rect l="l" t="t" r="r" b="b"/>
            <a:pathLst>
              <a:path w="365164" h="353752">
                <a:moveTo>
                  <a:pt x="182582" y="0"/>
                </a:moveTo>
                <a:moveTo>
                  <a:pt x="182582" y="0"/>
                </a:moveTo>
                <a:cubicBezTo>
                  <a:pt x="283352" y="0"/>
                  <a:pt x="365164" y="79256"/>
                  <a:pt x="365164" y="176876"/>
                </a:cubicBezTo>
                <a:cubicBezTo>
                  <a:pt x="365164" y="274497"/>
                  <a:pt x="283352" y="353752"/>
                  <a:pt x="182582" y="353752"/>
                </a:cubicBezTo>
                <a:cubicBezTo>
                  <a:pt x="81812" y="353752"/>
                  <a:pt x="0" y="274497"/>
                  <a:pt x="0" y="176876"/>
                </a:cubicBezTo>
                <a:cubicBezTo>
                  <a:pt x="0" y="79256"/>
                  <a:pt x="81812" y="0"/>
                  <a:pt x="182582" y="0"/>
                </a:cubicBezTo>
                <a:close/>
              </a:path>
            </a:pathLst>
          </a:custGeom>
          <a:solidFill>
            <a:srgbClr val="3D4D83"/>
          </a:solidFill>
        </p:spPr>
      </p:sp>
      <p:sp>
        <p:nvSpPr>
          <p:cNvPr id="14" name="Shape 11"/>
          <p:cNvSpPr/>
          <p:nvPr/>
        </p:nvSpPr>
        <p:spPr>
          <a:xfrm>
            <a:off x="2953990" y="2422984"/>
            <a:ext cx="365164" cy="353752"/>
          </a:xfrm>
          <a:custGeom>
            <a:avLst/>
            <a:gdLst/>
            <a:ahLst/>
            <a:cxnLst/>
            <a:rect l="l" t="t" r="r" b="b"/>
            <a:pathLst>
              <a:path w="365164" h="353752">
                <a:moveTo>
                  <a:pt x="182582" y="0"/>
                </a:moveTo>
                <a:moveTo>
                  <a:pt x="182582" y="0"/>
                </a:moveTo>
                <a:cubicBezTo>
                  <a:pt x="283352" y="0"/>
                  <a:pt x="365164" y="79256"/>
                  <a:pt x="365164" y="176876"/>
                </a:cubicBezTo>
                <a:cubicBezTo>
                  <a:pt x="365164" y="274497"/>
                  <a:pt x="283352" y="353752"/>
                  <a:pt x="182582" y="353752"/>
                </a:cubicBezTo>
                <a:cubicBezTo>
                  <a:pt x="81812" y="353752"/>
                  <a:pt x="0" y="274497"/>
                  <a:pt x="0" y="176876"/>
                </a:cubicBezTo>
                <a:cubicBezTo>
                  <a:pt x="0" y="79256"/>
                  <a:pt x="81812" y="0"/>
                  <a:pt x="182582" y="0"/>
                </a:cubicBezTo>
                <a:close/>
              </a:path>
            </a:pathLst>
          </a:custGeom>
          <a:solidFill>
            <a:srgbClr val="3D4D83"/>
          </a:solidFill>
        </p:spPr>
      </p:sp>
      <p:sp>
        <p:nvSpPr>
          <p:cNvPr id="15" name="Shape 12"/>
          <p:cNvSpPr/>
          <p:nvPr/>
        </p:nvSpPr>
        <p:spPr>
          <a:xfrm>
            <a:off x="3285650" y="3727728"/>
            <a:ext cx="365164" cy="353752"/>
          </a:xfrm>
          <a:custGeom>
            <a:avLst/>
            <a:gdLst/>
            <a:ahLst/>
            <a:cxnLst/>
            <a:rect l="l" t="t" r="r" b="b"/>
            <a:pathLst>
              <a:path w="365164" h="353752">
                <a:moveTo>
                  <a:pt x="182582" y="0"/>
                </a:moveTo>
                <a:moveTo>
                  <a:pt x="182582" y="0"/>
                </a:moveTo>
                <a:cubicBezTo>
                  <a:pt x="283352" y="0"/>
                  <a:pt x="365164" y="79256"/>
                  <a:pt x="365164" y="176876"/>
                </a:cubicBezTo>
                <a:cubicBezTo>
                  <a:pt x="365164" y="274497"/>
                  <a:pt x="283352" y="353752"/>
                  <a:pt x="182582" y="353752"/>
                </a:cubicBezTo>
                <a:cubicBezTo>
                  <a:pt x="81812" y="353752"/>
                  <a:pt x="0" y="274497"/>
                  <a:pt x="0" y="176876"/>
                </a:cubicBezTo>
                <a:cubicBezTo>
                  <a:pt x="0" y="79256"/>
                  <a:pt x="81812" y="0"/>
                  <a:pt x="182582" y="0"/>
                </a:cubicBezTo>
                <a:close/>
              </a:path>
            </a:pathLst>
          </a:custGeom>
          <a:solidFill>
            <a:srgbClr val="3D4D83"/>
          </a:solidFill>
        </p:spPr>
      </p:sp>
      <p:sp>
        <p:nvSpPr>
          <p:cNvPr id="16" name="Text 13"/>
          <p:cNvSpPr/>
          <p:nvPr/>
        </p:nvSpPr>
        <p:spPr>
          <a:xfrm>
            <a:off x="3258828" y="1121381"/>
            <a:ext cx="469099" cy="347472"/>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440"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17" name="Text 14"/>
          <p:cNvSpPr/>
          <p:nvPr/>
        </p:nvSpPr>
        <p:spPr>
          <a:xfrm>
            <a:off x="2908916" y="2422984"/>
            <a:ext cx="469099" cy="347472"/>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440"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18" name="Text 15"/>
          <p:cNvSpPr/>
          <p:nvPr/>
        </p:nvSpPr>
        <p:spPr>
          <a:xfrm>
            <a:off x="3228045" y="3727728"/>
            <a:ext cx="469099" cy="347472"/>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440"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p:spPr>
        <p:txBody>
          <a:bodyPr wrap="square" lIns="95250" tIns="95250" rIns="95250" bIns="95250" rtlCol="0" anchor="t"/>
          <a:lstStyle/>
          <a:p>
            <a:pPr marL="0" indent="0">
              <a:lnSpc>
                <a:spcPct val="113000"/>
              </a:lnSpc>
              <a:spcBef>
                <a:spcPts val="375"/>
              </a:spcBef>
              <a:buNone/>
            </a:pPr>
            <a:r>
              <a:rPr lang="en-US" sz="259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用户界面设计</a:t>
            </a:r>
            <a:endParaRPr lang="en-US" sz="1440" dirty="0"/>
          </a:p>
        </p:txBody>
      </p:sp>
      <p:sp>
        <p:nvSpPr>
          <p:cNvPr id="3" name="Shape 1"/>
          <p:cNvSpPr/>
          <p:nvPr/>
        </p:nvSpPr>
        <p:spPr>
          <a:xfrm>
            <a:off x="227624" y="2338128"/>
            <a:ext cx="2766039" cy="697421"/>
          </a:xfrm>
          <a:custGeom>
            <a:avLst/>
            <a:gdLst/>
            <a:ahLst/>
            <a:cxnLst/>
            <a:rect l="l" t="t" r="r" b="b"/>
            <a:pathLst>
              <a:path w="2766039" h="697421">
                <a:moveTo>
                  <a:pt x="0" y="0"/>
                </a:moveTo>
                <a:moveTo>
                  <a:pt x="0" y="0"/>
                </a:moveTo>
                <a:lnTo>
                  <a:pt x="2766039" y="0"/>
                </a:lnTo>
                <a:lnTo>
                  <a:pt x="2766039" y="697421"/>
                </a:lnTo>
                <a:lnTo>
                  <a:pt x="0" y="697421"/>
                </a:lnTo>
                <a:close/>
              </a:path>
            </a:pathLst>
          </a:custGeom>
          <a:solidFill>
            <a:srgbClr val="3D4D83">
              <a:alpha val="0"/>
            </a:srgbClr>
          </a:solidFill>
          <a:ln w="9525">
            <a:solidFill>
              <a:srgbClr val="3D4D83"/>
            </a:solidFill>
            <a:prstDash val="solid"/>
          </a:ln>
        </p:spPr>
      </p:sp>
      <p:sp>
        <p:nvSpPr>
          <p:cNvPr id="4" name="Shape 2"/>
          <p:cNvSpPr/>
          <p:nvPr/>
        </p:nvSpPr>
        <p:spPr>
          <a:xfrm>
            <a:off x="308457" y="2803759"/>
            <a:ext cx="2604374" cy="618959"/>
          </a:xfrm>
          <a:custGeom>
            <a:avLst/>
            <a:gdLst/>
            <a:ahLst/>
            <a:cxnLst/>
            <a:rect l="l" t="t" r="r" b="b"/>
            <a:pathLst>
              <a:path w="2604374" h="618959">
                <a:moveTo>
                  <a:pt x="0" y="0"/>
                </a:moveTo>
                <a:moveTo>
                  <a:pt x="0" y="0"/>
                </a:moveTo>
                <a:lnTo>
                  <a:pt x="2604374" y="0"/>
                </a:lnTo>
                <a:lnTo>
                  <a:pt x="2604374" y="618959"/>
                </a:lnTo>
                <a:lnTo>
                  <a:pt x="0" y="618959"/>
                </a:lnTo>
                <a:close/>
              </a:path>
            </a:pathLst>
          </a:custGeom>
          <a:solidFill>
            <a:srgbClr val="3D4D83"/>
          </a:solidFill>
        </p:spPr>
      </p:sp>
      <p:sp>
        <p:nvSpPr>
          <p:cNvPr id="5" name="Shape 3"/>
          <p:cNvSpPr/>
          <p:nvPr/>
        </p:nvSpPr>
        <p:spPr>
          <a:xfrm>
            <a:off x="3188981" y="2338128"/>
            <a:ext cx="2766039" cy="697421"/>
          </a:xfrm>
          <a:custGeom>
            <a:avLst/>
            <a:gdLst/>
            <a:ahLst/>
            <a:cxnLst/>
            <a:rect l="l" t="t" r="r" b="b"/>
            <a:pathLst>
              <a:path w="2766039" h="697421">
                <a:moveTo>
                  <a:pt x="0" y="0"/>
                </a:moveTo>
                <a:moveTo>
                  <a:pt x="0" y="0"/>
                </a:moveTo>
                <a:lnTo>
                  <a:pt x="2766039" y="0"/>
                </a:lnTo>
                <a:lnTo>
                  <a:pt x="2766039" y="697421"/>
                </a:lnTo>
                <a:lnTo>
                  <a:pt x="0" y="697421"/>
                </a:lnTo>
                <a:close/>
              </a:path>
            </a:pathLst>
          </a:custGeom>
          <a:solidFill>
            <a:srgbClr val="3D4D83">
              <a:alpha val="0"/>
            </a:srgbClr>
          </a:solidFill>
          <a:ln w="9525">
            <a:solidFill>
              <a:srgbClr val="3D4D83"/>
            </a:solidFill>
            <a:prstDash val="solid"/>
          </a:ln>
        </p:spPr>
      </p:sp>
      <p:sp>
        <p:nvSpPr>
          <p:cNvPr id="6" name="Shape 4"/>
          <p:cNvSpPr/>
          <p:nvPr/>
        </p:nvSpPr>
        <p:spPr>
          <a:xfrm>
            <a:off x="3269813" y="2803759"/>
            <a:ext cx="2604374" cy="618959"/>
          </a:xfrm>
          <a:custGeom>
            <a:avLst/>
            <a:gdLst/>
            <a:ahLst/>
            <a:cxnLst/>
            <a:rect l="l" t="t" r="r" b="b"/>
            <a:pathLst>
              <a:path w="2604374" h="618959">
                <a:moveTo>
                  <a:pt x="0" y="0"/>
                </a:moveTo>
                <a:moveTo>
                  <a:pt x="0" y="0"/>
                </a:moveTo>
                <a:lnTo>
                  <a:pt x="2604374" y="0"/>
                </a:lnTo>
                <a:lnTo>
                  <a:pt x="2604374" y="618959"/>
                </a:lnTo>
                <a:lnTo>
                  <a:pt x="0" y="618959"/>
                </a:lnTo>
                <a:close/>
              </a:path>
            </a:pathLst>
          </a:custGeom>
          <a:solidFill>
            <a:srgbClr val="3D4D83"/>
          </a:solidFill>
        </p:spPr>
      </p:sp>
      <p:sp>
        <p:nvSpPr>
          <p:cNvPr id="7" name="Shape 5"/>
          <p:cNvSpPr/>
          <p:nvPr/>
        </p:nvSpPr>
        <p:spPr>
          <a:xfrm>
            <a:off x="6150337" y="2338128"/>
            <a:ext cx="2766039" cy="697421"/>
          </a:xfrm>
          <a:custGeom>
            <a:avLst/>
            <a:gdLst/>
            <a:ahLst/>
            <a:cxnLst/>
            <a:rect l="l" t="t" r="r" b="b"/>
            <a:pathLst>
              <a:path w="2766039" h="697421">
                <a:moveTo>
                  <a:pt x="0" y="0"/>
                </a:moveTo>
                <a:moveTo>
                  <a:pt x="0" y="0"/>
                </a:moveTo>
                <a:lnTo>
                  <a:pt x="2766039" y="0"/>
                </a:lnTo>
                <a:lnTo>
                  <a:pt x="2766039" y="697421"/>
                </a:lnTo>
                <a:lnTo>
                  <a:pt x="0" y="697421"/>
                </a:lnTo>
                <a:close/>
              </a:path>
            </a:pathLst>
          </a:custGeom>
          <a:solidFill>
            <a:srgbClr val="3D4D83">
              <a:alpha val="0"/>
            </a:srgbClr>
          </a:solidFill>
          <a:ln w="9525">
            <a:solidFill>
              <a:srgbClr val="3D4D83"/>
            </a:solidFill>
            <a:prstDash val="solid"/>
          </a:ln>
        </p:spPr>
      </p:sp>
      <p:sp>
        <p:nvSpPr>
          <p:cNvPr id="8" name="Shape 6"/>
          <p:cNvSpPr/>
          <p:nvPr/>
        </p:nvSpPr>
        <p:spPr>
          <a:xfrm>
            <a:off x="6231169" y="2803759"/>
            <a:ext cx="2604374" cy="618959"/>
          </a:xfrm>
          <a:custGeom>
            <a:avLst/>
            <a:gdLst/>
            <a:ahLst/>
            <a:cxnLst/>
            <a:rect l="l" t="t" r="r" b="b"/>
            <a:pathLst>
              <a:path w="2604374" h="618959">
                <a:moveTo>
                  <a:pt x="0" y="0"/>
                </a:moveTo>
                <a:moveTo>
                  <a:pt x="0" y="0"/>
                </a:moveTo>
                <a:lnTo>
                  <a:pt x="2604374" y="0"/>
                </a:lnTo>
                <a:lnTo>
                  <a:pt x="2604374" y="618959"/>
                </a:lnTo>
                <a:lnTo>
                  <a:pt x="0" y="618959"/>
                </a:lnTo>
                <a:close/>
              </a:path>
            </a:pathLst>
          </a:custGeom>
          <a:solidFill>
            <a:srgbClr val="3D4D83"/>
          </a:solidFill>
        </p:spPr>
      </p:sp>
      <p:sp>
        <p:nvSpPr>
          <p:cNvPr id="9" name="Text 7"/>
          <p:cNvSpPr/>
          <p:nvPr/>
        </p:nvSpPr>
        <p:spPr>
          <a:xfrm>
            <a:off x="454935" y="2930359"/>
            <a:ext cx="2311417" cy="365760"/>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登录与注册页面设计</a:t>
            </a:r>
            <a:endParaRPr lang="en-US" sz="1440" dirty="0"/>
          </a:p>
        </p:txBody>
      </p:sp>
      <p:pic>
        <p:nvPicPr>
          <p:cNvPr id="10" name="Image 0" descr="https://sgw-dx.xf-yun.com/api/v1/sparkdesk/_17468011211676724b69e380f431898f1d42b5078b1d7.jpg?authorization=c2ltcGxlLWp3dCBhaz1zcGFya2Rlc2s4MDAwMDAwMDAwMDE7ZXhwPTMzMjM2MDExMjE7YWxnbz1obWFjLXNoYTI1NjtzaWc9UkdrZlE2MWcwcWxoaGFlUjFlUjlMdkR5L0hBWVZaTFkwNjdvNkg2RjM1MD0=&amp;x_location=7YfmxI7B7uKO7jlRxIftd6UpfPD="/>
          <p:cNvPicPr>
            <a:picLocks noChangeAspect="1"/>
          </p:cNvPicPr>
          <p:nvPr/>
        </p:nvPicPr>
        <p:blipFill>
          <a:blip r:embed="rId2"/>
          <a:srcRect t="16667" b="16667"/>
          <a:stretch>
            <a:fillRect/>
          </a:stretch>
        </p:blipFill>
        <p:spPr>
          <a:xfrm>
            <a:off x="308457" y="978526"/>
            <a:ext cx="2604374" cy="1736249"/>
          </a:xfrm>
          <a:prstGeom prst="rect">
            <a:avLst/>
          </a:prstGeom>
        </p:spPr>
      </p:pic>
      <p:sp>
        <p:nvSpPr>
          <p:cNvPr id="11" name="Text 8"/>
          <p:cNvSpPr/>
          <p:nvPr/>
        </p:nvSpPr>
        <p:spPr>
          <a:xfrm>
            <a:off x="308457" y="3422718"/>
            <a:ext cx="2604374" cy="106070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01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登录与注册页面是用户界面设计的重要组成部分，它们需要简洁明了，易于操作，同时保证安全性，以提供良好的用户体验。</a:t>
            </a:r>
            <a:endParaRPr lang="en-US" sz="1440" dirty="0"/>
          </a:p>
        </p:txBody>
      </p:sp>
      <p:sp>
        <p:nvSpPr>
          <p:cNvPr id="12" name="Text 9"/>
          <p:cNvSpPr/>
          <p:nvPr/>
        </p:nvSpPr>
        <p:spPr>
          <a:xfrm>
            <a:off x="3416291" y="2916643"/>
            <a:ext cx="2311417" cy="393192"/>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个人资料查看和修改</a:t>
            </a:r>
            <a:endParaRPr lang="en-US" sz="1440" dirty="0"/>
          </a:p>
        </p:txBody>
      </p:sp>
      <p:pic>
        <p:nvPicPr>
          <p:cNvPr id="13" name="Image 1" descr="https://sgw-dx.xf-yun.com/api/v1/sparkdesk/_174680112441634f636edc1c04c39a983129c297f6619.jpg?authorization=c2ltcGxlLWp3dCBhaz1zcGFya2Rlc2s4MDAwMDAwMDAwMDE7ZXhwPTMzMjM2MDExMjQ7YWxnbz1obWFjLXNoYTI1NjtzaWc9ZEV4c0FhM2xTMy8vT3doUjZCMVlCSm5aV0pnR3VZcExCdVZjL1g1QmVBWT0=&amp;x_location=7YfmxI7B7uKO7jlRxIftd6UpfPD="/>
          <p:cNvPicPr>
            <a:picLocks noChangeAspect="1"/>
          </p:cNvPicPr>
          <p:nvPr/>
        </p:nvPicPr>
        <p:blipFill>
          <a:blip r:embed="rId3"/>
          <a:srcRect t="16667" b="16667"/>
          <a:stretch>
            <a:fillRect/>
          </a:stretch>
        </p:blipFill>
        <p:spPr>
          <a:xfrm>
            <a:off x="3269813" y="978526"/>
            <a:ext cx="2604374" cy="1736249"/>
          </a:xfrm>
          <a:prstGeom prst="rect">
            <a:avLst/>
          </a:prstGeom>
        </p:spPr>
      </p:pic>
      <p:sp>
        <p:nvSpPr>
          <p:cNvPr id="14" name="Text 10"/>
          <p:cNvSpPr/>
          <p:nvPr/>
        </p:nvSpPr>
        <p:spPr>
          <a:xfrm>
            <a:off x="3269813" y="3422718"/>
            <a:ext cx="2604374" cy="106070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01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个人资料查看和修改功能允许用户更新他们的个人信息，如姓名、电子邮件地址等，这需要设计直观且易于使用的界面。</a:t>
            </a:r>
            <a:endParaRPr lang="en-US" sz="1440" dirty="0"/>
          </a:p>
        </p:txBody>
      </p:sp>
      <p:sp>
        <p:nvSpPr>
          <p:cNvPr id="15" name="Text 11"/>
          <p:cNvSpPr/>
          <p:nvPr/>
        </p:nvSpPr>
        <p:spPr>
          <a:xfrm>
            <a:off x="6377647" y="2930359"/>
            <a:ext cx="2311417" cy="365760"/>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JWT技术在登录模块中的应用</a:t>
            </a:r>
            <a:endParaRPr lang="en-US" sz="1440" dirty="0"/>
          </a:p>
        </p:txBody>
      </p:sp>
      <p:pic>
        <p:nvPicPr>
          <p:cNvPr id="16" name="Image 2" descr="https://sgw-dx.xf-yun.com/api/v1/sparkdesk/_1746801127747d0df3d5ec9df496688b6de3a0be0846b.jpg?authorization=c2ltcGxlLWp3dCBhaz1zcGFya2Rlc2s4MDAwMDAwMDAwMDE7ZXhwPTMzMjM2MDExMjc7YWxnbz1obWFjLXNoYTI1NjtzaWc9Z0RIN3N2SG94RkF2UWVHS2VvSHJZSU5BV24vdlF2elExWkFqcmp3QjZURT0=&amp;x_location=7YfmxI7B7uKO7jlRxIftd6UpfPD="/>
          <p:cNvPicPr>
            <a:picLocks noChangeAspect="1"/>
          </p:cNvPicPr>
          <p:nvPr/>
        </p:nvPicPr>
        <p:blipFill>
          <a:blip r:embed="rId4"/>
          <a:srcRect t="16667" b="16667"/>
          <a:stretch>
            <a:fillRect/>
          </a:stretch>
        </p:blipFill>
        <p:spPr>
          <a:xfrm>
            <a:off x="6231169" y="978526"/>
            <a:ext cx="2604374" cy="1736249"/>
          </a:xfrm>
          <a:prstGeom prst="rect">
            <a:avLst/>
          </a:prstGeom>
        </p:spPr>
      </p:pic>
      <p:sp>
        <p:nvSpPr>
          <p:cNvPr id="17" name="Text 12"/>
          <p:cNvSpPr/>
          <p:nvPr/>
        </p:nvSpPr>
        <p:spPr>
          <a:xfrm>
            <a:off x="6231169" y="3422718"/>
            <a:ext cx="2604374" cy="106070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01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JWT（JSON Web Token）是一种开放标准，用于在网络应用环境间安全地传输信息，它由头部、载荷和签名三部分组成，可用于验证用户身份。</a:t>
            </a:r>
            <a:endParaRPr lang="en-US" sz="14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91482" y="2114883"/>
            <a:ext cx="1085027" cy="731520"/>
          </a:xfrm>
          <a:prstGeom prst="rect">
            <a:avLst/>
          </a:prstGeom>
          <a:noFill/>
        </p:spPr>
        <p:txBody>
          <a:bodyPr wrap="square" lIns="95250" tIns="95250" rIns="95250" bIns="95250" rtlCol="0" anchor="t"/>
          <a:lstStyle/>
          <a:p>
            <a:pPr marL="0" indent="0" algn="ctr">
              <a:lnSpc>
                <a:spcPct val="100000"/>
              </a:lnSpc>
              <a:spcBef>
                <a:spcPts val="375"/>
              </a:spcBef>
              <a:buNone/>
            </a:pPr>
            <a:r>
              <a:rPr lang="en-US" sz="4320" b="1" dirty="0">
                <a:solidFill>
                  <a:srgbClr val="2E3E74"/>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1440" dirty="0"/>
          </a:p>
        </p:txBody>
      </p:sp>
      <p:sp>
        <p:nvSpPr>
          <p:cNvPr id="3" name="Text 1"/>
          <p:cNvSpPr/>
          <p:nvPr/>
        </p:nvSpPr>
        <p:spPr>
          <a:xfrm>
            <a:off x="1376509" y="2114883"/>
            <a:ext cx="7241265" cy="731520"/>
          </a:xfrm>
          <a:prstGeom prst="rect">
            <a:avLst/>
          </a:prstGeom>
          <a:noFill/>
        </p:spPr>
        <p:txBody>
          <a:bodyPr wrap="square" lIns="95250" tIns="95250" rIns="95250" bIns="95250" rtlCol="0" anchor="t"/>
          <a:lstStyle/>
          <a:p>
            <a:pPr marL="0" indent="0">
              <a:lnSpc>
                <a:spcPct val="113000"/>
              </a:lnSpc>
              <a:spcBef>
                <a:spcPts val="375"/>
              </a:spcBef>
              <a:buNone/>
            </a:pPr>
            <a:r>
              <a:rPr lang="en-US" sz="288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实时通讯技术</a:t>
            </a:r>
            <a:endParaRPr lang="en-US" sz="14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p:spPr>
        <p:txBody>
          <a:bodyPr wrap="square" lIns="95250" tIns="95250" rIns="95250" bIns="95250" rtlCol="0" anchor="t"/>
          <a:lstStyle/>
          <a:p>
            <a:pPr marL="0" indent="0">
              <a:lnSpc>
                <a:spcPct val="113000"/>
              </a:lnSpc>
              <a:spcBef>
                <a:spcPts val="375"/>
              </a:spcBef>
              <a:buNone/>
            </a:pPr>
            <a:r>
              <a:rPr lang="en-US" sz="259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WebSocket协议应用</a:t>
            </a:r>
            <a:endParaRPr lang="en-US" sz="1440" dirty="0"/>
          </a:p>
        </p:txBody>
      </p:sp>
      <p:sp>
        <p:nvSpPr>
          <p:cNvPr id="3" name="Text 1"/>
          <p:cNvSpPr/>
          <p:nvPr/>
        </p:nvSpPr>
        <p:spPr>
          <a:xfrm>
            <a:off x="3452602" y="758952"/>
            <a:ext cx="714089" cy="117043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5185" b="1" i="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1</a:t>
            </a:r>
            <a:endParaRPr lang="en-US" sz="1440" dirty="0"/>
          </a:p>
        </p:txBody>
      </p:sp>
      <p:sp>
        <p:nvSpPr>
          <p:cNvPr id="4" name="Shape 2"/>
          <p:cNvSpPr/>
          <p:nvPr/>
        </p:nvSpPr>
        <p:spPr>
          <a:xfrm>
            <a:off x="3615896" y="2050927"/>
            <a:ext cx="5095803" cy="0"/>
          </a:xfrm>
          <a:custGeom>
            <a:avLst/>
            <a:gdLst/>
            <a:ahLst/>
            <a:cxnLst/>
            <a:rect l="l" t="t" r="r" b="b"/>
            <a:pathLst>
              <a:path w="5095803">
                <a:moveTo>
                  <a:pt x="0" y="0"/>
                </a:moveTo>
                <a:moveTo>
                  <a:pt x="0" y="0"/>
                </a:moveTo>
                <a:lnTo>
                  <a:pt x="5095803" y="0"/>
                </a:lnTo>
              </a:path>
            </a:pathLst>
          </a:custGeom>
          <a:noFill/>
          <a:ln w="10384">
            <a:solidFill>
              <a:srgbClr val="D6D9E1"/>
            </a:solidFill>
            <a:prstDash val="solid"/>
            <a:headEnd type="none"/>
            <a:tailEnd type="none"/>
          </a:ln>
        </p:spPr>
      </p:sp>
      <p:sp>
        <p:nvSpPr>
          <p:cNvPr id="5" name="Text 3"/>
          <p:cNvSpPr/>
          <p:nvPr/>
        </p:nvSpPr>
        <p:spPr>
          <a:xfrm>
            <a:off x="3452602" y="2059686"/>
            <a:ext cx="714089" cy="117043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5185" b="1" i="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2</a:t>
            </a:r>
            <a:endParaRPr lang="en-US" sz="1440" dirty="0"/>
          </a:p>
        </p:txBody>
      </p:sp>
      <p:sp>
        <p:nvSpPr>
          <p:cNvPr id="6" name="Shape 4"/>
          <p:cNvSpPr/>
          <p:nvPr/>
        </p:nvSpPr>
        <p:spPr>
          <a:xfrm>
            <a:off x="3615896" y="3561973"/>
            <a:ext cx="5048676" cy="0"/>
          </a:xfrm>
          <a:custGeom>
            <a:avLst/>
            <a:gdLst/>
            <a:ahLst/>
            <a:cxnLst/>
            <a:rect l="l" t="t" r="r" b="b"/>
            <a:pathLst>
              <a:path w="5048676">
                <a:moveTo>
                  <a:pt x="0" y="0"/>
                </a:moveTo>
                <a:moveTo>
                  <a:pt x="0" y="0"/>
                </a:moveTo>
                <a:lnTo>
                  <a:pt x="5048676" y="0"/>
                </a:lnTo>
              </a:path>
            </a:pathLst>
          </a:custGeom>
          <a:noFill/>
          <a:ln w="10384">
            <a:solidFill>
              <a:srgbClr val="D6D9E1"/>
            </a:solidFill>
            <a:prstDash val="solid"/>
            <a:headEnd type="none"/>
            <a:tailEnd type="none"/>
          </a:ln>
        </p:spPr>
      </p:sp>
      <p:sp>
        <p:nvSpPr>
          <p:cNvPr id="7" name="Text 5"/>
          <p:cNvSpPr/>
          <p:nvPr/>
        </p:nvSpPr>
        <p:spPr>
          <a:xfrm>
            <a:off x="3452602" y="3488436"/>
            <a:ext cx="714089" cy="117043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5185" b="1" i="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1440" dirty="0"/>
          </a:p>
        </p:txBody>
      </p:sp>
      <p:sp>
        <p:nvSpPr>
          <p:cNvPr id="8" name="Text 6"/>
          <p:cNvSpPr/>
          <p:nvPr/>
        </p:nvSpPr>
        <p:spPr>
          <a:xfrm>
            <a:off x="4234035" y="978408"/>
            <a:ext cx="4649660"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实时消息传输的实现</a:t>
            </a:r>
            <a:endParaRPr lang="en-US" sz="1440" dirty="0"/>
          </a:p>
        </p:txBody>
      </p:sp>
      <p:pic>
        <p:nvPicPr>
          <p:cNvPr id="9" name="Image 0" descr="https://sgw-dx.xf-yun.com/api/v1/sparkdesk/_17468011336825d262a2f589640ffa767bbaf93db88c0.jpg?authorization=c2ltcGxlLWp3dCBhaz1zcGFya2Rlc2s4MDAwMDAwMDAwMDE7ZXhwPTMzMjM2MDExMzM7YWxnbz1obWFjLXNoYTI1NjtzaWc9bjlHc0xaUm54Q0NQYm1yWFJqQ1dVQWtDczZ6QnhCM04rT2pzMjNZWk10RT0=&amp;x_location=7YfmxI7B7uKO7jlRxIftd6UpfPD="/>
          <p:cNvPicPr>
            <a:picLocks noChangeAspect="1"/>
          </p:cNvPicPr>
          <p:nvPr/>
        </p:nvPicPr>
        <p:blipFill>
          <a:blip r:embed="rId2"/>
          <a:srcRect/>
          <a:stretch>
            <a:fillRect/>
          </a:stretch>
        </p:blipFill>
        <p:spPr>
          <a:xfrm>
            <a:off x="228600" y="1255014"/>
            <a:ext cx="3227058" cy="3227058"/>
          </a:xfrm>
          <a:prstGeom prst="rect">
            <a:avLst/>
          </a:prstGeom>
        </p:spPr>
      </p:pic>
      <p:sp>
        <p:nvSpPr>
          <p:cNvPr id="10" name="Text 7"/>
          <p:cNvSpPr/>
          <p:nvPr/>
        </p:nvSpPr>
        <p:spPr>
          <a:xfrm>
            <a:off x="4234035" y="1255014"/>
            <a:ext cx="4647734" cy="54864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WebSocket协议通过建立持久连接，实现了服务器与客户端之间的双向通信，使得即时通讯应用能够快速、可靠地传递消息，极大提升了用户体验。</a:t>
            </a:r>
            <a:endParaRPr lang="en-US" sz="1440" dirty="0"/>
          </a:p>
        </p:txBody>
      </p:sp>
      <p:sp>
        <p:nvSpPr>
          <p:cNvPr id="11" name="Text 8"/>
          <p:cNvSpPr/>
          <p:nvPr/>
        </p:nvSpPr>
        <p:spPr>
          <a:xfrm>
            <a:off x="4234035" y="2297430"/>
            <a:ext cx="4649660"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高效性与低延迟的优势</a:t>
            </a:r>
            <a:endParaRPr lang="en-US" sz="1440" dirty="0"/>
          </a:p>
        </p:txBody>
      </p:sp>
      <p:sp>
        <p:nvSpPr>
          <p:cNvPr id="12" name="Text 9"/>
          <p:cNvSpPr/>
          <p:nvPr/>
        </p:nvSpPr>
        <p:spPr>
          <a:xfrm>
            <a:off x="4234035" y="2574036"/>
            <a:ext cx="4647734" cy="54864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利用WebSocket协议减少了握手次数和保持连接的方式，显著降低了通信延迟，特别适合需要频繁通信和快速响应的即时通讯应用场景。</a:t>
            </a:r>
            <a:endParaRPr lang="en-US" sz="1440" dirty="0"/>
          </a:p>
        </p:txBody>
      </p:sp>
      <p:sp>
        <p:nvSpPr>
          <p:cNvPr id="13" name="Text 10"/>
          <p:cNvSpPr/>
          <p:nvPr/>
        </p:nvSpPr>
        <p:spPr>
          <a:xfrm>
            <a:off x="4234035" y="3707892"/>
            <a:ext cx="4649660"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跨平台兼容性的强化</a:t>
            </a:r>
            <a:endParaRPr lang="en-US" sz="1440" dirty="0"/>
          </a:p>
        </p:txBody>
      </p:sp>
      <p:sp>
        <p:nvSpPr>
          <p:cNvPr id="14" name="Text 11"/>
          <p:cNvSpPr/>
          <p:nvPr/>
        </p:nvSpPr>
        <p:spPr>
          <a:xfrm>
            <a:off x="4234035" y="3984498"/>
            <a:ext cx="4647734" cy="54864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作为标准的网络协议，WebSocket得到了广泛的浏览器支持，使得即时通讯应用可以在不同的平台和设备上运行，满足了跨平台使用的需求。</a:t>
            </a:r>
            <a:endParaRPr lang="en-US" sz="144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p:spPr>
        <p:txBody>
          <a:bodyPr wrap="square" lIns="95250" tIns="95250" rIns="95250" bIns="95250" rtlCol="0" anchor="t"/>
          <a:lstStyle/>
          <a:p>
            <a:pPr marL="0" indent="0">
              <a:lnSpc>
                <a:spcPct val="113000"/>
              </a:lnSpc>
              <a:spcBef>
                <a:spcPts val="375"/>
              </a:spcBef>
              <a:buNone/>
            </a:pPr>
            <a:r>
              <a:rPr lang="en-US" sz="259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消息传输机制</a:t>
            </a:r>
            <a:endParaRPr lang="en-US" sz="1440" dirty="0"/>
          </a:p>
        </p:txBody>
      </p:sp>
      <p:pic>
        <p:nvPicPr>
          <p:cNvPr id="3" name="Image 0" descr="https://sgw-dx.xf-yun.com/api/v1/sparkdesk/_1746801142951f216adfc09a1487cbe368e5ac8970c2a.jpg?authorization=c2ltcGxlLWp3dCBhaz1zcGFya2Rlc2s4MDAwMDAwMDAwMDE7ZXhwPTMzMjM2MDExNDM7YWxnbz1obWFjLXNoYTI1NjtzaWc9M1RhRllPajFTRnhPdkZtOG8rTmVaMHQxbXFYNGE2TTBKaXMwZ0cwTGUwND0=&amp;x_location=7YfmxI7B7uKO7jlRxIftd6UpfPD="/>
          <p:cNvPicPr>
            <a:picLocks noChangeAspect="1"/>
          </p:cNvPicPr>
          <p:nvPr/>
        </p:nvPicPr>
        <p:blipFill>
          <a:blip r:embed="rId2"/>
          <a:srcRect/>
          <a:stretch>
            <a:fillRect/>
          </a:stretch>
        </p:blipFill>
        <p:spPr>
          <a:xfrm>
            <a:off x="5884164" y="1227057"/>
            <a:ext cx="3031236" cy="3031236"/>
          </a:xfrm>
          <a:prstGeom prst="rect">
            <a:avLst/>
          </a:prstGeom>
        </p:spPr>
      </p:pic>
      <p:sp>
        <p:nvSpPr>
          <p:cNvPr id="4" name="Shape 1"/>
          <p:cNvSpPr/>
          <p:nvPr/>
        </p:nvSpPr>
        <p:spPr>
          <a:xfrm>
            <a:off x="278086" y="1104808"/>
            <a:ext cx="615117" cy="615117"/>
          </a:xfrm>
          <a:custGeom>
            <a:avLst/>
            <a:gdLst/>
            <a:ahLst/>
            <a:cxnLst/>
            <a:rect l="l" t="t" r="r" b="b"/>
            <a:pathLst>
              <a:path w="615117" h="615117">
                <a:moveTo>
                  <a:pt x="307559" y="0"/>
                </a:moveTo>
                <a:moveTo>
                  <a:pt x="307559" y="0"/>
                </a:moveTo>
                <a:cubicBezTo>
                  <a:pt x="477305" y="0"/>
                  <a:pt x="615117" y="137812"/>
                  <a:pt x="615117" y="307559"/>
                </a:cubicBezTo>
                <a:cubicBezTo>
                  <a:pt x="615117" y="477305"/>
                  <a:pt x="477305" y="615117"/>
                  <a:pt x="307559" y="615117"/>
                </a:cubicBezTo>
                <a:cubicBezTo>
                  <a:pt x="137812" y="615117"/>
                  <a:pt x="0" y="477305"/>
                  <a:pt x="0" y="307559"/>
                </a:cubicBezTo>
                <a:cubicBezTo>
                  <a:pt x="0" y="137812"/>
                  <a:pt x="137812" y="0"/>
                  <a:pt x="307559" y="0"/>
                </a:cubicBezTo>
                <a:close/>
              </a:path>
            </a:pathLst>
          </a:custGeom>
          <a:solidFill>
            <a:srgbClr val="3D4D83"/>
          </a:solidFill>
        </p:spPr>
      </p:sp>
      <p:sp>
        <p:nvSpPr>
          <p:cNvPr id="5" name="Text 2"/>
          <p:cNvSpPr/>
          <p:nvPr/>
        </p:nvSpPr>
        <p:spPr>
          <a:xfrm>
            <a:off x="228600" y="1087755"/>
            <a:ext cx="714089" cy="64922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450"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1</a:t>
            </a:r>
            <a:endParaRPr lang="en-US" sz="1440" dirty="0"/>
          </a:p>
        </p:txBody>
      </p:sp>
      <p:sp>
        <p:nvSpPr>
          <p:cNvPr id="6" name="Text 3"/>
          <p:cNvSpPr/>
          <p:nvPr/>
        </p:nvSpPr>
        <p:spPr>
          <a:xfrm>
            <a:off x="1015608" y="971025"/>
            <a:ext cx="4744222"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WebSocket协议概述</a:t>
            </a:r>
            <a:endParaRPr lang="en-US" sz="1440" dirty="0"/>
          </a:p>
        </p:txBody>
      </p:sp>
      <p:sp>
        <p:nvSpPr>
          <p:cNvPr id="7" name="Text 4"/>
          <p:cNvSpPr/>
          <p:nvPr/>
        </p:nvSpPr>
        <p:spPr>
          <a:xfrm>
            <a:off x="1015608" y="1291065"/>
            <a:ext cx="4734829"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WebSocket是一种在单个TCP连接上进行全双工通信的网络技术，它允许数据在客户端和服务器之间实时双向传输，极大地提升了网络应用的交互性和响应速度。</a:t>
            </a:r>
            <a:endParaRPr lang="en-US" sz="1440" dirty="0"/>
          </a:p>
        </p:txBody>
      </p:sp>
      <p:sp>
        <p:nvSpPr>
          <p:cNvPr id="8" name="Shape 5"/>
          <p:cNvSpPr/>
          <p:nvPr/>
        </p:nvSpPr>
        <p:spPr>
          <a:xfrm>
            <a:off x="278086" y="2415847"/>
            <a:ext cx="615117" cy="615117"/>
          </a:xfrm>
          <a:custGeom>
            <a:avLst/>
            <a:gdLst/>
            <a:ahLst/>
            <a:cxnLst/>
            <a:rect l="l" t="t" r="r" b="b"/>
            <a:pathLst>
              <a:path w="615117" h="615117">
                <a:moveTo>
                  <a:pt x="307559" y="0"/>
                </a:moveTo>
                <a:moveTo>
                  <a:pt x="307559" y="0"/>
                </a:moveTo>
                <a:cubicBezTo>
                  <a:pt x="477305" y="0"/>
                  <a:pt x="615117" y="137812"/>
                  <a:pt x="615117" y="307559"/>
                </a:cubicBezTo>
                <a:cubicBezTo>
                  <a:pt x="615117" y="477305"/>
                  <a:pt x="477305" y="615117"/>
                  <a:pt x="307559" y="615117"/>
                </a:cubicBezTo>
                <a:cubicBezTo>
                  <a:pt x="137812" y="615117"/>
                  <a:pt x="0" y="477305"/>
                  <a:pt x="0" y="307559"/>
                </a:cubicBezTo>
                <a:cubicBezTo>
                  <a:pt x="0" y="137812"/>
                  <a:pt x="137812" y="0"/>
                  <a:pt x="307559" y="0"/>
                </a:cubicBezTo>
                <a:close/>
              </a:path>
            </a:pathLst>
          </a:custGeom>
          <a:solidFill>
            <a:srgbClr val="3D4D83"/>
          </a:solidFill>
        </p:spPr>
      </p:sp>
      <p:sp>
        <p:nvSpPr>
          <p:cNvPr id="9" name="Text 6"/>
          <p:cNvSpPr/>
          <p:nvPr/>
        </p:nvSpPr>
        <p:spPr>
          <a:xfrm>
            <a:off x="228600" y="2398793"/>
            <a:ext cx="714089" cy="64922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450"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2</a:t>
            </a:r>
            <a:endParaRPr lang="en-US" sz="1440" dirty="0"/>
          </a:p>
        </p:txBody>
      </p:sp>
      <p:sp>
        <p:nvSpPr>
          <p:cNvPr id="10" name="Text 7"/>
          <p:cNvSpPr/>
          <p:nvPr/>
        </p:nvSpPr>
        <p:spPr>
          <a:xfrm>
            <a:off x="1015608" y="2277492"/>
            <a:ext cx="4744222"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消息实时传输的重要性</a:t>
            </a:r>
            <a:endParaRPr lang="en-US" sz="1440" dirty="0"/>
          </a:p>
        </p:txBody>
      </p:sp>
      <p:sp>
        <p:nvSpPr>
          <p:cNvPr id="11" name="Text 8"/>
          <p:cNvSpPr/>
          <p:nvPr/>
        </p:nvSpPr>
        <p:spPr>
          <a:xfrm>
            <a:off x="1015608" y="2606676"/>
            <a:ext cx="4730999"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在即时通讯项目中，消息的实时传输是核心需求之一。WebSocket协议通过维持持久连接，确保用户能够即时接收和发送消息，从而显著提高沟通的效率和实时性。</a:t>
            </a:r>
            <a:endParaRPr lang="en-US" sz="1440" dirty="0"/>
          </a:p>
        </p:txBody>
      </p:sp>
      <p:sp>
        <p:nvSpPr>
          <p:cNvPr id="12" name="Shape 9"/>
          <p:cNvSpPr/>
          <p:nvPr/>
        </p:nvSpPr>
        <p:spPr>
          <a:xfrm>
            <a:off x="278086" y="3701792"/>
            <a:ext cx="615117" cy="615117"/>
          </a:xfrm>
          <a:custGeom>
            <a:avLst/>
            <a:gdLst/>
            <a:ahLst/>
            <a:cxnLst/>
            <a:rect l="l" t="t" r="r" b="b"/>
            <a:pathLst>
              <a:path w="615117" h="615117">
                <a:moveTo>
                  <a:pt x="307559" y="0"/>
                </a:moveTo>
                <a:moveTo>
                  <a:pt x="307559" y="0"/>
                </a:moveTo>
                <a:cubicBezTo>
                  <a:pt x="477305" y="0"/>
                  <a:pt x="615117" y="137812"/>
                  <a:pt x="615117" y="307559"/>
                </a:cubicBezTo>
                <a:cubicBezTo>
                  <a:pt x="615117" y="477305"/>
                  <a:pt x="477305" y="615117"/>
                  <a:pt x="307559" y="615117"/>
                </a:cubicBezTo>
                <a:cubicBezTo>
                  <a:pt x="137812" y="615117"/>
                  <a:pt x="0" y="477305"/>
                  <a:pt x="0" y="307559"/>
                </a:cubicBezTo>
                <a:cubicBezTo>
                  <a:pt x="0" y="137812"/>
                  <a:pt x="137812" y="0"/>
                  <a:pt x="307559" y="0"/>
                </a:cubicBezTo>
                <a:close/>
              </a:path>
            </a:pathLst>
          </a:custGeom>
          <a:solidFill>
            <a:srgbClr val="3D4D83"/>
          </a:solidFill>
        </p:spPr>
      </p:sp>
      <p:sp>
        <p:nvSpPr>
          <p:cNvPr id="13" name="Text 10"/>
          <p:cNvSpPr/>
          <p:nvPr/>
        </p:nvSpPr>
        <p:spPr>
          <a:xfrm>
            <a:off x="228600" y="3684738"/>
            <a:ext cx="714089" cy="64922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450"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1440" dirty="0"/>
          </a:p>
        </p:txBody>
      </p:sp>
      <p:sp>
        <p:nvSpPr>
          <p:cNvPr id="14" name="Text 11"/>
          <p:cNvSpPr/>
          <p:nvPr/>
        </p:nvSpPr>
        <p:spPr>
          <a:xfrm>
            <a:off x="1015608" y="3593102"/>
            <a:ext cx="4744222"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提升沟通效率与实时性</a:t>
            </a:r>
            <a:endParaRPr lang="en-US" sz="1440" dirty="0"/>
          </a:p>
        </p:txBody>
      </p:sp>
      <p:sp>
        <p:nvSpPr>
          <p:cNvPr id="15" name="Text 12"/>
          <p:cNvSpPr/>
          <p:nvPr/>
        </p:nvSpPr>
        <p:spPr>
          <a:xfrm>
            <a:off x="1015608" y="3922286"/>
            <a:ext cx="4743644"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利用WebSocket实现的消息传输机制，不仅保证了信息的即时传递，还优化了用户体验。这种高效的通信方式使得用户在任何时间、任何地点都能保持顺畅的交流，有效促进了信息的快速流通。</a:t>
            </a:r>
            <a:endParaRPr lang="en-US" sz="144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p:spPr>
        <p:txBody>
          <a:bodyPr wrap="square" lIns="95250" tIns="95250" rIns="95250" bIns="95250" rtlCol="0" anchor="t"/>
          <a:lstStyle/>
          <a:p>
            <a:pPr marL="0" indent="0">
              <a:lnSpc>
                <a:spcPct val="113000"/>
              </a:lnSpc>
              <a:spcBef>
                <a:spcPts val="375"/>
              </a:spcBef>
              <a:buNone/>
            </a:pPr>
            <a:r>
              <a:rPr lang="en-US" sz="259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性能优化策略</a:t>
            </a:r>
            <a:endParaRPr lang="en-US" sz="1440" dirty="0"/>
          </a:p>
        </p:txBody>
      </p:sp>
      <p:pic>
        <p:nvPicPr>
          <p:cNvPr id="3" name="Image 0" descr="preencoded.png"/>
          <p:cNvPicPr>
            <a:picLocks noChangeAspect="1"/>
          </p:cNvPicPr>
          <p:nvPr/>
        </p:nvPicPr>
        <p:blipFill>
          <a:blip r:embed="rId2"/>
          <a:stretch>
            <a:fillRect/>
          </a:stretch>
        </p:blipFill>
        <p:spPr>
          <a:xfrm>
            <a:off x="293270" y="1548323"/>
            <a:ext cx="2910748" cy="523935"/>
          </a:xfrm>
          <a:prstGeom prst="rect">
            <a:avLst/>
          </a:prstGeom>
        </p:spPr>
      </p:pic>
      <p:sp>
        <p:nvSpPr>
          <p:cNvPr id="4" name="Shape 1"/>
          <p:cNvSpPr/>
          <p:nvPr/>
        </p:nvSpPr>
        <p:spPr>
          <a:xfrm>
            <a:off x="465745" y="1311452"/>
            <a:ext cx="426472" cy="426472"/>
          </a:xfrm>
          <a:custGeom>
            <a:avLst/>
            <a:gdLst/>
            <a:ahLst/>
            <a:cxnLst/>
            <a:rect l="l" t="t" r="r" b="b"/>
            <a:pathLst>
              <a:path w="426472" h="426472">
                <a:moveTo>
                  <a:pt x="213236" y="0"/>
                </a:moveTo>
                <a:moveTo>
                  <a:pt x="213236" y="0"/>
                </a:moveTo>
                <a:cubicBezTo>
                  <a:pt x="330924" y="0"/>
                  <a:pt x="426472" y="95548"/>
                  <a:pt x="426472" y="213236"/>
                </a:cubicBezTo>
                <a:cubicBezTo>
                  <a:pt x="426472" y="330924"/>
                  <a:pt x="330924" y="426472"/>
                  <a:pt x="213236" y="426472"/>
                </a:cubicBezTo>
                <a:cubicBezTo>
                  <a:pt x="95548" y="426472"/>
                  <a:pt x="0" y="330924"/>
                  <a:pt x="0" y="213236"/>
                </a:cubicBezTo>
                <a:cubicBezTo>
                  <a:pt x="0" y="95548"/>
                  <a:pt x="95548" y="0"/>
                  <a:pt x="213236" y="0"/>
                </a:cubicBezTo>
                <a:close/>
              </a:path>
            </a:pathLst>
          </a:custGeom>
          <a:solidFill>
            <a:srgbClr val="3D4D83"/>
          </a:solidFill>
          <a:ln w="38100">
            <a:solidFill>
              <a:srgbClr val="F4F7FF"/>
            </a:solidFill>
            <a:prstDash val="solid"/>
          </a:ln>
        </p:spPr>
      </p:sp>
      <p:sp>
        <p:nvSpPr>
          <p:cNvPr id="5" name="Text 2"/>
          <p:cNvSpPr/>
          <p:nvPr/>
        </p:nvSpPr>
        <p:spPr>
          <a:xfrm>
            <a:off x="290535" y="1282372"/>
            <a:ext cx="776892" cy="484632"/>
          </a:xfrm>
          <a:prstGeom prst="rect">
            <a:avLst/>
          </a:prstGeom>
          <a:noFill/>
        </p:spPr>
        <p:txBody>
          <a:bodyPr wrap="square" lIns="95250" tIns="95250" rIns="95250" bIns="95250" rtlCol="0" anchor="ctr">
            <a:spAutoFit/>
          </a:bodyPr>
          <a:lstStyle/>
          <a:p>
            <a:pPr marL="0" indent="0" algn="ctr">
              <a:lnSpc>
                <a:spcPct val="113000"/>
              </a:lnSpc>
              <a:spcBef>
                <a:spcPts val="375"/>
              </a:spcBef>
              <a:buNone/>
            </a:pPr>
            <a:r>
              <a:rPr lang="en-US" sz="1585"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pic>
        <p:nvPicPr>
          <p:cNvPr id="6" name="Image 1" descr="preencoded.png"/>
          <p:cNvPicPr>
            <a:picLocks noChangeAspect="1"/>
          </p:cNvPicPr>
          <p:nvPr/>
        </p:nvPicPr>
        <p:blipFill>
          <a:blip r:embed="rId3"/>
          <a:stretch>
            <a:fillRect/>
          </a:stretch>
        </p:blipFill>
        <p:spPr>
          <a:xfrm>
            <a:off x="3116626" y="1548323"/>
            <a:ext cx="2910748" cy="523935"/>
          </a:xfrm>
          <a:prstGeom prst="rect">
            <a:avLst/>
          </a:prstGeom>
        </p:spPr>
      </p:pic>
      <p:sp>
        <p:nvSpPr>
          <p:cNvPr id="7" name="Shape 3"/>
          <p:cNvSpPr/>
          <p:nvPr/>
        </p:nvSpPr>
        <p:spPr>
          <a:xfrm>
            <a:off x="3289101" y="1311452"/>
            <a:ext cx="426472" cy="426472"/>
          </a:xfrm>
          <a:custGeom>
            <a:avLst/>
            <a:gdLst/>
            <a:ahLst/>
            <a:cxnLst/>
            <a:rect l="l" t="t" r="r" b="b"/>
            <a:pathLst>
              <a:path w="426472" h="426472">
                <a:moveTo>
                  <a:pt x="213236" y="0"/>
                </a:moveTo>
                <a:moveTo>
                  <a:pt x="213236" y="0"/>
                </a:moveTo>
                <a:cubicBezTo>
                  <a:pt x="330924" y="0"/>
                  <a:pt x="426472" y="95548"/>
                  <a:pt x="426472" y="213236"/>
                </a:cubicBezTo>
                <a:cubicBezTo>
                  <a:pt x="426472" y="330924"/>
                  <a:pt x="330924" y="426472"/>
                  <a:pt x="213236" y="426472"/>
                </a:cubicBezTo>
                <a:cubicBezTo>
                  <a:pt x="95548" y="426472"/>
                  <a:pt x="0" y="330924"/>
                  <a:pt x="0" y="213236"/>
                </a:cubicBezTo>
                <a:cubicBezTo>
                  <a:pt x="0" y="95548"/>
                  <a:pt x="95548" y="0"/>
                  <a:pt x="213236" y="0"/>
                </a:cubicBezTo>
                <a:close/>
              </a:path>
            </a:pathLst>
          </a:custGeom>
          <a:solidFill>
            <a:srgbClr val="949BF0"/>
          </a:solidFill>
          <a:ln w="38100">
            <a:solidFill>
              <a:srgbClr val="F4F7FF"/>
            </a:solidFill>
            <a:prstDash val="solid"/>
          </a:ln>
        </p:spPr>
      </p:sp>
      <p:sp>
        <p:nvSpPr>
          <p:cNvPr id="8" name="Text 4"/>
          <p:cNvSpPr/>
          <p:nvPr/>
        </p:nvSpPr>
        <p:spPr>
          <a:xfrm>
            <a:off x="3107455" y="1282372"/>
            <a:ext cx="776892" cy="484632"/>
          </a:xfrm>
          <a:prstGeom prst="rect">
            <a:avLst/>
          </a:prstGeom>
          <a:noFill/>
        </p:spPr>
        <p:txBody>
          <a:bodyPr wrap="square" lIns="95250" tIns="95250" rIns="95250" bIns="95250" rtlCol="0" anchor="ctr">
            <a:spAutoFit/>
          </a:bodyPr>
          <a:lstStyle/>
          <a:p>
            <a:pPr marL="0" indent="0" algn="ctr">
              <a:lnSpc>
                <a:spcPct val="113000"/>
              </a:lnSpc>
              <a:spcBef>
                <a:spcPts val="375"/>
              </a:spcBef>
              <a:buNone/>
            </a:pPr>
            <a:r>
              <a:rPr lang="en-US" sz="1585"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pic>
        <p:nvPicPr>
          <p:cNvPr id="9" name="Image 2" descr="preencoded.png"/>
          <p:cNvPicPr>
            <a:picLocks noChangeAspect="1"/>
          </p:cNvPicPr>
          <p:nvPr/>
        </p:nvPicPr>
        <p:blipFill>
          <a:blip r:embed="rId4"/>
          <a:stretch>
            <a:fillRect/>
          </a:stretch>
        </p:blipFill>
        <p:spPr>
          <a:xfrm>
            <a:off x="5939982" y="1548323"/>
            <a:ext cx="2910748" cy="523935"/>
          </a:xfrm>
          <a:prstGeom prst="rect">
            <a:avLst/>
          </a:prstGeom>
        </p:spPr>
      </p:pic>
      <p:sp>
        <p:nvSpPr>
          <p:cNvPr id="10" name="Shape 5"/>
          <p:cNvSpPr/>
          <p:nvPr/>
        </p:nvSpPr>
        <p:spPr>
          <a:xfrm>
            <a:off x="6112457" y="1311452"/>
            <a:ext cx="426472" cy="426472"/>
          </a:xfrm>
          <a:custGeom>
            <a:avLst/>
            <a:gdLst/>
            <a:ahLst/>
            <a:cxnLst/>
            <a:rect l="l" t="t" r="r" b="b"/>
            <a:pathLst>
              <a:path w="426472" h="426472">
                <a:moveTo>
                  <a:pt x="213236" y="0"/>
                </a:moveTo>
                <a:moveTo>
                  <a:pt x="213236" y="0"/>
                </a:moveTo>
                <a:cubicBezTo>
                  <a:pt x="330924" y="0"/>
                  <a:pt x="426472" y="95548"/>
                  <a:pt x="426472" y="213236"/>
                </a:cubicBezTo>
                <a:cubicBezTo>
                  <a:pt x="426472" y="330924"/>
                  <a:pt x="330924" y="426472"/>
                  <a:pt x="213236" y="426472"/>
                </a:cubicBezTo>
                <a:cubicBezTo>
                  <a:pt x="95548" y="426472"/>
                  <a:pt x="0" y="330924"/>
                  <a:pt x="0" y="213236"/>
                </a:cubicBezTo>
                <a:cubicBezTo>
                  <a:pt x="0" y="95548"/>
                  <a:pt x="95548" y="0"/>
                  <a:pt x="213236" y="0"/>
                </a:cubicBezTo>
                <a:close/>
              </a:path>
            </a:pathLst>
          </a:custGeom>
          <a:solidFill>
            <a:srgbClr val="3D4D83"/>
          </a:solidFill>
          <a:ln w="38100">
            <a:solidFill>
              <a:srgbClr val="F4F7FF"/>
            </a:solidFill>
            <a:prstDash val="solid"/>
          </a:ln>
        </p:spPr>
      </p:sp>
      <p:sp>
        <p:nvSpPr>
          <p:cNvPr id="11" name="Text 6"/>
          <p:cNvSpPr/>
          <p:nvPr/>
        </p:nvSpPr>
        <p:spPr>
          <a:xfrm>
            <a:off x="5937247" y="1282372"/>
            <a:ext cx="776892" cy="484632"/>
          </a:xfrm>
          <a:prstGeom prst="rect">
            <a:avLst/>
          </a:prstGeom>
          <a:noFill/>
        </p:spPr>
        <p:txBody>
          <a:bodyPr wrap="square" lIns="95250" tIns="95250" rIns="95250" bIns="95250" rtlCol="0" anchor="ctr">
            <a:spAutoFit/>
          </a:bodyPr>
          <a:lstStyle/>
          <a:p>
            <a:pPr marL="0" indent="0" algn="ctr">
              <a:lnSpc>
                <a:spcPct val="113000"/>
              </a:lnSpc>
              <a:spcBef>
                <a:spcPts val="375"/>
              </a:spcBef>
              <a:buNone/>
            </a:pPr>
            <a:r>
              <a:rPr lang="en-US" sz="1585"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12" name="Text 7"/>
          <p:cNvSpPr/>
          <p:nvPr/>
        </p:nvSpPr>
        <p:spPr>
          <a:xfrm>
            <a:off x="894747" y="1539179"/>
            <a:ext cx="2116833" cy="523935"/>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合理设置心跳机制</a:t>
            </a:r>
            <a:endParaRPr lang="en-US" sz="1440" dirty="0"/>
          </a:p>
        </p:txBody>
      </p:sp>
      <p:sp>
        <p:nvSpPr>
          <p:cNvPr id="13" name="Text 8"/>
          <p:cNvSpPr/>
          <p:nvPr/>
        </p:nvSpPr>
        <p:spPr>
          <a:xfrm>
            <a:off x="579933" y="2207480"/>
            <a:ext cx="2337423" cy="1207008"/>
          </a:xfrm>
          <a:prstGeom prst="rect">
            <a:avLst/>
          </a:prstGeom>
          <a:noFill/>
        </p:spPr>
        <p:txBody>
          <a:bodyPr wrap="square" lIns="95250" tIns="95250" rIns="95250" bIns="95250" rtlCol="0" anchor="t">
            <a:spAutoFit/>
          </a:bodyPr>
          <a:lstStyle/>
          <a:p>
            <a:pPr marL="0" indent="0">
              <a:lnSpc>
                <a:spcPct val="101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通过定期发送心跳包来维持WebSocket连接的有效性，根据网络环境调整心跳间隔，确保连接稳定，减少因网络问题导致的连接中断。</a:t>
            </a:r>
            <a:endParaRPr lang="en-US" sz="1440" dirty="0"/>
          </a:p>
        </p:txBody>
      </p:sp>
      <p:sp>
        <p:nvSpPr>
          <p:cNvPr id="14" name="Text 9"/>
          <p:cNvSpPr/>
          <p:nvPr/>
        </p:nvSpPr>
        <p:spPr>
          <a:xfrm>
            <a:off x="3770719" y="1539179"/>
            <a:ext cx="2116833" cy="523935"/>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有效管理服务器端资源</a:t>
            </a:r>
            <a:endParaRPr lang="en-US" sz="1440" dirty="0"/>
          </a:p>
        </p:txBody>
      </p:sp>
      <p:sp>
        <p:nvSpPr>
          <p:cNvPr id="15" name="Text 10"/>
          <p:cNvSpPr/>
          <p:nvPr/>
        </p:nvSpPr>
        <p:spPr>
          <a:xfrm>
            <a:off x="3403289" y="2207480"/>
            <a:ext cx="2337423" cy="1207008"/>
          </a:xfrm>
          <a:prstGeom prst="rect">
            <a:avLst/>
          </a:prstGeom>
          <a:noFill/>
        </p:spPr>
        <p:txBody>
          <a:bodyPr wrap="square" lIns="95250" tIns="95250" rIns="95250" bIns="95250" rtlCol="0" anchor="t">
            <a:spAutoFit/>
          </a:bodyPr>
          <a:lstStyle/>
          <a:p>
            <a:pPr marL="0" indent="0">
              <a:lnSpc>
                <a:spcPct val="101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优化服务器配置、增加硬件资源或使用负载均衡技术，避免大量并发连接导致的服务过载，提高系统整体性能和资源利用率。</a:t>
            </a:r>
            <a:endParaRPr lang="en-US" sz="1440" dirty="0"/>
          </a:p>
        </p:txBody>
      </p:sp>
      <p:sp>
        <p:nvSpPr>
          <p:cNvPr id="16" name="Text 11"/>
          <p:cNvSpPr/>
          <p:nvPr/>
        </p:nvSpPr>
        <p:spPr>
          <a:xfrm>
            <a:off x="6646690" y="1539179"/>
            <a:ext cx="2106699" cy="523935"/>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根据实际应用场景调整消息发送策略</a:t>
            </a:r>
            <a:endParaRPr lang="en-US" sz="1440" dirty="0"/>
          </a:p>
        </p:txBody>
      </p:sp>
      <p:sp>
        <p:nvSpPr>
          <p:cNvPr id="17" name="Text 12"/>
          <p:cNvSpPr/>
          <p:nvPr/>
        </p:nvSpPr>
        <p:spPr>
          <a:xfrm>
            <a:off x="6226645" y="2207480"/>
            <a:ext cx="2337423" cy="1207008"/>
          </a:xfrm>
          <a:prstGeom prst="rect">
            <a:avLst/>
          </a:prstGeom>
          <a:noFill/>
        </p:spPr>
        <p:txBody>
          <a:bodyPr wrap="square" lIns="95250" tIns="95250" rIns="95250" bIns="95250" rtlCol="0" anchor="t">
            <a:spAutoFit/>
          </a:bodyPr>
          <a:lstStyle/>
          <a:p>
            <a:pPr marL="0" indent="0">
              <a:lnSpc>
                <a:spcPct val="101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根据消息的重要性和实时性要求，灵活调整消息发送策略，优先处理重要消息，采用批量或延迟发送非紧急消息，提升消息传递效率。</a:t>
            </a:r>
            <a:endParaRPr lang="en-US" sz="144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91482" y="2114883"/>
            <a:ext cx="1085027" cy="731520"/>
          </a:xfrm>
          <a:prstGeom prst="rect">
            <a:avLst/>
          </a:prstGeom>
          <a:noFill/>
        </p:spPr>
        <p:txBody>
          <a:bodyPr wrap="square" lIns="95250" tIns="95250" rIns="95250" bIns="95250" rtlCol="0" anchor="t"/>
          <a:lstStyle/>
          <a:p>
            <a:pPr marL="0" indent="0" algn="ctr">
              <a:lnSpc>
                <a:spcPct val="100000"/>
              </a:lnSpc>
              <a:spcBef>
                <a:spcPts val="375"/>
              </a:spcBef>
              <a:buNone/>
            </a:pPr>
            <a:r>
              <a:rPr lang="en-US" sz="4320" b="1" dirty="0">
                <a:solidFill>
                  <a:srgbClr val="2E3E74"/>
                </a:solidFill>
                <a:latin typeface="微软雅黑" panose="020B0503020204020204" pitchFamily="34" charset="-122"/>
                <a:ea typeface="微软雅黑" panose="020B0503020204020204" pitchFamily="34" charset="-122"/>
                <a:cs typeface="微软雅黑" panose="020B0503020204020204" pitchFamily="34" charset="-120"/>
              </a:rPr>
              <a:t>05</a:t>
            </a:r>
            <a:endParaRPr lang="en-US" sz="1440" dirty="0"/>
          </a:p>
        </p:txBody>
      </p:sp>
      <p:sp>
        <p:nvSpPr>
          <p:cNvPr id="3" name="Text 1"/>
          <p:cNvSpPr/>
          <p:nvPr/>
        </p:nvSpPr>
        <p:spPr>
          <a:xfrm>
            <a:off x="1376509" y="2114883"/>
            <a:ext cx="7241265" cy="731520"/>
          </a:xfrm>
          <a:prstGeom prst="rect">
            <a:avLst/>
          </a:prstGeom>
          <a:noFill/>
        </p:spPr>
        <p:txBody>
          <a:bodyPr wrap="square" lIns="95250" tIns="95250" rIns="95250" bIns="95250" rtlCol="0" anchor="t"/>
          <a:lstStyle/>
          <a:p>
            <a:pPr marL="0" indent="0">
              <a:lnSpc>
                <a:spcPct val="113000"/>
              </a:lnSpc>
              <a:spcBef>
                <a:spcPts val="375"/>
              </a:spcBef>
              <a:buNone/>
            </a:pPr>
            <a:r>
              <a:rPr lang="en-US" sz="288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测试与质量保证</a:t>
            </a:r>
            <a:endParaRPr lang="en-US" sz="144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p:spPr>
        <p:txBody>
          <a:bodyPr wrap="square" lIns="95250" tIns="95250" rIns="95250" bIns="95250" rtlCol="0" anchor="t"/>
          <a:lstStyle/>
          <a:p>
            <a:pPr marL="0" indent="0">
              <a:lnSpc>
                <a:spcPct val="113000"/>
              </a:lnSpc>
              <a:spcBef>
                <a:spcPts val="375"/>
              </a:spcBef>
              <a:buNone/>
            </a:pPr>
            <a:r>
              <a:rPr lang="en-US" sz="259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功能测试方法</a:t>
            </a:r>
            <a:endParaRPr lang="en-US" sz="1440" dirty="0"/>
          </a:p>
        </p:txBody>
      </p:sp>
      <p:sp>
        <p:nvSpPr>
          <p:cNvPr id="3" name="Shape 1"/>
          <p:cNvSpPr/>
          <p:nvPr/>
        </p:nvSpPr>
        <p:spPr>
          <a:xfrm>
            <a:off x="3411" y="3169843"/>
            <a:ext cx="756813" cy="0"/>
          </a:xfrm>
          <a:custGeom>
            <a:avLst/>
            <a:gdLst/>
            <a:ahLst/>
            <a:cxnLst/>
            <a:rect l="l" t="t" r="r" b="b"/>
            <a:pathLst>
              <a:path w="756813">
                <a:moveTo>
                  <a:pt x="0" y="0"/>
                </a:moveTo>
                <a:moveTo>
                  <a:pt x="0" y="0"/>
                </a:moveTo>
                <a:lnTo>
                  <a:pt x="756813" y="0"/>
                </a:lnTo>
              </a:path>
            </a:pathLst>
          </a:custGeom>
          <a:noFill/>
          <a:ln w="19050">
            <a:solidFill>
              <a:srgbClr val="3D4D83"/>
            </a:solidFill>
            <a:prstDash val="solid"/>
            <a:headEnd type="none"/>
            <a:tailEnd type="none"/>
          </a:ln>
        </p:spPr>
      </p:sp>
      <p:sp>
        <p:nvSpPr>
          <p:cNvPr id="4" name="Shape 2"/>
          <p:cNvSpPr/>
          <p:nvPr/>
        </p:nvSpPr>
        <p:spPr>
          <a:xfrm>
            <a:off x="763427" y="1024861"/>
            <a:ext cx="2278893" cy="3444457"/>
          </a:xfrm>
          <a:custGeom>
            <a:avLst/>
            <a:gdLst/>
            <a:ahLst/>
            <a:cxnLst/>
            <a:rect l="l" t="t" r="r" b="b"/>
            <a:pathLst>
              <a:path w="2278893" h="3444457">
                <a:moveTo>
                  <a:pt x="205225" y="0"/>
                </a:moveTo>
                <a:moveTo>
                  <a:pt x="205225" y="0"/>
                </a:moveTo>
                <a:lnTo>
                  <a:pt x="2073668" y="0"/>
                </a:lnTo>
                <a:quadBezTo>
                  <a:pt x="2278893" y="0"/>
                  <a:pt x="2278893" y="261000"/>
                </a:quadBezTo>
                <a:lnTo>
                  <a:pt x="2278893" y="3183457"/>
                </a:lnTo>
                <a:quadBezTo>
                  <a:pt x="2278893" y="3444457"/>
                  <a:pt x="2073668" y="3444457"/>
                </a:quadBezTo>
                <a:lnTo>
                  <a:pt x="205225" y="3444457"/>
                </a:lnTo>
                <a:quadBezTo>
                  <a:pt x="0" y="3444457"/>
                  <a:pt x="0" y="3183457"/>
                </a:quadBezTo>
                <a:lnTo>
                  <a:pt x="0" y="261000"/>
                </a:lnTo>
                <a:quadBezTo>
                  <a:pt x="0" y="0"/>
                  <a:pt x="205225" y="0"/>
                </a:quadBezTo>
                <a:close/>
              </a:path>
            </a:pathLst>
          </a:custGeom>
          <a:solidFill>
            <a:srgbClr val="3D4D83">
              <a:alpha val="10196"/>
            </a:srgbClr>
          </a:solidFill>
          <a:ln w="9525">
            <a:solidFill>
              <a:srgbClr val="3D4D83">
                <a:alpha val="70196"/>
              </a:srgbClr>
            </a:solidFill>
            <a:prstDash val="solid"/>
          </a:ln>
        </p:spPr>
      </p:sp>
      <p:sp>
        <p:nvSpPr>
          <p:cNvPr id="5" name="Shape 3"/>
          <p:cNvSpPr/>
          <p:nvPr/>
        </p:nvSpPr>
        <p:spPr>
          <a:xfrm>
            <a:off x="838969" y="3739554"/>
            <a:ext cx="2127809" cy="656539"/>
          </a:xfrm>
          <a:custGeom>
            <a:avLst/>
            <a:gdLst/>
            <a:ahLst/>
            <a:cxnLst/>
            <a:rect l="l" t="t" r="r" b="b"/>
            <a:pathLst>
              <a:path w="2127809" h="656539">
                <a:moveTo>
                  <a:pt x="115736" y="0"/>
                </a:moveTo>
                <a:moveTo>
                  <a:pt x="115736" y="0"/>
                </a:moveTo>
                <a:lnTo>
                  <a:pt x="2012073" y="0"/>
                </a:lnTo>
                <a:quadBezTo>
                  <a:pt x="2127809" y="0"/>
                  <a:pt x="2127809" y="115736"/>
                </a:quadBezTo>
                <a:lnTo>
                  <a:pt x="2127809" y="540803"/>
                </a:lnTo>
                <a:quadBezTo>
                  <a:pt x="2127809" y="656539"/>
                  <a:pt x="2012073" y="656539"/>
                </a:quadBezTo>
                <a:lnTo>
                  <a:pt x="115736" y="656539"/>
                </a:lnTo>
                <a:quadBezTo>
                  <a:pt x="0" y="656539"/>
                  <a:pt x="0" y="540803"/>
                </a:quadBezTo>
                <a:lnTo>
                  <a:pt x="0" y="115736"/>
                </a:lnTo>
                <a:quadBezTo>
                  <a:pt x="0" y="0"/>
                  <a:pt x="115736" y="0"/>
                </a:quadBezTo>
                <a:close/>
              </a:path>
            </a:pathLst>
          </a:custGeom>
          <a:solidFill>
            <a:srgbClr val="3D4D83"/>
          </a:solidFill>
        </p:spPr>
      </p:sp>
      <p:sp>
        <p:nvSpPr>
          <p:cNvPr id="6" name="Text 4"/>
          <p:cNvSpPr/>
          <p:nvPr/>
        </p:nvSpPr>
        <p:spPr>
          <a:xfrm>
            <a:off x="1497553" y="1184756"/>
            <a:ext cx="810643" cy="78638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3170" b="1" dirty="0">
                <a:solidFill>
                  <a:srgbClr val="3D4D83">
                    <a:alpha val="50000"/>
                  </a:srgbClr>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7" name="Shape 5"/>
          <p:cNvSpPr/>
          <p:nvPr/>
        </p:nvSpPr>
        <p:spPr>
          <a:xfrm>
            <a:off x="3432762" y="1024765"/>
            <a:ext cx="2278685" cy="3444553"/>
          </a:xfrm>
          <a:custGeom>
            <a:avLst/>
            <a:gdLst/>
            <a:ahLst/>
            <a:cxnLst/>
            <a:rect l="l" t="t" r="r" b="b"/>
            <a:pathLst>
              <a:path w="2278685" h="3444553">
                <a:moveTo>
                  <a:pt x="205206" y="0"/>
                </a:moveTo>
                <a:moveTo>
                  <a:pt x="205206" y="0"/>
                </a:moveTo>
                <a:lnTo>
                  <a:pt x="2073479" y="0"/>
                </a:lnTo>
                <a:quadBezTo>
                  <a:pt x="2278685" y="0"/>
                  <a:pt x="2278685" y="260976"/>
                </a:quadBezTo>
                <a:lnTo>
                  <a:pt x="2278685" y="3183577"/>
                </a:lnTo>
                <a:quadBezTo>
                  <a:pt x="2278685" y="3444553"/>
                  <a:pt x="2073479" y="3444553"/>
                </a:quadBezTo>
                <a:lnTo>
                  <a:pt x="205206" y="3444553"/>
                </a:lnTo>
                <a:quadBezTo>
                  <a:pt x="0" y="3444553"/>
                  <a:pt x="0" y="3183577"/>
                </a:quadBezTo>
                <a:lnTo>
                  <a:pt x="0" y="260976"/>
                </a:lnTo>
                <a:quadBezTo>
                  <a:pt x="0" y="0"/>
                  <a:pt x="205206" y="0"/>
                </a:quadBezTo>
                <a:close/>
              </a:path>
            </a:pathLst>
          </a:custGeom>
          <a:solidFill>
            <a:srgbClr val="3D4D83">
              <a:alpha val="10196"/>
            </a:srgbClr>
          </a:solidFill>
          <a:ln w="9525">
            <a:solidFill>
              <a:srgbClr val="3D4D83">
                <a:alpha val="70196"/>
              </a:srgbClr>
            </a:solidFill>
            <a:prstDash val="solid"/>
          </a:ln>
        </p:spPr>
      </p:sp>
      <p:sp>
        <p:nvSpPr>
          <p:cNvPr id="8" name="Shape 6"/>
          <p:cNvSpPr/>
          <p:nvPr/>
        </p:nvSpPr>
        <p:spPr>
          <a:xfrm>
            <a:off x="3508200" y="3739554"/>
            <a:ext cx="2127809" cy="656539"/>
          </a:xfrm>
          <a:custGeom>
            <a:avLst/>
            <a:gdLst/>
            <a:ahLst/>
            <a:cxnLst/>
            <a:rect l="l" t="t" r="r" b="b"/>
            <a:pathLst>
              <a:path w="2127809" h="656539">
                <a:moveTo>
                  <a:pt x="115736" y="0"/>
                </a:moveTo>
                <a:moveTo>
                  <a:pt x="115736" y="0"/>
                </a:moveTo>
                <a:lnTo>
                  <a:pt x="2012073" y="0"/>
                </a:lnTo>
                <a:quadBezTo>
                  <a:pt x="2127809" y="0"/>
                  <a:pt x="2127809" y="115736"/>
                </a:quadBezTo>
                <a:lnTo>
                  <a:pt x="2127809" y="540803"/>
                </a:lnTo>
                <a:quadBezTo>
                  <a:pt x="2127809" y="656539"/>
                  <a:pt x="2012073" y="656539"/>
                </a:quadBezTo>
                <a:lnTo>
                  <a:pt x="115736" y="656539"/>
                </a:lnTo>
                <a:quadBezTo>
                  <a:pt x="0" y="656539"/>
                  <a:pt x="0" y="540803"/>
                </a:quadBezTo>
                <a:lnTo>
                  <a:pt x="0" y="115736"/>
                </a:lnTo>
                <a:quadBezTo>
                  <a:pt x="0" y="0"/>
                  <a:pt x="115736" y="0"/>
                </a:quadBezTo>
                <a:close/>
              </a:path>
            </a:pathLst>
          </a:custGeom>
          <a:solidFill>
            <a:srgbClr val="3D4D83"/>
          </a:solidFill>
        </p:spPr>
      </p:sp>
      <p:sp>
        <p:nvSpPr>
          <p:cNvPr id="9" name="Text 7"/>
          <p:cNvSpPr/>
          <p:nvPr/>
        </p:nvSpPr>
        <p:spPr>
          <a:xfrm>
            <a:off x="4166783" y="1184831"/>
            <a:ext cx="810643" cy="78638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3170" b="1" dirty="0">
                <a:solidFill>
                  <a:srgbClr val="3D4D83">
                    <a:alpha val="50000"/>
                  </a:srgbClr>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10" name="Shape 8"/>
          <p:cNvSpPr/>
          <p:nvPr/>
        </p:nvSpPr>
        <p:spPr>
          <a:xfrm>
            <a:off x="6111032" y="1024765"/>
            <a:ext cx="2278685" cy="3444553"/>
          </a:xfrm>
          <a:custGeom>
            <a:avLst/>
            <a:gdLst/>
            <a:ahLst/>
            <a:cxnLst/>
            <a:rect l="l" t="t" r="r" b="b"/>
            <a:pathLst>
              <a:path w="2278685" h="3444553">
                <a:moveTo>
                  <a:pt x="205206" y="0"/>
                </a:moveTo>
                <a:moveTo>
                  <a:pt x="205206" y="0"/>
                </a:moveTo>
                <a:lnTo>
                  <a:pt x="2073479" y="0"/>
                </a:lnTo>
                <a:quadBezTo>
                  <a:pt x="2278685" y="0"/>
                  <a:pt x="2278685" y="260976"/>
                </a:quadBezTo>
                <a:lnTo>
                  <a:pt x="2278685" y="3183577"/>
                </a:lnTo>
                <a:quadBezTo>
                  <a:pt x="2278685" y="3444553"/>
                  <a:pt x="2073479" y="3444553"/>
                </a:quadBezTo>
                <a:lnTo>
                  <a:pt x="205206" y="3444553"/>
                </a:lnTo>
                <a:quadBezTo>
                  <a:pt x="0" y="3444553"/>
                  <a:pt x="0" y="3183577"/>
                </a:quadBezTo>
                <a:lnTo>
                  <a:pt x="0" y="260976"/>
                </a:lnTo>
                <a:quadBezTo>
                  <a:pt x="0" y="0"/>
                  <a:pt x="205206" y="0"/>
                </a:quadBezTo>
                <a:close/>
              </a:path>
            </a:pathLst>
          </a:custGeom>
          <a:solidFill>
            <a:srgbClr val="3D4D83">
              <a:alpha val="10196"/>
            </a:srgbClr>
          </a:solidFill>
          <a:ln w="9525">
            <a:solidFill>
              <a:srgbClr val="3D4D83">
                <a:alpha val="70196"/>
              </a:srgbClr>
            </a:solidFill>
            <a:prstDash val="solid"/>
          </a:ln>
        </p:spPr>
      </p:sp>
      <p:sp>
        <p:nvSpPr>
          <p:cNvPr id="11" name="Shape 9"/>
          <p:cNvSpPr/>
          <p:nvPr/>
        </p:nvSpPr>
        <p:spPr>
          <a:xfrm>
            <a:off x="6186470" y="3739554"/>
            <a:ext cx="2127809" cy="656539"/>
          </a:xfrm>
          <a:custGeom>
            <a:avLst/>
            <a:gdLst/>
            <a:ahLst/>
            <a:cxnLst/>
            <a:rect l="l" t="t" r="r" b="b"/>
            <a:pathLst>
              <a:path w="2127809" h="656539">
                <a:moveTo>
                  <a:pt x="115736" y="0"/>
                </a:moveTo>
                <a:moveTo>
                  <a:pt x="115736" y="0"/>
                </a:moveTo>
                <a:lnTo>
                  <a:pt x="2012073" y="0"/>
                </a:lnTo>
                <a:quadBezTo>
                  <a:pt x="2127809" y="0"/>
                  <a:pt x="2127809" y="115736"/>
                </a:quadBezTo>
                <a:lnTo>
                  <a:pt x="2127809" y="540803"/>
                </a:lnTo>
                <a:quadBezTo>
                  <a:pt x="2127809" y="656539"/>
                  <a:pt x="2012073" y="656539"/>
                </a:quadBezTo>
                <a:lnTo>
                  <a:pt x="115736" y="656539"/>
                </a:lnTo>
                <a:quadBezTo>
                  <a:pt x="0" y="656539"/>
                  <a:pt x="0" y="540803"/>
                </a:quadBezTo>
                <a:lnTo>
                  <a:pt x="0" y="115736"/>
                </a:lnTo>
                <a:quadBezTo>
                  <a:pt x="0" y="0"/>
                  <a:pt x="115736" y="0"/>
                </a:quadBezTo>
                <a:close/>
              </a:path>
            </a:pathLst>
          </a:custGeom>
          <a:solidFill>
            <a:srgbClr val="3D4D83"/>
          </a:solidFill>
        </p:spPr>
      </p:sp>
      <p:sp>
        <p:nvSpPr>
          <p:cNvPr id="12" name="Text 10"/>
          <p:cNvSpPr/>
          <p:nvPr/>
        </p:nvSpPr>
        <p:spPr>
          <a:xfrm>
            <a:off x="6845053" y="1184756"/>
            <a:ext cx="810643" cy="78638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3170" b="1" dirty="0">
                <a:solidFill>
                  <a:srgbClr val="3D4D83">
                    <a:alpha val="50000"/>
                  </a:srgbClr>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13" name="Shape 11"/>
          <p:cNvSpPr/>
          <p:nvPr/>
        </p:nvSpPr>
        <p:spPr>
          <a:xfrm>
            <a:off x="3039117" y="3169918"/>
            <a:ext cx="402607" cy="0"/>
          </a:xfrm>
          <a:custGeom>
            <a:avLst/>
            <a:gdLst/>
            <a:ahLst/>
            <a:cxnLst/>
            <a:rect l="l" t="t" r="r" b="b"/>
            <a:pathLst>
              <a:path w="402607">
                <a:moveTo>
                  <a:pt x="0" y="0"/>
                </a:moveTo>
                <a:moveTo>
                  <a:pt x="0" y="0"/>
                </a:moveTo>
                <a:lnTo>
                  <a:pt x="402607" y="0"/>
                </a:lnTo>
              </a:path>
            </a:pathLst>
          </a:custGeom>
          <a:noFill/>
          <a:ln w="19050">
            <a:solidFill>
              <a:srgbClr val="3D4D83"/>
            </a:solidFill>
            <a:prstDash val="solid"/>
            <a:headEnd type="none"/>
            <a:tailEnd type="none"/>
          </a:ln>
        </p:spPr>
      </p:sp>
      <p:sp>
        <p:nvSpPr>
          <p:cNvPr id="14" name="Shape 12"/>
          <p:cNvSpPr/>
          <p:nvPr/>
        </p:nvSpPr>
        <p:spPr>
          <a:xfrm>
            <a:off x="5708243" y="3169918"/>
            <a:ext cx="402607" cy="0"/>
          </a:xfrm>
          <a:custGeom>
            <a:avLst/>
            <a:gdLst/>
            <a:ahLst/>
            <a:cxnLst/>
            <a:rect l="l" t="t" r="r" b="b"/>
            <a:pathLst>
              <a:path w="402607">
                <a:moveTo>
                  <a:pt x="0" y="0"/>
                </a:moveTo>
                <a:moveTo>
                  <a:pt x="0" y="0"/>
                </a:moveTo>
                <a:lnTo>
                  <a:pt x="402607" y="0"/>
                </a:lnTo>
              </a:path>
            </a:pathLst>
          </a:custGeom>
          <a:noFill/>
          <a:ln w="19050">
            <a:solidFill>
              <a:srgbClr val="3D4D83"/>
            </a:solidFill>
            <a:prstDash val="solid"/>
            <a:headEnd type="none"/>
            <a:tailEnd type="none"/>
          </a:ln>
        </p:spPr>
      </p:sp>
      <p:sp>
        <p:nvSpPr>
          <p:cNvPr id="15" name="Shape 13"/>
          <p:cNvSpPr/>
          <p:nvPr/>
        </p:nvSpPr>
        <p:spPr>
          <a:xfrm>
            <a:off x="8383984" y="3169918"/>
            <a:ext cx="756813" cy="0"/>
          </a:xfrm>
          <a:custGeom>
            <a:avLst/>
            <a:gdLst/>
            <a:ahLst/>
            <a:cxnLst/>
            <a:rect l="l" t="t" r="r" b="b"/>
            <a:pathLst>
              <a:path w="756813">
                <a:moveTo>
                  <a:pt x="0" y="0"/>
                </a:moveTo>
                <a:moveTo>
                  <a:pt x="0" y="0"/>
                </a:moveTo>
                <a:lnTo>
                  <a:pt x="756813" y="0"/>
                </a:lnTo>
              </a:path>
            </a:pathLst>
          </a:custGeom>
          <a:noFill/>
          <a:ln w="19050">
            <a:solidFill>
              <a:srgbClr val="3D4D83"/>
            </a:solidFill>
            <a:prstDash val="solid"/>
            <a:headEnd type="none"/>
            <a:tailEnd type="none"/>
          </a:ln>
        </p:spPr>
      </p:sp>
      <p:sp>
        <p:nvSpPr>
          <p:cNvPr id="16" name="Text 14"/>
          <p:cNvSpPr/>
          <p:nvPr/>
        </p:nvSpPr>
        <p:spPr>
          <a:xfrm>
            <a:off x="911657" y="3880371"/>
            <a:ext cx="1981505"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功能测试概述</a:t>
            </a:r>
            <a:endParaRPr lang="en-US" sz="1440" dirty="0"/>
          </a:p>
        </p:txBody>
      </p:sp>
      <p:sp>
        <p:nvSpPr>
          <p:cNvPr id="17" name="Text 15"/>
          <p:cNvSpPr/>
          <p:nvPr/>
        </p:nvSpPr>
        <p:spPr>
          <a:xfrm>
            <a:off x="816109" y="1971140"/>
            <a:ext cx="2173529" cy="1024128"/>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功能测试是软件测试中的一种基本方法，主要目的是验证软件系统的各项功能是否按照需求规格说明书进行设计和实现，确保软件功能的正常运行。</a:t>
            </a:r>
            <a:endParaRPr lang="en-US" sz="1440" dirty="0"/>
          </a:p>
        </p:txBody>
      </p:sp>
      <p:sp>
        <p:nvSpPr>
          <p:cNvPr id="18" name="Text 16"/>
          <p:cNvSpPr/>
          <p:nvPr/>
        </p:nvSpPr>
        <p:spPr>
          <a:xfrm>
            <a:off x="3581248" y="3880371"/>
            <a:ext cx="1981712"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黑盒测试技术</a:t>
            </a:r>
            <a:endParaRPr lang="en-US" sz="1440" dirty="0"/>
          </a:p>
        </p:txBody>
      </p:sp>
      <p:sp>
        <p:nvSpPr>
          <p:cNvPr id="19" name="Text 17"/>
          <p:cNvSpPr/>
          <p:nvPr/>
        </p:nvSpPr>
        <p:spPr>
          <a:xfrm>
            <a:off x="3485340" y="1971215"/>
            <a:ext cx="2173529" cy="1024128"/>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黑盒测试是一种重要的功能测试方法，它不关注程序内部结构和代码实现，而是从用户角度出发，通过输入数据和预期输出来检查软件的功能正确性。</a:t>
            </a:r>
            <a:endParaRPr lang="en-US" sz="1440" dirty="0"/>
          </a:p>
        </p:txBody>
      </p:sp>
      <p:sp>
        <p:nvSpPr>
          <p:cNvPr id="20" name="Text 18"/>
          <p:cNvSpPr/>
          <p:nvPr/>
        </p:nvSpPr>
        <p:spPr>
          <a:xfrm>
            <a:off x="6259518" y="3894087"/>
            <a:ext cx="1981712" cy="347472"/>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白盒测试技术</a:t>
            </a:r>
            <a:endParaRPr lang="en-US" sz="1440" dirty="0"/>
          </a:p>
        </p:txBody>
      </p:sp>
      <p:sp>
        <p:nvSpPr>
          <p:cNvPr id="21" name="Text 19"/>
          <p:cNvSpPr/>
          <p:nvPr/>
        </p:nvSpPr>
        <p:spPr>
          <a:xfrm>
            <a:off x="6163834" y="1971140"/>
            <a:ext cx="2173081" cy="1024128"/>
          </a:xfrm>
          <a:prstGeom prst="rect">
            <a:avLst/>
          </a:prstGeom>
          <a:noFill/>
        </p:spPr>
        <p:txBody>
          <a:bodyPr wrap="square" lIns="95250" tIns="95250" rIns="95250" bIns="95250" rtlCol="0" anchor="b">
            <a:spAutoFit/>
          </a:bodyPr>
          <a:lstStyle/>
          <a:p>
            <a:pPr marL="0" indent="0" algn="ctr">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白盒测试与黑盒测试相对，它需要了解程序的内部结构和逻辑，通过分析代码覆盖率、路径覆盖等方式，对软件的内部流程进行全面的测试。</a:t>
            </a:r>
            <a:endParaRPr lang="en-US" sz="144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p:spPr>
        <p:txBody>
          <a:bodyPr wrap="square" lIns="95250" tIns="95250" rIns="95250" bIns="95250" rtlCol="0" anchor="t"/>
          <a:lstStyle/>
          <a:p>
            <a:pPr marL="0" indent="0">
              <a:lnSpc>
                <a:spcPct val="113000"/>
              </a:lnSpc>
              <a:spcBef>
                <a:spcPts val="375"/>
              </a:spcBef>
              <a:buNone/>
            </a:pPr>
            <a:r>
              <a:rPr lang="en-US" sz="259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性能测试指标</a:t>
            </a:r>
            <a:endParaRPr lang="en-US" sz="1440" dirty="0"/>
          </a:p>
        </p:txBody>
      </p:sp>
      <p:pic>
        <p:nvPicPr>
          <p:cNvPr id="3" name="Image 0" descr="preencoded.png"/>
          <p:cNvPicPr>
            <a:picLocks noChangeAspect="1"/>
          </p:cNvPicPr>
          <p:nvPr/>
        </p:nvPicPr>
        <p:blipFill>
          <a:blip r:embed="rId2"/>
          <a:stretch>
            <a:fillRect/>
          </a:stretch>
        </p:blipFill>
        <p:spPr>
          <a:xfrm>
            <a:off x="2292401" y="1328506"/>
            <a:ext cx="6190318" cy="715773"/>
          </a:xfrm>
          <a:prstGeom prst="rect">
            <a:avLst/>
          </a:prstGeom>
        </p:spPr>
      </p:pic>
      <p:sp>
        <p:nvSpPr>
          <p:cNvPr id="4" name="Shape 1"/>
          <p:cNvSpPr/>
          <p:nvPr/>
        </p:nvSpPr>
        <p:spPr>
          <a:xfrm>
            <a:off x="7947616" y="1261402"/>
            <a:ext cx="849980" cy="849980"/>
          </a:xfrm>
          <a:custGeom>
            <a:avLst/>
            <a:gdLst/>
            <a:ahLst/>
            <a:cxnLst/>
            <a:rect l="l" t="t" r="r" b="b"/>
            <a:pathLst>
              <a:path w="849980" h="849980">
                <a:moveTo>
                  <a:pt x="424990" y="0"/>
                </a:moveTo>
                <a:moveTo>
                  <a:pt x="424990" y="0"/>
                </a:moveTo>
                <a:cubicBezTo>
                  <a:pt x="659549" y="0"/>
                  <a:pt x="849980" y="190432"/>
                  <a:pt x="849980" y="424990"/>
                </a:cubicBezTo>
                <a:cubicBezTo>
                  <a:pt x="849980" y="659549"/>
                  <a:pt x="659549" y="849980"/>
                  <a:pt x="424990" y="849980"/>
                </a:cubicBezTo>
                <a:cubicBezTo>
                  <a:pt x="190432" y="849980"/>
                  <a:pt x="0" y="659549"/>
                  <a:pt x="0" y="424990"/>
                </a:cubicBezTo>
                <a:cubicBezTo>
                  <a:pt x="0" y="190432"/>
                  <a:pt x="190432" y="0"/>
                  <a:pt x="424990" y="0"/>
                </a:cubicBezTo>
                <a:close/>
              </a:path>
            </a:pathLst>
          </a:custGeom>
          <a:solidFill>
            <a:srgbClr val="3D4D83"/>
          </a:solidFill>
        </p:spPr>
      </p:sp>
      <p:pic>
        <p:nvPicPr>
          <p:cNvPr id="5" name="Image 1" descr="preencoded.png"/>
          <p:cNvPicPr>
            <a:picLocks noChangeAspect="1"/>
          </p:cNvPicPr>
          <p:nvPr/>
        </p:nvPicPr>
        <p:blipFill>
          <a:blip r:embed="rId3"/>
          <a:stretch>
            <a:fillRect/>
          </a:stretch>
        </p:blipFill>
        <p:spPr>
          <a:xfrm>
            <a:off x="8156770" y="1470556"/>
            <a:ext cx="431673" cy="431673"/>
          </a:xfrm>
          <a:prstGeom prst="rect">
            <a:avLst/>
          </a:prstGeom>
        </p:spPr>
      </p:pic>
      <p:pic>
        <p:nvPicPr>
          <p:cNvPr id="6" name="Image 2" descr="preencoded.png"/>
          <p:cNvPicPr>
            <a:picLocks noChangeAspect="1"/>
          </p:cNvPicPr>
          <p:nvPr/>
        </p:nvPicPr>
        <p:blipFill>
          <a:blip r:embed="rId4"/>
          <a:stretch>
            <a:fillRect/>
          </a:stretch>
        </p:blipFill>
        <p:spPr>
          <a:xfrm>
            <a:off x="2292401" y="2465646"/>
            <a:ext cx="6190318" cy="715773"/>
          </a:xfrm>
          <a:prstGeom prst="rect">
            <a:avLst/>
          </a:prstGeom>
        </p:spPr>
      </p:pic>
      <p:sp>
        <p:nvSpPr>
          <p:cNvPr id="7" name="Shape 2"/>
          <p:cNvSpPr/>
          <p:nvPr/>
        </p:nvSpPr>
        <p:spPr>
          <a:xfrm>
            <a:off x="7947616" y="2398542"/>
            <a:ext cx="849980" cy="849980"/>
          </a:xfrm>
          <a:custGeom>
            <a:avLst/>
            <a:gdLst/>
            <a:ahLst/>
            <a:cxnLst/>
            <a:rect l="l" t="t" r="r" b="b"/>
            <a:pathLst>
              <a:path w="849980" h="849980">
                <a:moveTo>
                  <a:pt x="424990" y="0"/>
                </a:moveTo>
                <a:moveTo>
                  <a:pt x="424990" y="0"/>
                </a:moveTo>
                <a:cubicBezTo>
                  <a:pt x="659549" y="0"/>
                  <a:pt x="849980" y="190432"/>
                  <a:pt x="849980" y="424990"/>
                </a:cubicBezTo>
                <a:cubicBezTo>
                  <a:pt x="849980" y="659549"/>
                  <a:pt x="659549" y="849980"/>
                  <a:pt x="424990" y="849980"/>
                </a:cubicBezTo>
                <a:cubicBezTo>
                  <a:pt x="190432" y="849980"/>
                  <a:pt x="0" y="659549"/>
                  <a:pt x="0" y="424990"/>
                </a:cubicBezTo>
                <a:cubicBezTo>
                  <a:pt x="0" y="190432"/>
                  <a:pt x="190432" y="0"/>
                  <a:pt x="424990" y="0"/>
                </a:cubicBezTo>
                <a:close/>
              </a:path>
            </a:pathLst>
          </a:custGeom>
          <a:solidFill>
            <a:srgbClr val="3D4D83"/>
          </a:solidFill>
        </p:spPr>
      </p:sp>
      <p:pic>
        <p:nvPicPr>
          <p:cNvPr id="8" name="Image 3" descr="preencoded.png"/>
          <p:cNvPicPr>
            <a:picLocks noChangeAspect="1"/>
          </p:cNvPicPr>
          <p:nvPr/>
        </p:nvPicPr>
        <p:blipFill>
          <a:blip r:embed="rId5"/>
          <a:stretch>
            <a:fillRect/>
          </a:stretch>
        </p:blipFill>
        <p:spPr>
          <a:xfrm>
            <a:off x="2292401" y="3602785"/>
            <a:ext cx="6190318" cy="715773"/>
          </a:xfrm>
          <a:prstGeom prst="rect">
            <a:avLst/>
          </a:prstGeom>
        </p:spPr>
      </p:pic>
      <p:sp>
        <p:nvSpPr>
          <p:cNvPr id="9" name="Shape 3"/>
          <p:cNvSpPr/>
          <p:nvPr/>
        </p:nvSpPr>
        <p:spPr>
          <a:xfrm>
            <a:off x="7947616" y="3535681"/>
            <a:ext cx="849980" cy="849980"/>
          </a:xfrm>
          <a:custGeom>
            <a:avLst/>
            <a:gdLst/>
            <a:ahLst/>
            <a:cxnLst/>
            <a:rect l="l" t="t" r="r" b="b"/>
            <a:pathLst>
              <a:path w="849980" h="849980">
                <a:moveTo>
                  <a:pt x="424990" y="0"/>
                </a:moveTo>
                <a:moveTo>
                  <a:pt x="424990" y="0"/>
                </a:moveTo>
                <a:cubicBezTo>
                  <a:pt x="659549" y="0"/>
                  <a:pt x="849980" y="190432"/>
                  <a:pt x="849980" y="424990"/>
                </a:cubicBezTo>
                <a:cubicBezTo>
                  <a:pt x="849980" y="659549"/>
                  <a:pt x="659549" y="849980"/>
                  <a:pt x="424990" y="849980"/>
                </a:cubicBezTo>
                <a:cubicBezTo>
                  <a:pt x="190432" y="849980"/>
                  <a:pt x="0" y="659549"/>
                  <a:pt x="0" y="424990"/>
                </a:cubicBezTo>
                <a:cubicBezTo>
                  <a:pt x="0" y="190432"/>
                  <a:pt x="190432" y="0"/>
                  <a:pt x="424990" y="0"/>
                </a:cubicBezTo>
                <a:close/>
              </a:path>
            </a:pathLst>
          </a:custGeom>
          <a:solidFill>
            <a:srgbClr val="3D4D83"/>
          </a:solidFill>
        </p:spPr>
      </p:sp>
      <p:sp>
        <p:nvSpPr>
          <p:cNvPr id="10" name="Shape 4"/>
          <p:cNvSpPr/>
          <p:nvPr/>
        </p:nvSpPr>
        <p:spPr>
          <a:xfrm>
            <a:off x="2112529" y="948422"/>
            <a:ext cx="0" cy="3858464"/>
          </a:xfrm>
          <a:custGeom>
            <a:avLst/>
            <a:gdLst/>
            <a:ahLst/>
            <a:cxnLst/>
            <a:rect l="l" t="t" r="r" b="b"/>
            <a:pathLst>
              <a:path h="3858464">
                <a:moveTo>
                  <a:pt x="0" y="0"/>
                </a:moveTo>
                <a:moveTo>
                  <a:pt x="0" y="0"/>
                </a:moveTo>
                <a:lnTo>
                  <a:pt x="0" y="3858464"/>
                </a:lnTo>
              </a:path>
            </a:pathLst>
          </a:custGeom>
          <a:noFill/>
          <a:ln w="9525">
            <a:solidFill>
              <a:srgbClr val="3D4D83">
                <a:alpha val="47059"/>
              </a:srgbClr>
            </a:solidFill>
            <a:prstDash val="solid"/>
            <a:headEnd type="none"/>
            <a:tailEnd type="none"/>
          </a:ln>
        </p:spPr>
      </p:sp>
      <p:pic>
        <p:nvPicPr>
          <p:cNvPr id="11" name="Image 4" descr="preencoded.png"/>
          <p:cNvPicPr>
            <a:picLocks noChangeAspect="1"/>
          </p:cNvPicPr>
          <p:nvPr/>
        </p:nvPicPr>
        <p:blipFill>
          <a:blip r:embed="rId6"/>
          <a:stretch>
            <a:fillRect/>
          </a:stretch>
        </p:blipFill>
        <p:spPr>
          <a:xfrm>
            <a:off x="2021089" y="1087716"/>
            <a:ext cx="182880" cy="3444250"/>
          </a:xfrm>
          <a:prstGeom prst="rect">
            <a:avLst/>
          </a:prstGeom>
        </p:spPr>
      </p:pic>
      <p:sp>
        <p:nvSpPr>
          <p:cNvPr id="12" name="Text 5"/>
          <p:cNvSpPr/>
          <p:nvPr/>
        </p:nvSpPr>
        <p:spPr>
          <a:xfrm>
            <a:off x="346989" y="1375496"/>
            <a:ext cx="1674101" cy="566928"/>
          </a:xfrm>
          <a:prstGeom prst="rect">
            <a:avLst/>
          </a:prstGeom>
          <a:noFill/>
        </p:spPr>
        <p:txBody>
          <a:bodyPr wrap="square" lIns="95250" tIns="95250" rIns="95250" bIns="95250" rtlCol="0" anchor="ctr"/>
          <a:lstStyle/>
          <a:p>
            <a:pPr marL="0" indent="0">
              <a:lnSpc>
                <a:spcPct val="100000"/>
              </a:lnSpc>
              <a:spcBef>
                <a:spcPts val="375"/>
              </a:spcBef>
              <a:buNone/>
            </a:pPr>
            <a:r>
              <a:rPr lang="en-US" sz="144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即时性要求</a:t>
            </a:r>
            <a:endParaRPr lang="en-US" sz="1440" dirty="0"/>
          </a:p>
        </p:txBody>
      </p:sp>
      <p:sp>
        <p:nvSpPr>
          <p:cNvPr id="13" name="Text 6"/>
          <p:cNvSpPr/>
          <p:nvPr/>
        </p:nvSpPr>
        <p:spPr>
          <a:xfrm>
            <a:off x="2476522" y="1384640"/>
            <a:ext cx="5525701"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消息发送和接收的延迟应控制在 1-3 秒内，确保用户能够及时收到和回复消息，提升用户体验。</a:t>
            </a:r>
            <a:endParaRPr lang="en-US" sz="1440" dirty="0"/>
          </a:p>
        </p:txBody>
      </p:sp>
      <p:sp>
        <p:nvSpPr>
          <p:cNvPr id="14" name="Text 7"/>
          <p:cNvSpPr/>
          <p:nvPr/>
        </p:nvSpPr>
        <p:spPr>
          <a:xfrm>
            <a:off x="346404" y="2541339"/>
            <a:ext cx="1674686" cy="566928"/>
          </a:xfrm>
          <a:prstGeom prst="rect">
            <a:avLst/>
          </a:prstGeom>
          <a:noFill/>
        </p:spPr>
        <p:txBody>
          <a:bodyPr wrap="square" lIns="95250" tIns="95250" rIns="95250" bIns="95250" rtlCol="0" anchor="ctr"/>
          <a:lstStyle/>
          <a:p>
            <a:pPr marL="0" indent="0">
              <a:lnSpc>
                <a:spcPct val="100000"/>
              </a:lnSpc>
              <a:spcBef>
                <a:spcPts val="375"/>
              </a:spcBef>
              <a:buNone/>
            </a:pPr>
            <a:r>
              <a:rPr lang="en-US" sz="144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应用界面切换与加载</a:t>
            </a:r>
            <a:endParaRPr lang="en-US" sz="1440" dirty="0"/>
          </a:p>
        </p:txBody>
      </p:sp>
      <p:sp>
        <p:nvSpPr>
          <p:cNvPr id="15" name="Text 8"/>
          <p:cNvSpPr/>
          <p:nvPr/>
        </p:nvSpPr>
        <p:spPr>
          <a:xfrm>
            <a:off x="2476522" y="2521780"/>
            <a:ext cx="5525701"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点击聊天列表中的某个对话，应在 1 秒内显示聊天界面并加载出最近的聊天记录，提高操作流畅性。</a:t>
            </a:r>
            <a:endParaRPr lang="en-US" sz="1440" dirty="0"/>
          </a:p>
        </p:txBody>
      </p:sp>
      <p:sp>
        <p:nvSpPr>
          <p:cNvPr id="16" name="Text 9"/>
          <p:cNvSpPr/>
          <p:nvPr/>
        </p:nvSpPr>
        <p:spPr>
          <a:xfrm>
            <a:off x="346404" y="3678478"/>
            <a:ext cx="1674686" cy="621792"/>
          </a:xfrm>
          <a:prstGeom prst="rect">
            <a:avLst/>
          </a:prstGeom>
          <a:noFill/>
        </p:spPr>
        <p:txBody>
          <a:bodyPr wrap="square" lIns="95250" tIns="95250" rIns="95250" bIns="95250" rtlCol="0" anchor="ctr"/>
          <a:lstStyle/>
          <a:p>
            <a:pPr marL="0" indent="0">
              <a:lnSpc>
                <a:spcPct val="100000"/>
              </a:lnSpc>
              <a:spcBef>
                <a:spcPts val="375"/>
              </a:spcBef>
              <a:buNone/>
            </a:pPr>
            <a:r>
              <a:rPr lang="en-US" sz="144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操作响应时间</a:t>
            </a:r>
            <a:endParaRPr lang="en-US" sz="1440" dirty="0"/>
          </a:p>
        </p:txBody>
      </p:sp>
      <p:sp>
        <p:nvSpPr>
          <p:cNvPr id="17" name="Text 10"/>
          <p:cNvSpPr/>
          <p:nvPr/>
        </p:nvSpPr>
        <p:spPr>
          <a:xfrm>
            <a:off x="2476522" y="3658920"/>
            <a:ext cx="5525701"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进行添加好友、创建群组等操作时，响应时间也应控制在 2-3 秒内，保证用户操作的高效性。</a:t>
            </a:r>
            <a:endParaRPr lang="en-US" sz="1440" dirty="0"/>
          </a:p>
        </p:txBody>
      </p:sp>
      <p:pic>
        <p:nvPicPr>
          <p:cNvPr id="18" name="Image 5" descr="preencoded.png"/>
          <p:cNvPicPr>
            <a:picLocks noChangeAspect="1"/>
          </p:cNvPicPr>
          <p:nvPr/>
        </p:nvPicPr>
        <p:blipFill>
          <a:blip r:embed="rId7"/>
          <a:stretch>
            <a:fillRect/>
          </a:stretch>
        </p:blipFill>
        <p:spPr>
          <a:xfrm>
            <a:off x="8200597" y="3788662"/>
            <a:ext cx="344018" cy="344018"/>
          </a:xfrm>
          <a:prstGeom prst="rect">
            <a:avLst/>
          </a:prstGeom>
        </p:spPr>
      </p:pic>
      <p:pic>
        <p:nvPicPr>
          <p:cNvPr id="19" name="Image 6" descr="preencoded.png"/>
          <p:cNvPicPr>
            <a:picLocks noChangeAspect="1"/>
          </p:cNvPicPr>
          <p:nvPr/>
        </p:nvPicPr>
        <p:blipFill>
          <a:blip r:embed="rId8"/>
          <a:stretch>
            <a:fillRect/>
          </a:stretch>
        </p:blipFill>
        <p:spPr>
          <a:xfrm>
            <a:off x="8166866" y="2617792"/>
            <a:ext cx="411480" cy="4114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p:spPr>
        <p:txBody>
          <a:bodyPr wrap="square" lIns="95250" tIns="95250" rIns="95250" bIns="95250" rtlCol="0" anchor="t"/>
          <a:lstStyle/>
          <a:p>
            <a:pPr marL="0" indent="0">
              <a:lnSpc>
                <a:spcPct val="113000"/>
              </a:lnSpc>
              <a:spcBef>
                <a:spcPts val="375"/>
              </a:spcBef>
              <a:buNone/>
            </a:pPr>
            <a:r>
              <a:rPr lang="en-US" sz="259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测试工具介绍</a:t>
            </a:r>
            <a:endParaRPr lang="en-US" sz="1440" dirty="0"/>
          </a:p>
        </p:txBody>
      </p:sp>
      <p:sp>
        <p:nvSpPr>
          <p:cNvPr id="3" name="Shape 1"/>
          <p:cNvSpPr/>
          <p:nvPr/>
        </p:nvSpPr>
        <p:spPr>
          <a:xfrm>
            <a:off x="3411" y="3169843"/>
            <a:ext cx="756813" cy="0"/>
          </a:xfrm>
          <a:custGeom>
            <a:avLst/>
            <a:gdLst/>
            <a:ahLst/>
            <a:cxnLst/>
            <a:rect l="l" t="t" r="r" b="b"/>
            <a:pathLst>
              <a:path w="756813">
                <a:moveTo>
                  <a:pt x="0" y="0"/>
                </a:moveTo>
                <a:moveTo>
                  <a:pt x="0" y="0"/>
                </a:moveTo>
                <a:lnTo>
                  <a:pt x="756813" y="0"/>
                </a:lnTo>
              </a:path>
            </a:pathLst>
          </a:custGeom>
          <a:noFill/>
          <a:ln w="19050">
            <a:solidFill>
              <a:srgbClr val="3D4D83"/>
            </a:solidFill>
            <a:prstDash val="solid"/>
            <a:headEnd type="none"/>
            <a:tailEnd type="none"/>
          </a:ln>
        </p:spPr>
      </p:sp>
      <p:sp>
        <p:nvSpPr>
          <p:cNvPr id="4" name="Shape 2"/>
          <p:cNvSpPr/>
          <p:nvPr/>
        </p:nvSpPr>
        <p:spPr>
          <a:xfrm>
            <a:off x="763427" y="1024861"/>
            <a:ext cx="2278893" cy="3444457"/>
          </a:xfrm>
          <a:custGeom>
            <a:avLst/>
            <a:gdLst/>
            <a:ahLst/>
            <a:cxnLst/>
            <a:rect l="l" t="t" r="r" b="b"/>
            <a:pathLst>
              <a:path w="2278893" h="3444457">
                <a:moveTo>
                  <a:pt x="205225" y="0"/>
                </a:moveTo>
                <a:moveTo>
                  <a:pt x="205225" y="0"/>
                </a:moveTo>
                <a:lnTo>
                  <a:pt x="2073668" y="0"/>
                </a:lnTo>
                <a:quadBezTo>
                  <a:pt x="2278893" y="0"/>
                  <a:pt x="2278893" y="261000"/>
                </a:quadBezTo>
                <a:lnTo>
                  <a:pt x="2278893" y="3183457"/>
                </a:lnTo>
                <a:quadBezTo>
                  <a:pt x="2278893" y="3444457"/>
                  <a:pt x="2073668" y="3444457"/>
                </a:quadBezTo>
                <a:lnTo>
                  <a:pt x="205225" y="3444457"/>
                </a:lnTo>
                <a:quadBezTo>
                  <a:pt x="0" y="3444457"/>
                  <a:pt x="0" y="3183457"/>
                </a:quadBezTo>
                <a:lnTo>
                  <a:pt x="0" y="261000"/>
                </a:lnTo>
                <a:quadBezTo>
                  <a:pt x="0" y="0"/>
                  <a:pt x="205225" y="0"/>
                </a:quadBezTo>
                <a:close/>
              </a:path>
            </a:pathLst>
          </a:custGeom>
          <a:solidFill>
            <a:srgbClr val="3D4D83">
              <a:alpha val="10196"/>
            </a:srgbClr>
          </a:solidFill>
          <a:ln w="9525">
            <a:solidFill>
              <a:srgbClr val="3D4D83">
                <a:alpha val="70196"/>
              </a:srgbClr>
            </a:solidFill>
            <a:prstDash val="solid"/>
          </a:ln>
        </p:spPr>
      </p:sp>
      <p:sp>
        <p:nvSpPr>
          <p:cNvPr id="5" name="Shape 3"/>
          <p:cNvSpPr/>
          <p:nvPr/>
        </p:nvSpPr>
        <p:spPr>
          <a:xfrm>
            <a:off x="838969" y="3739554"/>
            <a:ext cx="2127809" cy="656539"/>
          </a:xfrm>
          <a:custGeom>
            <a:avLst/>
            <a:gdLst/>
            <a:ahLst/>
            <a:cxnLst/>
            <a:rect l="l" t="t" r="r" b="b"/>
            <a:pathLst>
              <a:path w="2127809" h="656539">
                <a:moveTo>
                  <a:pt x="115736" y="0"/>
                </a:moveTo>
                <a:moveTo>
                  <a:pt x="115736" y="0"/>
                </a:moveTo>
                <a:lnTo>
                  <a:pt x="2012073" y="0"/>
                </a:lnTo>
                <a:quadBezTo>
                  <a:pt x="2127809" y="0"/>
                  <a:pt x="2127809" y="115736"/>
                </a:quadBezTo>
                <a:lnTo>
                  <a:pt x="2127809" y="540803"/>
                </a:lnTo>
                <a:quadBezTo>
                  <a:pt x="2127809" y="656539"/>
                  <a:pt x="2012073" y="656539"/>
                </a:quadBezTo>
                <a:lnTo>
                  <a:pt x="115736" y="656539"/>
                </a:lnTo>
                <a:quadBezTo>
                  <a:pt x="0" y="656539"/>
                  <a:pt x="0" y="540803"/>
                </a:quadBezTo>
                <a:lnTo>
                  <a:pt x="0" y="115736"/>
                </a:lnTo>
                <a:quadBezTo>
                  <a:pt x="0" y="0"/>
                  <a:pt x="115736" y="0"/>
                </a:quadBezTo>
                <a:close/>
              </a:path>
            </a:pathLst>
          </a:custGeom>
          <a:solidFill>
            <a:srgbClr val="3D4D83"/>
          </a:solidFill>
        </p:spPr>
      </p:sp>
      <p:sp>
        <p:nvSpPr>
          <p:cNvPr id="6" name="Text 4"/>
          <p:cNvSpPr/>
          <p:nvPr/>
        </p:nvSpPr>
        <p:spPr>
          <a:xfrm>
            <a:off x="1497553" y="1184756"/>
            <a:ext cx="810643" cy="78638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3170" b="1" dirty="0">
                <a:solidFill>
                  <a:srgbClr val="3D4D83">
                    <a:alpha val="50000"/>
                  </a:srgbClr>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7" name="Shape 5"/>
          <p:cNvSpPr/>
          <p:nvPr/>
        </p:nvSpPr>
        <p:spPr>
          <a:xfrm>
            <a:off x="3432762" y="1024765"/>
            <a:ext cx="2278685" cy="3444553"/>
          </a:xfrm>
          <a:custGeom>
            <a:avLst/>
            <a:gdLst/>
            <a:ahLst/>
            <a:cxnLst/>
            <a:rect l="l" t="t" r="r" b="b"/>
            <a:pathLst>
              <a:path w="2278685" h="3444553">
                <a:moveTo>
                  <a:pt x="205206" y="0"/>
                </a:moveTo>
                <a:moveTo>
                  <a:pt x="205206" y="0"/>
                </a:moveTo>
                <a:lnTo>
                  <a:pt x="2073479" y="0"/>
                </a:lnTo>
                <a:quadBezTo>
                  <a:pt x="2278685" y="0"/>
                  <a:pt x="2278685" y="260976"/>
                </a:quadBezTo>
                <a:lnTo>
                  <a:pt x="2278685" y="3183577"/>
                </a:lnTo>
                <a:quadBezTo>
                  <a:pt x="2278685" y="3444553"/>
                  <a:pt x="2073479" y="3444553"/>
                </a:quadBezTo>
                <a:lnTo>
                  <a:pt x="205206" y="3444553"/>
                </a:lnTo>
                <a:quadBezTo>
                  <a:pt x="0" y="3444553"/>
                  <a:pt x="0" y="3183577"/>
                </a:quadBezTo>
                <a:lnTo>
                  <a:pt x="0" y="260976"/>
                </a:lnTo>
                <a:quadBezTo>
                  <a:pt x="0" y="0"/>
                  <a:pt x="205206" y="0"/>
                </a:quadBezTo>
                <a:close/>
              </a:path>
            </a:pathLst>
          </a:custGeom>
          <a:solidFill>
            <a:srgbClr val="3D4D83">
              <a:alpha val="10196"/>
            </a:srgbClr>
          </a:solidFill>
          <a:ln w="9525">
            <a:solidFill>
              <a:srgbClr val="3D4D83">
                <a:alpha val="70196"/>
              </a:srgbClr>
            </a:solidFill>
            <a:prstDash val="solid"/>
          </a:ln>
        </p:spPr>
      </p:sp>
      <p:sp>
        <p:nvSpPr>
          <p:cNvPr id="8" name="Shape 6"/>
          <p:cNvSpPr/>
          <p:nvPr/>
        </p:nvSpPr>
        <p:spPr>
          <a:xfrm>
            <a:off x="3508200" y="3739554"/>
            <a:ext cx="2127809" cy="656539"/>
          </a:xfrm>
          <a:custGeom>
            <a:avLst/>
            <a:gdLst/>
            <a:ahLst/>
            <a:cxnLst/>
            <a:rect l="l" t="t" r="r" b="b"/>
            <a:pathLst>
              <a:path w="2127809" h="656539">
                <a:moveTo>
                  <a:pt x="115736" y="0"/>
                </a:moveTo>
                <a:moveTo>
                  <a:pt x="115736" y="0"/>
                </a:moveTo>
                <a:lnTo>
                  <a:pt x="2012073" y="0"/>
                </a:lnTo>
                <a:quadBezTo>
                  <a:pt x="2127809" y="0"/>
                  <a:pt x="2127809" y="115736"/>
                </a:quadBezTo>
                <a:lnTo>
                  <a:pt x="2127809" y="540803"/>
                </a:lnTo>
                <a:quadBezTo>
                  <a:pt x="2127809" y="656539"/>
                  <a:pt x="2012073" y="656539"/>
                </a:quadBezTo>
                <a:lnTo>
                  <a:pt x="115736" y="656539"/>
                </a:lnTo>
                <a:quadBezTo>
                  <a:pt x="0" y="656539"/>
                  <a:pt x="0" y="540803"/>
                </a:quadBezTo>
                <a:lnTo>
                  <a:pt x="0" y="115736"/>
                </a:lnTo>
                <a:quadBezTo>
                  <a:pt x="0" y="0"/>
                  <a:pt x="115736" y="0"/>
                </a:quadBezTo>
                <a:close/>
              </a:path>
            </a:pathLst>
          </a:custGeom>
          <a:solidFill>
            <a:srgbClr val="3D4D83"/>
          </a:solidFill>
        </p:spPr>
      </p:sp>
      <p:sp>
        <p:nvSpPr>
          <p:cNvPr id="9" name="Text 7"/>
          <p:cNvSpPr/>
          <p:nvPr/>
        </p:nvSpPr>
        <p:spPr>
          <a:xfrm>
            <a:off x="4166783" y="1184831"/>
            <a:ext cx="810643" cy="78638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3170" b="1" dirty="0">
                <a:solidFill>
                  <a:srgbClr val="3D4D83">
                    <a:alpha val="50000"/>
                  </a:srgbClr>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10" name="Shape 8"/>
          <p:cNvSpPr/>
          <p:nvPr/>
        </p:nvSpPr>
        <p:spPr>
          <a:xfrm>
            <a:off x="6111032" y="1024765"/>
            <a:ext cx="2278685" cy="3444553"/>
          </a:xfrm>
          <a:custGeom>
            <a:avLst/>
            <a:gdLst/>
            <a:ahLst/>
            <a:cxnLst/>
            <a:rect l="l" t="t" r="r" b="b"/>
            <a:pathLst>
              <a:path w="2278685" h="3444553">
                <a:moveTo>
                  <a:pt x="205206" y="0"/>
                </a:moveTo>
                <a:moveTo>
                  <a:pt x="205206" y="0"/>
                </a:moveTo>
                <a:lnTo>
                  <a:pt x="2073479" y="0"/>
                </a:lnTo>
                <a:quadBezTo>
                  <a:pt x="2278685" y="0"/>
                  <a:pt x="2278685" y="260976"/>
                </a:quadBezTo>
                <a:lnTo>
                  <a:pt x="2278685" y="3183577"/>
                </a:lnTo>
                <a:quadBezTo>
                  <a:pt x="2278685" y="3444553"/>
                  <a:pt x="2073479" y="3444553"/>
                </a:quadBezTo>
                <a:lnTo>
                  <a:pt x="205206" y="3444553"/>
                </a:lnTo>
                <a:quadBezTo>
                  <a:pt x="0" y="3444553"/>
                  <a:pt x="0" y="3183577"/>
                </a:quadBezTo>
                <a:lnTo>
                  <a:pt x="0" y="260976"/>
                </a:lnTo>
                <a:quadBezTo>
                  <a:pt x="0" y="0"/>
                  <a:pt x="205206" y="0"/>
                </a:quadBezTo>
                <a:close/>
              </a:path>
            </a:pathLst>
          </a:custGeom>
          <a:solidFill>
            <a:srgbClr val="3D4D83">
              <a:alpha val="10196"/>
            </a:srgbClr>
          </a:solidFill>
          <a:ln w="9525">
            <a:solidFill>
              <a:srgbClr val="3D4D83">
                <a:alpha val="70196"/>
              </a:srgbClr>
            </a:solidFill>
            <a:prstDash val="solid"/>
          </a:ln>
        </p:spPr>
      </p:sp>
      <p:sp>
        <p:nvSpPr>
          <p:cNvPr id="11" name="Shape 9"/>
          <p:cNvSpPr/>
          <p:nvPr/>
        </p:nvSpPr>
        <p:spPr>
          <a:xfrm>
            <a:off x="6186470" y="3739554"/>
            <a:ext cx="2127809" cy="656539"/>
          </a:xfrm>
          <a:custGeom>
            <a:avLst/>
            <a:gdLst/>
            <a:ahLst/>
            <a:cxnLst/>
            <a:rect l="l" t="t" r="r" b="b"/>
            <a:pathLst>
              <a:path w="2127809" h="656539">
                <a:moveTo>
                  <a:pt x="115736" y="0"/>
                </a:moveTo>
                <a:moveTo>
                  <a:pt x="115736" y="0"/>
                </a:moveTo>
                <a:lnTo>
                  <a:pt x="2012073" y="0"/>
                </a:lnTo>
                <a:quadBezTo>
                  <a:pt x="2127809" y="0"/>
                  <a:pt x="2127809" y="115736"/>
                </a:quadBezTo>
                <a:lnTo>
                  <a:pt x="2127809" y="540803"/>
                </a:lnTo>
                <a:quadBezTo>
                  <a:pt x="2127809" y="656539"/>
                  <a:pt x="2012073" y="656539"/>
                </a:quadBezTo>
                <a:lnTo>
                  <a:pt x="115736" y="656539"/>
                </a:lnTo>
                <a:quadBezTo>
                  <a:pt x="0" y="656539"/>
                  <a:pt x="0" y="540803"/>
                </a:quadBezTo>
                <a:lnTo>
                  <a:pt x="0" y="115736"/>
                </a:lnTo>
                <a:quadBezTo>
                  <a:pt x="0" y="0"/>
                  <a:pt x="115736" y="0"/>
                </a:quadBezTo>
                <a:close/>
              </a:path>
            </a:pathLst>
          </a:custGeom>
          <a:solidFill>
            <a:srgbClr val="3D4D83"/>
          </a:solidFill>
        </p:spPr>
      </p:sp>
      <p:sp>
        <p:nvSpPr>
          <p:cNvPr id="12" name="Text 10"/>
          <p:cNvSpPr/>
          <p:nvPr/>
        </p:nvSpPr>
        <p:spPr>
          <a:xfrm>
            <a:off x="6845053" y="1184756"/>
            <a:ext cx="810643" cy="78638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3170" b="1" dirty="0">
                <a:solidFill>
                  <a:srgbClr val="3D4D83">
                    <a:alpha val="50000"/>
                  </a:srgbClr>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13" name="Shape 11"/>
          <p:cNvSpPr/>
          <p:nvPr/>
        </p:nvSpPr>
        <p:spPr>
          <a:xfrm>
            <a:off x="3039117" y="3169918"/>
            <a:ext cx="402607" cy="0"/>
          </a:xfrm>
          <a:custGeom>
            <a:avLst/>
            <a:gdLst/>
            <a:ahLst/>
            <a:cxnLst/>
            <a:rect l="l" t="t" r="r" b="b"/>
            <a:pathLst>
              <a:path w="402607">
                <a:moveTo>
                  <a:pt x="0" y="0"/>
                </a:moveTo>
                <a:moveTo>
                  <a:pt x="0" y="0"/>
                </a:moveTo>
                <a:lnTo>
                  <a:pt x="402607" y="0"/>
                </a:lnTo>
              </a:path>
            </a:pathLst>
          </a:custGeom>
          <a:noFill/>
          <a:ln w="19050">
            <a:solidFill>
              <a:srgbClr val="3D4D83"/>
            </a:solidFill>
            <a:prstDash val="solid"/>
            <a:headEnd type="none"/>
            <a:tailEnd type="none"/>
          </a:ln>
        </p:spPr>
      </p:sp>
      <p:sp>
        <p:nvSpPr>
          <p:cNvPr id="14" name="Shape 12"/>
          <p:cNvSpPr/>
          <p:nvPr/>
        </p:nvSpPr>
        <p:spPr>
          <a:xfrm>
            <a:off x="5708243" y="3169918"/>
            <a:ext cx="402607" cy="0"/>
          </a:xfrm>
          <a:custGeom>
            <a:avLst/>
            <a:gdLst/>
            <a:ahLst/>
            <a:cxnLst/>
            <a:rect l="l" t="t" r="r" b="b"/>
            <a:pathLst>
              <a:path w="402607">
                <a:moveTo>
                  <a:pt x="0" y="0"/>
                </a:moveTo>
                <a:moveTo>
                  <a:pt x="0" y="0"/>
                </a:moveTo>
                <a:lnTo>
                  <a:pt x="402607" y="0"/>
                </a:lnTo>
              </a:path>
            </a:pathLst>
          </a:custGeom>
          <a:noFill/>
          <a:ln w="19050">
            <a:solidFill>
              <a:srgbClr val="3D4D83"/>
            </a:solidFill>
            <a:prstDash val="solid"/>
            <a:headEnd type="none"/>
            <a:tailEnd type="none"/>
          </a:ln>
        </p:spPr>
      </p:sp>
      <p:sp>
        <p:nvSpPr>
          <p:cNvPr id="15" name="Shape 13"/>
          <p:cNvSpPr/>
          <p:nvPr/>
        </p:nvSpPr>
        <p:spPr>
          <a:xfrm>
            <a:off x="8383984" y="3169918"/>
            <a:ext cx="756813" cy="0"/>
          </a:xfrm>
          <a:custGeom>
            <a:avLst/>
            <a:gdLst/>
            <a:ahLst/>
            <a:cxnLst/>
            <a:rect l="l" t="t" r="r" b="b"/>
            <a:pathLst>
              <a:path w="756813">
                <a:moveTo>
                  <a:pt x="0" y="0"/>
                </a:moveTo>
                <a:moveTo>
                  <a:pt x="0" y="0"/>
                </a:moveTo>
                <a:lnTo>
                  <a:pt x="756813" y="0"/>
                </a:lnTo>
              </a:path>
            </a:pathLst>
          </a:custGeom>
          <a:noFill/>
          <a:ln w="19050">
            <a:solidFill>
              <a:srgbClr val="3D4D83"/>
            </a:solidFill>
            <a:prstDash val="solid"/>
            <a:headEnd type="none"/>
            <a:tailEnd type="none"/>
          </a:ln>
        </p:spPr>
      </p:sp>
      <p:sp>
        <p:nvSpPr>
          <p:cNvPr id="16" name="Text 14"/>
          <p:cNvSpPr/>
          <p:nvPr/>
        </p:nvSpPr>
        <p:spPr>
          <a:xfrm>
            <a:off x="911657" y="3880371"/>
            <a:ext cx="1981505"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测试工具的种类</a:t>
            </a:r>
            <a:endParaRPr lang="en-US" sz="1440" dirty="0"/>
          </a:p>
        </p:txBody>
      </p:sp>
      <p:sp>
        <p:nvSpPr>
          <p:cNvPr id="17" name="Text 15"/>
          <p:cNvSpPr/>
          <p:nvPr/>
        </p:nvSpPr>
        <p:spPr>
          <a:xfrm>
            <a:off x="816109" y="1971140"/>
            <a:ext cx="2173529" cy="1024128"/>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测试工具种类繁多，包括自动化测试工具、性能测试工具、安全测试工具等，每种工具都有其特定的用途和优势。</a:t>
            </a:r>
            <a:endParaRPr lang="en-US" sz="1440" dirty="0"/>
          </a:p>
        </p:txBody>
      </p:sp>
      <p:sp>
        <p:nvSpPr>
          <p:cNvPr id="18" name="Text 16"/>
          <p:cNvSpPr/>
          <p:nvPr/>
        </p:nvSpPr>
        <p:spPr>
          <a:xfrm>
            <a:off x="3581248" y="3880371"/>
            <a:ext cx="1981712"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测试工具的选择</a:t>
            </a:r>
            <a:endParaRPr lang="en-US" sz="1440" dirty="0"/>
          </a:p>
        </p:txBody>
      </p:sp>
      <p:sp>
        <p:nvSpPr>
          <p:cNvPr id="19" name="Text 17"/>
          <p:cNvSpPr/>
          <p:nvPr/>
        </p:nvSpPr>
        <p:spPr>
          <a:xfrm>
            <a:off x="3485340" y="1971215"/>
            <a:ext cx="2173529" cy="1024128"/>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选择合适的测试工具需要考虑项目的需求、预算、时间等因素，同时也要考虑工具的易用性、可扩展性和社区支持。</a:t>
            </a:r>
            <a:endParaRPr lang="en-US" sz="1440" dirty="0"/>
          </a:p>
        </p:txBody>
      </p:sp>
      <p:sp>
        <p:nvSpPr>
          <p:cNvPr id="20" name="Text 18"/>
          <p:cNvSpPr/>
          <p:nvPr/>
        </p:nvSpPr>
        <p:spPr>
          <a:xfrm>
            <a:off x="6259518" y="3894087"/>
            <a:ext cx="1981712" cy="347472"/>
          </a:xfrm>
          <a:prstGeom prst="rect">
            <a:avLst/>
          </a:prstGeom>
          <a:noFill/>
        </p:spPr>
        <p:txBody>
          <a:bodyPr wrap="square" lIns="95250" tIns="95250" rIns="95250" bIns="95250" rtlCol="0" anchor="ctr"/>
          <a:lstStyle/>
          <a:p>
            <a:pPr marL="0" indent="0" algn="ctr">
              <a:lnSpc>
                <a:spcPct val="100000"/>
              </a:lnSpc>
              <a:spcBef>
                <a:spcPts val="375"/>
              </a:spcBef>
              <a:buNone/>
            </a:pPr>
            <a:r>
              <a:rPr lang="en-US" sz="1440"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测试工具的应用</a:t>
            </a:r>
            <a:endParaRPr lang="en-US" sz="1440" dirty="0"/>
          </a:p>
        </p:txBody>
      </p:sp>
      <p:sp>
        <p:nvSpPr>
          <p:cNvPr id="21" name="Text 19"/>
          <p:cNvSpPr/>
          <p:nvPr/>
        </p:nvSpPr>
        <p:spPr>
          <a:xfrm>
            <a:off x="6163834" y="1971140"/>
            <a:ext cx="2173081" cy="1024128"/>
          </a:xfrm>
          <a:prstGeom prst="rect">
            <a:avLst/>
          </a:prstGeom>
          <a:noFill/>
        </p:spPr>
        <p:txBody>
          <a:bodyPr wrap="square" lIns="95250" tIns="95250" rIns="95250" bIns="95250" rtlCol="0" anchor="b">
            <a:spAutoFit/>
          </a:bodyPr>
          <a:lstStyle/>
          <a:p>
            <a:pPr marL="0" indent="0" algn="ctr">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测试工具在软件开发过程中起着重要的作用，可以帮助开发人员快速发现和修复问题，提高软件的质量和稳定性。</a:t>
            </a:r>
            <a:endParaRPr lang="en-US" sz="144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91482" y="2114883"/>
            <a:ext cx="1085027" cy="731520"/>
          </a:xfrm>
          <a:prstGeom prst="rect">
            <a:avLst/>
          </a:prstGeom>
          <a:noFill/>
        </p:spPr>
        <p:txBody>
          <a:bodyPr wrap="square" lIns="95250" tIns="95250" rIns="95250" bIns="95250" rtlCol="0" anchor="t"/>
          <a:lstStyle/>
          <a:p>
            <a:pPr marL="0" indent="0" algn="ctr">
              <a:lnSpc>
                <a:spcPct val="100000"/>
              </a:lnSpc>
              <a:spcBef>
                <a:spcPts val="375"/>
              </a:spcBef>
              <a:buNone/>
            </a:pPr>
            <a:r>
              <a:rPr lang="en-US" sz="4320" b="1" dirty="0">
                <a:solidFill>
                  <a:srgbClr val="2E3E74"/>
                </a:solidFill>
                <a:latin typeface="微软雅黑" panose="020B0503020204020204" pitchFamily="34" charset="-122"/>
                <a:ea typeface="微软雅黑" panose="020B0503020204020204" pitchFamily="34" charset="-122"/>
                <a:cs typeface="微软雅黑" panose="020B0503020204020204" pitchFamily="34" charset="-120"/>
              </a:rPr>
              <a:t>06</a:t>
            </a:r>
            <a:endParaRPr lang="en-US" sz="1440" dirty="0"/>
          </a:p>
        </p:txBody>
      </p:sp>
      <p:sp>
        <p:nvSpPr>
          <p:cNvPr id="3" name="Text 1"/>
          <p:cNvSpPr/>
          <p:nvPr/>
        </p:nvSpPr>
        <p:spPr>
          <a:xfrm>
            <a:off x="1376509" y="2114883"/>
            <a:ext cx="7241265" cy="731520"/>
          </a:xfrm>
          <a:prstGeom prst="rect">
            <a:avLst/>
          </a:prstGeom>
          <a:noFill/>
        </p:spPr>
        <p:txBody>
          <a:bodyPr wrap="square" lIns="95250" tIns="95250" rIns="95250" bIns="95250" rtlCol="0" anchor="t"/>
          <a:lstStyle/>
          <a:p>
            <a:pPr marL="0" indent="0">
              <a:lnSpc>
                <a:spcPct val="113000"/>
              </a:lnSpc>
              <a:spcBef>
                <a:spcPts val="375"/>
              </a:spcBef>
              <a:buNone/>
            </a:pPr>
            <a:r>
              <a:rPr lang="en-US" sz="288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市场现状与趋势</a:t>
            </a:r>
            <a:endParaRPr lang="en-US" sz="144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p:spPr>
        <p:txBody>
          <a:bodyPr wrap="square" lIns="95250" tIns="95250" rIns="95250" bIns="95250" rtlCol="0" anchor="t"/>
          <a:lstStyle/>
          <a:p>
            <a:pPr marL="0" indent="0">
              <a:lnSpc>
                <a:spcPct val="113000"/>
              </a:lnSpc>
              <a:spcBef>
                <a:spcPts val="375"/>
              </a:spcBef>
              <a:buNone/>
            </a:pPr>
            <a:r>
              <a:rPr lang="en-US" sz="259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国内外应用对比</a:t>
            </a:r>
            <a:endParaRPr lang="en-US" sz="1440" dirty="0"/>
          </a:p>
        </p:txBody>
      </p:sp>
      <p:pic>
        <p:nvPicPr>
          <p:cNvPr id="3" name="Image 0" descr="preencoded.png"/>
          <p:cNvPicPr>
            <a:picLocks noChangeAspect="1"/>
          </p:cNvPicPr>
          <p:nvPr/>
        </p:nvPicPr>
        <p:blipFill>
          <a:blip r:embed="rId2"/>
          <a:stretch>
            <a:fillRect/>
          </a:stretch>
        </p:blipFill>
        <p:spPr>
          <a:xfrm>
            <a:off x="4190301" y="2593543"/>
            <a:ext cx="637489" cy="2549957"/>
          </a:xfrm>
          <a:prstGeom prst="rect">
            <a:avLst/>
          </a:prstGeom>
        </p:spPr>
      </p:pic>
      <p:pic>
        <p:nvPicPr>
          <p:cNvPr id="4" name="Image 1" descr="preencoded.png"/>
          <p:cNvPicPr>
            <a:picLocks noChangeAspect="1"/>
          </p:cNvPicPr>
          <p:nvPr/>
        </p:nvPicPr>
        <p:blipFill>
          <a:blip r:embed="rId3"/>
          <a:stretch>
            <a:fillRect/>
          </a:stretch>
        </p:blipFill>
        <p:spPr>
          <a:xfrm>
            <a:off x="2333585" y="1892808"/>
            <a:ext cx="4632350" cy="2894990"/>
          </a:xfrm>
          <a:prstGeom prst="rect">
            <a:avLst/>
          </a:prstGeom>
        </p:spPr>
      </p:pic>
      <p:sp>
        <p:nvSpPr>
          <p:cNvPr id="5" name="Shape 1"/>
          <p:cNvSpPr/>
          <p:nvPr/>
        </p:nvSpPr>
        <p:spPr>
          <a:xfrm>
            <a:off x="3294250" y="2788878"/>
            <a:ext cx="480910" cy="480910"/>
          </a:xfrm>
          <a:custGeom>
            <a:avLst/>
            <a:gdLst/>
            <a:ahLst/>
            <a:cxnLst/>
            <a:rect l="l" t="t" r="r" b="b"/>
            <a:pathLst>
              <a:path w="480910" h="480910">
                <a:moveTo>
                  <a:pt x="240455" y="0"/>
                </a:moveTo>
                <a:moveTo>
                  <a:pt x="240455" y="0"/>
                </a:moveTo>
                <a:cubicBezTo>
                  <a:pt x="373166" y="0"/>
                  <a:pt x="480910" y="107744"/>
                  <a:pt x="480910" y="240455"/>
                </a:cubicBezTo>
                <a:cubicBezTo>
                  <a:pt x="480910" y="373166"/>
                  <a:pt x="373166" y="480910"/>
                  <a:pt x="240455" y="480910"/>
                </a:cubicBezTo>
                <a:cubicBezTo>
                  <a:pt x="107744" y="480910"/>
                  <a:pt x="0" y="373166"/>
                  <a:pt x="0" y="240455"/>
                </a:cubicBezTo>
                <a:cubicBezTo>
                  <a:pt x="0" y="107744"/>
                  <a:pt x="107744" y="0"/>
                  <a:pt x="240455" y="0"/>
                </a:cubicBezTo>
                <a:close/>
              </a:path>
            </a:pathLst>
          </a:custGeom>
          <a:solidFill>
            <a:srgbClr val="3D4D83"/>
          </a:solidFill>
        </p:spPr>
      </p:sp>
      <p:sp>
        <p:nvSpPr>
          <p:cNvPr id="6" name="Shape 2"/>
          <p:cNvSpPr/>
          <p:nvPr/>
        </p:nvSpPr>
        <p:spPr>
          <a:xfrm>
            <a:off x="5378474" y="2777023"/>
            <a:ext cx="480910" cy="480910"/>
          </a:xfrm>
          <a:custGeom>
            <a:avLst/>
            <a:gdLst/>
            <a:ahLst/>
            <a:cxnLst/>
            <a:rect l="l" t="t" r="r" b="b"/>
            <a:pathLst>
              <a:path w="480910" h="480910">
                <a:moveTo>
                  <a:pt x="240455" y="0"/>
                </a:moveTo>
                <a:moveTo>
                  <a:pt x="240455" y="0"/>
                </a:moveTo>
                <a:cubicBezTo>
                  <a:pt x="373166" y="0"/>
                  <a:pt x="480910" y="107744"/>
                  <a:pt x="480910" y="240455"/>
                </a:cubicBezTo>
                <a:cubicBezTo>
                  <a:pt x="480910" y="373166"/>
                  <a:pt x="373166" y="480910"/>
                  <a:pt x="240455" y="480910"/>
                </a:cubicBezTo>
                <a:cubicBezTo>
                  <a:pt x="107744" y="480910"/>
                  <a:pt x="0" y="373166"/>
                  <a:pt x="0" y="240455"/>
                </a:cubicBezTo>
                <a:cubicBezTo>
                  <a:pt x="0" y="107744"/>
                  <a:pt x="107744" y="0"/>
                  <a:pt x="240455" y="0"/>
                </a:cubicBezTo>
                <a:close/>
              </a:path>
            </a:pathLst>
          </a:custGeom>
          <a:solidFill>
            <a:srgbClr val="3D4D83"/>
          </a:solidFill>
        </p:spPr>
      </p:sp>
      <p:sp>
        <p:nvSpPr>
          <p:cNvPr id="7" name="Shape 3"/>
          <p:cNvSpPr/>
          <p:nvPr/>
        </p:nvSpPr>
        <p:spPr>
          <a:xfrm>
            <a:off x="4346880" y="2112633"/>
            <a:ext cx="480910" cy="480910"/>
          </a:xfrm>
          <a:custGeom>
            <a:avLst/>
            <a:gdLst/>
            <a:ahLst/>
            <a:cxnLst/>
            <a:rect l="l" t="t" r="r" b="b"/>
            <a:pathLst>
              <a:path w="480910" h="480910">
                <a:moveTo>
                  <a:pt x="240455" y="0"/>
                </a:moveTo>
                <a:moveTo>
                  <a:pt x="240455" y="0"/>
                </a:moveTo>
                <a:cubicBezTo>
                  <a:pt x="373166" y="0"/>
                  <a:pt x="480910" y="107744"/>
                  <a:pt x="480910" y="240455"/>
                </a:cubicBezTo>
                <a:cubicBezTo>
                  <a:pt x="480910" y="373166"/>
                  <a:pt x="373166" y="480910"/>
                  <a:pt x="240455" y="480910"/>
                </a:cubicBezTo>
                <a:cubicBezTo>
                  <a:pt x="107744" y="480910"/>
                  <a:pt x="0" y="373166"/>
                  <a:pt x="0" y="240455"/>
                </a:cubicBezTo>
                <a:cubicBezTo>
                  <a:pt x="0" y="107744"/>
                  <a:pt x="107744" y="0"/>
                  <a:pt x="240455" y="0"/>
                </a:cubicBezTo>
                <a:close/>
              </a:path>
            </a:pathLst>
          </a:custGeom>
          <a:solidFill>
            <a:srgbClr val="949BF0"/>
          </a:solidFill>
        </p:spPr>
      </p:sp>
      <p:sp>
        <p:nvSpPr>
          <p:cNvPr id="8" name="Text 4"/>
          <p:cNvSpPr/>
          <p:nvPr/>
        </p:nvSpPr>
        <p:spPr>
          <a:xfrm>
            <a:off x="257346" y="2353088"/>
            <a:ext cx="2841513" cy="374904"/>
          </a:xfrm>
          <a:prstGeom prst="rect">
            <a:avLst/>
          </a:prstGeom>
          <a:noFill/>
        </p:spPr>
        <p:txBody>
          <a:bodyPr wrap="square" lIns="95250" tIns="95250" rIns="95250" bIns="95250" rtlCol="0" anchor="t"/>
          <a:lstStyle/>
          <a:p>
            <a:pPr marL="0" indent="0" algn="r">
              <a:lnSpc>
                <a:spcPct val="100000"/>
              </a:lnSpc>
              <a:spcBef>
                <a:spcPts val="375"/>
              </a:spcBef>
              <a:buNone/>
            </a:pPr>
            <a:r>
              <a:rPr lang="en-US" sz="158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国内市场的巨头垄断</a:t>
            </a:r>
            <a:endParaRPr lang="en-US" sz="1440" dirty="0"/>
          </a:p>
        </p:txBody>
      </p:sp>
      <p:sp>
        <p:nvSpPr>
          <p:cNvPr id="9" name="Text 5"/>
          <p:cNvSpPr/>
          <p:nvPr/>
        </p:nvSpPr>
        <p:spPr>
          <a:xfrm>
            <a:off x="257346" y="2853842"/>
            <a:ext cx="2681770" cy="813816"/>
          </a:xfrm>
          <a:prstGeom prst="rect">
            <a:avLst/>
          </a:prstGeom>
          <a:noFill/>
        </p:spPr>
        <p:txBody>
          <a:bodyPr wrap="square" lIns="95250" tIns="95250" rIns="95250" bIns="95250" rtlCol="0" anchor="t">
            <a:spAutoFit/>
          </a:bodyPr>
          <a:lstStyle/>
          <a:p>
            <a:pPr marL="0" indent="0" algn="r">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在国内即时通讯市场，微信和QQ作为两大巨头，凭借其庞大的用户基础和强大的品牌影响力，牢牢占据了市场的主导地位，新应用难以在短时间内与之竞争。</a:t>
            </a:r>
            <a:endParaRPr lang="en-US" sz="1440" dirty="0"/>
          </a:p>
        </p:txBody>
      </p:sp>
      <p:sp>
        <p:nvSpPr>
          <p:cNvPr id="10" name="Text 6"/>
          <p:cNvSpPr/>
          <p:nvPr/>
        </p:nvSpPr>
        <p:spPr>
          <a:xfrm>
            <a:off x="1841548" y="825940"/>
            <a:ext cx="5492064" cy="384048"/>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58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国外市场的巨头垄断</a:t>
            </a:r>
            <a:endParaRPr lang="en-US" sz="1440" dirty="0"/>
          </a:p>
        </p:txBody>
      </p:sp>
      <p:sp>
        <p:nvSpPr>
          <p:cNvPr id="11" name="Text 7"/>
          <p:cNvSpPr/>
          <p:nvPr/>
        </p:nvSpPr>
        <p:spPr>
          <a:xfrm>
            <a:off x="1841548" y="1093569"/>
            <a:ext cx="5492064" cy="60350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在国外即时通讯市场，WhatsApp、Facebook Messenger等巨头企业同样拥有庞大的用户基础和强大的品牌影响力，使得新开发的应用很难在短时间内与之竞争。</a:t>
            </a:r>
            <a:endParaRPr lang="en-US" sz="1440" dirty="0"/>
          </a:p>
        </p:txBody>
      </p:sp>
      <p:sp>
        <p:nvSpPr>
          <p:cNvPr id="12" name="Text 8"/>
          <p:cNvSpPr/>
          <p:nvPr/>
        </p:nvSpPr>
        <p:spPr>
          <a:xfrm>
            <a:off x="6108882" y="2353088"/>
            <a:ext cx="2810116" cy="374904"/>
          </a:xfrm>
          <a:prstGeom prst="rect">
            <a:avLst/>
          </a:prstGeom>
          <a:noFill/>
        </p:spPr>
        <p:txBody>
          <a:bodyPr wrap="square" lIns="95250" tIns="95250" rIns="95250" bIns="95250" rtlCol="0" anchor="t"/>
          <a:lstStyle/>
          <a:p>
            <a:pPr marL="0" indent="0">
              <a:lnSpc>
                <a:spcPct val="100000"/>
              </a:lnSpc>
              <a:spcBef>
                <a:spcPts val="375"/>
              </a:spcBef>
              <a:buNone/>
            </a:pPr>
            <a:r>
              <a:rPr lang="en-US" sz="158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国内外市场的差异与挑战</a:t>
            </a:r>
            <a:endParaRPr lang="en-US" sz="1440" dirty="0"/>
          </a:p>
        </p:txBody>
      </p:sp>
      <p:sp>
        <p:nvSpPr>
          <p:cNvPr id="13" name="Text 9"/>
          <p:cNvSpPr/>
          <p:nvPr/>
        </p:nvSpPr>
        <p:spPr>
          <a:xfrm>
            <a:off x="6108882" y="2853842"/>
            <a:ext cx="2777773" cy="81381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尽管国内外即时通讯市场都存在巨头垄断的现象，但由于文化、政策等因素的差异，新应用在进入不同市场时面临的挑战也有所不同。</a:t>
            </a:r>
            <a:endParaRPr lang="en-US" sz="1440" dirty="0"/>
          </a:p>
        </p:txBody>
      </p:sp>
      <p:sp>
        <p:nvSpPr>
          <p:cNvPr id="14" name="Text 10"/>
          <p:cNvSpPr/>
          <p:nvPr/>
        </p:nvSpPr>
        <p:spPr>
          <a:xfrm>
            <a:off x="3294250" y="2773301"/>
            <a:ext cx="480910" cy="51206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1730"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0</a:t>
            </a:r>
            <a:r>
              <a:rPr lang="en-US" sz="1730"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1</a:t>
            </a:r>
            <a:endParaRPr lang="en-US" sz="1440" dirty="0"/>
          </a:p>
        </p:txBody>
      </p:sp>
      <p:sp>
        <p:nvSpPr>
          <p:cNvPr id="15" name="Text 11"/>
          <p:cNvSpPr/>
          <p:nvPr/>
        </p:nvSpPr>
        <p:spPr>
          <a:xfrm>
            <a:off x="5378474" y="2761446"/>
            <a:ext cx="480910" cy="51206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1730"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16" name="Text 12"/>
          <p:cNvSpPr/>
          <p:nvPr/>
        </p:nvSpPr>
        <p:spPr>
          <a:xfrm>
            <a:off x="4346880" y="2097056"/>
            <a:ext cx="480910" cy="51206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1730"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p:spPr>
        <p:txBody>
          <a:bodyPr wrap="square" lIns="95250" tIns="95250" rIns="95250" bIns="95250" rtlCol="0" anchor="t"/>
          <a:lstStyle/>
          <a:p>
            <a:pPr marL="0" indent="0">
              <a:lnSpc>
                <a:spcPct val="113000"/>
              </a:lnSpc>
              <a:spcBef>
                <a:spcPts val="375"/>
              </a:spcBef>
              <a:buNone/>
            </a:pPr>
            <a:r>
              <a:rPr lang="en-US" sz="259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隐私保护意识影响</a:t>
            </a:r>
            <a:endParaRPr lang="en-US" sz="1440" dirty="0"/>
          </a:p>
        </p:txBody>
      </p:sp>
      <p:sp>
        <p:nvSpPr>
          <p:cNvPr id="3" name="Shape 1"/>
          <p:cNvSpPr/>
          <p:nvPr/>
        </p:nvSpPr>
        <p:spPr>
          <a:xfrm>
            <a:off x="4056412" y="1508760"/>
            <a:ext cx="174439" cy="0"/>
          </a:xfrm>
          <a:custGeom>
            <a:avLst/>
            <a:gdLst/>
            <a:ahLst/>
            <a:cxnLst/>
            <a:rect l="l" t="t" r="r" b="b"/>
            <a:pathLst>
              <a:path w="174439">
                <a:moveTo>
                  <a:pt x="174439" y="0"/>
                </a:moveTo>
                <a:moveTo>
                  <a:pt x="174439" y="0"/>
                </a:moveTo>
                <a:lnTo>
                  <a:pt x="0" y="0"/>
                </a:lnTo>
              </a:path>
            </a:pathLst>
          </a:custGeom>
          <a:noFill/>
          <a:ln w="19050">
            <a:solidFill>
              <a:srgbClr val="3D4D83"/>
            </a:solidFill>
            <a:prstDash val="solid"/>
            <a:headEnd type="none"/>
            <a:tailEnd type="arrow"/>
          </a:ln>
        </p:spPr>
      </p:sp>
      <p:sp>
        <p:nvSpPr>
          <p:cNvPr id="4" name="Shape 2"/>
          <p:cNvSpPr/>
          <p:nvPr/>
        </p:nvSpPr>
        <p:spPr>
          <a:xfrm>
            <a:off x="4955413" y="2798064"/>
            <a:ext cx="177670" cy="0"/>
          </a:xfrm>
          <a:custGeom>
            <a:avLst/>
            <a:gdLst/>
            <a:ahLst/>
            <a:cxnLst/>
            <a:rect l="l" t="t" r="r" b="b"/>
            <a:pathLst>
              <a:path w="177670">
                <a:moveTo>
                  <a:pt x="0" y="0"/>
                </a:moveTo>
                <a:moveTo>
                  <a:pt x="0" y="0"/>
                </a:moveTo>
                <a:lnTo>
                  <a:pt x="177670" y="0"/>
                </a:lnTo>
              </a:path>
            </a:pathLst>
          </a:custGeom>
          <a:noFill/>
          <a:ln w="19050">
            <a:solidFill>
              <a:srgbClr val="3D4D83"/>
            </a:solidFill>
            <a:prstDash val="solid"/>
            <a:headEnd type="none"/>
            <a:tailEnd type="arrow"/>
          </a:ln>
        </p:spPr>
      </p:sp>
      <p:sp>
        <p:nvSpPr>
          <p:cNvPr id="5" name="Shape 3"/>
          <p:cNvSpPr/>
          <p:nvPr/>
        </p:nvSpPr>
        <p:spPr>
          <a:xfrm>
            <a:off x="4048826" y="4091940"/>
            <a:ext cx="175088" cy="0"/>
          </a:xfrm>
          <a:custGeom>
            <a:avLst/>
            <a:gdLst/>
            <a:ahLst/>
            <a:cxnLst/>
            <a:rect l="l" t="t" r="r" b="b"/>
            <a:pathLst>
              <a:path w="175088">
                <a:moveTo>
                  <a:pt x="175088" y="0"/>
                </a:moveTo>
                <a:moveTo>
                  <a:pt x="175088" y="0"/>
                </a:moveTo>
                <a:lnTo>
                  <a:pt x="0" y="0"/>
                </a:lnTo>
              </a:path>
            </a:pathLst>
          </a:custGeom>
          <a:noFill/>
          <a:ln w="19050">
            <a:solidFill>
              <a:srgbClr val="3D4D83"/>
            </a:solidFill>
            <a:prstDash val="solid"/>
            <a:headEnd type="none"/>
            <a:tailEnd type="arrow"/>
          </a:ln>
        </p:spPr>
      </p:sp>
      <p:sp>
        <p:nvSpPr>
          <p:cNvPr id="6" name="Text 4"/>
          <p:cNvSpPr/>
          <p:nvPr/>
        </p:nvSpPr>
        <p:spPr>
          <a:xfrm>
            <a:off x="4218228" y="1143000"/>
            <a:ext cx="745435" cy="704088"/>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735" b="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7" name="Text 5"/>
          <p:cNvSpPr/>
          <p:nvPr/>
        </p:nvSpPr>
        <p:spPr>
          <a:xfrm>
            <a:off x="4218228" y="3776472"/>
            <a:ext cx="745435" cy="676656"/>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590" b="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8" name="Text 6"/>
          <p:cNvSpPr/>
          <p:nvPr/>
        </p:nvSpPr>
        <p:spPr>
          <a:xfrm>
            <a:off x="4209084" y="2468880"/>
            <a:ext cx="745435" cy="676656"/>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590" b="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pic>
        <p:nvPicPr>
          <p:cNvPr id="9" name="Image 0" descr="preencoded.png"/>
          <p:cNvPicPr>
            <a:picLocks noChangeAspect="1"/>
          </p:cNvPicPr>
          <p:nvPr/>
        </p:nvPicPr>
        <p:blipFill>
          <a:blip r:embed="rId2"/>
          <a:stretch>
            <a:fillRect/>
          </a:stretch>
        </p:blipFill>
        <p:spPr>
          <a:xfrm>
            <a:off x="4135932" y="1045159"/>
            <a:ext cx="914400" cy="914400"/>
          </a:xfrm>
          <a:prstGeom prst="rect">
            <a:avLst/>
          </a:prstGeom>
        </p:spPr>
      </p:pic>
      <p:pic>
        <p:nvPicPr>
          <p:cNvPr id="10" name="Image 1" descr="preencoded.png"/>
          <p:cNvPicPr>
            <a:picLocks noChangeAspect="1"/>
          </p:cNvPicPr>
          <p:nvPr/>
        </p:nvPicPr>
        <p:blipFill>
          <a:blip r:embed="rId3"/>
          <a:stretch>
            <a:fillRect/>
          </a:stretch>
        </p:blipFill>
        <p:spPr>
          <a:xfrm>
            <a:off x="4135932" y="2350008"/>
            <a:ext cx="914400" cy="914400"/>
          </a:xfrm>
          <a:prstGeom prst="rect">
            <a:avLst/>
          </a:prstGeom>
        </p:spPr>
      </p:pic>
      <p:pic>
        <p:nvPicPr>
          <p:cNvPr id="11" name="Image 2" descr="preencoded.png"/>
          <p:cNvPicPr>
            <a:picLocks noChangeAspect="1"/>
          </p:cNvPicPr>
          <p:nvPr/>
        </p:nvPicPr>
        <p:blipFill>
          <a:blip r:embed="rId4"/>
          <a:stretch>
            <a:fillRect/>
          </a:stretch>
        </p:blipFill>
        <p:spPr>
          <a:xfrm>
            <a:off x="4135932" y="3657600"/>
            <a:ext cx="914400" cy="914400"/>
          </a:xfrm>
          <a:prstGeom prst="rect">
            <a:avLst/>
          </a:prstGeom>
        </p:spPr>
      </p:pic>
      <p:sp>
        <p:nvSpPr>
          <p:cNvPr id="12" name="Text 7"/>
          <p:cNvSpPr/>
          <p:nvPr/>
        </p:nvSpPr>
        <p:spPr>
          <a:xfrm>
            <a:off x="327671" y="1143000"/>
            <a:ext cx="3567074" cy="393192"/>
          </a:xfrm>
          <a:prstGeom prst="rect">
            <a:avLst/>
          </a:prstGeom>
          <a:noFill/>
        </p:spPr>
        <p:txBody>
          <a:bodyPr wrap="square" lIns="95250" tIns="95250" rIns="95250" bIns="95250" rtlCol="0" anchor="b"/>
          <a:lstStyle/>
          <a:p>
            <a:pPr marL="0" indent="0" algn="r">
              <a:lnSpc>
                <a:spcPct val="100000"/>
              </a:lnSpc>
              <a:spcBef>
                <a:spcPts val="375"/>
              </a:spcBef>
              <a:buNone/>
            </a:pPr>
            <a:r>
              <a:rPr lang="en-US" sz="1585" b="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用户信任度提升</a:t>
            </a:r>
            <a:endParaRPr lang="en-US" sz="1440" dirty="0"/>
          </a:p>
        </p:txBody>
      </p:sp>
      <p:sp>
        <p:nvSpPr>
          <p:cNvPr id="13" name="Text 8"/>
          <p:cNvSpPr/>
          <p:nvPr/>
        </p:nvSpPr>
        <p:spPr>
          <a:xfrm>
            <a:off x="327671" y="1410919"/>
            <a:ext cx="3567074" cy="1234440"/>
          </a:xfrm>
          <a:prstGeom prst="rect">
            <a:avLst/>
          </a:prstGeom>
          <a:noFill/>
        </p:spPr>
        <p:txBody>
          <a:bodyPr wrap="square" lIns="95250" tIns="95250" rIns="95250" bIns="95250" rtlCol="0" anchor="t"/>
          <a:lstStyle/>
          <a:p>
            <a:pPr marL="0" indent="0" algn="r">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随着隐私保护意识的增强，用户在选择即时通讯应用时更看重隐私功能，如端到端加密和匿名聊天，这显著提升了用户对应用的信任度。</a:t>
            </a:r>
            <a:endParaRPr lang="en-US" sz="1440" dirty="0"/>
          </a:p>
        </p:txBody>
      </p:sp>
      <p:sp>
        <p:nvSpPr>
          <p:cNvPr id="14" name="Text 9"/>
          <p:cNvSpPr/>
          <p:nvPr/>
        </p:nvSpPr>
        <p:spPr>
          <a:xfrm>
            <a:off x="5248972" y="2221992"/>
            <a:ext cx="3567074" cy="393192"/>
          </a:xfrm>
          <a:prstGeom prst="rect">
            <a:avLst/>
          </a:prstGeom>
          <a:noFill/>
        </p:spPr>
        <p:txBody>
          <a:bodyPr wrap="square" lIns="95250" tIns="95250" rIns="95250" bIns="95250" rtlCol="0" anchor="b"/>
          <a:lstStyle/>
          <a:p>
            <a:pPr marL="0" indent="0">
              <a:lnSpc>
                <a:spcPct val="100000"/>
              </a:lnSpc>
              <a:spcBef>
                <a:spcPts val="375"/>
              </a:spcBef>
              <a:buNone/>
            </a:pPr>
            <a:r>
              <a:rPr lang="en-US" sz="1585" b="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法规合规性要求</a:t>
            </a:r>
            <a:endParaRPr lang="en-US" sz="1440" dirty="0"/>
          </a:p>
        </p:txBody>
      </p:sp>
      <p:sp>
        <p:nvSpPr>
          <p:cNvPr id="15" name="Text 10"/>
          <p:cNvSpPr/>
          <p:nvPr/>
        </p:nvSpPr>
        <p:spPr>
          <a:xfrm>
            <a:off x="5248972" y="2487168"/>
            <a:ext cx="3567357" cy="1234440"/>
          </a:xfrm>
          <a:prstGeom prst="rect">
            <a:avLst/>
          </a:prstGeom>
          <a:noFill/>
        </p:spPr>
        <p:txBody>
          <a:bodyPr wrap="square" lIns="95250" tIns="95250" rIns="95250" bIns="95250" rtlCol="0" anchor="t"/>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各国政府出台的隐私保护法规迫使即时通讯应用开发者遵守严格的信息安全标准，以确保应用合法合规，避免法律风险。</a:t>
            </a:r>
            <a:endParaRPr lang="en-US" sz="1440" dirty="0"/>
          </a:p>
        </p:txBody>
      </p:sp>
      <p:sp>
        <p:nvSpPr>
          <p:cNvPr id="16" name="Text 11"/>
          <p:cNvSpPr/>
          <p:nvPr/>
        </p:nvSpPr>
        <p:spPr>
          <a:xfrm>
            <a:off x="327671" y="3236976"/>
            <a:ext cx="3567074" cy="393192"/>
          </a:xfrm>
          <a:prstGeom prst="rect">
            <a:avLst/>
          </a:prstGeom>
          <a:noFill/>
        </p:spPr>
        <p:txBody>
          <a:bodyPr wrap="square" lIns="95250" tIns="95250" rIns="95250" bIns="95250" rtlCol="0" anchor="b"/>
          <a:lstStyle/>
          <a:p>
            <a:pPr marL="0" indent="0" algn="r">
              <a:lnSpc>
                <a:spcPct val="100000"/>
              </a:lnSpc>
              <a:spcBef>
                <a:spcPts val="375"/>
              </a:spcBef>
              <a:buNone/>
            </a:pPr>
            <a:r>
              <a:rPr lang="en-US" sz="1585" b="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市场竞争力增强</a:t>
            </a:r>
            <a:endParaRPr lang="en-US" sz="1440" dirty="0"/>
          </a:p>
        </p:txBody>
      </p:sp>
      <p:sp>
        <p:nvSpPr>
          <p:cNvPr id="17" name="Text 12"/>
          <p:cNvSpPr/>
          <p:nvPr/>
        </p:nvSpPr>
        <p:spPr>
          <a:xfrm>
            <a:off x="328585" y="3511296"/>
            <a:ext cx="3567074" cy="1280160"/>
          </a:xfrm>
          <a:prstGeom prst="rect">
            <a:avLst/>
          </a:prstGeom>
          <a:noFill/>
        </p:spPr>
        <p:txBody>
          <a:bodyPr wrap="square" lIns="95250" tIns="95250" rIns="95250" bIns="95250" rtlCol="0" anchor="t"/>
          <a:lstStyle/>
          <a:p>
            <a:pPr marL="0" indent="0" algn="r">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提供强大的隐私保护功能使即时通讯应用在激烈的市场竞争中脱颖而出，吸引更多注重隐私的用户，从而增加市场份额。</a:t>
            </a:r>
            <a:endParaRPr lang="en-US" sz="144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p:spPr>
        <p:txBody>
          <a:bodyPr wrap="square" lIns="95250" tIns="95250" rIns="95250" bIns="95250" rtlCol="0" anchor="t"/>
          <a:lstStyle/>
          <a:p>
            <a:pPr marL="0" indent="0">
              <a:lnSpc>
                <a:spcPct val="113000"/>
              </a:lnSpc>
              <a:spcBef>
                <a:spcPts val="375"/>
              </a:spcBef>
              <a:buNone/>
            </a:pPr>
            <a:r>
              <a:rPr lang="en-US" sz="259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用户需求变化分析</a:t>
            </a:r>
            <a:endParaRPr lang="en-US" sz="1440" dirty="0"/>
          </a:p>
        </p:txBody>
      </p:sp>
      <p:pic>
        <p:nvPicPr>
          <p:cNvPr id="3" name="Image 0" descr="preencoded.png"/>
          <p:cNvPicPr>
            <a:picLocks noChangeAspect="1"/>
          </p:cNvPicPr>
          <p:nvPr/>
        </p:nvPicPr>
        <p:blipFill>
          <a:blip r:embed="rId2"/>
          <a:stretch>
            <a:fillRect/>
          </a:stretch>
        </p:blipFill>
        <p:spPr>
          <a:xfrm>
            <a:off x="313341" y="1004913"/>
            <a:ext cx="2706573" cy="3439660"/>
          </a:xfrm>
          <a:prstGeom prst="rect">
            <a:avLst/>
          </a:prstGeom>
        </p:spPr>
      </p:pic>
      <p:sp>
        <p:nvSpPr>
          <p:cNvPr id="4" name="Shape 1"/>
          <p:cNvSpPr/>
          <p:nvPr/>
        </p:nvSpPr>
        <p:spPr>
          <a:xfrm>
            <a:off x="442554" y="2041177"/>
            <a:ext cx="2448430" cy="594202"/>
          </a:xfrm>
          <a:custGeom>
            <a:avLst/>
            <a:gdLst/>
            <a:ahLst/>
            <a:cxnLst/>
            <a:rect l="l" t="t" r="r" b="b"/>
            <a:pathLst>
              <a:path w="2448430" h="594202">
                <a:moveTo>
                  <a:pt x="245983" y="0"/>
                </a:moveTo>
                <a:moveTo>
                  <a:pt x="245983" y="0"/>
                </a:moveTo>
                <a:lnTo>
                  <a:pt x="2202447" y="0"/>
                </a:lnTo>
                <a:quadBezTo>
                  <a:pt x="2448430" y="0"/>
                  <a:pt x="2448430" y="297101"/>
                </a:quadBezTo>
                <a:lnTo>
                  <a:pt x="2448430" y="297101"/>
                </a:lnTo>
                <a:quadBezTo>
                  <a:pt x="2448430" y="594202"/>
                  <a:pt x="2202447" y="594202"/>
                </a:quadBezTo>
                <a:lnTo>
                  <a:pt x="245983" y="594202"/>
                </a:lnTo>
                <a:quadBezTo>
                  <a:pt x="0" y="594202"/>
                  <a:pt x="0" y="297101"/>
                </a:quadBezTo>
                <a:lnTo>
                  <a:pt x="0" y="297101"/>
                </a:lnTo>
                <a:quadBezTo>
                  <a:pt x="0" y="0"/>
                  <a:pt x="245983" y="0"/>
                </a:quadBezTo>
                <a:close/>
              </a:path>
            </a:pathLst>
          </a:custGeom>
          <a:solidFill>
            <a:srgbClr val="3D4D83"/>
          </a:solidFill>
        </p:spPr>
      </p:sp>
      <p:sp>
        <p:nvSpPr>
          <p:cNvPr id="5" name="Text 2"/>
          <p:cNvSpPr/>
          <p:nvPr/>
        </p:nvSpPr>
        <p:spPr>
          <a:xfrm>
            <a:off x="1295784" y="1095469"/>
            <a:ext cx="741688" cy="100584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4320" b="1" i="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1</a:t>
            </a:r>
            <a:endParaRPr lang="en-US" sz="1440" dirty="0"/>
          </a:p>
        </p:txBody>
      </p:sp>
      <p:pic>
        <p:nvPicPr>
          <p:cNvPr id="6" name="Image 1" descr="preencoded.png"/>
          <p:cNvPicPr>
            <a:picLocks noChangeAspect="1"/>
          </p:cNvPicPr>
          <p:nvPr/>
        </p:nvPicPr>
        <p:blipFill>
          <a:blip r:embed="rId3"/>
          <a:stretch>
            <a:fillRect/>
          </a:stretch>
        </p:blipFill>
        <p:spPr>
          <a:xfrm>
            <a:off x="6123900" y="1004967"/>
            <a:ext cx="2706759" cy="3439931"/>
          </a:xfrm>
          <a:prstGeom prst="rect">
            <a:avLst/>
          </a:prstGeom>
        </p:spPr>
      </p:pic>
      <p:sp>
        <p:nvSpPr>
          <p:cNvPr id="7" name="Shape 3"/>
          <p:cNvSpPr/>
          <p:nvPr/>
        </p:nvSpPr>
        <p:spPr>
          <a:xfrm>
            <a:off x="6253064" y="2041177"/>
            <a:ext cx="2448430" cy="594202"/>
          </a:xfrm>
          <a:custGeom>
            <a:avLst/>
            <a:gdLst/>
            <a:ahLst/>
            <a:cxnLst/>
            <a:rect l="l" t="t" r="r" b="b"/>
            <a:pathLst>
              <a:path w="2448430" h="594202">
                <a:moveTo>
                  <a:pt x="245983" y="0"/>
                </a:moveTo>
                <a:moveTo>
                  <a:pt x="245983" y="0"/>
                </a:moveTo>
                <a:lnTo>
                  <a:pt x="2202447" y="0"/>
                </a:lnTo>
                <a:quadBezTo>
                  <a:pt x="2448430" y="0"/>
                  <a:pt x="2448430" y="297101"/>
                </a:quadBezTo>
                <a:lnTo>
                  <a:pt x="2448430" y="297101"/>
                </a:lnTo>
                <a:quadBezTo>
                  <a:pt x="2448430" y="594202"/>
                  <a:pt x="2202447" y="594202"/>
                </a:quadBezTo>
                <a:lnTo>
                  <a:pt x="245983" y="594202"/>
                </a:lnTo>
                <a:quadBezTo>
                  <a:pt x="0" y="594202"/>
                  <a:pt x="0" y="297101"/>
                </a:quadBezTo>
                <a:lnTo>
                  <a:pt x="0" y="297101"/>
                </a:lnTo>
                <a:quadBezTo>
                  <a:pt x="0" y="0"/>
                  <a:pt x="245983" y="0"/>
                </a:quadBezTo>
                <a:close/>
              </a:path>
            </a:pathLst>
          </a:custGeom>
          <a:solidFill>
            <a:srgbClr val="3D4D83"/>
          </a:solidFill>
        </p:spPr>
      </p:sp>
      <p:sp>
        <p:nvSpPr>
          <p:cNvPr id="8" name="Text 4"/>
          <p:cNvSpPr/>
          <p:nvPr/>
        </p:nvSpPr>
        <p:spPr>
          <a:xfrm>
            <a:off x="7106435" y="1095469"/>
            <a:ext cx="741688" cy="100584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4320" b="1" i="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1440" dirty="0"/>
          </a:p>
        </p:txBody>
      </p:sp>
      <p:pic>
        <p:nvPicPr>
          <p:cNvPr id="9" name="Image 2" descr="preencoded.png"/>
          <p:cNvPicPr>
            <a:picLocks noChangeAspect="1"/>
          </p:cNvPicPr>
          <p:nvPr/>
        </p:nvPicPr>
        <p:blipFill>
          <a:blip r:embed="rId4"/>
          <a:stretch>
            <a:fillRect/>
          </a:stretch>
        </p:blipFill>
        <p:spPr>
          <a:xfrm>
            <a:off x="3218644" y="1004913"/>
            <a:ext cx="2706759" cy="3439931"/>
          </a:xfrm>
          <a:prstGeom prst="rect">
            <a:avLst/>
          </a:prstGeom>
        </p:spPr>
      </p:pic>
      <p:sp>
        <p:nvSpPr>
          <p:cNvPr id="10" name="Shape 5"/>
          <p:cNvSpPr/>
          <p:nvPr/>
        </p:nvSpPr>
        <p:spPr>
          <a:xfrm>
            <a:off x="3347809" y="2041177"/>
            <a:ext cx="2448430" cy="594202"/>
          </a:xfrm>
          <a:custGeom>
            <a:avLst/>
            <a:gdLst/>
            <a:ahLst/>
            <a:cxnLst/>
            <a:rect l="l" t="t" r="r" b="b"/>
            <a:pathLst>
              <a:path w="2448430" h="594202">
                <a:moveTo>
                  <a:pt x="245983" y="0"/>
                </a:moveTo>
                <a:moveTo>
                  <a:pt x="245983" y="0"/>
                </a:moveTo>
                <a:lnTo>
                  <a:pt x="2202447" y="0"/>
                </a:lnTo>
                <a:quadBezTo>
                  <a:pt x="2448430" y="0"/>
                  <a:pt x="2448430" y="297101"/>
                </a:quadBezTo>
                <a:lnTo>
                  <a:pt x="2448430" y="297101"/>
                </a:lnTo>
                <a:quadBezTo>
                  <a:pt x="2448430" y="594202"/>
                  <a:pt x="2202447" y="594202"/>
                </a:quadBezTo>
                <a:lnTo>
                  <a:pt x="245983" y="594202"/>
                </a:lnTo>
                <a:quadBezTo>
                  <a:pt x="0" y="594202"/>
                  <a:pt x="0" y="297101"/>
                </a:quadBezTo>
                <a:lnTo>
                  <a:pt x="0" y="297101"/>
                </a:lnTo>
                <a:quadBezTo>
                  <a:pt x="0" y="0"/>
                  <a:pt x="245983" y="0"/>
                </a:quadBezTo>
                <a:close/>
              </a:path>
            </a:pathLst>
          </a:custGeom>
          <a:solidFill>
            <a:srgbClr val="3D4D83"/>
          </a:solidFill>
        </p:spPr>
      </p:sp>
      <p:sp>
        <p:nvSpPr>
          <p:cNvPr id="11" name="Text 6"/>
          <p:cNvSpPr/>
          <p:nvPr/>
        </p:nvSpPr>
        <p:spPr>
          <a:xfrm>
            <a:off x="4201180" y="1095469"/>
            <a:ext cx="741688" cy="100584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4320" b="1" i="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2</a:t>
            </a:r>
            <a:endParaRPr lang="en-US" sz="1440" dirty="0"/>
          </a:p>
        </p:txBody>
      </p:sp>
      <p:sp>
        <p:nvSpPr>
          <p:cNvPr id="12" name="Text 7"/>
          <p:cNvSpPr/>
          <p:nvPr/>
        </p:nvSpPr>
        <p:spPr>
          <a:xfrm>
            <a:off x="523852" y="2153079"/>
            <a:ext cx="2285552" cy="370399"/>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用户需求的动态性</a:t>
            </a:r>
            <a:endParaRPr lang="en-US" sz="1440" dirty="0"/>
          </a:p>
        </p:txBody>
      </p:sp>
      <p:sp>
        <p:nvSpPr>
          <p:cNvPr id="13" name="Text 8"/>
          <p:cNvSpPr/>
          <p:nvPr/>
        </p:nvSpPr>
        <p:spPr>
          <a:xfrm>
            <a:off x="564509" y="2621709"/>
            <a:ext cx="2204238" cy="106070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随着市场环境和技术的发展，用户的需求呈现出不断变化的趋势。企业需要通过持续的市场调研和数据分析，捕捉这些变化，以适应和满足用户的新需求。</a:t>
            </a:r>
            <a:endParaRPr lang="en-US" sz="1440" dirty="0"/>
          </a:p>
        </p:txBody>
      </p:sp>
      <p:sp>
        <p:nvSpPr>
          <p:cNvPr id="14" name="Text 9"/>
          <p:cNvSpPr/>
          <p:nvPr/>
        </p:nvSpPr>
        <p:spPr>
          <a:xfrm>
            <a:off x="3429248" y="2143581"/>
            <a:ext cx="2285552" cy="389393"/>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技术进步对需求的影响</a:t>
            </a:r>
            <a:endParaRPr lang="en-US" sz="1440" dirty="0"/>
          </a:p>
        </p:txBody>
      </p:sp>
      <p:sp>
        <p:nvSpPr>
          <p:cNvPr id="15" name="Text 10"/>
          <p:cNvSpPr/>
          <p:nvPr/>
        </p:nvSpPr>
        <p:spPr>
          <a:xfrm>
            <a:off x="3469905" y="2621709"/>
            <a:ext cx="2204238" cy="106070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新技术的出现往往会改变用户的行为模式和需求结构。例如，移动互联网的普及使得用户更倾向于使用移动设备进行购物、社交等活动，这要求企业不断调整其产品和服务。</a:t>
            </a:r>
            <a:endParaRPr lang="en-US" sz="1440" dirty="0"/>
          </a:p>
        </p:txBody>
      </p:sp>
      <p:sp>
        <p:nvSpPr>
          <p:cNvPr id="16" name="Text 11"/>
          <p:cNvSpPr/>
          <p:nvPr/>
        </p:nvSpPr>
        <p:spPr>
          <a:xfrm>
            <a:off x="6334267" y="2157827"/>
            <a:ext cx="2286024" cy="360901"/>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个性化需求的崛起</a:t>
            </a:r>
            <a:endParaRPr lang="en-US" sz="1440" dirty="0"/>
          </a:p>
        </p:txBody>
      </p:sp>
      <p:sp>
        <p:nvSpPr>
          <p:cNvPr id="17" name="Text 12"/>
          <p:cNvSpPr/>
          <p:nvPr/>
        </p:nvSpPr>
        <p:spPr>
          <a:xfrm>
            <a:off x="6375160" y="2621709"/>
            <a:ext cx="2204238" cy="106070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现代消费者越来越追求个性化和定制化的产品与服务。企业需利用大数据和人工智能技术，深入分析用户行为，提供更加精准和个性化的解决方案，以满足用户的特定需求。</a:t>
            </a:r>
            <a:endParaRPr lang="en-US" sz="144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91482" y="2114883"/>
            <a:ext cx="1085027" cy="731520"/>
          </a:xfrm>
          <a:prstGeom prst="rect">
            <a:avLst/>
          </a:prstGeom>
          <a:noFill/>
        </p:spPr>
        <p:txBody>
          <a:bodyPr wrap="square" lIns="95250" tIns="95250" rIns="95250" bIns="95250" rtlCol="0" anchor="t"/>
          <a:lstStyle/>
          <a:p>
            <a:pPr marL="0" indent="0" algn="ctr">
              <a:lnSpc>
                <a:spcPct val="100000"/>
              </a:lnSpc>
              <a:spcBef>
                <a:spcPts val="375"/>
              </a:spcBef>
              <a:buNone/>
            </a:pPr>
            <a:r>
              <a:rPr lang="en-US" sz="4320" b="1" dirty="0">
                <a:solidFill>
                  <a:srgbClr val="2E3E74"/>
                </a:solidFill>
                <a:latin typeface="微软雅黑" panose="020B0503020204020204" pitchFamily="34" charset="-122"/>
                <a:ea typeface="微软雅黑" panose="020B0503020204020204" pitchFamily="34" charset="-122"/>
                <a:cs typeface="微软雅黑" panose="020B0503020204020204" pitchFamily="34" charset="-120"/>
              </a:rPr>
              <a:t>07</a:t>
            </a:r>
            <a:endParaRPr lang="en-US" sz="1440" dirty="0"/>
          </a:p>
        </p:txBody>
      </p:sp>
      <p:sp>
        <p:nvSpPr>
          <p:cNvPr id="3" name="Text 1"/>
          <p:cNvSpPr/>
          <p:nvPr/>
        </p:nvSpPr>
        <p:spPr>
          <a:xfrm>
            <a:off x="1376509" y="2114883"/>
            <a:ext cx="7241265" cy="731520"/>
          </a:xfrm>
          <a:prstGeom prst="rect">
            <a:avLst/>
          </a:prstGeom>
          <a:noFill/>
        </p:spPr>
        <p:txBody>
          <a:bodyPr wrap="square" lIns="95250" tIns="95250" rIns="95250" bIns="95250" rtlCol="0" anchor="t"/>
          <a:lstStyle/>
          <a:p>
            <a:pPr marL="0" indent="0">
              <a:lnSpc>
                <a:spcPct val="113000"/>
              </a:lnSpc>
              <a:spcBef>
                <a:spcPts val="375"/>
              </a:spcBef>
              <a:buNone/>
            </a:pPr>
            <a:r>
              <a:rPr lang="en-US" sz="288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项目成果与展望</a:t>
            </a:r>
            <a:endParaRPr lang="en-US" sz="144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p:spPr>
        <p:txBody>
          <a:bodyPr wrap="square" lIns="95250" tIns="95250" rIns="95250" bIns="95250" rtlCol="0" anchor="t"/>
          <a:lstStyle/>
          <a:p>
            <a:pPr marL="0" indent="0">
              <a:lnSpc>
                <a:spcPct val="113000"/>
              </a:lnSpc>
              <a:spcBef>
                <a:spcPts val="375"/>
              </a:spcBef>
              <a:buNone/>
            </a:pPr>
            <a:r>
              <a:rPr lang="en-US" sz="259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实用性与稳定性评价</a:t>
            </a:r>
            <a:endParaRPr lang="en-US" sz="1440" dirty="0"/>
          </a:p>
        </p:txBody>
      </p:sp>
      <p:pic>
        <p:nvPicPr>
          <p:cNvPr id="3" name="Image 0" descr="preencoded.png"/>
          <p:cNvPicPr>
            <a:picLocks noChangeAspect="1"/>
          </p:cNvPicPr>
          <p:nvPr/>
        </p:nvPicPr>
        <p:blipFill>
          <a:blip r:embed="rId2">
            <a:alphaModFix amt="40000"/>
          </a:blip>
          <a:stretch>
            <a:fillRect/>
          </a:stretch>
        </p:blipFill>
        <p:spPr>
          <a:xfrm>
            <a:off x="2602916" y="1833635"/>
            <a:ext cx="6312484" cy="2662437"/>
          </a:xfrm>
          <a:prstGeom prst="rect">
            <a:avLst/>
          </a:prstGeom>
        </p:spPr>
      </p:pic>
      <p:sp>
        <p:nvSpPr>
          <p:cNvPr id="4" name="Shape 1"/>
          <p:cNvSpPr/>
          <p:nvPr/>
        </p:nvSpPr>
        <p:spPr>
          <a:xfrm>
            <a:off x="287145" y="1457198"/>
            <a:ext cx="2975372" cy="3038875"/>
          </a:xfrm>
          <a:custGeom>
            <a:avLst/>
            <a:gdLst/>
            <a:ahLst/>
            <a:cxnLst/>
            <a:rect l="l" t="t" r="r" b="b"/>
            <a:pathLst>
              <a:path w="2975372" h="3038875">
                <a:moveTo>
                  <a:pt x="426003" y="0"/>
                </a:moveTo>
                <a:moveTo>
                  <a:pt x="426003" y="0"/>
                </a:moveTo>
                <a:lnTo>
                  <a:pt x="2549369" y="0"/>
                </a:lnTo>
                <a:quadBezTo>
                  <a:pt x="2975372" y="0"/>
                  <a:pt x="2975372" y="426003"/>
                </a:quadBezTo>
                <a:lnTo>
                  <a:pt x="2975372" y="2612872"/>
                </a:lnTo>
                <a:quadBezTo>
                  <a:pt x="2975372" y="3038875"/>
                  <a:pt x="2549369" y="3038875"/>
                </a:quadBezTo>
                <a:lnTo>
                  <a:pt x="426003" y="3038875"/>
                </a:lnTo>
                <a:quadBezTo>
                  <a:pt x="0" y="3038875"/>
                  <a:pt x="0" y="2612872"/>
                </a:quadBezTo>
                <a:lnTo>
                  <a:pt x="0" y="426003"/>
                </a:lnTo>
                <a:quadBezTo>
                  <a:pt x="0" y="0"/>
                  <a:pt x="426003" y="0"/>
                </a:quadBezTo>
                <a:close/>
              </a:path>
            </a:pathLst>
          </a:custGeom>
          <a:solidFill>
            <a:srgbClr val="F4F7FF"/>
          </a:solidFill>
          <a:ln w="19050">
            <a:solidFill>
              <a:srgbClr val="3D4D83"/>
            </a:solidFill>
            <a:prstDash val="solid"/>
          </a:ln>
        </p:spPr>
      </p:sp>
      <p:sp>
        <p:nvSpPr>
          <p:cNvPr id="5" name="Shape 2"/>
          <p:cNvSpPr/>
          <p:nvPr/>
        </p:nvSpPr>
        <p:spPr>
          <a:xfrm>
            <a:off x="580006" y="1073576"/>
            <a:ext cx="2431855" cy="649248"/>
          </a:xfrm>
          <a:custGeom>
            <a:avLst/>
            <a:gdLst/>
            <a:ahLst/>
            <a:cxnLst/>
            <a:rect l="l" t="t" r="r" b="b"/>
            <a:pathLst>
              <a:path w="2431855" h="649248">
                <a:moveTo>
                  <a:pt x="161595" y="0"/>
                </a:moveTo>
                <a:moveTo>
                  <a:pt x="161595" y="0"/>
                </a:moveTo>
                <a:lnTo>
                  <a:pt x="2270260" y="0"/>
                </a:lnTo>
                <a:quadBezTo>
                  <a:pt x="2431855" y="0"/>
                  <a:pt x="2431855" y="161595"/>
                </a:quadBezTo>
                <a:lnTo>
                  <a:pt x="2431855" y="487653"/>
                </a:lnTo>
                <a:quadBezTo>
                  <a:pt x="2431855" y="649248"/>
                  <a:pt x="2270260" y="649248"/>
                </a:quadBezTo>
                <a:lnTo>
                  <a:pt x="161595" y="649248"/>
                </a:lnTo>
                <a:quadBezTo>
                  <a:pt x="0" y="649248"/>
                  <a:pt x="0" y="487653"/>
                </a:quadBezTo>
                <a:lnTo>
                  <a:pt x="0" y="161595"/>
                </a:lnTo>
                <a:quadBezTo>
                  <a:pt x="0" y="0"/>
                  <a:pt x="161595" y="0"/>
                </a:quadBezTo>
                <a:close/>
              </a:path>
            </a:pathLst>
          </a:custGeom>
          <a:solidFill>
            <a:srgbClr val="3D4D83"/>
          </a:solidFill>
        </p:spPr>
      </p:sp>
      <p:sp>
        <p:nvSpPr>
          <p:cNvPr id="6" name="Shape 3"/>
          <p:cNvSpPr/>
          <p:nvPr/>
        </p:nvSpPr>
        <p:spPr>
          <a:xfrm>
            <a:off x="3380991" y="1932994"/>
            <a:ext cx="5422275" cy="493149"/>
          </a:xfrm>
          <a:custGeom>
            <a:avLst/>
            <a:gdLst/>
            <a:ahLst/>
            <a:cxnLst/>
            <a:rect l="l" t="t" r="r" b="b"/>
            <a:pathLst>
              <a:path w="5422275" h="493149">
                <a:moveTo>
                  <a:pt x="163994" y="0"/>
                </a:moveTo>
                <a:moveTo>
                  <a:pt x="163994" y="0"/>
                </a:moveTo>
                <a:lnTo>
                  <a:pt x="5258282" y="0"/>
                </a:lnTo>
                <a:quadBezTo>
                  <a:pt x="5422275" y="0"/>
                  <a:pt x="5422275" y="138948"/>
                </a:quadBezTo>
                <a:lnTo>
                  <a:pt x="5422275" y="354201"/>
                </a:lnTo>
                <a:quadBezTo>
                  <a:pt x="5422275" y="493149"/>
                  <a:pt x="5258282" y="493149"/>
                </a:quadBezTo>
                <a:lnTo>
                  <a:pt x="163994" y="493149"/>
                </a:lnTo>
                <a:quadBezTo>
                  <a:pt x="0" y="493149"/>
                  <a:pt x="0" y="354201"/>
                </a:quadBezTo>
                <a:lnTo>
                  <a:pt x="0" y="138948"/>
                </a:lnTo>
                <a:quadBezTo>
                  <a:pt x="0" y="0"/>
                  <a:pt x="163994" y="0"/>
                </a:quadBezTo>
                <a:close/>
              </a:path>
            </a:pathLst>
          </a:custGeom>
          <a:solidFill>
            <a:srgbClr val="F4F7FF"/>
          </a:solidFill>
        </p:spPr>
      </p:sp>
      <p:pic>
        <p:nvPicPr>
          <p:cNvPr id="7" name="Image 1" descr="preencoded.png"/>
          <p:cNvPicPr>
            <a:picLocks noChangeAspect="1"/>
          </p:cNvPicPr>
          <p:nvPr/>
        </p:nvPicPr>
        <p:blipFill>
          <a:blip r:embed="rId3"/>
          <a:stretch>
            <a:fillRect/>
          </a:stretch>
        </p:blipFill>
        <p:spPr>
          <a:xfrm>
            <a:off x="3685190" y="2061925"/>
            <a:ext cx="254203" cy="254203"/>
          </a:xfrm>
          <a:prstGeom prst="rect">
            <a:avLst/>
          </a:prstGeom>
        </p:spPr>
      </p:pic>
      <p:sp>
        <p:nvSpPr>
          <p:cNvPr id="8" name="Shape 4"/>
          <p:cNvSpPr/>
          <p:nvPr/>
        </p:nvSpPr>
        <p:spPr>
          <a:xfrm>
            <a:off x="3380991" y="3155397"/>
            <a:ext cx="5422275" cy="493149"/>
          </a:xfrm>
          <a:custGeom>
            <a:avLst/>
            <a:gdLst/>
            <a:ahLst/>
            <a:cxnLst/>
            <a:rect l="l" t="t" r="r" b="b"/>
            <a:pathLst>
              <a:path w="5422275" h="493149">
                <a:moveTo>
                  <a:pt x="163994" y="0"/>
                </a:moveTo>
                <a:moveTo>
                  <a:pt x="163994" y="0"/>
                </a:moveTo>
                <a:lnTo>
                  <a:pt x="5258282" y="0"/>
                </a:lnTo>
                <a:quadBezTo>
                  <a:pt x="5422275" y="0"/>
                  <a:pt x="5422275" y="138948"/>
                </a:quadBezTo>
                <a:lnTo>
                  <a:pt x="5422275" y="354201"/>
                </a:lnTo>
                <a:quadBezTo>
                  <a:pt x="5422275" y="493149"/>
                  <a:pt x="5258282" y="493149"/>
                </a:quadBezTo>
                <a:lnTo>
                  <a:pt x="163994" y="493149"/>
                </a:lnTo>
                <a:quadBezTo>
                  <a:pt x="0" y="493149"/>
                  <a:pt x="0" y="354201"/>
                </a:quadBezTo>
                <a:lnTo>
                  <a:pt x="0" y="138948"/>
                </a:lnTo>
                <a:quadBezTo>
                  <a:pt x="0" y="0"/>
                  <a:pt x="163994" y="0"/>
                </a:quadBezTo>
                <a:close/>
              </a:path>
            </a:pathLst>
          </a:custGeom>
          <a:solidFill>
            <a:srgbClr val="F4F7FF"/>
          </a:solidFill>
        </p:spPr>
      </p:sp>
      <p:pic>
        <p:nvPicPr>
          <p:cNvPr id="9" name="Image 2" descr="preencoded.png"/>
          <p:cNvPicPr>
            <a:picLocks noChangeAspect="1"/>
          </p:cNvPicPr>
          <p:nvPr/>
        </p:nvPicPr>
        <p:blipFill>
          <a:blip r:embed="rId4"/>
          <a:stretch>
            <a:fillRect/>
          </a:stretch>
        </p:blipFill>
        <p:spPr>
          <a:xfrm>
            <a:off x="3685190" y="3284327"/>
            <a:ext cx="254203" cy="254203"/>
          </a:xfrm>
          <a:prstGeom prst="rect">
            <a:avLst/>
          </a:prstGeom>
        </p:spPr>
      </p:pic>
      <p:sp>
        <p:nvSpPr>
          <p:cNvPr id="10" name="Text 5"/>
          <p:cNvSpPr/>
          <p:nvPr/>
        </p:nvSpPr>
        <p:spPr>
          <a:xfrm>
            <a:off x="580006" y="1210748"/>
            <a:ext cx="2431855"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58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多平台兼容性测试</a:t>
            </a:r>
            <a:endParaRPr lang="en-US" sz="1440" dirty="0"/>
          </a:p>
        </p:txBody>
      </p:sp>
      <p:sp>
        <p:nvSpPr>
          <p:cNvPr id="11" name="Text 6"/>
          <p:cNvSpPr/>
          <p:nvPr/>
        </p:nvSpPr>
        <p:spPr>
          <a:xfrm>
            <a:off x="484365" y="2226827"/>
            <a:ext cx="2580932" cy="1499616"/>
          </a:xfrm>
          <a:prstGeom prst="rect">
            <a:avLst/>
          </a:prstGeom>
          <a:noFill/>
        </p:spPr>
        <p:txBody>
          <a:bodyPr wrap="square" lIns="95250" tIns="95250" rIns="95250" bIns="95250" rtlCol="0" anchor="ctr"/>
          <a:lstStyle/>
          <a:p>
            <a:pPr marL="0" indent="0" algn="ctr">
              <a:lnSpc>
                <a:spcPct val="101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项目通过在iOS、Android及Web等多个平台上进行广泛测试，确保了即时通讯应用的界面和功能在不同设备上的一致性和响应性。</a:t>
            </a:r>
            <a:endParaRPr lang="en-US" sz="1440" dirty="0"/>
          </a:p>
        </p:txBody>
      </p:sp>
      <p:sp>
        <p:nvSpPr>
          <p:cNvPr id="12" name="Text 7"/>
          <p:cNvSpPr/>
          <p:nvPr/>
        </p:nvSpPr>
        <p:spPr>
          <a:xfrm>
            <a:off x="4028865" y="1997002"/>
            <a:ext cx="4683645"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实时消息传输性能</a:t>
            </a:r>
            <a:endParaRPr lang="en-US" sz="1440" dirty="0"/>
          </a:p>
        </p:txBody>
      </p:sp>
      <p:sp>
        <p:nvSpPr>
          <p:cNvPr id="13" name="Text 8"/>
          <p:cNvSpPr/>
          <p:nvPr/>
        </p:nvSpPr>
        <p:spPr>
          <a:xfrm>
            <a:off x="3523549" y="2440225"/>
            <a:ext cx="5279717"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利用WebSocket协议实现的实时消息传输机制，经过压力测试验证，能够在高并发情况下保持稳定的消息传递速度和低延迟。</a:t>
            </a:r>
            <a:endParaRPr lang="en-US" sz="1440" dirty="0"/>
          </a:p>
        </p:txBody>
      </p:sp>
      <p:sp>
        <p:nvSpPr>
          <p:cNvPr id="14" name="Text 9"/>
          <p:cNvSpPr/>
          <p:nvPr/>
        </p:nvSpPr>
        <p:spPr>
          <a:xfrm>
            <a:off x="4028865" y="3219405"/>
            <a:ext cx="4683645" cy="374904"/>
          </a:xfrm>
          <a:prstGeom prst="rect">
            <a:avLst/>
          </a:prstGeom>
          <a:noFill/>
        </p:spPr>
        <p:txBody>
          <a:bodyPr wrap="square" lIns="95250" tIns="95250" rIns="95250" bIns="95250" rtlCol="0" anchor="ctr"/>
          <a:lstStyle/>
          <a:p>
            <a:pPr marL="0" indent="0">
              <a:lnSpc>
                <a:spcPct val="100000"/>
              </a:lnSpc>
              <a:spcBef>
                <a:spcPts val="375"/>
              </a:spcBef>
              <a:buNone/>
            </a:pPr>
            <a:r>
              <a:rPr lang="en-US" sz="1585" b="1" dirty="0">
                <a:solidFill>
                  <a:srgbClr val="3D4D83"/>
                </a:solidFill>
                <a:latin typeface="微软雅黑" panose="020B0503020204020204" pitchFamily="34" charset="-122"/>
                <a:ea typeface="微软雅黑" panose="020B0503020204020204" pitchFamily="34" charset="-122"/>
                <a:cs typeface="微软雅黑" panose="020B0503020204020204" pitchFamily="34" charset="-120"/>
              </a:rPr>
              <a:t>系统稳定性评估</a:t>
            </a:r>
            <a:endParaRPr lang="en-US" sz="1440" dirty="0"/>
          </a:p>
        </p:txBody>
      </p:sp>
      <p:sp>
        <p:nvSpPr>
          <p:cNvPr id="15" name="Text 10"/>
          <p:cNvSpPr/>
          <p:nvPr/>
        </p:nvSpPr>
        <p:spPr>
          <a:xfrm>
            <a:off x="3523549" y="3662627"/>
            <a:ext cx="5279717"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01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经过连续运行测试和异常恢复测试，系统展现出良好的稳定性和故障恢复能力，确保了用户在使用过程中的数据安全和服务可靠性。</a:t>
            </a:r>
            <a:endParaRPr lang="en-US" sz="144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p:spPr>
        <p:txBody>
          <a:bodyPr wrap="square" lIns="95250" tIns="95250" rIns="95250" bIns="95250" rtlCol="0" anchor="t"/>
          <a:lstStyle/>
          <a:p>
            <a:pPr marL="0" indent="0">
              <a:lnSpc>
                <a:spcPct val="113000"/>
              </a:lnSpc>
              <a:spcBef>
                <a:spcPts val="375"/>
              </a:spcBef>
              <a:buNone/>
            </a:pPr>
            <a:r>
              <a:rPr lang="en-US" sz="259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未来迭代升级方向</a:t>
            </a:r>
            <a:endParaRPr lang="en-US" sz="1440" dirty="0"/>
          </a:p>
        </p:txBody>
      </p:sp>
      <p:sp>
        <p:nvSpPr>
          <p:cNvPr id="3" name="Shape 1"/>
          <p:cNvSpPr/>
          <p:nvPr/>
        </p:nvSpPr>
        <p:spPr>
          <a:xfrm>
            <a:off x="1259089" y="1317519"/>
            <a:ext cx="682221" cy="682221"/>
          </a:xfrm>
          <a:custGeom>
            <a:avLst/>
            <a:gdLst/>
            <a:ahLst/>
            <a:cxnLst/>
            <a:rect l="l" t="t" r="r" b="b"/>
            <a:pathLst>
              <a:path w="682221" h="682221">
                <a:moveTo>
                  <a:pt x="341111" y="0"/>
                </a:moveTo>
                <a:moveTo>
                  <a:pt x="341111" y="0"/>
                </a:moveTo>
                <a:cubicBezTo>
                  <a:pt x="529375" y="0"/>
                  <a:pt x="682221" y="152847"/>
                  <a:pt x="682221" y="341111"/>
                </a:cubicBezTo>
                <a:cubicBezTo>
                  <a:pt x="682221" y="529375"/>
                  <a:pt x="529375" y="682221"/>
                  <a:pt x="341111" y="682221"/>
                </a:cubicBezTo>
                <a:cubicBezTo>
                  <a:pt x="152847" y="682221"/>
                  <a:pt x="0" y="529375"/>
                  <a:pt x="0" y="341111"/>
                </a:cubicBezTo>
                <a:cubicBezTo>
                  <a:pt x="0" y="152847"/>
                  <a:pt x="152847" y="0"/>
                  <a:pt x="341111" y="0"/>
                </a:cubicBezTo>
                <a:close/>
              </a:path>
            </a:pathLst>
          </a:custGeom>
          <a:solidFill>
            <a:srgbClr val="3D4D83"/>
          </a:solidFill>
        </p:spPr>
      </p:sp>
      <p:sp>
        <p:nvSpPr>
          <p:cNvPr id="4" name="Shape 2"/>
          <p:cNvSpPr/>
          <p:nvPr/>
        </p:nvSpPr>
        <p:spPr>
          <a:xfrm>
            <a:off x="2264498" y="1658630"/>
            <a:ext cx="1414604" cy="0"/>
          </a:xfrm>
          <a:custGeom>
            <a:avLst/>
            <a:gdLst/>
            <a:ahLst/>
            <a:cxnLst/>
            <a:rect l="l" t="t" r="r" b="b"/>
            <a:pathLst>
              <a:path w="1414604">
                <a:moveTo>
                  <a:pt x="0" y="0"/>
                </a:moveTo>
                <a:moveTo>
                  <a:pt x="0" y="0"/>
                </a:moveTo>
                <a:quadBezTo>
                  <a:pt x="728521" y="516330"/>
                  <a:pt x="1414604" y="0"/>
                </a:quadBezTo>
              </a:path>
            </a:pathLst>
          </a:custGeom>
          <a:noFill/>
          <a:ln w="19050">
            <a:solidFill>
              <a:srgbClr val="3D4D83"/>
            </a:solidFill>
            <a:prstDash val="dash"/>
            <a:headEnd type="none"/>
            <a:tailEnd type="arrow"/>
          </a:ln>
        </p:spPr>
      </p:sp>
      <p:sp>
        <p:nvSpPr>
          <p:cNvPr id="5" name="Shape 3"/>
          <p:cNvSpPr/>
          <p:nvPr/>
        </p:nvSpPr>
        <p:spPr>
          <a:xfrm>
            <a:off x="5464898" y="1771798"/>
            <a:ext cx="1414604" cy="0"/>
          </a:xfrm>
          <a:custGeom>
            <a:avLst/>
            <a:gdLst/>
            <a:ahLst/>
            <a:cxnLst/>
            <a:rect l="l" t="t" r="r" b="b"/>
            <a:pathLst>
              <a:path w="1414604">
                <a:moveTo>
                  <a:pt x="0" y="0"/>
                </a:moveTo>
                <a:moveTo>
                  <a:pt x="0" y="0"/>
                </a:moveTo>
                <a:quadBezTo>
                  <a:pt x="700229" y="-615353"/>
                  <a:pt x="1414604" y="0"/>
                </a:quadBezTo>
              </a:path>
            </a:pathLst>
          </a:custGeom>
          <a:noFill/>
          <a:ln w="19050">
            <a:solidFill>
              <a:srgbClr val="3D4D83"/>
            </a:solidFill>
            <a:prstDash val="dash"/>
            <a:headEnd type="none"/>
            <a:tailEnd type="arrow"/>
          </a:ln>
        </p:spPr>
      </p:sp>
      <p:sp>
        <p:nvSpPr>
          <p:cNvPr id="6" name="Shape 4"/>
          <p:cNvSpPr/>
          <p:nvPr/>
        </p:nvSpPr>
        <p:spPr>
          <a:xfrm>
            <a:off x="4230889" y="1317519"/>
            <a:ext cx="682221" cy="682221"/>
          </a:xfrm>
          <a:custGeom>
            <a:avLst/>
            <a:gdLst/>
            <a:ahLst/>
            <a:cxnLst/>
            <a:rect l="l" t="t" r="r" b="b"/>
            <a:pathLst>
              <a:path w="682221" h="682221">
                <a:moveTo>
                  <a:pt x="341111" y="0"/>
                </a:moveTo>
                <a:moveTo>
                  <a:pt x="341111" y="0"/>
                </a:moveTo>
                <a:cubicBezTo>
                  <a:pt x="529375" y="0"/>
                  <a:pt x="682221" y="152847"/>
                  <a:pt x="682221" y="341111"/>
                </a:cubicBezTo>
                <a:cubicBezTo>
                  <a:pt x="682221" y="529375"/>
                  <a:pt x="529375" y="682221"/>
                  <a:pt x="341111" y="682221"/>
                </a:cubicBezTo>
                <a:cubicBezTo>
                  <a:pt x="152847" y="682221"/>
                  <a:pt x="0" y="529375"/>
                  <a:pt x="0" y="341111"/>
                </a:cubicBezTo>
                <a:cubicBezTo>
                  <a:pt x="0" y="152847"/>
                  <a:pt x="152847" y="0"/>
                  <a:pt x="341111" y="0"/>
                </a:cubicBezTo>
                <a:close/>
              </a:path>
            </a:pathLst>
          </a:custGeom>
          <a:solidFill>
            <a:srgbClr val="3D4D83"/>
          </a:solidFill>
        </p:spPr>
      </p:sp>
      <p:sp>
        <p:nvSpPr>
          <p:cNvPr id="7" name="Shape 5"/>
          <p:cNvSpPr/>
          <p:nvPr/>
        </p:nvSpPr>
        <p:spPr>
          <a:xfrm>
            <a:off x="7202689" y="1317519"/>
            <a:ext cx="682221" cy="682221"/>
          </a:xfrm>
          <a:custGeom>
            <a:avLst/>
            <a:gdLst/>
            <a:ahLst/>
            <a:cxnLst/>
            <a:rect l="l" t="t" r="r" b="b"/>
            <a:pathLst>
              <a:path w="682221" h="682221">
                <a:moveTo>
                  <a:pt x="341111" y="0"/>
                </a:moveTo>
                <a:moveTo>
                  <a:pt x="341111" y="0"/>
                </a:moveTo>
                <a:cubicBezTo>
                  <a:pt x="529375" y="0"/>
                  <a:pt x="682221" y="152847"/>
                  <a:pt x="682221" y="341111"/>
                </a:cubicBezTo>
                <a:cubicBezTo>
                  <a:pt x="682221" y="529375"/>
                  <a:pt x="529375" y="682221"/>
                  <a:pt x="341111" y="682221"/>
                </a:cubicBezTo>
                <a:cubicBezTo>
                  <a:pt x="152847" y="682221"/>
                  <a:pt x="0" y="529375"/>
                  <a:pt x="0" y="341111"/>
                </a:cubicBezTo>
                <a:cubicBezTo>
                  <a:pt x="0" y="152847"/>
                  <a:pt x="152847" y="0"/>
                  <a:pt x="341111" y="0"/>
                </a:cubicBezTo>
                <a:close/>
              </a:path>
            </a:pathLst>
          </a:custGeom>
          <a:solidFill>
            <a:srgbClr val="3D4D83"/>
          </a:solidFill>
        </p:spPr>
      </p:sp>
      <p:sp>
        <p:nvSpPr>
          <p:cNvPr id="8" name="Text 6"/>
          <p:cNvSpPr/>
          <p:nvPr/>
        </p:nvSpPr>
        <p:spPr>
          <a:xfrm>
            <a:off x="228600" y="2291503"/>
            <a:ext cx="2743200" cy="42062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58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用户体验优化</a:t>
            </a:r>
            <a:endParaRPr lang="en-US" sz="1440" dirty="0"/>
          </a:p>
        </p:txBody>
      </p:sp>
      <p:sp>
        <p:nvSpPr>
          <p:cNvPr id="9" name="Text 7"/>
          <p:cNvSpPr/>
          <p:nvPr/>
        </p:nvSpPr>
        <p:spPr>
          <a:xfrm>
            <a:off x="398928" y="2892823"/>
            <a:ext cx="2402543" cy="106070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通过改进界面设计、简化操作流程和提升响应速度，不断优化用户体验，以提高用户满意度和忠诚度，这是产品迭代升级的重要方向。</a:t>
            </a:r>
            <a:endParaRPr lang="en-US" sz="1440" dirty="0"/>
          </a:p>
        </p:txBody>
      </p:sp>
      <p:sp>
        <p:nvSpPr>
          <p:cNvPr id="10" name="Text 8"/>
          <p:cNvSpPr/>
          <p:nvPr/>
        </p:nvSpPr>
        <p:spPr>
          <a:xfrm>
            <a:off x="3200400" y="2291503"/>
            <a:ext cx="2743200" cy="42062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58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功能增强与创新</a:t>
            </a:r>
            <a:endParaRPr lang="en-US" sz="1440" dirty="0"/>
          </a:p>
        </p:txBody>
      </p:sp>
      <p:sp>
        <p:nvSpPr>
          <p:cNvPr id="11" name="Text 9"/>
          <p:cNvSpPr/>
          <p:nvPr/>
        </p:nvSpPr>
        <p:spPr>
          <a:xfrm>
            <a:off x="3370728" y="2892823"/>
            <a:ext cx="2402543" cy="106070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根据用户反馈和市场趋势，持续添加新功能或改进现有功能，无论是渐进式还是突破性的创新，都旨在满足用户日益增长的需求。</a:t>
            </a:r>
            <a:endParaRPr lang="en-US" sz="1440" dirty="0"/>
          </a:p>
        </p:txBody>
      </p:sp>
      <p:sp>
        <p:nvSpPr>
          <p:cNvPr id="12" name="Text 10"/>
          <p:cNvSpPr/>
          <p:nvPr/>
        </p:nvSpPr>
        <p:spPr>
          <a:xfrm>
            <a:off x="6172200" y="2291503"/>
            <a:ext cx="2743200" cy="42062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58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性能提升与兼容性</a:t>
            </a:r>
            <a:endParaRPr lang="en-US" sz="1440" dirty="0"/>
          </a:p>
        </p:txBody>
      </p:sp>
      <p:sp>
        <p:nvSpPr>
          <p:cNvPr id="13" name="Text 11"/>
          <p:cNvSpPr/>
          <p:nvPr/>
        </p:nvSpPr>
        <p:spPr>
          <a:xfrm>
            <a:off x="6342528" y="2892823"/>
            <a:ext cx="2402543" cy="106070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提高产品的运行效率，降低资源消耗，增强稳定性和安全性，同时确保良好的设备、操作系统和软件环境兼容性，是技术产品迭代的关键。</a:t>
            </a:r>
            <a:endParaRPr lang="en-US" sz="1440" dirty="0"/>
          </a:p>
        </p:txBody>
      </p:sp>
      <p:pic>
        <p:nvPicPr>
          <p:cNvPr id="14" name="Image 0" descr="preencoded.png"/>
          <p:cNvPicPr>
            <a:picLocks noChangeAspect="1"/>
          </p:cNvPicPr>
          <p:nvPr/>
        </p:nvPicPr>
        <p:blipFill>
          <a:blip r:embed="rId2"/>
          <a:stretch>
            <a:fillRect/>
          </a:stretch>
        </p:blipFill>
        <p:spPr>
          <a:xfrm>
            <a:off x="1399946" y="1458376"/>
            <a:ext cx="400507" cy="400507"/>
          </a:xfrm>
          <a:prstGeom prst="rect">
            <a:avLst/>
          </a:prstGeom>
        </p:spPr>
      </p:pic>
      <p:pic>
        <p:nvPicPr>
          <p:cNvPr id="15" name="Image 1" descr="preencoded.png"/>
          <p:cNvPicPr>
            <a:picLocks noChangeAspect="1"/>
          </p:cNvPicPr>
          <p:nvPr/>
        </p:nvPicPr>
        <p:blipFill>
          <a:blip r:embed="rId3"/>
          <a:stretch>
            <a:fillRect/>
          </a:stretch>
        </p:blipFill>
        <p:spPr>
          <a:xfrm>
            <a:off x="4347972" y="1434602"/>
            <a:ext cx="448056" cy="448056"/>
          </a:xfrm>
          <a:prstGeom prst="rect">
            <a:avLst/>
          </a:prstGeom>
        </p:spPr>
      </p:pic>
      <p:pic>
        <p:nvPicPr>
          <p:cNvPr id="16" name="Image 2" descr="preencoded.png"/>
          <p:cNvPicPr>
            <a:picLocks noChangeAspect="1"/>
          </p:cNvPicPr>
          <p:nvPr/>
        </p:nvPicPr>
        <p:blipFill>
          <a:blip r:embed="rId4"/>
          <a:stretch>
            <a:fillRect/>
          </a:stretch>
        </p:blipFill>
        <p:spPr>
          <a:xfrm>
            <a:off x="7371791" y="1486621"/>
            <a:ext cx="344018" cy="34401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p:spPr>
        <p:txBody>
          <a:bodyPr wrap="square" lIns="95250" tIns="95250" rIns="95250" bIns="95250" rtlCol="0" anchor="t"/>
          <a:lstStyle/>
          <a:p>
            <a:pPr marL="0" indent="0">
              <a:lnSpc>
                <a:spcPct val="113000"/>
              </a:lnSpc>
              <a:spcBef>
                <a:spcPts val="375"/>
              </a:spcBef>
              <a:buNone/>
            </a:pPr>
            <a:r>
              <a:rPr lang="en-US" sz="259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感恩致谢内容</a:t>
            </a:r>
            <a:endParaRPr lang="en-US" sz="1440" dirty="0"/>
          </a:p>
        </p:txBody>
      </p:sp>
      <p:sp>
        <p:nvSpPr>
          <p:cNvPr id="3" name="Shape 1"/>
          <p:cNvSpPr/>
          <p:nvPr/>
        </p:nvSpPr>
        <p:spPr>
          <a:xfrm>
            <a:off x="1141714" y="1725432"/>
            <a:ext cx="841689" cy="841689"/>
          </a:xfrm>
          <a:custGeom>
            <a:avLst/>
            <a:gdLst/>
            <a:ahLst/>
            <a:cxnLst/>
            <a:rect l="l" t="t" r="r" b="b"/>
            <a:pathLst>
              <a:path w="841689" h="841689">
                <a:moveTo>
                  <a:pt x="420845" y="0"/>
                </a:moveTo>
                <a:moveTo>
                  <a:pt x="420845" y="0"/>
                </a:moveTo>
                <a:cubicBezTo>
                  <a:pt x="653115" y="0"/>
                  <a:pt x="841689" y="188574"/>
                  <a:pt x="841689" y="420845"/>
                </a:cubicBezTo>
                <a:cubicBezTo>
                  <a:pt x="841689" y="653115"/>
                  <a:pt x="653115" y="841689"/>
                  <a:pt x="420845" y="841689"/>
                </a:cubicBezTo>
                <a:cubicBezTo>
                  <a:pt x="188574" y="841689"/>
                  <a:pt x="0" y="653115"/>
                  <a:pt x="0" y="420845"/>
                </a:cubicBezTo>
                <a:cubicBezTo>
                  <a:pt x="0" y="188574"/>
                  <a:pt x="188574" y="0"/>
                  <a:pt x="420845" y="0"/>
                </a:cubicBezTo>
                <a:close/>
              </a:path>
            </a:pathLst>
          </a:custGeom>
          <a:solidFill>
            <a:srgbClr val="3D4D83">
              <a:alpha val="60000"/>
            </a:srgbClr>
          </a:solidFill>
        </p:spPr>
      </p:sp>
      <p:sp>
        <p:nvSpPr>
          <p:cNvPr id="4" name="Shape 2"/>
          <p:cNvSpPr/>
          <p:nvPr/>
        </p:nvSpPr>
        <p:spPr>
          <a:xfrm>
            <a:off x="423112" y="2363867"/>
            <a:ext cx="2278893" cy="2220339"/>
          </a:xfrm>
          <a:custGeom>
            <a:avLst/>
            <a:gdLst/>
            <a:ahLst/>
            <a:cxnLst/>
            <a:rect l="l" t="t" r="r" b="b"/>
            <a:pathLst>
              <a:path w="2278893" h="2220339">
                <a:moveTo>
                  <a:pt x="569723" y="0"/>
                </a:moveTo>
                <a:moveTo>
                  <a:pt x="569723" y="0"/>
                </a:moveTo>
                <a:cubicBezTo>
                  <a:pt x="255284" y="0"/>
                  <a:pt x="0" y="497450"/>
                  <a:pt x="0" y="1110170"/>
                </a:cubicBezTo>
                <a:cubicBezTo>
                  <a:pt x="0" y="1722889"/>
                  <a:pt x="255284" y="2220339"/>
                  <a:pt x="569723" y="2220339"/>
                </a:cubicBezTo>
                <a:lnTo>
                  <a:pt x="1709170" y="2220339"/>
                </a:lnTo>
                <a:cubicBezTo>
                  <a:pt x="2023609" y="2220339"/>
                  <a:pt x="2278893" y="1722889"/>
                  <a:pt x="2278893" y="1110170"/>
                </a:cubicBezTo>
                <a:cubicBezTo>
                  <a:pt x="2278893" y="497450"/>
                  <a:pt x="2023609" y="0"/>
                  <a:pt x="1709170" y="0"/>
                </a:cubicBezTo>
                <a:lnTo>
                  <a:pt x="569723" y="0"/>
                </a:lnTo>
                <a:close/>
              </a:path>
            </a:pathLst>
          </a:custGeom>
          <a:solidFill>
            <a:srgbClr val="3D4D83">
              <a:alpha val="10196"/>
            </a:srgbClr>
          </a:solidFill>
          <a:ln w="9525">
            <a:solidFill>
              <a:srgbClr val="3D4D83">
                <a:alpha val="70196"/>
              </a:srgbClr>
            </a:solidFill>
            <a:prstDash val="solid"/>
          </a:ln>
        </p:spPr>
      </p:sp>
      <p:sp>
        <p:nvSpPr>
          <p:cNvPr id="5" name="Shape 3"/>
          <p:cNvSpPr/>
          <p:nvPr/>
        </p:nvSpPr>
        <p:spPr>
          <a:xfrm>
            <a:off x="571703" y="2363867"/>
            <a:ext cx="1981712" cy="583130"/>
          </a:xfrm>
          <a:custGeom>
            <a:avLst/>
            <a:gdLst/>
            <a:ahLst/>
            <a:cxnLst/>
            <a:rect l="l" t="t" r="r" b="b"/>
            <a:pathLst>
              <a:path w="1981712" h="583130">
                <a:moveTo>
                  <a:pt x="291565" y="0"/>
                </a:moveTo>
                <a:moveTo>
                  <a:pt x="291565" y="0"/>
                </a:moveTo>
                <a:lnTo>
                  <a:pt x="1690147" y="0"/>
                </a:lnTo>
                <a:quadBezTo>
                  <a:pt x="1981712" y="0"/>
                  <a:pt x="1981712" y="291565"/>
                </a:quadBezTo>
                <a:lnTo>
                  <a:pt x="1981712" y="291565"/>
                </a:lnTo>
                <a:quadBezTo>
                  <a:pt x="1981712" y="583130"/>
                  <a:pt x="1690147" y="583130"/>
                </a:quadBezTo>
                <a:lnTo>
                  <a:pt x="291565" y="583130"/>
                </a:lnTo>
                <a:quadBezTo>
                  <a:pt x="0" y="583130"/>
                  <a:pt x="0" y="291565"/>
                </a:quadBezTo>
                <a:lnTo>
                  <a:pt x="0" y="291565"/>
                </a:lnTo>
                <a:quadBezTo>
                  <a:pt x="0" y="0"/>
                  <a:pt x="291565" y="0"/>
                </a:quadBezTo>
                <a:close/>
              </a:path>
            </a:pathLst>
          </a:custGeom>
          <a:solidFill>
            <a:srgbClr val="3D4D83"/>
          </a:solidFill>
        </p:spPr>
      </p:sp>
      <p:sp>
        <p:nvSpPr>
          <p:cNvPr id="6" name="Text 4"/>
          <p:cNvSpPr/>
          <p:nvPr/>
        </p:nvSpPr>
        <p:spPr>
          <a:xfrm>
            <a:off x="1141714" y="1725432"/>
            <a:ext cx="841689" cy="78638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3170"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pic>
        <p:nvPicPr>
          <p:cNvPr id="7" name="Image 0" descr="preencoded.png"/>
          <p:cNvPicPr>
            <a:picLocks noChangeAspect="1"/>
          </p:cNvPicPr>
          <p:nvPr/>
        </p:nvPicPr>
        <p:blipFill>
          <a:blip r:embed="rId2"/>
          <a:stretch>
            <a:fillRect/>
          </a:stretch>
        </p:blipFill>
        <p:spPr>
          <a:xfrm>
            <a:off x="715720" y="3042969"/>
            <a:ext cx="8171972" cy="1608544"/>
          </a:xfrm>
          <a:prstGeom prst="rect">
            <a:avLst/>
          </a:prstGeom>
        </p:spPr>
      </p:pic>
      <p:sp>
        <p:nvSpPr>
          <p:cNvPr id="8" name="Shape 5"/>
          <p:cNvSpPr/>
          <p:nvPr/>
        </p:nvSpPr>
        <p:spPr>
          <a:xfrm>
            <a:off x="3968275" y="1355325"/>
            <a:ext cx="841689" cy="841689"/>
          </a:xfrm>
          <a:custGeom>
            <a:avLst/>
            <a:gdLst/>
            <a:ahLst/>
            <a:cxnLst/>
            <a:rect l="l" t="t" r="r" b="b"/>
            <a:pathLst>
              <a:path w="841689" h="841689">
                <a:moveTo>
                  <a:pt x="420845" y="0"/>
                </a:moveTo>
                <a:moveTo>
                  <a:pt x="420845" y="0"/>
                </a:moveTo>
                <a:cubicBezTo>
                  <a:pt x="653115" y="0"/>
                  <a:pt x="841689" y="188574"/>
                  <a:pt x="841689" y="420845"/>
                </a:cubicBezTo>
                <a:cubicBezTo>
                  <a:pt x="841689" y="653115"/>
                  <a:pt x="653115" y="841689"/>
                  <a:pt x="420845" y="841689"/>
                </a:cubicBezTo>
                <a:cubicBezTo>
                  <a:pt x="188574" y="841689"/>
                  <a:pt x="0" y="653115"/>
                  <a:pt x="0" y="420845"/>
                </a:cubicBezTo>
                <a:cubicBezTo>
                  <a:pt x="0" y="188574"/>
                  <a:pt x="188574" y="0"/>
                  <a:pt x="420845" y="0"/>
                </a:cubicBezTo>
                <a:close/>
              </a:path>
            </a:pathLst>
          </a:custGeom>
          <a:solidFill>
            <a:srgbClr val="3D4D83">
              <a:alpha val="60000"/>
            </a:srgbClr>
          </a:solidFill>
        </p:spPr>
      </p:sp>
      <p:sp>
        <p:nvSpPr>
          <p:cNvPr id="9" name="Shape 6"/>
          <p:cNvSpPr/>
          <p:nvPr/>
        </p:nvSpPr>
        <p:spPr>
          <a:xfrm>
            <a:off x="3249674" y="1993760"/>
            <a:ext cx="2278893" cy="2220339"/>
          </a:xfrm>
          <a:custGeom>
            <a:avLst/>
            <a:gdLst/>
            <a:ahLst/>
            <a:cxnLst/>
            <a:rect l="l" t="t" r="r" b="b"/>
            <a:pathLst>
              <a:path w="2278893" h="2220339">
                <a:moveTo>
                  <a:pt x="569723" y="0"/>
                </a:moveTo>
                <a:moveTo>
                  <a:pt x="569723" y="0"/>
                </a:moveTo>
                <a:cubicBezTo>
                  <a:pt x="255284" y="0"/>
                  <a:pt x="0" y="497450"/>
                  <a:pt x="0" y="1110170"/>
                </a:cubicBezTo>
                <a:cubicBezTo>
                  <a:pt x="0" y="1722889"/>
                  <a:pt x="255284" y="2220339"/>
                  <a:pt x="569723" y="2220339"/>
                </a:cubicBezTo>
                <a:lnTo>
                  <a:pt x="1709170" y="2220339"/>
                </a:lnTo>
                <a:cubicBezTo>
                  <a:pt x="2023609" y="2220339"/>
                  <a:pt x="2278893" y="1722889"/>
                  <a:pt x="2278893" y="1110170"/>
                </a:cubicBezTo>
                <a:cubicBezTo>
                  <a:pt x="2278893" y="497450"/>
                  <a:pt x="2023609" y="0"/>
                  <a:pt x="1709170" y="0"/>
                </a:cubicBezTo>
                <a:lnTo>
                  <a:pt x="569723" y="0"/>
                </a:lnTo>
                <a:close/>
              </a:path>
            </a:pathLst>
          </a:custGeom>
          <a:solidFill>
            <a:srgbClr val="3D4D83">
              <a:alpha val="10196"/>
            </a:srgbClr>
          </a:solidFill>
          <a:ln w="9525">
            <a:solidFill>
              <a:srgbClr val="3D4D83">
                <a:alpha val="70196"/>
              </a:srgbClr>
            </a:solidFill>
            <a:prstDash val="solid"/>
          </a:ln>
        </p:spPr>
      </p:sp>
      <p:sp>
        <p:nvSpPr>
          <p:cNvPr id="10" name="Shape 7"/>
          <p:cNvSpPr/>
          <p:nvPr/>
        </p:nvSpPr>
        <p:spPr>
          <a:xfrm>
            <a:off x="3398264" y="1993760"/>
            <a:ext cx="1981712" cy="583130"/>
          </a:xfrm>
          <a:custGeom>
            <a:avLst/>
            <a:gdLst/>
            <a:ahLst/>
            <a:cxnLst/>
            <a:rect l="l" t="t" r="r" b="b"/>
            <a:pathLst>
              <a:path w="1981712" h="583130">
                <a:moveTo>
                  <a:pt x="291565" y="0"/>
                </a:moveTo>
                <a:moveTo>
                  <a:pt x="291565" y="0"/>
                </a:moveTo>
                <a:lnTo>
                  <a:pt x="1690147" y="0"/>
                </a:lnTo>
                <a:quadBezTo>
                  <a:pt x="1981712" y="0"/>
                  <a:pt x="1981712" y="291565"/>
                </a:quadBezTo>
                <a:lnTo>
                  <a:pt x="1981712" y="291565"/>
                </a:lnTo>
                <a:quadBezTo>
                  <a:pt x="1981712" y="583130"/>
                  <a:pt x="1690147" y="583130"/>
                </a:quadBezTo>
                <a:lnTo>
                  <a:pt x="291565" y="583130"/>
                </a:lnTo>
                <a:quadBezTo>
                  <a:pt x="0" y="583130"/>
                  <a:pt x="0" y="291565"/>
                </a:quadBezTo>
                <a:lnTo>
                  <a:pt x="0" y="291565"/>
                </a:lnTo>
                <a:quadBezTo>
                  <a:pt x="0" y="0"/>
                  <a:pt x="291565" y="0"/>
                </a:quadBezTo>
                <a:close/>
              </a:path>
            </a:pathLst>
          </a:custGeom>
          <a:solidFill>
            <a:srgbClr val="3D4D83"/>
          </a:solidFill>
        </p:spPr>
      </p:sp>
      <p:sp>
        <p:nvSpPr>
          <p:cNvPr id="11" name="Text 8"/>
          <p:cNvSpPr/>
          <p:nvPr/>
        </p:nvSpPr>
        <p:spPr>
          <a:xfrm>
            <a:off x="3968275" y="1355325"/>
            <a:ext cx="841689" cy="78638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3170"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12" name="Shape 9"/>
          <p:cNvSpPr/>
          <p:nvPr/>
        </p:nvSpPr>
        <p:spPr>
          <a:xfrm>
            <a:off x="6689860" y="934480"/>
            <a:ext cx="841689" cy="841689"/>
          </a:xfrm>
          <a:custGeom>
            <a:avLst/>
            <a:gdLst/>
            <a:ahLst/>
            <a:cxnLst/>
            <a:rect l="l" t="t" r="r" b="b"/>
            <a:pathLst>
              <a:path w="841689" h="841689">
                <a:moveTo>
                  <a:pt x="420845" y="0"/>
                </a:moveTo>
                <a:moveTo>
                  <a:pt x="420845" y="0"/>
                </a:moveTo>
                <a:cubicBezTo>
                  <a:pt x="653115" y="0"/>
                  <a:pt x="841689" y="188574"/>
                  <a:pt x="841689" y="420845"/>
                </a:cubicBezTo>
                <a:cubicBezTo>
                  <a:pt x="841689" y="653115"/>
                  <a:pt x="653115" y="841689"/>
                  <a:pt x="420845" y="841689"/>
                </a:cubicBezTo>
                <a:cubicBezTo>
                  <a:pt x="188574" y="841689"/>
                  <a:pt x="0" y="653115"/>
                  <a:pt x="0" y="420845"/>
                </a:cubicBezTo>
                <a:cubicBezTo>
                  <a:pt x="0" y="188574"/>
                  <a:pt x="188574" y="0"/>
                  <a:pt x="420845" y="0"/>
                </a:cubicBezTo>
                <a:close/>
              </a:path>
            </a:pathLst>
          </a:custGeom>
          <a:solidFill>
            <a:srgbClr val="3D4D83">
              <a:alpha val="60000"/>
            </a:srgbClr>
          </a:solidFill>
        </p:spPr>
      </p:sp>
      <p:sp>
        <p:nvSpPr>
          <p:cNvPr id="13" name="Shape 10"/>
          <p:cNvSpPr/>
          <p:nvPr/>
        </p:nvSpPr>
        <p:spPr>
          <a:xfrm>
            <a:off x="5971258" y="1572915"/>
            <a:ext cx="2278893" cy="2220339"/>
          </a:xfrm>
          <a:custGeom>
            <a:avLst/>
            <a:gdLst/>
            <a:ahLst/>
            <a:cxnLst/>
            <a:rect l="l" t="t" r="r" b="b"/>
            <a:pathLst>
              <a:path w="2278893" h="2220339">
                <a:moveTo>
                  <a:pt x="569723" y="0"/>
                </a:moveTo>
                <a:moveTo>
                  <a:pt x="569723" y="0"/>
                </a:moveTo>
                <a:cubicBezTo>
                  <a:pt x="255284" y="0"/>
                  <a:pt x="0" y="497450"/>
                  <a:pt x="0" y="1110170"/>
                </a:cubicBezTo>
                <a:cubicBezTo>
                  <a:pt x="0" y="1722889"/>
                  <a:pt x="255284" y="2220339"/>
                  <a:pt x="569723" y="2220339"/>
                </a:cubicBezTo>
                <a:lnTo>
                  <a:pt x="1709170" y="2220339"/>
                </a:lnTo>
                <a:cubicBezTo>
                  <a:pt x="2023609" y="2220339"/>
                  <a:pt x="2278893" y="1722889"/>
                  <a:pt x="2278893" y="1110170"/>
                </a:cubicBezTo>
                <a:cubicBezTo>
                  <a:pt x="2278893" y="497450"/>
                  <a:pt x="2023609" y="0"/>
                  <a:pt x="1709170" y="0"/>
                </a:cubicBezTo>
                <a:lnTo>
                  <a:pt x="569723" y="0"/>
                </a:lnTo>
                <a:close/>
              </a:path>
            </a:pathLst>
          </a:custGeom>
          <a:solidFill>
            <a:srgbClr val="3D4D83">
              <a:alpha val="10196"/>
            </a:srgbClr>
          </a:solidFill>
          <a:ln w="9525">
            <a:solidFill>
              <a:srgbClr val="3D4D83">
                <a:alpha val="70196"/>
              </a:srgbClr>
            </a:solidFill>
            <a:prstDash val="solid"/>
          </a:ln>
        </p:spPr>
      </p:sp>
      <p:sp>
        <p:nvSpPr>
          <p:cNvPr id="14" name="Shape 11"/>
          <p:cNvSpPr/>
          <p:nvPr/>
        </p:nvSpPr>
        <p:spPr>
          <a:xfrm>
            <a:off x="6119849" y="1572915"/>
            <a:ext cx="1981712" cy="583130"/>
          </a:xfrm>
          <a:custGeom>
            <a:avLst/>
            <a:gdLst/>
            <a:ahLst/>
            <a:cxnLst/>
            <a:rect l="l" t="t" r="r" b="b"/>
            <a:pathLst>
              <a:path w="1981712" h="583130">
                <a:moveTo>
                  <a:pt x="291565" y="0"/>
                </a:moveTo>
                <a:moveTo>
                  <a:pt x="291565" y="0"/>
                </a:moveTo>
                <a:lnTo>
                  <a:pt x="1690147" y="0"/>
                </a:lnTo>
                <a:quadBezTo>
                  <a:pt x="1981712" y="0"/>
                  <a:pt x="1981712" y="291565"/>
                </a:quadBezTo>
                <a:lnTo>
                  <a:pt x="1981712" y="291565"/>
                </a:lnTo>
                <a:quadBezTo>
                  <a:pt x="1981712" y="583130"/>
                  <a:pt x="1690147" y="583130"/>
                </a:quadBezTo>
                <a:lnTo>
                  <a:pt x="291565" y="583130"/>
                </a:lnTo>
                <a:quadBezTo>
                  <a:pt x="0" y="583130"/>
                  <a:pt x="0" y="291565"/>
                </a:quadBezTo>
                <a:lnTo>
                  <a:pt x="0" y="291565"/>
                </a:lnTo>
                <a:quadBezTo>
                  <a:pt x="0" y="0"/>
                  <a:pt x="291565" y="0"/>
                </a:quadBezTo>
                <a:close/>
              </a:path>
            </a:pathLst>
          </a:custGeom>
          <a:solidFill>
            <a:srgbClr val="3D4D83"/>
          </a:solidFill>
        </p:spPr>
      </p:sp>
      <p:sp>
        <p:nvSpPr>
          <p:cNvPr id="15" name="Text 12"/>
          <p:cNvSpPr/>
          <p:nvPr/>
        </p:nvSpPr>
        <p:spPr>
          <a:xfrm>
            <a:off x="6689860" y="934480"/>
            <a:ext cx="841689" cy="786384"/>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3170"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16" name="Text 13"/>
          <p:cNvSpPr/>
          <p:nvPr/>
        </p:nvSpPr>
        <p:spPr>
          <a:xfrm>
            <a:off x="571703" y="2472552"/>
            <a:ext cx="1981712"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295"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感恩父母</a:t>
            </a:r>
            <a:endParaRPr lang="en-US" sz="1440" dirty="0"/>
          </a:p>
        </p:txBody>
      </p:sp>
      <p:sp>
        <p:nvSpPr>
          <p:cNvPr id="17" name="Text 14"/>
          <p:cNvSpPr/>
          <p:nvPr/>
        </p:nvSpPr>
        <p:spPr>
          <a:xfrm>
            <a:off x="475794" y="2975804"/>
            <a:ext cx="2173529" cy="1024128"/>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01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父母是我们生命中最重要的人，他们给予我们生命，用无尽的爱和关怀呵护我们成长。他们的付出和牺牲，是我们永远无法回报的恩情。</a:t>
            </a:r>
            <a:endParaRPr lang="en-US" sz="1440" dirty="0"/>
          </a:p>
        </p:txBody>
      </p:sp>
      <p:sp>
        <p:nvSpPr>
          <p:cNvPr id="18" name="Text 15"/>
          <p:cNvSpPr/>
          <p:nvPr/>
        </p:nvSpPr>
        <p:spPr>
          <a:xfrm>
            <a:off x="3398264" y="2102445"/>
            <a:ext cx="1981712"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295"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感恩老师</a:t>
            </a:r>
            <a:endParaRPr lang="en-US" sz="1440" dirty="0"/>
          </a:p>
        </p:txBody>
      </p:sp>
      <p:sp>
        <p:nvSpPr>
          <p:cNvPr id="19" name="Text 16"/>
          <p:cNvSpPr/>
          <p:nvPr/>
        </p:nvSpPr>
        <p:spPr>
          <a:xfrm>
            <a:off x="3302356" y="2605697"/>
            <a:ext cx="2173529" cy="1024128"/>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01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老师是我们人生路上的引路人，他们点燃了我们对知识的渴望，引领我们在知识的海洋中遨游。他们的教诲如春雨，滋润着我们的心田。</a:t>
            </a:r>
            <a:endParaRPr lang="en-US" sz="1440" dirty="0"/>
          </a:p>
        </p:txBody>
      </p:sp>
      <p:sp>
        <p:nvSpPr>
          <p:cNvPr id="20" name="Text 17"/>
          <p:cNvSpPr/>
          <p:nvPr/>
        </p:nvSpPr>
        <p:spPr>
          <a:xfrm>
            <a:off x="6119849" y="1681600"/>
            <a:ext cx="1981712" cy="374904"/>
          </a:xfrm>
          <a:prstGeom prst="rect">
            <a:avLst/>
          </a:prstGeom>
          <a:noFill/>
        </p:spPr>
        <p:txBody>
          <a:bodyPr wrap="square" lIns="95250" tIns="95250" rIns="95250" bIns="95250" rtlCol="0" anchor="ctr"/>
          <a:lstStyle/>
          <a:p>
            <a:pPr marL="0" indent="0" algn="ctr">
              <a:lnSpc>
                <a:spcPct val="100000"/>
              </a:lnSpc>
              <a:spcBef>
                <a:spcPts val="375"/>
              </a:spcBef>
              <a:buNone/>
            </a:pPr>
            <a:r>
              <a:rPr lang="en-US" sz="1295" b="1" dirty="0">
                <a:solidFill>
                  <a:srgbClr val="F4F7FF"/>
                </a:solidFill>
                <a:latin typeface="微软雅黑" panose="020B0503020204020204" pitchFamily="34" charset="-122"/>
                <a:ea typeface="微软雅黑" panose="020B0503020204020204" pitchFamily="34" charset="-122"/>
                <a:cs typeface="微软雅黑" panose="020B0503020204020204" pitchFamily="34" charset="-120"/>
              </a:rPr>
              <a:t>感恩朋友</a:t>
            </a:r>
            <a:endParaRPr lang="en-US" sz="1440" dirty="0"/>
          </a:p>
        </p:txBody>
      </p:sp>
      <p:sp>
        <p:nvSpPr>
          <p:cNvPr id="21" name="Text 18"/>
          <p:cNvSpPr/>
          <p:nvPr/>
        </p:nvSpPr>
        <p:spPr>
          <a:xfrm>
            <a:off x="6023940" y="2184852"/>
            <a:ext cx="2173529" cy="1024128"/>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01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朋友是我们生活中的伙伴，他们在我们孤独时陪伴我们，在我们快乐时与我们分享喜悦。他们的真诚与善良，让我们感受到了友情的温暖与力量。</a:t>
            </a:r>
            <a:endParaRPr lang="en-US" sz="144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28147" y="2311996"/>
            <a:ext cx="4313208" cy="1088136"/>
          </a:xfrm>
          <a:prstGeom prst="rect">
            <a:avLst/>
          </a:prstGeom>
          <a:noFill/>
        </p:spPr>
        <p:txBody>
          <a:bodyPr wrap="square" lIns="95250" tIns="95250" rIns="95250" bIns="95250" rtlCol="0" anchor="t"/>
          <a:lstStyle/>
          <a:p>
            <a:pPr marL="0" indent="0">
              <a:lnSpc>
                <a:spcPct val="113000"/>
              </a:lnSpc>
              <a:spcBef>
                <a:spcPts val="375"/>
              </a:spcBef>
              <a:buNone/>
            </a:pPr>
            <a:r>
              <a:rPr lang="en-US" sz="4750" b="1" dirty="0">
                <a:solidFill>
                  <a:srgbClr val="FFFFFF">
                    <a:alpha val="10000"/>
                  </a:srgbClr>
                </a:solidFill>
                <a:latin typeface="微软雅黑" panose="020B0503020204020204" pitchFamily="34" charset="-122"/>
                <a:ea typeface="微软雅黑" panose="020B0503020204020204" pitchFamily="34" charset="-122"/>
                <a:cs typeface="微软雅黑" panose="020B0503020204020204" pitchFamily="34" charset="-120"/>
              </a:rPr>
              <a:t>THANKS！</a:t>
            </a:r>
            <a:endParaRPr lang="en-US" sz="1440" dirty="0"/>
          </a:p>
        </p:txBody>
      </p:sp>
      <p:sp>
        <p:nvSpPr>
          <p:cNvPr id="3" name="Text 1"/>
          <p:cNvSpPr/>
          <p:nvPr/>
        </p:nvSpPr>
        <p:spPr>
          <a:xfrm>
            <a:off x="1028147" y="2179408"/>
            <a:ext cx="3275888" cy="676656"/>
          </a:xfrm>
          <a:prstGeom prst="rect">
            <a:avLst/>
          </a:prstGeom>
          <a:noFill/>
        </p:spPr>
        <p:txBody>
          <a:bodyPr wrap="square" lIns="95250" tIns="95250" rIns="95250" bIns="95250" rtlCol="0" anchor="t"/>
          <a:lstStyle/>
          <a:p>
            <a:pPr marL="0" indent="0">
              <a:lnSpc>
                <a:spcPct val="100000"/>
              </a:lnSpc>
              <a:spcBef>
                <a:spcPts val="375"/>
              </a:spcBef>
              <a:buNone/>
            </a:pPr>
            <a:r>
              <a:rPr lang="en-US" sz="389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感谢观看！</a:t>
            </a:r>
            <a:endParaRPr lang="en-US" sz="14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4824</Words>
  <Application>WPS 演示</Application>
  <PresentationFormat>On-screen Show (16:9)</PresentationFormat>
  <Paragraphs>442</Paragraphs>
  <Slides>31</Slides>
  <Notes>31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31</vt:i4>
      </vt:variant>
    </vt:vector>
  </HeadingPairs>
  <TitlesOfParts>
    <vt:vector size="42" baseType="lpstr">
      <vt:lpstr>Arial</vt:lpstr>
      <vt:lpstr>宋体</vt:lpstr>
      <vt:lpstr>Wingdings</vt:lpstr>
      <vt:lpstr>微软雅黑</vt:lpstr>
      <vt:lpstr>微软雅黑</vt:lpstr>
      <vt:lpstr>Arial</vt:lpstr>
      <vt:lpstr>Arial</vt:lpstr>
      <vt:lpstr>Calibri</vt:lpstr>
      <vt:lpstr>Arial Unicode MS</vt:lpstr>
      <vt:lpstr>等线</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刘哲</cp:lastModifiedBy>
  <cp:revision>2</cp:revision>
  <dcterms:created xsi:type="dcterms:W3CDTF">2025-05-09T14:37:00Z</dcterms:created>
  <dcterms:modified xsi:type="dcterms:W3CDTF">2025-05-09T14:46:51Z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43BA8AF3A7964D719CF366C1E9E2BC78_12</vt:lpwstr>
  </property>
  <property fmtid="{D5CDD505-2E9C-101B-9397-08002B2CF9AE}" pid="3" name="KSOProductBuildVer">
    <vt:lpwstr>2052-12.1.0.20305</vt:lpwstr>
  </property>
</Properties>
</file>