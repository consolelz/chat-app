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sldIdLst>
    <p:sldId id="256" r:id="rId4"/>
    <p:sldId id="257" r:id="rId5"/>
    <p:sldId id="258" r:id="rId6"/>
    <p:sldId id="259" r:id="rId7"/>
    <p:sldId id="285" r:id="rId8"/>
    <p:sldId id="283" r:id="rId9"/>
    <p:sldId id="308" r:id="rId10"/>
    <p:sldId id="265" r:id="rId11"/>
    <p:sldId id="264" r:id="rId12"/>
    <p:sldId id="268" r:id="rId13"/>
    <p:sldId id="266" r:id="rId14"/>
    <p:sldId id="269" r:id="rId15"/>
    <p:sldId id="271" r:id="rId16"/>
    <p:sldId id="270" r:id="rId17"/>
    <p:sldId id="273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30" r:id="rId27"/>
    <p:sldId id="331" r:id="rId28"/>
    <p:sldId id="332" r:id="rId29"/>
    <p:sldId id="333" r:id="rId30"/>
    <p:sldId id="334" r:id="rId31"/>
    <p:sldId id="335" r:id="rId32"/>
    <p:sldId id="276" r:id="rId33"/>
    <p:sldId id="278" r:id="rId34"/>
    <p:sldId id="317" r:id="rId35"/>
    <p:sldId id="279" r:id="rId36"/>
    <p:sldId id="280" r:id="rId37"/>
  </p:sldIdLst>
  <p:sldSz cx="12192000" cy="6858000"/>
  <p:notesSz cx="6858000" cy="9144000"/>
  <p:custDataLst>
    <p:tags r:id="rId4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0" userDrawn="1">
          <p15:clr>
            <a:srgbClr val="A4A3A4"/>
          </p15:clr>
        </p15:guide>
        <p15:guide id="2" pos="3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</p:showPr>
  <p:clrMru>
    <a:srgbClr val="69C0E1"/>
    <a:srgbClr val="10507E"/>
    <a:srgbClr val="0A314E"/>
    <a:srgbClr val="D8E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2256" y="-1146"/>
      </p:cViewPr>
      <p:guideLst>
        <p:guide orient="horz" pos="2200"/>
        <p:guide pos="3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gs" Target="tags/tag98.xml"/><Relationship Id="rId40" Type="http://schemas.openxmlformats.org/officeDocument/2006/relationships/tableStyles" Target="tableStyles.xml"/><Relationship Id="rId4" Type="http://schemas.openxmlformats.org/officeDocument/2006/relationships/slide" Target="slides/slide1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907704" y="6739570"/>
            <a:ext cx="1224136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下载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http://www.1ppt.com/xiazai/</a:t>
            </a:r>
            <a:endParaRPr kumimoji="0" lang="en-US" altLang="zh-CN" sz="1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6.xml"/><Relationship Id="rId1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image" Target="../media/image7.emf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2" Type="http://schemas.openxmlformats.org/officeDocument/2006/relationships/slideLayout" Target="../slideLayouts/slideLayout8.xml"/><Relationship Id="rId41" Type="http://schemas.openxmlformats.org/officeDocument/2006/relationships/tags" Target="../tags/tag45.xml"/><Relationship Id="rId40" Type="http://schemas.openxmlformats.org/officeDocument/2006/relationships/tags" Target="../tags/tag44.xml"/><Relationship Id="rId4" Type="http://schemas.openxmlformats.org/officeDocument/2006/relationships/tags" Target="../tags/tag12.xml"/><Relationship Id="rId39" Type="http://schemas.openxmlformats.org/officeDocument/2006/relationships/tags" Target="../tags/tag43.xml"/><Relationship Id="rId38" Type="http://schemas.openxmlformats.org/officeDocument/2006/relationships/tags" Target="../tags/tag42.xml"/><Relationship Id="rId37" Type="http://schemas.openxmlformats.org/officeDocument/2006/relationships/image" Target="../media/image10.emf"/><Relationship Id="rId36" Type="http://schemas.openxmlformats.org/officeDocument/2006/relationships/tags" Target="../tags/tag41.xml"/><Relationship Id="rId35" Type="http://schemas.openxmlformats.org/officeDocument/2006/relationships/tags" Target="../tags/tag40.xml"/><Relationship Id="rId34" Type="http://schemas.openxmlformats.org/officeDocument/2006/relationships/tags" Target="../tags/tag39.xml"/><Relationship Id="rId33" Type="http://schemas.openxmlformats.org/officeDocument/2006/relationships/tags" Target="../tags/tag38.xml"/><Relationship Id="rId32" Type="http://schemas.openxmlformats.org/officeDocument/2006/relationships/tags" Target="../tags/tag37.xml"/><Relationship Id="rId31" Type="http://schemas.openxmlformats.org/officeDocument/2006/relationships/tags" Target="../tags/tag36.xml"/><Relationship Id="rId30" Type="http://schemas.openxmlformats.org/officeDocument/2006/relationships/tags" Target="../tags/tag35.xml"/><Relationship Id="rId3" Type="http://schemas.openxmlformats.org/officeDocument/2006/relationships/tags" Target="../tags/tag11.xml"/><Relationship Id="rId29" Type="http://schemas.openxmlformats.org/officeDocument/2006/relationships/tags" Target="../tags/tag34.xml"/><Relationship Id="rId28" Type="http://schemas.openxmlformats.org/officeDocument/2006/relationships/tags" Target="../tags/tag33.xml"/><Relationship Id="rId27" Type="http://schemas.openxmlformats.org/officeDocument/2006/relationships/image" Target="../media/image9.emf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10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image" Target="../media/image8.emf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46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image" Target="../media/image9.emf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6" Type="http://schemas.openxmlformats.org/officeDocument/2006/relationships/slideLayout" Target="../slideLayouts/slideLayout8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image" Target="../media/image8.emf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tags" Target="../tags/tag48.xml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image" Target="../media/image7.emf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tags" Target="../tags/tag4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6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77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78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0.xml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1.xml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2.xml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3.xml"/><Relationship Id="rId1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5.xml"/><Relationship Id="rId1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6.xml"/><Relationship Id="rId1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7.xml"/><Relationship Id="rId1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8.xml"/><Relationship Id="rId1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9.xml"/><Relationship Id="rId1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0.xml"/><Relationship Id="rId1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1.xml"/><Relationship Id="rId1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2.xml"/><Relationship Id="rId1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6.xml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97.xml"/><Relationship Id="rId5" Type="http://schemas.openxmlformats.org/officeDocument/2006/relationships/image" Target="../media/image29.png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312591" y="2130842"/>
            <a:ext cx="7566818" cy="1577355"/>
            <a:chOff x="2312591" y="2092742"/>
            <a:chExt cx="7566818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2312591" y="2092742"/>
              <a:ext cx="7566818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毕业答辩</a:t>
              </a:r>
              <a:endParaRPr lang="zh-CN" altLang="en-US" sz="88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14550" cy="337185"/>
            <a:chOff x="4408975" y="3969165"/>
            <a:chExt cx="2114550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780077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307495" y="4059851"/>
            <a:ext cx="2255932" cy="337185"/>
            <a:chOff x="6249439" y="3970951"/>
            <a:chExt cx="2255932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55932" cy="337185"/>
              <a:chOff x="4408975" y="3969165"/>
              <a:chExt cx="2255932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921458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：朱素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35" y="384810"/>
            <a:ext cx="2964180" cy="5943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344">
        <p:random/>
      </p:transition>
    </mc:Choice>
    <mc:Fallback>
      <p:transition spd="slow" advTm="434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: 空心 1"/>
          <p:cNvSpPr/>
          <p:nvPr/>
        </p:nvSpPr>
        <p:spPr>
          <a:xfrm>
            <a:off x="10134600" y="342900"/>
            <a:ext cx="704850" cy="704850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352550" y="779502"/>
            <a:ext cx="2656640" cy="1107996"/>
            <a:chOff x="1352550" y="779502"/>
            <a:chExt cx="2656640" cy="1107996"/>
          </a:xfrm>
        </p:grpSpPr>
        <p:sp>
          <p:nvSpPr>
            <p:cNvPr id="4" name="文本框 3"/>
            <p:cNvSpPr txBox="1"/>
            <p:nvPr/>
          </p:nvSpPr>
          <p:spPr>
            <a:xfrm>
              <a:off x="1352550" y="779502"/>
              <a:ext cx="7048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solidFill>
                    <a:srgbClr val="69C0E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C</a:t>
              </a:r>
              <a:endParaRPr lang="zh-CN" altLang="en-US" sz="6600" dirty="0">
                <a:solidFill>
                  <a:srgbClr val="69C0E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057400" y="1249276"/>
              <a:ext cx="19517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2400" dirty="0">
                  <a:solidFill>
                    <a:srgbClr val="10507E"/>
                  </a:solidFill>
                  <a:cs typeface="+mn-ea"/>
                  <a:sym typeface="+mn-lt"/>
                </a:rPr>
                <a:t>ONTENTES</a:t>
              </a:r>
              <a:endParaRPr lang="zh-CN" altLang="en-US" sz="24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095500" y="1047750"/>
              <a:ext cx="973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目录内容</a:t>
              </a:r>
              <a:endPara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7" name="矩形: 圆角 6"/>
          <p:cNvSpPr/>
          <p:nvPr/>
        </p:nvSpPr>
        <p:spPr>
          <a:xfrm>
            <a:off x="1220561" y="1747115"/>
            <a:ext cx="9750879" cy="929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圆: 空心 12"/>
          <p:cNvSpPr/>
          <p:nvPr/>
        </p:nvSpPr>
        <p:spPr>
          <a:xfrm>
            <a:off x="-2188765" y="4734917"/>
            <a:ext cx="4246165" cy="4246165"/>
          </a:xfrm>
          <a:prstGeom prst="donut">
            <a:avLst/>
          </a:prstGeom>
          <a:solidFill>
            <a:srgbClr val="69C0E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2057400" y="2742054"/>
            <a:ext cx="4398725" cy="553998"/>
            <a:chOff x="1922065" y="2510352"/>
            <a:chExt cx="4398725" cy="553998"/>
          </a:xfrm>
        </p:grpSpPr>
        <p:grpSp>
          <p:nvGrpSpPr>
            <p:cNvPr id="11" name="组合 10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9" name="矩形 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01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2731770" y="2510352"/>
              <a:ext cx="3589020" cy="553998"/>
              <a:chOff x="2762250" y="2604356"/>
              <a:chExt cx="3589020" cy="553998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2762250" y="2604356"/>
                <a:ext cx="358902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课题背景及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研究意义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7" name="组合 16"/>
          <p:cNvGrpSpPr/>
          <p:nvPr/>
        </p:nvGrpSpPr>
        <p:grpSpPr>
          <a:xfrm>
            <a:off x="2057400" y="4085669"/>
            <a:ext cx="3702130" cy="553998"/>
            <a:chOff x="1922065" y="2510352"/>
            <a:chExt cx="3702130" cy="553998"/>
          </a:xfrm>
        </p:grpSpPr>
        <p:grpSp>
          <p:nvGrpSpPr>
            <p:cNvPr id="18" name="组合 1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2" name="矩形 21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03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0" name="文本框 19"/>
              <p:cNvSpPr txBox="1"/>
              <p:nvPr/>
            </p:nvSpPr>
            <p:spPr>
              <a:xfrm>
                <a:off x="2762250" y="2604356"/>
                <a:ext cx="27717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4" name="组合 23"/>
          <p:cNvGrpSpPr/>
          <p:nvPr/>
        </p:nvGrpSpPr>
        <p:grpSpPr>
          <a:xfrm>
            <a:off x="6456045" y="2731894"/>
            <a:ext cx="3702130" cy="553998"/>
            <a:chOff x="1922065" y="2510352"/>
            <a:chExt cx="3702130" cy="553998"/>
          </a:xfrm>
        </p:grpSpPr>
        <p:grpSp>
          <p:nvGrpSpPr>
            <p:cNvPr id="25" name="组合 24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9" name="矩形 2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02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7" name="文本框 26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31" name="组合 30"/>
          <p:cNvGrpSpPr/>
          <p:nvPr/>
        </p:nvGrpSpPr>
        <p:grpSpPr>
          <a:xfrm>
            <a:off x="6565900" y="4085669"/>
            <a:ext cx="3702130" cy="553998"/>
            <a:chOff x="1922065" y="2510352"/>
            <a:chExt cx="3702130" cy="553998"/>
          </a:xfrm>
        </p:grpSpPr>
        <p:grpSp>
          <p:nvGrpSpPr>
            <p:cNvPr id="32" name="组合 31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36" name="矩形 35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04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结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38" name="椭圆 37"/>
          <p:cNvSpPr/>
          <p:nvPr/>
        </p:nvSpPr>
        <p:spPr>
          <a:xfrm>
            <a:off x="9782629" y="5544457"/>
            <a:ext cx="351971" cy="351971"/>
          </a:xfrm>
          <a:prstGeom prst="ellipse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26230" y="5068014"/>
            <a:ext cx="3702130" cy="553998"/>
            <a:chOff x="1922065" y="2510352"/>
            <a:chExt cx="3702130" cy="553998"/>
          </a:xfrm>
        </p:grpSpPr>
        <p:grpSp>
          <p:nvGrpSpPr>
            <p:cNvPr id="8" name="组合 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40" name="矩形 39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30792" y="2482636"/>
                <a:ext cx="66040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05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" y="281940"/>
            <a:ext cx="2964180" cy="5943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589">
        <p:random/>
      </p:transition>
    </mc:Choice>
    <mc:Fallback>
      <p:transition spd="slow" advTm="258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01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842506" y="2474962"/>
            <a:ext cx="7196455" cy="1142621"/>
            <a:chOff x="5563631" y="2617371"/>
            <a:chExt cx="719645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563631" y="2617371"/>
              <a:ext cx="719645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课题背景及研究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意义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20">
        <p:random/>
      </p:transition>
    </mc:Choice>
    <mc:Fallback>
      <p:transition spd="slow" advTm="242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</a:t>
                </a:r>
                <a:r>
                  <a:rPr lang="zh-CN" altLang="en-US" sz="3200" dirty="0">
                    <a:cs typeface="+mn-ea"/>
                    <a:sym typeface="+mn-lt"/>
                  </a:rPr>
                  <a:t>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1000" y="1232535"/>
            <a:ext cx="2626995" cy="9029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4000"/>
              <a:t>课题背景</a:t>
            </a:r>
            <a:endParaRPr lang="zh-CN" altLang="en-US" sz="4000"/>
          </a:p>
        </p:txBody>
      </p:sp>
      <p:sp>
        <p:nvSpPr>
          <p:cNvPr id="3" name="流程图: 过程 2"/>
          <p:cNvSpPr/>
          <p:nvPr/>
        </p:nvSpPr>
        <p:spPr>
          <a:xfrm>
            <a:off x="381000" y="2619375"/>
            <a:ext cx="11218545" cy="2710180"/>
          </a:xfrm>
          <a:prstGeom prst="flowChartProcess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800"/>
              <a:t>     </a:t>
            </a:r>
            <a:r>
              <a:rPr lang="zh-CN" altLang="en-US" sz="2000"/>
              <a:t>近年来，移动互联网技术飞速发展，智能手机的普及使得人们的生活和工作方式发生了巨大变化。即时通讯应用作为人们日常沟通交流的重要工具，在社交、工作、学习等各个领域都发挥着至关重要的作用。人们对于即时通讯的需求也日益多样化和个性化，不仅要求能够实现文字、语音、图片等多种形式的信息交流，还希望具备高效稳定的性能、丰富的社交互动功能以及良好的跨平台使用体验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随着移动应用市场的不断扩大，企业和开发者面临着在多个平台（如</a:t>
            </a:r>
            <a:r>
              <a:rPr lang="en-US" altLang="zh-CN" sz="2000"/>
              <a:t> iOS</a:t>
            </a:r>
            <a:r>
              <a:rPr lang="zh-CN" altLang="en-US" sz="2000"/>
              <a:t>、</a:t>
            </a:r>
            <a:r>
              <a:rPr lang="en-US" altLang="zh-CN" sz="2000"/>
              <a:t>Android</a:t>
            </a:r>
            <a:r>
              <a:rPr lang="zh-CN" altLang="en-US" sz="2000"/>
              <a:t>、</a:t>
            </a:r>
            <a:r>
              <a:rPr lang="en-US" altLang="zh-CN" sz="2000"/>
              <a:t>Web </a:t>
            </a:r>
            <a:r>
              <a:rPr lang="zh-CN" altLang="en-US" sz="2000"/>
              <a:t>等）上开发和维护应用的挑战。传统的开发方式需要针对不同平台分别进行开发，这不仅增加了开发成本和时间，还难以保证各平台之间的用户体验一致性。因此，跨平台开发技术成为了一种趋势，能够帮助开发者更高效地开发出多平台兼容的应用程序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虽然市场上已经存在许多知名的即时通讯应用，但仍然存在一些不足之处。例如，部分应用在功能上过于复杂，导致操作不够简洁；一些应用在跨平台使用时存在兼容性问题，影响用户体验；还有一些应用在安全性和隐私保护方面存在隐患。因此，开发一款功能实用、操作便捷、跨平台性能良好且安全可靠的即时通讯应用具有重要的现实意义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9470838" y="1407828"/>
            <a:ext cx="2123638" cy="2181984"/>
            <a:chOff x="8329108" y="1359568"/>
            <a:chExt cx="2123638" cy="2181984"/>
          </a:xfrm>
        </p:grpSpPr>
        <p:grpSp>
          <p:nvGrpSpPr>
            <p:cNvPr id="26" name="组合 25"/>
            <p:cNvGrpSpPr/>
            <p:nvPr/>
          </p:nvGrpSpPr>
          <p:grpSpPr>
            <a:xfrm>
              <a:off x="8329108" y="1359568"/>
              <a:ext cx="2123638" cy="2181984"/>
              <a:chOff x="8329108" y="1359568"/>
              <a:chExt cx="2123638" cy="2181984"/>
            </a:xfrm>
          </p:grpSpPr>
          <p:sp>
            <p:nvSpPr>
              <p:cNvPr id="21" name="泪滴形 20"/>
              <p:cNvSpPr/>
              <p:nvPr/>
            </p:nvSpPr>
            <p:spPr>
              <a:xfrm rot="13113405">
                <a:off x="8329108" y="1440101"/>
                <a:ext cx="2101451" cy="2101451"/>
              </a:xfrm>
              <a:prstGeom prst="teardrop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9423422" y="1359568"/>
                <a:ext cx="1029324" cy="721895"/>
                <a:chOff x="9423422" y="1359568"/>
                <a:chExt cx="1029324" cy="721895"/>
              </a:xfrm>
            </p:grpSpPr>
            <p:sp>
              <p:nvSpPr>
                <p:cNvPr id="22" name="椭圆 21"/>
                <p:cNvSpPr/>
                <p:nvPr/>
              </p:nvSpPr>
              <p:spPr>
                <a:xfrm>
                  <a:off x="9577137" y="1359568"/>
                  <a:ext cx="721895" cy="721895"/>
                </a:xfrm>
                <a:prstGeom prst="ellipse">
                  <a:avLst/>
                </a:prstGeom>
                <a:solidFill>
                  <a:srgbClr val="10507E"/>
                </a:solidFill>
                <a:ln w="3492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9423422" y="1458905"/>
                  <a:ext cx="102932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751157" y="1928979"/>
              <a:ext cx="1186927" cy="1194253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608965" y="1977390"/>
            <a:ext cx="8368030" cy="3661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en-US" altLang="zh-CN" sz="2400"/>
              <a:t>WhatsApp</a:t>
            </a:r>
            <a:r>
              <a:rPr lang="zh-CN" altLang="en-US" sz="2400"/>
              <a:t>、</a:t>
            </a:r>
            <a:r>
              <a:rPr lang="en-US" altLang="zh-CN" sz="2400"/>
              <a:t>Facebook Messenger</a:t>
            </a:r>
            <a:r>
              <a:rPr lang="zh-CN" altLang="en-US" sz="2400"/>
              <a:t>、</a:t>
            </a:r>
            <a:r>
              <a:rPr lang="en-US" altLang="zh-CN" sz="2400"/>
              <a:t>Telegram </a:t>
            </a:r>
            <a:r>
              <a:rPr lang="zh-CN" altLang="en-US" sz="2400"/>
              <a:t>和</a:t>
            </a:r>
            <a:r>
              <a:rPr lang="en-US" altLang="zh-CN" sz="2400"/>
              <a:t> LINE </a:t>
            </a:r>
            <a:r>
              <a:rPr lang="zh-CN" altLang="en-US" sz="2400"/>
              <a:t>等在国际市场上拥有庞大用户群体。</a:t>
            </a:r>
            <a:r>
              <a:rPr lang="en-US" altLang="zh-CN" sz="2400"/>
              <a:t>WhatsApp </a:t>
            </a:r>
            <a:r>
              <a:rPr lang="zh-CN" altLang="en-US" sz="2400"/>
              <a:t>凭借</a:t>
            </a:r>
            <a:r>
              <a:rPr lang="en-US" altLang="zh-CN" sz="2400"/>
              <a:t> Facebook </a:t>
            </a:r>
            <a:r>
              <a:rPr lang="zh-CN" altLang="en-US" sz="2400"/>
              <a:t>的推广和自身简洁易用的特点，在欧美、南美、非洲等地区广泛使用，拥有数十亿用户。</a:t>
            </a:r>
            <a:r>
              <a:rPr lang="en-US" altLang="zh-CN" sz="2400"/>
              <a:t>Facebook Messenger </a:t>
            </a:r>
            <a:r>
              <a:rPr lang="zh-CN" altLang="en-US" sz="2400"/>
              <a:t>与社交平台</a:t>
            </a:r>
            <a:r>
              <a:rPr lang="en-US" altLang="zh-CN" sz="2400"/>
              <a:t> Facebook </a:t>
            </a:r>
            <a:r>
              <a:rPr lang="zh-CN" altLang="en-US" sz="2400"/>
              <a:t>深度整合，方便用户在社交网络基础上进行即时通讯。</a:t>
            </a:r>
            <a:r>
              <a:rPr lang="en-US" altLang="zh-CN" sz="2400"/>
              <a:t>Telegram </a:t>
            </a:r>
            <a:r>
              <a:rPr lang="zh-CN" altLang="en-US" sz="2400"/>
              <a:t>以注重隐私保护和强大的群组功能吸引了大量用户，尤其在一些对隐私较为敏感的地区和特定社群中很受欢迎。</a:t>
            </a:r>
            <a:r>
              <a:rPr lang="en-US" altLang="zh-CN" sz="2400"/>
              <a:t>LINE </a:t>
            </a:r>
            <a:r>
              <a:rPr lang="zh-CN" altLang="en-US" sz="2400"/>
              <a:t>则在日本、韩国等亚洲国家占据重要市场份额，除通讯外，还提供丰富的内容服务，如游戏、表情商店等。</a:t>
            </a:r>
            <a:endParaRPr lang="zh-CN" altLang="en-US" sz="2400"/>
          </a:p>
          <a:p>
            <a:pPr algn="l" fontAlgn="auto"/>
            <a:endParaRPr lang="zh-CN" altLang="en-US" sz="2400"/>
          </a:p>
        </p:txBody>
      </p:sp>
      <p:grpSp>
        <p:nvGrpSpPr>
          <p:cNvPr id="19" name="组合 18"/>
          <p:cNvGrpSpPr/>
          <p:nvPr/>
        </p:nvGrpSpPr>
        <p:grpSpPr>
          <a:xfrm>
            <a:off x="244706" y="165322"/>
            <a:ext cx="5231765" cy="769441"/>
            <a:chOff x="145646" y="165322"/>
            <a:chExt cx="52317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5231765" cy="769441"/>
              <a:chOff x="107546" y="317722"/>
              <a:chExt cx="52317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43427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7525" y="1014095"/>
            <a:ext cx="3282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国</a:t>
            </a:r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外研究现状</a:t>
            </a:r>
            <a:endParaRPr lang="zh-CN" altLang="en-US" sz="32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国内研究现状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1842770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800"/>
              <a:t>国内即时通讯市场呈现出寡头垄断的局面，微信和</a:t>
            </a:r>
            <a:r>
              <a:rPr lang="en-US" altLang="zh-CN" sz="2800"/>
              <a:t> QQ </a:t>
            </a:r>
            <a:r>
              <a:rPr lang="zh-CN" altLang="en-US" sz="2800"/>
              <a:t>凭借庞大的用户基础和丰富的功能生态占据主导地位。微信作为国民级社交应用，不仅满足了人们日常的通讯需求，还集成了支付、购物、生活服务等多种功能，成为了一个综合性的生活平台。</a:t>
            </a:r>
            <a:r>
              <a:rPr lang="en-US" altLang="zh-CN" sz="2800"/>
              <a:t>QQ </a:t>
            </a:r>
            <a:r>
              <a:rPr lang="zh-CN" altLang="en-US" sz="2800"/>
              <a:t>则在年轻用户群体中拥有较高的人气，其丰富的个性化功能和社交玩法深受年轻人喜爱。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1076325"/>
            <a:chOff x="145646" y="165322"/>
            <a:chExt cx="4862917" cy="1076325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795520" cy="1076325"/>
              <a:chOff x="107546" y="317722"/>
              <a:chExt cx="4795520" cy="1076325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06520" cy="1076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研究</a:t>
            </a:r>
            <a:r>
              <a:rPr lang="zh-CN" altLang="en-US" sz="3200"/>
              <a:t>意义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2276475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 sz="2400"/>
              <a:t>基于</a:t>
            </a:r>
            <a:r>
              <a:rPr lang="en-US" altLang="zh-CN" sz="2400"/>
              <a:t> uni - app </a:t>
            </a:r>
            <a:r>
              <a:rPr lang="zh-CN" altLang="en-US" sz="2400"/>
              <a:t>框架开发即时通讯项目，能够为跨平台开发领域提供新的实践案例和理论参考。探索在不同平台上实现即时通讯功能的最佳实践，有助于完善跨平台开发的技术体系和方法论。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深入研究即时通讯的核心技术，如实时消息传输、消息存储与管理、用户身份认证等，为该领域的学术研究提供新的思路和方向。通过项目实践，验证和改进现有即时通讯技术的理论模型，推动即时通讯技术的发展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实现跨平台的即时通讯应用，用户可以在不同的设备和操作系统上无缝使用，获得一致的用户体验。同时，简洁易用的界面设计和丰富的功能模块，能够满足用户多样化的沟通需求，提升用户的满意度和忠诚度。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02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系统功能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94">
        <p:random/>
      </p:transition>
    </mc:Choice>
    <mc:Fallback>
      <p:transition spd="slow" advTm="209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6" name="组合 65"/>
          <p:cNvGrpSpPr/>
          <p:nvPr>
            <p:custDataLst>
              <p:tags r:id="rId1"/>
            </p:custDataLst>
          </p:nvPr>
        </p:nvGrpSpPr>
        <p:grpSpPr>
          <a:xfrm>
            <a:off x="285723" y="1915838"/>
            <a:ext cx="2765606" cy="3656725"/>
            <a:chOff x="285723" y="1915838"/>
            <a:chExt cx="2765606" cy="3656725"/>
          </a:xfrm>
        </p:grpSpPr>
        <p:grpSp>
          <p:nvGrpSpPr>
            <p:cNvPr id="12" name="组合 11"/>
            <p:cNvGrpSpPr/>
            <p:nvPr/>
          </p:nvGrpSpPr>
          <p:grpSpPr>
            <a:xfrm>
              <a:off x="285723" y="1915838"/>
              <a:ext cx="2765606" cy="3656725"/>
              <a:chOff x="291057" y="1924050"/>
              <a:chExt cx="2765606" cy="3656725"/>
            </a:xfrm>
          </p:grpSpPr>
          <p:sp>
            <p:nvSpPr>
              <p:cNvPr id="2" name="矩形 1"/>
              <p:cNvSpPr/>
              <p:nvPr>
                <p:custDataLst>
                  <p:tags r:id="rId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7" name="组合 6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4" name="梯形 3"/>
                <p:cNvSpPr/>
                <p:nvPr>
                  <p:custDataLst>
                    <p:tags r:id="rId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5" name="等腰三角形 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1" name="等腰三角形 20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15" name="图片 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439513" y="2223250"/>
              <a:ext cx="714454" cy="726496"/>
            </a:xfrm>
            <a:prstGeom prst="rect">
              <a:avLst/>
            </a:prstGeom>
          </p:spPr>
        </p:pic>
        <p:sp>
          <p:nvSpPr>
            <p:cNvPr id="51" name="文本框 50"/>
            <p:cNvSpPr txBox="1"/>
            <p:nvPr>
              <p:custDataLst>
                <p:tags r:id="rId8"/>
              </p:custDataLst>
            </p:nvPr>
          </p:nvSpPr>
          <p:spPr>
            <a:xfrm>
              <a:off x="670418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用户注册与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登录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删除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5" name="组合 64"/>
            <p:cNvGrpSpPr/>
            <p:nvPr/>
          </p:nvGrpSpPr>
          <p:grpSpPr>
            <a:xfrm>
              <a:off x="843526" y="4996439"/>
              <a:ext cx="1876225" cy="310310"/>
              <a:chOff x="843526" y="4996439"/>
              <a:chExt cx="1876225" cy="310310"/>
            </a:xfrm>
          </p:grpSpPr>
          <p:sp>
            <p:nvSpPr>
              <p:cNvPr id="53" name="矩形: 圆角 52"/>
              <p:cNvSpPr/>
              <p:nvPr>
                <p:custDataLst>
                  <p:tags r:id="rId9"/>
                </p:custDataLst>
              </p:nvPr>
            </p:nvSpPr>
            <p:spPr>
              <a:xfrm>
                <a:off x="100755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843526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用户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管理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7" name="组合 66"/>
          <p:cNvGrpSpPr/>
          <p:nvPr>
            <p:custDataLst>
              <p:tags r:id="rId11"/>
            </p:custDataLst>
          </p:nvPr>
        </p:nvGrpSpPr>
        <p:grpSpPr>
          <a:xfrm>
            <a:off x="3169639" y="1915838"/>
            <a:ext cx="2765606" cy="3656725"/>
            <a:chOff x="3169639" y="1915838"/>
            <a:chExt cx="2765606" cy="3656725"/>
          </a:xfrm>
        </p:grpSpPr>
        <p:grpSp>
          <p:nvGrpSpPr>
            <p:cNvPr id="22" name="组合 21"/>
            <p:cNvGrpSpPr/>
            <p:nvPr/>
          </p:nvGrpSpPr>
          <p:grpSpPr>
            <a:xfrm>
              <a:off x="3169639" y="1915838"/>
              <a:ext cx="2765606" cy="3656725"/>
              <a:chOff x="291057" y="1924050"/>
              <a:chExt cx="2765606" cy="3656725"/>
            </a:xfrm>
          </p:grpSpPr>
          <p:sp>
            <p:nvSpPr>
              <p:cNvPr id="23" name="矩形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25" name="梯形 24"/>
                <p:cNvSpPr/>
                <p:nvPr>
                  <p:custDataLst>
                    <p:tags r:id="rId1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6" name="等腰三角形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等腰三角形 26"/>
                <p:cNvSpPr/>
                <p:nvPr>
                  <p:custDataLst>
                    <p:tags r:id="rId1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1" name="图片 4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4352310" y="2296499"/>
              <a:ext cx="827999" cy="579999"/>
            </a:xfrm>
            <a:prstGeom prst="rect">
              <a:avLst/>
            </a:prstGeom>
          </p:spPr>
        </p:pic>
        <p:sp>
          <p:nvSpPr>
            <p:cNvPr id="50" name="文本框 49"/>
            <p:cNvSpPr txBox="1"/>
            <p:nvPr>
              <p:custDataLst>
                <p:tags r:id="rId18"/>
              </p:custDataLst>
            </p:nvPr>
          </p:nvSpPr>
          <p:spPr>
            <a:xfrm>
              <a:off x="3652305" y="3116273"/>
              <a:ext cx="2056702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方式多样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3777296" y="4996439"/>
              <a:ext cx="1876225" cy="312044"/>
              <a:chOff x="3777296" y="4996439"/>
              <a:chExt cx="1876225" cy="312044"/>
            </a:xfrm>
          </p:grpSpPr>
          <p:sp>
            <p:nvSpPr>
              <p:cNvPr id="54" name="矩形: 圆角 53"/>
              <p:cNvSpPr/>
              <p:nvPr>
                <p:custDataLst>
                  <p:tags r:id="rId19"/>
                </p:custDataLst>
              </p:nvPr>
            </p:nvSpPr>
            <p:spPr>
              <a:xfrm>
                <a:off x="3893277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3777296" y="5001778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即时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通讯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8" name="组合 67"/>
          <p:cNvGrpSpPr/>
          <p:nvPr>
            <p:custDataLst>
              <p:tags r:id="rId21"/>
            </p:custDataLst>
          </p:nvPr>
        </p:nvGrpSpPr>
        <p:grpSpPr>
          <a:xfrm>
            <a:off x="6053555" y="1915838"/>
            <a:ext cx="2765606" cy="3656725"/>
            <a:chOff x="6053555" y="1915838"/>
            <a:chExt cx="2765606" cy="3656725"/>
          </a:xfrm>
        </p:grpSpPr>
        <p:grpSp>
          <p:nvGrpSpPr>
            <p:cNvPr id="28" name="组合 27"/>
            <p:cNvGrpSpPr/>
            <p:nvPr/>
          </p:nvGrpSpPr>
          <p:grpSpPr>
            <a:xfrm>
              <a:off x="6053555" y="1915838"/>
              <a:ext cx="2765606" cy="3656725"/>
              <a:chOff x="291057" y="1924050"/>
              <a:chExt cx="2765606" cy="3656725"/>
            </a:xfrm>
          </p:grpSpPr>
          <p:sp>
            <p:nvSpPr>
              <p:cNvPr id="29" name="矩形 28"/>
              <p:cNvSpPr/>
              <p:nvPr>
                <p:custDataLst>
                  <p:tags r:id="rId2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1" name="梯形 30"/>
                <p:cNvSpPr/>
                <p:nvPr>
                  <p:custDataLst>
                    <p:tags r:id="rId2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2" name="等腰三角形 3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等腰三角形 32"/>
                <p:cNvSpPr/>
                <p:nvPr>
                  <p:custDataLst>
                    <p:tags r:id="rId2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3" name="图片 4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7398377" y="2196361"/>
              <a:ext cx="511839" cy="654755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>
              <p:custDataLst>
                <p:tags r:id="rId28"/>
              </p:custDataLst>
            </p:nvPr>
          </p:nvSpPr>
          <p:spPr>
            <a:xfrm>
              <a:off x="6536221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创建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群主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踢人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退出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6624649" y="4996439"/>
              <a:ext cx="1876225" cy="310310"/>
              <a:chOff x="6624649" y="4996439"/>
              <a:chExt cx="1876225" cy="310310"/>
            </a:xfrm>
          </p:grpSpPr>
          <p:sp>
            <p:nvSpPr>
              <p:cNvPr id="55" name="矩形: 圆角 54"/>
              <p:cNvSpPr/>
              <p:nvPr>
                <p:custDataLst>
                  <p:tags r:id="rId29"/>
                </p:custDataLst>
              </p:nvPr>
            </p:nvSpPr>
            <p:spPr>
              <a:xfrm>
                <a:off x="677900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9" name="文本框 58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6624649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群组管理模块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31"/>
            </p:custDataLst>
          </p:nvPr>
        </p:nvGrpSpPr>
        <p:grpSpPr>
          <a:xfrm>
            <a:off x="8937471" y="1915838"/>
            <a:ext cx="2765606" cy="3656725"/>
            <a:chOff x="8937471" y="1915838"/>
            <a:chExt cx="2765606" cy="3656725"/>
          </a:xfrm>
        </p:grpSpPr>
        <p:grpSp>
          <p:nvGrpSpPr>
            <p:cNvPr id="34" name="组合 33"/>
            <p:cNvGrpSpPr/>
            <p:nvPr/>
          </p:nvGrpSpPr>
          <p:grpSpPr>
            <a:xfrm>
              <a:off x="8937471" y="1915838"/>
              <a:ext cx="2765606" cy="3656725"/>
              <a:chOff x="291057" y="1924050"/>
              <a:chExt cx="2765606" cy="3656725"/>
            </a:xfrm>
          </p:grpSpPr>
          <p:sp>
            <p:nvSpPr>
              <p:cNvPr id="35" name="矩形 34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7" name="梯形 36"/>
                <p:cNvSpPr/>
                <p:nvPr>
                  <p:custDataLst>
                    <p:tags r:id="rId3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8" name="等腰三角形 37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等腰三角形 38"/>
                <p:cNvSpPr/>
                <p:nvPr>
                  <p:custDataLst>
                    <p:tags r:id="rId3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5" name="图片 44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159579" y="2222865"/>
              <a:ext cx="577817" cy="577817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>
              <p:custDataLst>
                <p:tags r:id="rId38"/>
              </p:custDataLst>
            </p:nvPr>
          </p:nvSpPr>
          <p:spPr>
            <a:xfrm>
              <a:off x="9420136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发布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点赞和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评论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列表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1" name="组合 60"/>
            <p:cNvGrpSpPr/>
            <p:nvPr/>
          </p:nvGrpSpPr>
          <p:grpSpPr>
            <a:xfrm>
              <a:off x="9510373" y="4996439"/>
              <a:ext cx="1876225" cy="329061"/>
              <a:chOff x="9510373" y="4996439"/>
              <a:chExt cx="1876225" cy="329061"/>
            </a:xfrm>
          </p:grpSpPr>
          <p:sp>
            <p:nvSpPr>
              <p:cNvPr id="56" name="矩形: 圆角 55"/>
              <p:cNvSpPr/>
              <p:nvPr>
                <p:custDataLst>
                  <p:tags r:id="rId39"/>
                </p:custDataLst>
              </p:nvPr>
            </p:nvSpPr>
            <p:spPr>
              <a:xfrm>
                <a:off x="9664726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9510373" y="5018795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朋友圈模块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352">
        <p:random/>
      </p:transition>
    </mc:Choice>
    <mc:Fallback>
      <p:transition spd="slow" advTm="135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141799" y="1988932"/>
            <a:ext cx="1727824" cy="1599722"/>
            <a:chOff x="4141799" y="1829278"/>
            <a:chExt cx="1727824" cy="1599722"/>
          </a:xfrm>
        </p:grpSpPr>
        <p:sp>
          <p:nvSpPr>
            <p:cNvPr id="2" name="矩形: 圆角 1"/>
            <p:cNvSpPr/>
            <p:nvPr/>
          </p:nvSpPr>
          <p:spPr>
            <a:xfrm>
              <a:off x="4345623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4141799" y="1829278"/>
              <a:ext cx="688011" cy="482522"/>
              <a:chOff x="1340078" y="3990338"/>
              <a:chExt cx="1029324" cy="721895"/>
            </a:xfrm>
          </p:grpSpPr>
          <p:sp>
            <p:nvSpPr>
              <p:cNvPr id="12" name="椭圆 11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05107" y="2334858"/>
              <a:ext cx="805479" cy="805479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>
            <a:off x="6341110" y="2034652"/>
            <a:ext cx="1679575" cy="1554002"/>
            <a:chOff x="6341110" y="1874998"/>
            <a:chExt cx="1679575" cy="1554002"/>
          </a:xfrm>
        </p:grpSpPr>
        <p:sp>
          <p:nvSpPr>
            <p:cNvPr id="9" name="矩形: 圆角 8"/>
            <p:cNvSpPr/>
            <p:nvPr/>
          </p:nvSpPr>
          <p:spPr>
            <a:xfrm>
              <a:off x="6341110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7332674" y="1874998"/>
              <a:ext cx="688011" cy="482522"/>
              <a:chOff x="1340078" y="3990338"/>
              <a:chExt cx="1029324" cy="721895"/>
            </a:xfrm>
          </p:grpSpPr>
          <p:sp>
            <p:nvSpPr>
              <p:cNvPr id="21" name="椭圆 20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57199" y="2350197"/>
              <a:ext cx="891822" cy="76200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4141799" y="3969655"/>
            <a:ext cx="1727824" cy="1524000"/>
            <a:chOff x="4141799" y="3810001"/>
            <a:chExt cx="1727824" cy="1524000"/>
          </a:xfrm>
        </p:grpSpPr>
        <p:sp>
          <p:nvSpPr>
            <p:cNvPr id="10" name="矩形: 圆角 9"/>
            <p:cNvSpPr/>
            <p:nvPr/>
          </p:nvSpPr>
          <p:spPr>
            <a:xfrm>
              <a:off x="4345623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4141799" y="3810001"/>
              <a:ext cx="688011" cy="482522"/>
              <a:chOff x="1340078" y="3990338"/>
              <a:chExt cx="1029324" cy="721895"/>
            </a:xfrm>
          </p:grpSpPr>
          <p:sp>
            <p:nvSpPr>
              <p:cNvPr id="24" name="椭圆 23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77769" y="4259471"/>
              <a:ext cx="732817" cy="78278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/>
        </p:nvGrpSpPr>
        <p:grpSpPr>
          <a:xfrm>
            <a:off x="6341110" y="3969655"/>
            <a:ext cx="1679574" cy="1524000"/>
            <a:chOff x="6341110" y="3810001"/>
            <a:chExt cx="1679574" cy="1524000"/>
          </a:xfrm>
        </p:grpSpPr>
        <p:sp>
          <p:nvSpPr>
            <p:cNvPr id="11" name="矩形: 圆角 10"/>
            <p:cNvSpPr/>
            <p:nvPr/>
          </p:nvSpPr>
          <p:spPr>
            <a:xfrm>
              <a:off x="6341110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7332673" y="3810001"/>
              <a:ext cx="688011" cy="482522"/>
              <a:chOff x="1340078" y="3990338"/>
              <a:chExt cx="1029324" cy="721895"/>
            </a:xfrm>
          </p:grpSpPr>
          <p:sp>
            <p:nvSpPr>
              <p:cNvPr id="27" name="椭圆 26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04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395" y="4256982"/>
              <a:ext cx="775429" cy="780216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/>
        </p:nvGrpSpPr>
        <p:grpSpPr>
          <a:xfrm>
            <a:off x="1017256" y="1593863"/>
            <a:ext cx="2956185" cy="1592607"/>
            <a:chOff x="595045" y="2045185"/>
            <a:chExt cx="2956185" cy="1592607"/>
          </a:xfrm>
        </p:grpSpPr>
        <p:sp>
          <p:nvSpPr>
            <p:cNvPr id="36" name="文本框 35"/>
            <p:cNvSpPr txBox="1"/>
            <p:nvPr/>
          </p:nvSpPr>
          <p:spPr>
            <a:xfrm>
              <a:off x="1026210" y="2045185"/>
              <a:ext cx="252476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95045" y="2520827"/>
              <a:ext cx="2956185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系统支持对已经注册的用户，提供基本的信息修改，包括用户的名称、用户头像、个性签名等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956931" y="4146467"/>
            <a:ext cx="2956185" cy="1079527"/>
            <a:chOff x="595045" y="2045185"/>
            <a:chExt cx="2956185" cy="1079527"/>
          </a:xfrm>
        </p:grpSpPr>
        <p:sp>
          <p:nvSpPr>
            <p:cNvPr id="40" name="文本框 39"/>
            <p:cNvSpPr txBox="1"/>
            <p:nvPr/>
          </p:nvSpPr>
          <p:spPr>
            <a:xfrm>
              <a:off x="1404670" y="2045185"/>
              <a:ext cx="214630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95045" y="2520827"/>
              <a:ext cx="2956185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单聊：一对一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聊天，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群聊：多对多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8245179" y="1632574"/>
            <a:ext cx="2956185" cy="2105687"/>
            <a:chOff x="595045" y="2045185"/>
            <a:chExt cx="2956185" cy="2105687"/>
          </a:xfrm>
        </p:grpSpPr>
        <p:sp>
          <p:nvSpPr>
            <p:cNvPr id="43" name="文本框 42"/>
            <p:cNvSpPr txBox="1"/>
            <p:nvPr/>
          </p:nvSpPr>
          <p:spPr>
            <a:xfrm>
              <a:off x="595045" y="2045185"/>
              <a:ext cx="295529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好友添加和删除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用户可以搜索系统中已经注册的用户昵称或者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ID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号进行检索，如果存在该用户，则可以发送申请，等待对方同意，同意后即添加成功，并且可以删除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8245814" y="4093103"/>
            <a:ext cx="2956185" cy="2105687"/>
            <a:chOff x="595045" y="2045185"/>
            <a:chExt cx="2956185" cy="2105687"/>
          </a:xfrm>
        </p:grpSpPr>
        <p:sp>
          <p:nvSpPr>
            <p:cNvPr id="46" name="文本框 45"/>
            <p:cNvSpPr txBox="1"/>
            <p:nvPr/>
          </p:nvSpPr>
          <p:spPr>
            <a:xfrm>
              <a:off x="595045" y="2045185"/>
              <a:ext cx="205803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方式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目前系统支持多种聊天方式内置了几十个常用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Emoji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表情，支持各种网络表情包的添加，完全自定义自己的表情包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库，支持本地相册直接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878">
        <p:random/>
      </p:transition>
    </mc:Choice>
    <mc:Fallback>
      <p:transition spd="slow" advTm="18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55" name="组合 54"/>
          <p:cNvGrpSpPr/>
          <p:nvPr>
            <p:custDataLst>
              <p:tags r:id="rId1"/>
            </p:custDataLst>
          </p:nvPr>
        </p:nvGrpSpPr>
        <p:grpSpPr>
          <a:xfrm>
            <a:off x="1133908" y="1129393"/>
            <a:ext cx="2745333" cy="4214082"/>
            <a:chOff x="1133908" y="1129393"/>
            <a:chExt cx="2745333" cy="4214082"/>
          </a:xfrm>
        </p:grpSpPr>
        <p:grpSp>
          <p:nvGrpSpPr>
            <p:cNvPr id="11" name="组合 10"/>
            <p:cNvGrpSpPr/>
            <p:nvPr/>
          </p:nvGrpSpPr>
          <p:grpSpPr>
            <a:xfrm>
              <a:off x="1133908" y="1129393"/>
              <a:ext cx="2745333" cy="3526270"/>
              <a:chOff x="1133908" y="1225649"/>
              <a:chExt cx="2745333" cy="3526270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1133908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12" name="任意多边形: 形状 11"/>
                <p:cNvSpPr/>
                <p:nvPr>
                  <p:custDataLst>
                    <p:tags r:id="rId2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4" name="任意多边形: 形状 13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5" name="任意多边形: 形状 1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9" name="图片 8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271389" y="2283891"/>
                <a:ext cx="611511" cy="782258"/>
              </a:xfrm>
              <a:prstGeom prst="rect">
                <a:avLst/>
              </a:prstGeom>
            </p:spPr>
          </p:pic>
        </p:grpSp>
        <p:grpSp>
          <p:nvGrpSpPr>
            <p:cNvPr id="48" name="组合 47"/>
            <p:cNvGrpSpPr/>
            <p:nvPr/>
          </p:nvGrpSpPr>
          <p:grpSpPr>
            <a:xfrm>
              <a:off x="1330234" y="4007408"/>
              <a:ext cx="2469755" cy="1336067"/>
              <a:chOff x="1548791" y="4065069"/>
              <a:chExt cx="2469755" cy="1336067"/>
            </a:xfrm>
          </p:grpSpPr>
          <p:sp>
            <p:nvSpPr>
              <p:cNvPr id="46" name="文本框 4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77553" y="4065069"/>
                <a:ext cx="1612231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创建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用户可以选择好友进行创建群聊，至少选择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2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位好友才可以创建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6" name="组合 55"/>
          <p:cNvGrpSpPr/>
          <p:nvPr>
            <p:custDataLst>
              <p:tags r:id="rId9"/>
            </p:custDataLst>
          </p:nvPr>
        </p:nvGrpSpPr>
        <p:grpSpPr>
          <a:xfrm>
            <a:off x="4723335" y="1129393"/>
            <a:ext cx="2745333" cy="4470622"/>
            <a:chOff x="4723335" y="1129393"/>
            <a:chExt cx="2745333" cy="4470622"/>
          </a:xfrm>
        </p:grpSpPr>
        <p:grpSp>
          <p:nvGrpSpPr>
            <p:cNvPr id="42" name="组合 41"/>
            <p:cNvGrpSpPr/>
            <p:nvPr/>
          </p:nvGrpSpPr>
          <p:grpSpPr>
            <a:xfrm>
              <a:off x="4723335" y="1129393"/>
              <a:ext cx="2745333" cy="3526270"/>
              <a:chOff x="4723335" y="1225649"/>
              <a:chExt cx="2745333" cy="3526270"/>
            </a:xfrm>
          </p:grpSpPr>
          <p:grpSp>
            <p:nvGrpSpPr>
              <p:cNvPr id="30" name="组合 29"/>
              <p:cNvGrpSpPr/>
              <p:nvPr/>
            </p:nvGrpSpPr>
            <p:grpSpPr>
              <a:xfrm>
                <a:off x="4723335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2" name="任意多边形: 形状 31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任意多边形: 形状 32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4" name="任意多边形: 形状 3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1" name="图片 40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4"/>
              <a:stretch>
                <a:fillRect/>
              </a:stretch>
            </p:blipFill>
            <p:spPr>
              <a:xfrm>
                <a:off x="5715550" y="2283891"/>
                <a:ext cx="760899" cy="773723"/>
              </a:xfrm>
              <a:prstGeom prst="rect">
                <a:avLst/>
              </a:prstGeom>
            </p:spPr>
          </p:pic>
        </p:grpSp>
        <p:grpSp>
          <p:nvGrpSpPr>
            <p:cNvPr id="49" name="组合 48"/>
            <p:cNvGrpSpPr/>
            <p:nvPr/>
          </p:nvGrpSpPr>
          <p:grpSpPr>
            <a:xfrm>
              <a:off x="4884376" y="4022648"/>
              <a:ext cx="2469755" cy="1577367"/>
              <a:chOff x="1548791" y="4080309"/>
              <a:chExt cx="2469755" cy="1577367"/>
            </a:xfrm>
          </p:grpSpPr>
          <p:sp>
            <p:nvSpPr>
              <p:cNvPr id="50" name="文本框 4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629436" y="4080309"/>
                <a:ext cx="233362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48791" y="4540711"/>
                <a:ext cx="2469755" cy="1116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只有群主具有群聊的设置权限，包括用户踢出权限，群主无法退出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7" name="组合 56"/>
          <p:cNvGrpSpPr/>
          <p:nvPr>
            <p:custDataLst>
              <p:tags r:id="rId17"/>
            </p:custDataLst>
          </p:nvPr>
        </p:nvGrpSpPr>
        <p:grpSpPr>
          <a:xfrm>
            <a:off x="8312761" y="1129393"/>
            <a:ext cx="2745333" cy="4214082"/>
            <a:chOff x="8312761" y="1129393"/>
            <a:chExt cx="2745333" cy="4214082"/>
          </a:xfrm>
        </p:grpSpPr>
        <p:grpSp>
          <p:nvGrpSpPr>
            <p:cNvPr id="45" name="组合 44"/>
            <p:cNvGrpSpPr/>
            <p:nvPr/>
          </p:nvGrpSpPr>
          <p:grpSpPr>
            <a:xfrm>
              <a:off x="8312761" y="1129393"/>
              <a:ext cx="2745333" cy="3526270"/>
              <a:chOff x="8312761" y="1225649"/>
              <a:chExt cx="2745333" cy="3526270"/>
            </a:xfrm>
          </p:grpSpPr>
          <p:grpSp>
            <p:nvGrpSpPr>
              <p:cNvPr id="36" name="组合 35"/>
              <p:cNvGrpSpPr/>
              <p:nvPr/>
            </p:nvGrpSpPr>
            <p:grpSpPr>
              <a:xfrm>
                <a:off x="8312761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8" name="任意多边形: 形状 37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任意多边形: 形状 38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任意多边形: 形状 39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4" name="图片 43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2"/>
              <a:stretch>
                <a:fillRect/>
              </a:stretch>
            </p:blipFill>
            <p:spPr>
              <a:xfrm>
                <a:off x="9225555" y="2247795"/>
                <a:ext cx="1016000" cy="711691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8438517" y="4007408"/>
              <a:ext cx="2469755" cy="1336067"/>
              <a:chOff x="1548791" y="4065069"/>
              <a:chExt cx="2469755" cy="1336067"/>
            </a:xfrm>
          </p:grpSpPr>
          <p:sp>
            <p:nvSpPr>
              <p:cNvPr id="53" name="文本框 5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1630071" y="4065069"/>
                <a:ext cx="224218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版本信息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查看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文本框 5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可以查看本应用的一下基本信息，包括版本号，发布者姓名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等。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2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9">
        <p:random/>
      </p:transition>
    </mc:Choice>
    <mc:Fallback>
      <p:transition spd="slow" advTm="100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229123" y="1842493"/>
            <a:ext cx="3826147" cy="3826146"/>
            <a:chOff x="4182926" y="1515927"/>
            <a:chExt cx="3826147" cy="3826146"/>
          </a:xfrm>
        </p:grpSpPr>
        <p:sp>
          <p:nvSpPr>
            <p:cNvPr id="12" name="任意多边形: 形状 11"/>
            <p:cNvSpPr/>
            <p:nvPr/>
          </p:nvSpPr>
          <p:spPr>
            <a:xfrm>
              <a:off x="4419886" y="1752887"/>
              <a:ext cx="3352227" cy="335222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blipFill>
              <a:blip r:embed="rId1"/>
              <a:stretch>
                <a:fillRect/>
              </a:stretch>
            </a:blipFill>
            <a:ln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4182926" y="1515927"/>
              <a:ext cx="3826147" cy="382614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noFill/>
            <a:ln>
              <a:solidFill>
                <a:srgbClr val="69C0E1"/>
              </a:solidFill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5759450" y="1744177"/>
            <a:ext cx="5546128" cy="1079527"/>
            <a:chOff x="595045" y="2045185"/>
            <a:chExt cx="5546128" cy="1079527"/>
          </a:xfrm>
        </p:grpSpPr>
        <p:sp>
          <p:nvSpPr>
            <p:cNvPr id="21" name="文本框 20"/>
            <p:cNvSpPr txBox="1"/>
            <p:nvPr>
              <p:custDataLst>
                <p:tags r:id="rId3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朋友圈发布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4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用户可以发布自己的朋友圈，记录生活，支持发布图片，发布后自己的好友可见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5759450" y="3279924"/>
            <a:ext cx="5546128" cy="1079527"/>
            <a:chOff x="595045" y="2045185"/>
            <a:chExt cx="5546128" cy="107952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点赞和评论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7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用户可以对自己或者好友发布的朋友圈进行点赞和评论，增加社交的趣味性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15">
        <p:random/>
      </p:transition>
    </mc:Choice>
    <mc:Fallback>
      <p:transition spd="slow" advTm="201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03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584315" cy="1142621"/>
            <a:chOff x="5862081" y="2617371"/>
            <a:chExt cx="658431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1" y="2617371"/>
              <a:ext cx="658431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系统设计及其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实现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360">
        <p:random/>
      </p:transition>
    </mc:Choice>
    <mc:Fallback>
      <p:transition spd="slow" advTm="236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73100" y="1473723"/>
            <a:ext cx="10879992" cy="5242440"/>
            <a:chOff x="673100" y="1473723"/>
            <a:chExt cx="10879992" cy="5242440"/>
          </a:xfrm>
        </p:grpSpPr>
        <p:grpSp>
          <p:nvGrpSpPr>
            <p:cNvPr id="9" name="ïŝḻîḑé"/>
            <p:cNvGrpSpPr/>
            <p:nvPr/>
          </p:nvGrpSpPr>
          <p:grpSpPr>
            <a:xfrm>
              <a:off x="673100" y="2305176"/>
              <a:ext cx="10845800" cy="2146143"/>
              <a:chOff x="1267063" y="2254531"/>
              <a:chExt cx="9773218" cy="2609570"/>
            </a:xfrm>
          </p:grpSpPr>
          <p:sp>
            <p:nvSpPr>
              <p:cNvPr id="10" name="ïś1iḓê"/>
              <p:cNvSpPr/>
              <p:nvPr/>
            </p:nvSpPr>
            <p:spPr>
              <a:xfrm>
                <a:off x="1267063" y="421167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1" name="îṩḷíde"/>
              <p:cNvSpPr/>
              <p:nvPr/>
            </p:nvSpPr>
            <p:spPr>
              <a:xfrm>
                <a:off x="3857136" y="3559317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2" name="ïṧ1iḑe"/>
              <p:cNvSpPr/>
              <p:nvPr/>
            </p:nvSpPr>
            <p:spPr>
              <a:xfrm>
                <a:off x="6301917" y="2907041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3" name="ísḷîḑè"/>
              <p:cNvSpPr/>
              <p:nvPr/>
            </p:nvSpPr>
            <p:spPr>
              <a:xfrm>
                <a:off x="8760178" y="225453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4" name="îSḻíḑe"/>
              <p:cNvSpPr/>
              <p:nvPr/>
            </p:nvSpPr>
            <p:spPr>
              <a:xfrm flipV="1">
                <a:off x="8321397" y="2254531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5" name="îṧ1íḍé"/>
              <p:cNvSpPr/>
              <p:nvPr/>
            </p:nvSpPr>
            <p:spPr>
              <a:xfrm flipV="1">
                <a:off x="5863136" y="2906884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1" name="iṥľïďè"/>
              <p:cNvSpPr/>
              <p:nvPr/>
            </p:nvSpPr>
            <p:spPr>
              <a:xfrm flipV="1">
                <a:off x="3431835" y="3559239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2" name="ïṥļiḍe"/>
              <p:cNvSpPr/>
              <p:nvPr/>
            </p:nvSpPr>
            <p:spPr>
              <a:xfrm>
                <a:off x="2147426" y="4211672"/>
                <a:ext cx="1283837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3" name="îṥḷïďè"/>
              <p:cNvSpPr/>
              <p:nvPr/>
            </p:nvSpPr>
            <p:spPr>
              <a:xfrm>
                <a:off x="8760179" y="2254532"/>
                <a:ext cx="1071182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1624257" y="3051612"/>
              <a:ext cx="653143" cy="653143"/>
              <a:chOff x="1624257" y="2964528"/>
              <a:chExt cx="653143" cy="653143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1624257" y="2964528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98613" y="3140242"/>
                <a:ext cx="301715" cy="301715"/>
              </a:xfrm>
              <a:prstGeom prst="rect">
                <a:avLst/>
              </a:prstGeom>
            </p:spPr>
          </p:pic>
        </p:grpSp>
        <p:grpSp>
          <p:nvGrpSpPr>
            <p:cNvPr id="27" name="组合 26"/>
            <p:cNvGrpSpPr/>
            <p:nvPr/>
          </p:nvGrpSpPr>
          <p:grpSpPr>
            <a:xfrm>
              <a:off x="4439738" y="2515107"/>
              <a:ext cx="653143" cy="653143"/>
              <a:chOff x="4439738" y="2428023"/>
              <a:chExt cx="653143" cy="653143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4439738" y="2428023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87945" y="2607826"/>
                <a:ext cx="356728" cy="304799"/>
              </a:xfrm>
              <a:prstGeom prst="rect">
                <a:avLst/>
              </a:prstGeom>
            </p:spPr>
          </p:pic>
        </p:grpSp>
        <p:grpSp>
          <p:nvGrpSpPr>
            <p:cNvPr id="30" name="组合 29"/>
            <p:cNvGrpSpPr/>
            <p:nvPr/>
          </p:nvGrpSpPr>
          <p:grpSpPr>
            <a:xfrm>
              <a:off x="7054498" y="1978604"/>
              <a:ext cx="653143" cy="653143"/>
              <a:chOff x="7054498" y="1891520"/>
              <a:chExt cx="653143" cy="653143"/>
            </a:xfrm>
          </p:grpSpPr>
          <p:sp>
            <p:nvSpPr>
              <p:cNvPr id="25" name="椭圆 24"/>
              <p:cNvSpPr/>
              <p:nvPr/>
            </p:nvSpPr>
            <p:spPr>
              <a:xfrm>
                <a:off x="7054498" y="1891520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45074" y="2068821"/>
                <a:ext cx="279486" cy="298541"/>
              </a:xfrm>
              <a:prstGeom prst="rect">
                <a:avLst/>
              </a:prstGeom>
            </p:spPr>
          </p:pic>
        </p:grpSp>
        <p:grpSp>
          <p:nvGrpSpPr>
            <p:cNvPr id="33" name="组合 32"/>
            <p:cNvGrpSpPr/>
            <p:nvPr/>
          </p:nvGrpSpPr>
          <p:grpSpPr>
            <a:xfrm>
              <a:off x="9850732" y="1473723"/>
              <a:ext cx="653143" cy="653143"/>
              <a:chOff x="9850732" y="1386639"/>
              <a:chExt cx="653143" cy="653143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9850732" y="1386639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2685" y="1537515"/>
                <a:ext cx="349236" cy="351391"/>
              </a:xfrm>
              <a:prstGeom prst="rect">
                <a:avLst/>
              </a:prstGeom>
            </p:spPr>
          </p:pic>
        </p:grpSp>
        <p:grpSp>
          <p:nvGrpSpPr>
            <p:cNvPr id="36" name="组合 35"/>
            <p:cNvGrpSpPr/>
            <p:nvPr/>
          </p:nvGrpSpPr>
          <p:grpSpPr>
            <a:xfrm>
              <a:off x="747522" y="4547582"/>
              <a:ext cx="2558655" cy="1336067"/>
              <a:chOff x="776550" y="4750778"/>
              <a:chExt cx="2558655" cy="1336067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776550" y="4750778"/>
                <a:ext cx="245554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开发工具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vscode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865450" y="5226420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插件丰富，功能齐全，优秀的代码补全能力，主题丰富，生态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完善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526842" y="4134633"/>
              <a:ext cx="2471660" cy="1849147"/>
              <a:chOff x="863545" y="4750778"/>
              <a:chExt cx="2471660" cy="1849147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863545" y="4750778"/>
                <a:ext cx="224599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MySQL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数据库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865450" y="5226420"/>
                <a:ext cx="2469755" cy="1373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MySQL的运行速度快，且体积小，命令执行的速度快，MySQL是开源的，而且提供免费版本供开发人员使用。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6221072" y="3205688"/>
              <a:ext cx="2469755" cy="3229637"/>
              <a:chOff x="865450" y="4396448"/>
              <a:chExt cx="2469755" cy="3229637"/>
            </a:xfrm>
          </p:grpSpPr>
          <p:sp>
            <p:nvSpPr>
              <p:cNvPr id="41" name="文本框 40"/>
              <p:cNvSpPr txBox="1"/>
              <p:nvPr/>
            </p:nvSpPr>
            <p:spPr>
              <a:xfrm>
                <a:off x="905455" y="4396448"/>
                <a:ext cx="227393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开发语言</a:t>
                </a:r>
                <a:r>
                  <a:rPr lang="en-US" altLang="zh-CN" sz="2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865450" y="5226420"/>
                <a:ext cx="2469755" cy="2399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（简称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）是一种广泛使用的编程语言，主要用于网页和网络应用的开发，使网页具有交互性。它通常用于实现客户端的网页脚本，但随着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Node.js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的发展，现在也可以用于服务器端的编程。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8501917" y="3071236"/>
              <a:ext cx="3051175" cy="3644927"/>
              <a:chOff x="453970" y="4750778"/>
              <a:chExt cx="3051175" cy="3644927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453970" y="4750778"/>
                <a:ext cx="30511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框架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uni-app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865450" y="5226420"/>
                <a:ext cx="2469755" cy="316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uni-app 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是一个使用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 vue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开发所有前端应用的框架，开发者编写一套代码，可发布到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iOS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Android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Web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（响应式）、以及各种小程序多个平台。它旨在解决传统单一平台开发工具链冗长、学习成本高和跨平台兼容性差的问题，极大地提高了开发效率和代码复用率。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83">
        <p:random/>
      </p:transition>
    </mc:Choice>
    <mc:Fallback>
      <p:transition spd="slow" advTm="1083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15303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概念设计</a:t>
            </a:r>
            <a:endParaRPr lang="zh-CN" altLang="en-US" sz="2400"/>
          </a:p>
        </p:txBody>
      </p:sp>
      <p:sp>
        <p:nvSpPr>
          <p:cNvPr id="4" name="矩形 3"/>
          <p:cNvSpPr/>
          <p:nvPr/>
        </p:nvSpPr>
        <p:spPr>
          <a:xfrm>
            <a:off x="439420" y="1686560"/>
            <a:ext cx="11403330" cy="15741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每个实体都在数据库中有相应的表，实体的每一个属性与相应表内的每一列列名对应。经过系统的考虑和设计，本系统主要有如下实体：用户实体，联系人实体，群组实体，</a:t>
            </a:r>
            <a:r>
              <a:rPr lang="zh-CN" altLang="en-US" sz="2000"/>
              <a:t>朋友圈实体等等。</a:t>
            </a:r>
            <a:endParaRPr lang="zh-CN" altLang="en-US" sz="2000"/>
          </a:p>
        </p:txBody>
      </p:sp>
      <p:pic>
        <p:nvPicPr>
          <p:cNvPr id="7" name="ECB019B1-382A-4266-B25C-5B523AA43C14-1" descr="C:/Users/18043/AppData/Local/Temp/wps.wlcEAQw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" y="3082290"/>
            <a:ext cx="4342765" cy="3443605"/>
          </a:xfrm>
          <a:prstGeom prst="rect">
            <a:avLst/>
          </a:prstGeom>
        </p:spPr>
      </p:pic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rcRect l="5058" t="9328" r="5058" b="4958"/>
          <a:stretch>
            <a:fillRect/>
          </a:stretch>
        </p:blipFill>
        <p:spPr>
          <a:xfrm>
            <a:off x="6414135" y="3175635"/>
            <a:ext cx="4425315" cy="32569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逻辑结构设计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329565" y="1603375"/>
            <a:ext cx="11688445" cy="21590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用户信息表（用户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，用户姓名，用户头像，账号，密码，个性签名，创建时间）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2. </a:t>
            </a:r>
            <a:r>
              <a:rPr lang="zh-CN" altLang="en-US">
                <a:sym typeface="+mn-ea"/>
              </a:rPr>
              <a:t>联系人信息表（唯一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，联系人名称，联系人头像，联系人分组）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3. </a:t>
            </a:r>
            <a:r>
              <a:rPr lang="zh-CN" altLang="en-US">
                <a:sym typeface="+mn-ea"/>
              </a:rPr>
              <a:t>群组信息表（群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，群名称，群头像，禁言状态，创建时间）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4. </a:t>
            </a:r>
            <a:r>
              <a:rPr lang="zh-CN" altLang="en-US">
                <a:sym typeface="+mn-ea"/>
              </a:rPr>
              <a:t>群成员信息表（唯一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，用户昵称，用户头像，角色，禁言状态，加入时间）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5. </a:t>
            </a:r>
            <a:r>
              <a:rPr lang="zh-CN" altLang="en-US">
                <a:sym typeface="+mn-ea"/>
              </a:rPr>
              <a:t>表情包信息表（唯一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，表情包链接）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6.</a:t>
            </a:r>
            <a:r>
              <a:rPr lang="zh-CN" altLang="en-US">
                <a:sym typeface="+mn-ea"/>
              </a:rPr>
              <a:t>朋友圈信息表（唯一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，内容，图片列表，点赞列表，评论列表，发布时间）</a:t>
            </a:r>
            <a:endParaRPr lang="zh-CN" altLang="en-US">
              <a:sym typeface="+mn-ea"/>
            </a:endParaRPr>
          </a:p>
          <a:p>
            <a:pPr algn="l" fontAlgn="auto"/>
            <a:r>
              <a:rPr lang="en-US" altLang="zh-CN"/>
              <a:t>7. </a:t>
            </a:r>
            <a:r>
              <a:rPr lang="zh-CN" altLang="en-US"/>
              <a:t>联系人申请表（唯一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，联系人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  <a:p>
            <a:pPr algn="l" fontAlgn="auto"/>
            <a:r>
              <a:rPr lang="en-US" altLang="zh-CN"/>
              <a:t>8. </a:t>
            </a:r>
            <a:r>
              <a:rPr lang="zh-CN" altLang="en-US"/>
              <a:t>群聊申请表（唯一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，群</a:t>
            </a:r>
            <a:r>
              <a:rPr lang="en-US" altLang="zh-CN"/>
              <a:t>ID</a:t>
            </a:r>
            <a:r>
              <a:rPr lang="zh-CN" altLang="en-US"/>
              <a:t>，创建者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物理结构设计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本系统采用的后台数据库是MySQL数据库系统，本数据库名称为“</a:t>
            </a:r>
            <a:r>
              <a:rPr lang="en-US" altLang="zh-CN" sz="2000"/>
              <a:t>chat-app</a:t>
            </a:r>
            <a:r>
              <a:rPr lang="zh-CN" altLang="en-US" sz="2000"/>
              <a:t>”，根据实体及其属性共设计出</a:t>
            </a:r>
            <a:r>
              <a:rPr lang="en-US" altLang="zh-CN" sz="2000"/>
              <a:t>8</a:t>
            </a:r>
            <a:r>
              <a:rPr lang="zh-CN" altLang="en-US" sz="2000"/>
              <a:t>张数据表。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2559685"/>
            <a:ext cx="7327265" cy="41973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用户登录界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用户想要使用本客户关系管理系统时，需输入用户名和密码和随机生成的验证码，系统验证用户输入的用户名和密码与数据库中用户表进行比对，如果账号密码与数据库中的用户名、密码相匹配就准许进入系统，否则提示用户名或密码错误。</a:t>
            </a:r>
            <a:endParaRPr lang="zh-CN" altLang="en-US" sz="2000"/>
          </a:p>
        </p:txBody>
      </p:sp>
      <p:pic>
        <p:nvPicPr>
          <p:cNvPr id="138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39235" y="2482850"/>
            <a:ext cx="4357370" cy="376745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主界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用户成功登陆系统后将进入主页面，在主页面的左侧就是功能菜单，用户可以选择自己想要的功能，点击即可进入功能页面，但不同用户权限不同，没有模块的权限是无法访问的，管理员账号拥有所有权限。</a:t>
            </a:r>
            <a:endParaRPr lang="zh-CN" altLang="en-US" sz="2000"/>
          </a:p>
        </p:txBody>
      </p:sp>
      <p:pic>
        <p:nvPicPr>
          <p:cNvPr id="4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538730"/>
            <a:ext cx="9645015" cy="39300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6055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客户信息管理界面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“客户信息管理”，可以查看客户的基本信息完成客户的增加、删除、更改、查询客户信息。可以点击“企业”按钮或者“个人按钮”来进行筛选，筛选出企业客户或者个人客户。</a:t>
            </a:r>
            <a:endParaRPr lang="zh-CN" altLang="en-US" sz="2000"/>
          </a:p>
        </p:txBody>
      </p:sp>
      <p:pic>
        <p:nvPicPr>
          <p:cNvPr id="10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395" y="2730500"/>
            <a:ext cx="10038715" cy="37014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客户订单查看界面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客户订单查看，可以进入客户订单查看页面，查看客户订单。可以根据客户编号来查询不同客户的订单，在搜索客户编号框内输入客户编号，进行查询某个客户的所有订单。当某个客户订单总额大于10000时，将自动升级为重点客户。</a:t>
            </a:r>
            <a:endParaRPr lang="zh-CN" altLang="en-US" sz="2000"/>
          </a:p>
        </p:txBody>
      </p:sp>
      <p:pic>
        <p:nvPicPr>
          <p:cNvPr id="13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105" y="2758440"/>
            <a:ext cx="10765790" cy="364934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流失客户管理界面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</a:t>
            </a:r>
            <a:r>
              <a:rPr lang="zh-CN" altLang="en-US" sz="2000"/>
              <a:t>在主界面中左侧“客户管理”进入此模块。点击流失客户管理，可以进入流失客户管理页面，增加、删除、更改、查询流失客户。可以根据流失的姓名来进行查询流失客户，在“搜索客户姓名”框内输入姓名，可以进行流失客户的查询。</a:t>
            </a:r>
            <a:endParaRPr lang="zh-CN" altLang="en-US" sz="2000"/>
          </a:p>
        </p:txBody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495" y="2775585"/>
            <a:ext cx="10318750" cy="33458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重点客户管理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点击主界面中左侧“客户管理”进入此模块。点击重点客户管理，可以进入重点客户管理页面，增加、删除、更改、查询重点客户。</a:t>
            </a:r>
            <a:endParaRPr lang="zh-CN" altLang="en-US" sz="2000"/>
          </a:p>
        </p:txBody>
      </p:sp>
      <p:pic>
        <p:nvPicPr>
          <p:cNvPr id="22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020" y="2492375"/>
            <a:ext cx="10209530" cy="380428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</a:t>
            </a:r>
            <a:r>
              <a:rPr lang="zh-CN" altLang="en-US" sz="2400"/>
              <a:t>户管理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点击主界面中左侧“权限管理”进入此模块。点击用户管理，可以进入用户管理页面，增加、删除、更改、查询用户，管理员用户可以给不同用户</a:t>
            </a:r>
            <a:r>
              <a:rPr lang="zh-CN" altLang="en-US" sz="2000"/>
              <a:t>赋予不同</a:t>
            </a:r>
            <a:r>
              <a:rPr lang="zh-CN" altLang="en-US" sz="2000"/>
              <a:t>角色。</a:t>
            </a:r>
            <a:endParaRPr lang="zh-CN" altLang="en-US" sz="2000"/>
          </a:p>
        </p:txBody>
      </p:sp>
      <p:pic>
        <p:nvPicPr>
          <p:cNvPr id="161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445" y="2584450"/>
            <a:ext cx="10098405" cy="362902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角色管理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点击主界面中左侧“权限管理”进入此模块。点击角色管理，可以进入角色管理页面，增加、删除、更改、查询角色，不同的角色有不同的权限。</a:t>
            </a:r>
            <a:endParaRPr lang="zh-CN" altLang="en-US" sz="2000"/>
          </a:p>
        </p:txBody>
      </p:sp>
      <p:pic>
        <p:nvPicPr>
          <p:cNvPr id="162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2858770"/>
            <a:ext cx="11154410" cy="355917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资源管理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点击主界面中左侧“权限管理”进入此模块。点击资源管理，可以进入资源管理页面，增加、删除、更改、查询资源，不同的</a:t>
            </a:r>
            <a:r>
              <a:rPr lang="zh-CN" altLang="en-US" sz="2000"/>
              <a:t>权限有不同的资源。</a:t>
            </a:r>
            <a:endParaRPr lang="zh-CN" altLang="en-US" sz="2000"/>
          </a:p>
        </p:txBody>
      </p:sp>
      <p:pic>
        <p:nvPicPr>
          <p:cNvPr id="163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985" y="2858770"/>
            <a:ext cx="10552430" cy="379285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营销机会管理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点击主界面中左侧“营销管理”进入此模块。点击营销机会管理，可以进入营销机会管理页面，增加、删除、更改、查询营销机会。</a:t>
            </a:r>
            <a:endParaRPr lang="zh-CN" altLang="en-US" sz="2000"/>
          </a:p>
        </p:txBody>
      </p:sp>
      <p:pic>
        <p:nvPicPr>
          <p:cNvPr id="6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260" y="2601595"/>
            <a:ext cx="11009630" cy="384937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开发计划管理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点击主界面中左侧“营销管理”进入此模块。点击客户开发计划，可以进入客户开发计划页面，增加、删除、更改、查询客户开发计划。</a:t>
            </a:r>
            <a:endParaRPr lang="zh-CN" altLang="en-US" sz="2000"/>
          </a:p>
        </p:txBody>
      </p:sp>
      <p:pic>
        <p:nvPicPr>
          <p:cNvPr id="41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085" y="2707005"/>
            <a:ext cx="10584815" cy="359283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服务</a:t>
            </a:r>
            <a:r>
              <a:rPr lang="zh-CN" altLang="en-US" sz="2400"/>
              <a:t>创建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点击主界面中左侧“服务管理”进入此模块。本系统中分为售前服务，售中服务，售后服务，根据不同客户的需求创建不同的服务，点击服务创建，可以进入服务创建页面，增加、删除、更改、查询服务。</a:t>
            </a:r>
            <a:endParaRPr lang="zh-CN" altLang="en-US" sz="2000"/>
          </a:p>
        </p:txBody>
      </p:sp>
      <p:pic>
        <p:nvPicPr>
          <p:cNvPr id="7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85" y="2858770"/>
            <a:ext cx="10356850" cy="331279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58039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04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论文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小结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论文小结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04.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í$lïdé"/>
          <p:cNvSpPr/>
          <p:nvPr/>
        </p:nvSpPr>
        <p:spPr bwMode="auto">
          <a:xfrm>
            <a:off x="149682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0 1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0" name="íŝḻîďé"/>
          <p:cNvSpPr/>
          <p:nvPr/>
        </p:nvSpPr>
        <p:spPr bwMode="auto">
          <a:xfrm>
            <a:off x="418178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0 2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1" name="íšlîḑé"/>
          <p:cNvSpPr/>
          <p:nvPr/>
        </p:nvSpPr>
        <p:spPr bwMode="auto">
          <a:xfrm>
            <a:off x="686673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0 3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ïŝlîḓè"/>
          <p:cNvSpPr/>
          <p:nvPr/>
        </p:nvSpPr>
        <p:spPr bwMode="auto">
          <a:xfrm>
            <a:off x="955169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0 4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3051124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5743546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8435967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57885" y="3353435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由于当今中国各类公司兴起，很难有一款适应所有行业的客户关系管理系统面世，且各个公司发展模式不同，企业对于系统的要求也不同。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47745" y="3472180"/>
            <a:ext cx="250952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本系统功能还比较简单，在以后的工作生活中，可以继续对本系统进行完善。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351905" y="3470910"/>
            <a:ext cx="2509520" cy="1706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Java语言经过多年的发展，已经相当成熟，未来的发展相当不错，可以将Java作为主学语言。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9021445" y="3470910"/>
            <a:ext cx="2509520" cy="2999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本系统使用的是MySQL数据库，MySQL数据库使用简单，SQL语句对于一名Java开发工程师来说也是相当重要的，必须要把数据库学好，这样在未来的开发工作中才能事半功倍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19">
        <p:random/>
      </p:transition>
    </mc:Choice>
    <mc:Fallback>
      <p:transition spd="slow" advTm="401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/>
          <p:cNvSpPr/>
          <p:nvPr/>
        </p:nvSpPr>
        <p:spPr>
          <a:xfrm>
            <a:off x="110363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69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05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致谢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ldLvl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8350"/>
            <a:chOff x="145646" y="165322"/>
            <a:chExt cx="4862917" cy="768350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8350"/>
              <a:chOff x="107546" y="317722"/>
              <a:chExt cx="4521604" cy="76835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83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05.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20700" y="1337310"/>
            <a:ext cx="10617200" cy="50374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/>
              <a:t>大学四年时光飞逝，转眼已经到了要出社会的时候，对未来充满期待。</a:t>
            </a:r>
            <a:endParaRPr lang="zh-CN" altLang="en-US"/>
          </a:p>
          <a:p>
            <a:pPr algn="l" fontAlgn="auto"/>
            <a:r>
              <a:rPr lang="zh-CN" altLang="en-US"/>
              <a:t>在这里，我要感谢指导老师朱老师，在我做毕业设计的过程中，老师一直给予我无私的帮助，经常牺牲自己的休息时间来帮我解答问题，特别感谢老师对于我的帮助！</a:t>
            </a:r>
            <a:endParaRPr lang="zh-CN" altLang="en-US"/>
          </a:p>
          <a:p>
            <a:pPr algn="l" fontAlgn="auto"/>
            <a:r>
              <a:rPr lang="zh-CN" altLang="en-US"/>
              <a:t>感谢我的父母，把我抚养成人，供我学习，感谢父母的养育之恩。</a:t>
            </a:r>
            <a:endParaRPr lang="zh-CN" altLang="en-US"/>
          </a:p>
          <a:p>
            <a:pPr algn="l" fontAlgn="auto"/>
            <a:r>
              <a:rPr lang="zh-CN" altLang="en-US"/>
              <a:t>感谢生命中遇到的所有老师，是你们的淳淳教诲让我完成学业，谢谢所有老师们。</a:t>
            </a:r>
            <a:endParaRPr lang="zh-CN" altLang="en-US"/>
          </a:p>
          <a:p>
            <a:pPr algn="l" fontAlgn="auto"/>
            <a:r>
              <a:rPr lang="zh-CN" altLang="en-US"/>
              <a:t>感谢室友们四年来的朝夕相伴。</a:t>
            </a:r>
            <a:endParaRPr lang="zh-CN" altLang="en-US"/>
          </a:p>
          <a:p>
            <a:pPr algn="l" fontAlgn="auto"/>
            <a:r>
              <a:rPr lang="zh-CN" altLang="en-US"/>
              <a:t>感谢生命中遇到的所有人。</a:t>
            </a:r>
            <a:endParaRPr lang="zh-CN" altLang="en-US"/>
          </a:p>
          <a:p>
            <a:pPr algn="l" fontAlgn="auto"/>
            <a:r>
              <a:rPr lang="zh-CN" altLang="en-US"/>
              <a:t>感谢母校。</a:t>
            </a:r>
            <a:endParaRPr lang="zh-CN" altLang="en-US"/>
          </a:p>
          <a:p>
            <a:pPr algn="l" fontAlgn="auto"/>
            <a:r>
              <a:rPr lang="zh-CN" altLang="en-US"/>
              <a:t>感谢祖国。</a:t>
            </a:r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9199880" y="694639"/>
            <a:ext cx="1504033" cy="1158528"/>
            <a:chOff x="2498090" y="1943411"/>
            <a:chExt cx="1504033" cy="1158528"/>
          </a:xfrm>
        </p:grpSpPr>
        <p:grpSp>
          <p:nvGrpSpPr>
            <p:cNvPr id="23" name="组合 22"/>
            <p:cNvGrpSpPr/>
            <p:nvPr/>
          </p:nvGrpSpPr>
          <p:grpSpPr>
            <a:xfrm>
              <a:off x="2847021" y="1946837"/>
              <a:ext cx="1155102" cy="1155102"/>
              <a:chOff x="928913" y="3135085"/>
              <a:chExt cx="2032000" cy="2032000"/>
            </a:xfrm>
          </p:grpSpPr>
          <p:sp>
            <p:nvSpPr>
              <p:cNvPr id="28" name="泪滴形 27"/>
              <p:cNvSpPr/>
              <p:nvPr/>
            </p:nvSpPr>
            <p:spPr>
              <a:xfrm rot="8255537">
                <a:off x="928913" y="3135085"/>
                <a:ext cx="2032000" cy="2032000"/>
              </a:xfrm>
              <a:prstGeom prst="teardrop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1210490" y="3416662"/>
                <a:ext cx="1468847" cy="146884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2498090" y="1943411"/>
              <a:ext cx="709714" cy="483375"/>
              <a:chOff x="2498090" y="1943411"/>
              <a:chExt cx="709714" cy="483375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2608627" y="1943411"/>
                <a:ext cx="483375" cy="483375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2498090" y="1989641"/>
                <a:ext cx="709714" cy="39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zh-CN" altLang="en-US" sz="2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78">
        <p:random/>
      </p:transition>
    </mc:Choice>
    <mc:Fallback>
      <p:transition spd="slow" advTm="24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1886854" y="2130842"/>
            <a:ext cx="8495705" cy="1577355"/>
            <a:chOff x="1886854" y="2092742"/>
            <a:chExt cx="8495705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1886854" y="2092742"/>
              <a:ext cx="8495705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谢谢</a:t>
              </a:r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大家</a:t>
              </a:r>
              <a:endParaRPr lang="zh-CN" altLang="en-US" sz="88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89998" cy="337185"/>
            <a:chOff x="4408975" y="3969165"/>
            <a:chExt cx="2189998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855525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肖志伟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423607" y="4059851"/>
            <a:ext cx="2212393" cy="337185"/>
            <a:chOff x="6249439" y="3970951"/>
            <a:chExt cx="2212393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12393" cy="337185"/>
              <a:chOff x="4408975" y="3969165"/>
              <a:chExt cx="2212393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877919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素英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75" y="264795"/>
            <a:ext cx="2964180" cy="5943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0100" y="0"/>
            <a:ext cx="1136650" cy="1123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651">
        <p:random/>
      </p:transition>
    </mc:Choice>
    <mc:Fallback>
      <p:transition spd="slow" advTm="1651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ags/tag1.xml><?xml version="1.0" encoding="utf-8"?>
<p:tagLst xmlns:p="http://schemas.openxmlformats.org/presentationml/2006/main">
  <p:tag name="TIMING" val="|0.7|0.6|0.5|1"/>
</p:tagLst>
</file>

<file path=ppt/tags/tag2.xml><?xml version="1.0" encoding="utf-8"?>
<p:tagLst xmlns:p="http://schemas.openxmlformats.org/presentationml/2006/main">
  <p:tag name="TIMING" val="|0.5|0.5|0.4"/>
</p:tagLst>
</file>

<file path=ppt/tags/tag3.xml><?xml version="1.0" encoding="utf-8"?>
<p:tagLst xmlns:p="http://schemas.openxmlformats.org/presentationml/2006/main">
  <p:tag name="TIMING" val="|0.4|0.3|0.3|0.4"/>
</p:tagLst>
</file>

<file path=ppt/tags/tag4.xml><?xml version="1.0" encoding="utf-8"?>
<p:tagLst xmlns:p="http://schemas.openxmlformats.org/presentationml/2006/main">
  <p:tag name="TIMING" val="|0.4|0.4|0.4"/>
</p:tagLst>
</file>

<file path=ppt/tags/tag5.xml><?xml version="1.0" encoding="utf-8"?>
<p:tagLst xmlns:p="http://schemas.openxmlformats.org/presentationml/2006/main">
  <p:tag name="TIMING" val="|0.4|0.4|0.4"/>
</p:tagLst>
</file>

<file path=ppt/tags/tag6.xml><?xml version="1.0" encoding="utf-8"?>
<p:tagLst xmlns:p="http://schemas.openxmlformats.org/presentationml/2006/main">
  <p:tag name="TIMING" val="|0.4|0.4|0.4"/>
</p:tagLst>
</file>

<file path=ppt/tags/tag7.xml><?xml version="1.0" encoding="utf-8"?>
<p:tagLst xmlns:p="http://schemas.openxmlformats.org/presentationml/2006/main">
  <p:tag name="TIMING" val="|0.4|0.4|0.4"/>
</p:tagLst>
</file>

<file path=ppt/tags/tag8.xml><?xml version="1.0" encoding="utf-8"?>
<p:tagLst xmlns:p="http://schemas.openxmlformats.org/presentationml/2006/main">
  <p:tag name="TIMING" val="|0.3|0.3|0.3|0.4"/>
</p:tagLst>
</file>

<file path=ppt/tags/tag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5.xml><?xml version="1.0" encoding="utf-8"?>
<p:tagLst xmlns:p="http://schemas.openxmlformats.org/presentationml/2006/main">
  <p:tag name="TIMING" val="|0.3|0.3"/>
</p:tagLst>
</file>

<file path=ppt/tags/tag46.xml><?xml version="1.0" encoding="utf-8"?>
<p:tagLst xmlns:p="http://schemas.openxmlformats.org/presentationml/2006/main">
  <p:tag name="TIMING" val="|0.3|0.3|0.3"/>
</p:tagLst>
</file>

<file path=ppt/tags/tag4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8.xml><?xml version="1.0" encoding="utf-8"?>
<p:tagLst xmlns:p="http://schemas.openxmlformats.org/presentationml/2006/main">
  <p:tag name="TIMING" val="|0.3"/>
</p:tagLst>
</file>

<file path=ppt/tags/tag69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0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1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2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3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4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5.xml><?xml version="1.0" encoding="utf-8"?>
<p:tagLst xmlns:p="http://schemas.openxmlformats.org/presentationml/2006/main">
  <p:tag name="TIMING" val="|0.3|0.3|0.4"/>
</p:tagLst>
</file>

<file path=ppt/tags/tag76.xml><?xml version="1.0" encoding="utf-8"?>
<p:tagLst xmlns:p="http://schemas.openxmlformats.org/presentationml/2006/main">
  <p:tag name="TIMING" val="|0.3|0.4|0.3|0.3"/>
</p:tagLst>
</file>

<file path=ppt/tags/tag77.xml><?xml version="1.0" encoding="utf-8"?>
<p:tagLst xmlns:p="http://schemas.openxmlformats.org/presentationml/2006/main">
  <p:tag name="TIMING" val="|0.3"/>
</p:tagLst>
</file>

<file path=ppt/tags/tag78.xml><?xml version="1.0" encoding="utf-8"?>
<p:tagLst xmlns:p="http://schemas.openxmlformats.org/presentationml/2006/main">
  <p:tag name="TIMING" val="|0.3|0.4|0.4|0.4|0.3|0.2|0.2"/>
</p:tagLst>
</file>

<file path=ppt/tags/tag79.xml><?xml version="1.0" encoding="utf-8"?>
<p:tagLst xmlns:p="http://schemas.openxmlformats.org/presentationml/2006/main">
  <p:tag name="TIMING" val="|0.3|0.4|0.4|0.4|0.3|0.2|0.2"/>
</p:tagLst>
</file>

<file path=ppt/tags/tag80.xml><?xml version="1.0" encoding="utf-8"?>
<p:tagLst xmlns:p="http://schemas.openxmlformats.org/presentationml/2006/main">
  <p:tag name="TIMING" val="|0.3|0.4|0.4|0.4|0.3|0.2|0.2"/>
</p:tagLst>
</file>

<file path=ppt/tags/tag81.xml><?xml version="1.0" encoding="utf-8"?>
<p:tagLst xmlns:p="http://schemas.openxmlformats.org/presentationml/2006/main">
  <p:tag name="TIMING" val="|0.3|0.4|0.4|0.4|0.3|0.2|0.2"/>
</p:tagLst>
</file>

<file path=ppt/tags/tag82.xml><?xml version="1.0" encoding="utf-8"?>
<p:tagLst xmlns:p="http://schemas.openxmlformats.org/presentationml/2006/main">
  <p:tag name="TIMING" val="|0.3|0.4|0.4|0.4|0.3|0.2|0.2"/>
</p:tagLst>
</file>

<file path=ppt/tags/tag83.xml><?xml version="1.0" encoding="utf-8"?>
<p:tagLst xmlns:p="http://schemas.openxmlformats.org/presentationml/2006/main">
  <p:tag name="TIMING" val="|0.3|0.4|0.4|0.4|0.3|0.2|0.2"/>
</p:tagLst>
</file>

<file path=ppt/tags/tag84.xml><?xml version="1.0" encoding="utf-8"?>
<p:tagLst xmlns:p="http://schemas.openxmlformats.org/presentationml/2006/main">
  <p:tag name="TIMING" val="|0.3|0.4|0.4|0.4|0.3|0.2|0.2"/>
</p:tagLst>
</file>

<file path=ppt/tags/tag85.xml><?xml version="1.0" encoding="utf-8"?>
<p:tagLst xmlns:p="http://schemas.openxmlformats.org/presentationml/2006/main">
  <p:tag name="TIMING" val="|0.3|0.4|0.4|0.4|0.3|0.2|0.2"/>
</p:tagLst>
</file>

<file path=ppt/tags/tag86.xml><?xml version="1.0" encoding="utf-8"?>
<p:tagLst xmlns:p="http://schemas.openxmlformats.org/presentationml/2006/main">
  <p:tag name="TIMING" val="|0.3|0.4|0.4|0.4|0.3|0.2|0.2"/>
</p:tagLst>
</file>

<file path=ppt/tags/tag87.xml><?xml version="1.0" encoding="utf-8"?>
<p:tagLst xmlns:p="http://schemas.openxmlformats.org/presentationml/2006/main">
  <p:tag name="TIMING" val="|0.3|0.4|0.4|0.4|0.3|0.2|0.2"/>
</p:tagLst>
</file>

<file path=ppt/tags/tag88.xml><?xml version="1.0" encoding="utf-8"?>
<p:tagLst xmlns:p="http://schemas.openxmlformats.org/presentationml/2006/main">
  <p:tag name="TIMING" val="|0.3|0.4|0.4|0.4|0.3|0.2|0.2"/>
</p:tagLst>
</file>

<file path=ppt/tags/tag89.xml><?xml version="1.0" encoding="utf-8"?>
<p:tagLst xmlns:p="http://schemas.openxmlformats.org/presentationml/2006/main">
  <p:tag name="TIMING" val="|0.3|0.4|0.4|0.4|0.3|0.2|0.2"/>
</p:tagLst>
</file>

<file path=ppt/tags/tag90.xml><?xml version="1.0" encoding="utf-8"?>
<p:tagLst xmlns:p="http://schemas.openxmlformats.org/presentationml/2006/main">
  <p:tag name="TIMING" val="|0.3|0.4|0.4|0.4|0.3|0.2|0.2"/>
</p:tagLst>
</file>

<file path=ppt/tags/tag91.xml><?xml version="1.0" encoding="utf-8"?>
<p:tagLst xmlns:p="http://schemas.openxmlformats.org/presentationml/2006/main">
  <p:tag name="TIMING" val="|0.3|0.4|0.4|0.4|0.3|0.2|0.2"/>
</p:tagLst>
</file>

<file path=ppt/tags/tag92.xml><?xml version="1.0" encoding="utf-8"?>
<p:tagLst xmlns:p="http://schemas.openxmlformats.org/presentationml/2006/main">
  <p:tag name="TIMING" val="|0.3|0.4|0.4|0.4|0.3|0.2|0.2"/>
</p:tagLst>
</file>

<file path=ppt/tags/tag93.xml><?xml version="1.0" encoding="utf-8"?>
<p:tagLst xmlns:p="http://schemas.openxmlformats.org/presentationml/2006/main">
  <p:tag name="TIMING" val="|0.3|0.3|0.3|0.4"/>
</p:tagLst>
</file>

<file path=ppt/tags/tag94.xml><?xml version="1.0" encoding="utf-8"?>
<p:tagLst xmlns:p="http://schemas.openxmlformats.org/presentationml/2006/main">
  <p:tag name="TIMING" val="|0.3|0.2|0.1|0.2|0.3|0.2|0.3|0.3|0.3|0.3|0.3|0.3"/>
</p:tagLst>
</file>

<file path=ppt/tags/tag95.xml><?xml version="1.0" encoding="utf-8"?>
<p:tagLst xmlns:p="http://schemas.openxmlformats.org/presentationml/2006/main">
  <p:tag name="TIMING" val="|0.3|0.3|0.3|0.4"/>
</p:tagLst>
</file>

<file path=ppt/tags/tag96.xml><?xml version="1.0" encoding="utf-8"?>
<p:tagLst xmlns:p="http://schemas.openxmlformats.org/presentationml/2006/main">
  <p:tag name="TIMING" val="|0.3|0.3|0.3|0.3|0.3"/>
</p:tagLst>
</file>

<file path=ppt/tags/tag97.xml><?xml version="1.0" encoding="utf-8"?>
<p:tagLst xmlns:p="http://schemas.openxmlformats.org/presentationml/2006/main">
  <p:tag name="TIMING" val="|0.3|0.2|0.2|0.2"/>
</p:tagLst>
</file>

<file path=ppt/tags/tag98.xml><?xml version="1.0" encoding="utf-8"?>
<p:tagLst xmlns:p="http://schemas.openxmlformats.org/presentationml/2006/main">
  <p:tag name="COMMONDATA" val="eyJoZGlkIjoiN2E1NmRjNzhlMjE3N2Q3ZjMyMTFkMWQ1ZmM5MTFhNjYifQ=="/>
  <p:tag name="KSO_WPP_MARK_KEY" val="67848404-78da-4217-895d-bac7dbbd95fd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yqzmw0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5991</Words>
  <Application>WPS 演示</Application>
  <PresentationFormat>自定义</PresentationFormat>
  <Paragraphs>446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44" baseType="lpstr">
      <vt:lpstr>Arial</vt:lpstr>
      <vt:lpstr>宋体</vt:lpstr>
      <vt:lpstr>Wingdings</vt:lpstr>
      <vt:lpstr>方正正黑简体</vt:lpstr>
      <vt:lpstr>黑体</vt:lpstr>
      <vt:lpstr>微软雅黑</vt:lpstr>
      <vt:lpstr>Arial Unicode MS</vt:lpstr>
      <vt:lpstr>Calibri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</dc:creator>
  <cp:keywords>www.1ppt.com</cp:keywords>
  <dc:description>www.1ppt.com</dc:description>
  <cp:lastModifiedBy>刘哲</cp:lastModifiedBy>
  <cp:revision>235</cp:revision>
  <dcterms:created xsi:type="dcterms:W3CDTF">2021-05-17T01:01:00Z</dcterms:created>
  <dcterms:modified xsi:type="dcterms:W3CDTF">2025-05-10T08:53:05Z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49EE6D884B1F481DB210A0B3FEF2E640_12</vt:lpwstr>
  </property>
  <property fmtid="{D5CDD505-2E9C-101B-9397-08002B2CF9AE}" pid="3" name="KSOProductBuildVer">
    <vt:lpwstr>2052-12.1.0.20305</vt:lpwstr>
  </property>
</Properties>
</file>