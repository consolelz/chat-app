
<file path=[Content_Types].xml><?xml version="1.0" encoding="utf-8"?>
<Types xmlns="http://schemas.openxmlformats.org/package/2006/content-types">
  <Default Extension="jpeg" ContentType="image/jpeg"/>
  <Default Extension="JPG" ContentType="image/.jpg"/>
  <Default Extension="emf" ContentType="image/x-em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3"/>
  </p:sldMasterIdLst>
  <p:sldIdLst>
    <p:sldId id="256" r:id="rId4"/>
    <p:sldId id="257" r:id="rId5"/>
    <p:sldId id="258" r:id="rId6"/>
    <p:sldId id="259" r:id="rId7"/>
    <p:sldId id="285" r:id="rId8"/>
    <p:sldId id="283" r:id="rId9"/>
    <p:sldId id="308" r:id="rId10"/>
    <p:sldId id="265" r:id="rId11"/>
    <p:sldId id="264" r:id="rId12"/>
    <p:sldId id="268" r:id="rId13"/>
    <p:sldId id="266" r:id="rId14"/>
    <p:sldId id="269" r:id="rId15"/>
    <p:sldId id="271" r:id="rId16"/>
    <p:sldId id="270" r:id="rId17"/>
    <p:sldId id="273" r:id="rId18"/>
    <p:sldId id="309" r:id="rId19"/>
    <p:sldId id="310" r:id="rId20"/>
    <p:sldId id="311" r:id="rId21"/>
    <p:sldId id="312" r:id="rId22"/>
    <p:sldId id="313" r:id="rId23"/>
    <p:sldId id="314" r:id="rId24"/>
    <p:sldId id="315" r:id="rId25"/>
    <p:sldId id="316" r:id="rId26"/>
    <p:sldId id="330" r:id="rId27"/>
    <p:sldId id="331" r:id="rId28"/>
    <p:sldId id="332" r:id="rId29"/>
    <p:sldId id="333" r:id="rId30"/>
    <p:sldId id="334" r:id="rId31"/>
    <p:sldId id="335" r:id="rId32"/>
    <p:sldId id="276" r:id="rId33"/>
    <p:sldId id="278" r:id="rId34"/>
    <p:sldId id="317" r:id="rId35"/>
    <p:sldId id="279" r:id="rId36"/>
    <p:sldId id="280" r:id="rId37"/>
  </p:sldIdLst>
  <p:sldSz cx="12192000" cy="6858000"/>
  <p:notesSz cx="6858000" cy="9144000"/>
  <p:custDataLst>
    <p:tags r:id="rId41"/>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8"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Animation="0" useTimings="0">
    <p:present/>
    <p:sldAll/>
  </p:showPr>
  <p:clrMru>
    <a:srgbClr val="69C0E1"/>
    <a:srgbClr val="10507E"/>
    <a:srgbClr val="0A314E"/>
    <a:srgbClr val="D8EFF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showGuides="1">
      <p:cViewPr>
        <p:scale>
          <a:sx n="66" d="100"/>
          <a:sy n="66" d="100"/>
        </p:scale>
        <p:origin x="-2256" y="-1146"/>
      </p:cViewPr>
      <p:guideLst>
        <p:guide orient="horz" pos="2188"/>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1" Type="http://schemas.openxmlformats.org/officeDocument/2006/relationships/tags" Target="tags/tag36.xml"/><Relationship Id="rId40" Type="http://schemas.openxmlformats.org/officeDocument/2006/relationships/tableStyles" Target="tableStyles.xml"/><Relationship Id="rId4" Type="http://schemas.openxmlformats.org/officeDocument/2006/relationships/slide" Target="slides/slide1.xml"/><Relationship Id="rId39" Type="http://schemas.openxmlformats.org/officeDocument/2006/relationships/viewProps" Target="viewProps.xml"/><Relationship Id="rId38" Type="http://schemas.openxmlformats.org/officeDocument/2006/relationships/presProps" Target="presProps.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Master" Target="slideMasters/slideMaster2.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hyperlink" Target="http://www.1ppt.com/xiazai/"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1_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fld>
            <a:endParaRPr lang="zh-CN" altLang="en-US"/>
          </a:p>
        </p:txBody>
      </p:sp>
      <p:sp>
        <p:nvSpPr>
          <p:cNvPr id="11" name="TextBox 10"/>
          <p:cNvSpPr txBox="1"/>
          <p:nvPr userDrawn="1"/>
        </p:nvSpPr>
        <p:spPr>
          <a:xfrm>
            <a:off x="1907704" y="6739570"/>
            <a:ext cx="1224136" cy="118430"/>
          </a:xfrm>
          <a:prstGeom prst="rect">
            <a:avLst/>
          </a:prstGeom>
          <a:noFill/>
        </p:spPr>
        <p:txBody>
          <a:bodyPr wrap="square" rtlCol="0">
            <a:spAutoFit/>
          </a:bodyPr>
          <a:lstStyle/>
          <a:p>
            <a:pPr marL="0" marR="0" lvl="0" indent="0" defTabSz="914400" eaLnBrk="1" fontAlgn="auto" latinLnBrk="0" hangingPunct="1">
              <a:lnSpc>
                <a:spcPct val="200000"/>
              </a:lnSpc>
              <a:spcBef>
                <a:spcPts val="0"/>
              </a:spcBef>
              <a:spcAft>
                <a:spcPts val="0"/>
              </a:spcAft>
              <a:buClrTx/>
              <a:buSzTx/>
              <a:buFontTx/>
              <a:buNone/>
              <a:defRPr/>
            </a:pPr>
            <a:r>
              <a:rPr kumimoji="0" lang="en-US" altLang="zh-CN" sz="100" b="0" i="0" u="none" strike="noStrike" kern="0" cap="none" spc="0" normalizeH="0" baseline="0" noProof="0" dirty="0" smtClean="0">
                <a:ln>
                  <a:noFill/>
                </a:ln>
                <a:solidFill>
                  <a:prstClr val="black"/>
                </a:solidFill>
                <a:effectLst/>
                <a:uLnTx/>
                <a:uFillTx/>
                <a:hlinkClick r:id="rId2"/>
              </a:rPr>
              <a:t>PPT</a:t>
            </a:r>
            <a:r>
              <a:rPr kumimoji="0" lang="zh-CN" altLang="en-US" sz="100" b="0" i="0" u="none" strike="noStrike" kern="0" cap="none" spc="0" normalizeH="0" baseline="0" noProof="0" dirty="0" smtClean="0">
                <a:ln>
                  <a:noFill/>
                </a:ln>
                <a:solidFill>
                  <a:prstClr val="black"/>
                </a:solidFill>
                <a:effectLst/>
                <a:uLnTx/>
                <a:uFillTx/>
                <a:hlinkClick r:id="rId2"/>
              </a:rPr>
              <a:t>下载</a:t>
            </a:r>
            <a:r>
              <a:rPr kumimoji="0" lang="zh-CN" altLang="en-US" sz="100" b="0" i="0" u="none" strike="noStrike" kern="0" cap="none" spc="0" normalizeH="0" baseline="0" noProof="0" dirty="0" smtClean="0">
                <a:ln>
                  <a:noFill/>
                </a:ln>
                <a:solidFill>
                  <a:prstClr val="black"/>
                </a:solidFill>
                <a:effectLst/>
                <a:uLnTx/>
                <a:uFillTx/>
              </a:rPr>
              <a:t> </a:t>
            </a:r>
            <a:r>
              <a:rPr kumimoji="0" lang="en-US" altLang="zh-CN" sz="100" b="0" i="0" u="none" strike="noStrike" kern="0" cap="none" spc="0" normalizeH="0" baseline="0" noProof="0" dirty="0" smtClean="0">
                <a:ln>
                  <a:noFill/>
                </a:ln>
                <a:solidFill>
                  <a:prstClr val="black"/>
                </a:solidFill>
                <a:effectLst/>
                <a:uLnTx/>
                <a:uFillTx/>
              </a:rPr>
              <a:t>http://www.1ppt.com/xiazai/</a:t>
            </a:r>
            <a:endParaRPr kumimoji="0" lang="en-US" altLang="zh-CN" sz="100" b="0" i="0" u="none" strike="noStrike" kern="0" cap="none" spc="0" normalizeH="0" baseline="0" noProof="0" dirty="0" smtClean="0">
              <a:ln>
                <a:noFill/>
              </a:ln>
              <a:solidFill>
                <a:prstClr val="black"/>
              </a:solidFill>
              <a:effectLst/>
              <a:uLnTx/>
              <a:uFillTx/>
            </a:endParaRPr>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a:prstGeom prst="rect">
            <a:avLst/>
          </a:prstGeom>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609600" y="1600201"/>
            <a:ext cx="10972800" cy="4525963"/>
          </a:xfrm>
          <a:prstGeom prst="rect">
            <a:avLst/>
          </a:prstGeo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a:xfrm>
            <a:off x="609600" y="6356351"/>
            <a:ext cx="2844800" cy="365125"/>
          </a:xfrm>
          <a:prstGeom prst="rect">
            <a:avLst/>
          </a:prstGeom>
        </p:spPr>
        <p:txBody>
          <a:bodyPr/>
          <a:lstStyle/>
          <a:p>
            <a:fld id="{2E3AAC11-D570-4EA9-AFC0-30FB72BA45EB}" type="datetimeFigureOut">
              <a:rPr lang="zh-CN" altLang="en-US" smtClean="0">
                <a:solidFill>
                  <a:prstClr val="black"/>
                </a:solidFill>
              </a:rPr>
            </a:fld>
            <a:endParaRPr lang="zh-CN" altLang="en-US">
              <a:solidFill>
                <a:prstClr val="black"/>
              </a:solidFill>
            </a:endParaRPr>
          </a:p>
        </p:txBody>
      </p:sp>
      <p:sp>
        <p:nvSpPr>
          <p:cNvPr id="5" name="页脚占位符 4"/>
          <p:cNvSpPr>
            <a:spLocks noGrp="1"/>
          </p:cNvSpPr>
          <p:nvPr>
            <p:ph type="ftr" sz="quarter" idx="11"/>
          </p:nvPr>
        </p:nvSpPr>
        <p:spPr>
          <a:xfrm>
            <a:off x="4165600" y="6356351"/>
            <a:ext cx="3860800" cy="365125"/>
          </a:xfrm>
          <a:prstGeom prst="rect">
            <a:avLst/>
          </a:prstGeom>
        </p:spPr>
        <p:txBody>
          <a:bodyPr/>
          <a:lstStyle/>
          <a:p>
            <a:endParaRPr lang="zh-CN" altLang="en-US">
              <a:solidFill>
                <a:prstClr val="black"/>
              </a:solidFill>
            </a:endParaRPr>
          </a:p>
        </p:txBody>
      </p:sp>
      <p:sp>
        <p:nvSpPr>
          <p:cNvPr id="6" name="灯片编号占位符 5"/>
          <p:cNvSpPr>
            <a:spLocks noGrp="1"/>
          </p:cNvSpPr>
          <p:nvPr>
            <p:ph type="sldNum" sz="quarter" idx="12"/>
          </p:nvPr>
        </p:nvSpPr>
        <p:spPr>
          <a:xfrm>
            <a:off x="8737600" y="6356351"/>
            <a:ext cx="2844800" cy="365125"/>
          </a:xfrm>
          <a:prstGeom prst="rect">
            <a:avLst/>
          </a:prstGeom>
        </p:spPr>
        <p:txBody>
          <a:bodyPr/>
          <a:lstStyle/>
          <a:p>
            <a:fld id="{55ECCFAA-F4FB-487C-9F1E-C8836D0C3DC9}" type="slidenum">
              <a:rPr lang="zh-CN" altLang="en-US" smtClean="0">
                <a:solidFill>
                  <a:prstClr val="black"/>
                </a:solidFill>
              </a:rPr>
            </a:fld>
            <a:endParaRPr lang="zh-CN" altLang="en-US">
              <a:solidFill>
                <a:prstClr val="black"/>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39200" y="274639"/>
            <a:ext cx="2743200" cy="5851525"/>
          </a:xfrm>
          <a:prstGeom prst="rect">
            <a:avLst/>
          </a:prstGeo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609600" y="274639"/>
            <a:ext cx="8026400" cy="5851525"/>
          </a:xfrm>
          <a:prstGeom prst="rect">
            <a:avLst/>
          </a:prstGeo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a:xfrm>
            <a:off x="609600" y="6356351"/>
            <a:ext cx="2844800" cy="365125"/>
          </a:xfrm>
          <a:prstGeom prst="rect">
            <a:avLst/>
          </a:prstGeom>
        </p:spPr>
        <p:txBody>
          <a:bodyPr/>
          <a:lstStyle/>
          <a:p>
            <a:fld id="{2E3AAC11-D570-4EA9-AFC0-30FB72BA45EB}" type="datetimeFigureOut">
              <a:rPr lang="zh-CN" altLang="en-US" smtClean="0">
                <a:solidFill>
                  <a:prstClr val="black"/>
                </a:solidFill>
              </a:rPr>
            </a:fld>
            <a:endParaRPr lang="zh-CN" altLang="en-US">
              <a:solidFill>
                <a:prstClr val="black"/>
              </a:solidFill>
            </a:endParaRPr>
          </a:p>
        </p:txBody>
      </p:sp>
      <p:sp>
        <p:nvSpPr>
          <p:cNvPr id="5" name="页脚占位符 4"/>
          <p:cNvSpPr>
            <a:spLocks noGrp="1"/>
          </p:cNvSpPr>
          <p:nvPr>
            <p:ph type="ftr" sz="quarter" idx="11"/>
          </p:nvPr>
        </p:nvSpPr>
        <p:spPr>
          <a:xfrm>
            <a:off x="4165600" y="6356351"/>
            <a:ext cx="3860800" cy="365125"/>
          </a:xfrm>
          <a:prstGeom prst="rect">
            <a:avLst/>
          </a:prstGeom>
        </p:spPr>
        <p:txBody>
          <a:bodyPr/>
          <a:lstStyle/>
          <a:p>
            <a:endParaRPr lang="zh-CN" altLang="en-US">
              <a:solidFill>
                <a:prstClr val="black"/>
              </a:solidFill>
            </a:endParaRPr>
          </a:p>
        </p:txBody>
      </p:sp>
      <p:sp>
        <p:nvSpPr>
          <p:cNvPr id="6" name="灯片编号占位符 5"/>
          <p:cNvSpPr>
            <a:spLocks noGrp="1"/>
          </p:cNvSpPr>
          <p:nvPr>
            <p:ph type="sldNum" sz="quarter" idx="12"/>
          </p:nvPr>
        </p:nvSpPr>
        <p:spPr>
          <a:xfrm>
            <a:off x="8737600" y="6356351"/>
            <a:ext cx="2844800" cy="365125"/>
          </a:xfrm>
          <a:prstGeom prst="rect">
            <a:avLst/>
          </a:prstGeom>
        </p:spPr>
        <p:txBody>
          <a:bodyPr/>
          <a:lstStyle/>
          <a:p>
            <a:fld id="{55ECCFAA-F4FB-487C-9F1E-C8836D0C3DC9}" type="slidenum">
              <a:rPr lang="zh-CN" altLang="en-US" smtClean="0">
                <a:solidFill>
                  <a:prstClr val="black"/>
                </a:solidFill>
              </a:rPr>
            </a:fld>
            <a:endParaRPr lang="zh-CN" altLang="en-US">
              <a:solidFill>
                <a:prstClr val="black"/>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4" Type="http://schemas.openxmlformats.org/officeDocument/2006/relationships/theme" Target="../theme/theme2.xml"/><Relationship Id="rId3" Type="http://schemas.openxmlformats.org/officeDocument/2006/relationships/slideLayout" Target="../slideLayouts/slideLayout15.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tags" Target="../tags/tag1.xml"/><Relationship Id="rId4" Type="http://schemas.openxmlformats.org/officeDocument/2006/relationships/image" Target="../media/image4.png"/><Relationship Id="rId3" Type="http://schemas.openxmlformats.org/officeDocument/2006/relationships/image" Target="../media/image3.emf"/><Relationship Id="rId2" Type="http://schemas.openxmlformats.org/officeDocument/2006/relationships/image" Target="../media/image2.emf"/><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2.xml"/><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tags" Target="../tags/tag3.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tags" Target="../tags/tag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5.xml"/><Relationship Id="rId1" Type="http://schemas.openxmlformats.org/officeDocument/2006/relationships/image" Target="../media/image5.emf"/></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6.xml"/><Relationship Id="rId1" Type="http://schemas.openxmlformats.org/officeDocument/2006/relationships/image" Target="../media/image6.emf"/></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7.xml"/><Relationship Id="rId1" Type="http://schemas.openxmlformats.org/officeDocument/2006/relationships/image" Target="../media/image6.emf"/></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tags" Target="../tags/tag8.xml"/></Relationships>
</file>

<file path=ppt/slides/_rels/slide9.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9.xml"/><Relationship Id="rId4" Type="http://schemas.openxmlformats.org/officeDocument/2006/relationships/image" Target="../media/image10.emf"/><Relationship Id="rId3" Type="http://schemas.openxmlformats.org/officeDocument/2006/relationships/image" Target="../media/image9.emf"/><Relationship Id="rId2" Type="http://schemas.openxmlformats.org/officeDocument/2006/relationships/image" Target="../media/image8.emf"/><Relationship Id="rId1" Type="http://schemas.openxmlformats.org/officeDocument/2006/relationships/image" Target="../media/image7.emf"/></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10.xml"/><Relationship Id="rId4" Type="http://schemas.openxmlformats.org/officeDocument/2006/relationships/image" Target="../media/image5.emf"/><Relationship Id="rId3" Type="http://schemas.openxmlformats.org/officeDocument/2006/relationships/image" Target="../media/image12.emf"/><Relationship Id="rId2" Type="http://schemas.openxmlformats.org/officeDocument/2006/relationships/image" Target="../media/image6.emf"/><Relationship Id="rId1" Type="http://schemas.openxmlformats.org/officeDocument/2006/relationships/image" Target="../media/image11.emf"/></Relationships>
</file>

<file path=ppt/slides/_rels/slide11.xml.rels><?xml version="1.0" encoding="UTF-8" standalone="yes"?>
<Relationships xmlns="http://schemas.openxmlformats.org/package/2006/relationships"><Relationship Id="rId5" Type="http://schemas.openxmlformats.org/officeDocument/2006/relationships/slideLayout" Target="../slideLayouts/slideLayout8.xml"/><Relationship Id="rId4" Type="http://schemas.openxmlformats.org/officeDocument/2006/relationships/tags" Target="../tags/tag11.xml"/><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image" Target="../media/image9.emf"/></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12.xml"/><Relationship Id="rId1" Type="http://schemas.openxmlformats.org/officeDocument/2006/relationships/image" Target="../media/image13.jpe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tags" Target="../tags/tag13.xml"/></Relationships>
</file>

<file path=ppt/slides/_rels/slide14.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14.xml"/><Relationship Id="rId4" Type="http://schemas.openxmlformats.org/officeDocument/2006/relationships/image" Target="../media/image5.emf"/><Relationship Id="rId3" Type="http://schemas.openxmlformats.org/officeDocument/2006/relationships/image" Target="../media/image12.emf"/><Relationship Id="rId2" Type="http://schemas.openxmlformats.org/officeDocument/2006/relationships/image" Target="../media/image6.emf"/><Relationship Id="rId1" Type="http://schemas.openxmlformats.org/officeDocument/2006/relationships/image" Target="../media/image11.emf"/></Relationships>
</file>

<file path=ppt/slides/_rels/slide15.xml.rels><?xml version="1.0" encoding="UTF-8" standalone="yes"?>
<Relationships xmlns="http://schemas.openxmlformats.org/package/2006/relationships"><Relationship Id="rId5" Type="http://schemas.openxmlformats.org/officeDocument/2006/relationships/slideLayout" Target="../slideLayouts/slideLayout8.xml"/><Relationship Id="rId4" Type="http://schemas.openxmlformats.org/officeDocument/2006/relationships/tags" Target="../tags/tag16.xml"/><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tags" Target="../tags/tag15.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tags" Target="../tags/tag17.xml"/></Relationships>
</file>

<file path=ppt/slides/_rels/slide17.xml.rels><?xml version="1.0" encoding="UTF-8" standalone="yes"?>
<Relationships xmlns="http://schemas.openxmlformats.org/package/2006/relationships"><Relationship Id="rId4" Type="http://schemas.openxmlformats.org/officeDocument/2006/relationships/slideLayout" Target="../slideLayouts/slideLayout8.xml"/><Relationship Id="rId3" Type="http://schemas.openxmlformats.org/officeDocument/2006/relationships/tags" Target="../tags/tag18.xml"/><Relationship Id="rId2" Type="http://schemas.openxmlformats.org/officeDocument/2006/relationships/image" Target="../media/image17.png"/><Relationship Id="rId1"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19.xml"/><Relationship Id="rId1"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20.xml"/><Relationship Id="rId1"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21.xml"/><Relationship Id="rId1" Type="http://schemas.openxmlformats.org/officeDocument/2006/relationships/image" Target="../media/image20.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22.xml"/><Relationship Id="rId1"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23.xml"/><Relationship Id="rId1"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24.xml"/><Relationship Id="rId1"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25.xml"/><Relationship Id="rId1"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26.xml"/><Relationship Id="rId1"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27.xml"/><Relationship Id="rId1"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28.xml"/><Relationship Id="rId1"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29.xml"/><Relationship Id="rId1"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30.xml"/><Relationship Id="rId1" Type="http://schemas.openxmlformats.org/officeDocument/2006/relationships/image" Target="../media/image29.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tags" Target="../tags/tag31.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tags" Target="../tags/tag32.xml"/></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tags" Target="../tags/tag33.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tags" Target="../tags/tag34.xml"/></Relationships>
</file>

<file path=ppt/slides/_rels/slide34.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tags" Target="../tags/tag35.xml"/><Relationship Id="rId5" Type="http://schemas.openxmlformats.org/officeDocument/2006/relationships/image" Target="../media/image30.png"/><Relationship Id="rId4" Type="http://schemas.openxmlformats.org/officeDocument/2006/relationships/image" Target="../media/image4.png"/><Relationship Id="rId3" Type="http://schemas.openxmlformats.org/officeDocument/2006/relationships/image" Target="../media/image3.emf"/><Relationship Id="rId2" Type="http://schemas.openxmlformats.org/officeDocument/2006/relationships/image" Target="../media/image2.emf"/><Relationship Id="rId1"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8" name="组合 57"/>
          <p:cNvGrpSpPr/>
          <p:nvPr/>
        </p:nvGrpSpPr>
        <p:grpSpPr>
          <a:xfrm>
            <a:off x="-1" y="-1"/>
            <a:ext cx="12192001" cy="5928853"/>
            <a:chOff x="-1" y="-1"/>
            <a:chExt cx="12192001" cy="5928853"/>
          </a:xfrm>
        </p:grpSpPr>
        <p:pic>
          <p:nvPicPr>
            <p:cNvPr id="56" name="图片 55"/>
            <p:cNvPicPr>
              <a:picLocks noChangeAspect="1"/>
            </p:cNvPicPr>
            <p:nvPr/>
          </p:nvPicPr>
          <p:blipFill rotWithShape="1">
            <a:blip r:embed="rId1" cstate="print">
              <a:extLst>
                <a:ext uri="{28A0092B-C50C-407E-A947-70E740481C1C}">
                  <a14:useLocalDpi xmlns:a14="http://schemas.microsoft.com/office/drawing/2010/main" val="0"/>
                </a:ext>
              </a:extLst>
            </a:blip>
            <a:srcRect t="33832" r="9949" b="533"/>
            <a:stretch>
              <a:fillRect/>
            </a:stretch>
          </p:blipFill>
          <p:spPr>
            <a:xfrm>
              <a:off x="1" y="-1"/>
              <a:ext cx="12191999" cy="5928853"/>
            </a:xfrm>
            <a:prstGeom prst="rect">
              <a:avLst/>
            </a:prstGeom>
          </p:spPr>
        </p:pic>
        <p:sp>
          <p:nvSpPr>
            <p:cNvPr id="57" name="矩形 56"/>
            <p:cNvSpPr/>
            <p:nvPr/>
          </p:nvSpPr>
          <p:spPr>
            <a:xfrm>
              <a:off x="-1" y="-1"/>
              <a:ext cx="12192000" cy="5928852"/>
            </a:xfrm>
            <a:prstGeom prst="rect">
              <a:avLst/>
            </a:prstGeom>
            <a:solidFill>
              <a:schemeClr val="bg1">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mn-ea"/>
                <a:sym typeface="+mn-lt"/>
              </a:endParaRPr>
            </a:p>
          </p:txBody>
        </p:sp>
      </p:grpSp>
      <p:sp>
        <p:nvSpPr>
          <p:cNvPr id="16" name="任意多边形: 形状 15"/>
          <p:cNvSpPr/>
          <p:nvPr/>
        </p:nvSpPr>
        <p:spPr>
          <a:xfrm>
            <a:off x="-3788173" y="4952991"/>
            <a:ext cx="16805241" cy="3532144"/>
          </a:xfrm>
          <a:custGeom>
            <a:avLst/>
            <a:gdLst>
              <a:gd name="connsiteX0" fmla="*/ 206773 w 16805241"/>
              <a:gd name="connsiteY0" fmla="*/ 914409 h 3532144"/>
              <a:gd name="connsiteX1" fmla="*/ 2949973 w 16805241"/>
              <a:gd name="connsiteY1" fmla="*/ 9 h 3532144"/>
              <a:gd name="connsiteX2" fmla="*/ 6569473 w 16805241"/>
              <a:gd name="connsiteY2" fmla="*/ 933459 h 3532144"/>
              <a:gd name="connsiteX3" fmla="*/ 9655573 w 16805241"/>
              <a:gd name="connsiteY3" fmla="*/ 95259 h 3532144"/>
              <a:gd name="connsiteX4" fmla="*/ 12627373 w 16805241"/>
              <a:gd name="connsiteY4" fmla="*/ 819159 h 3532144"/>
              <a:gd name="connsiteX5" fmla="*/ 15065773 w 16805241"/>
              <a:gd name="connsiteY5" fmla="*/ 228609 h 3532144"/>
              <a:gd name="connsiteX6" fmla="*/ 16799323 w 16805241"/>
              <a:gd name="connsiteY6" fmla="*/ 571509 h 3532144"/>
              <a:gd name="connsiteX7" fmla="*/ 15218173 w 16805241"/>
              <a:gd name="connsiteY7" fmla="*/ 3467109 h 3532144"/>
              <a:gd name="connsiteX8" fmla="*/ 7064773 w 16805241"/>
              <a:gd name="connsiteY8" fmla="*/ 2571759 h 3532144"/>
              <a:gd name="connsiteX9" fmla="*/ 987823 w 16805241"/>
              <a:gd name="connsiteY9" fmla="*/ 2381259 h 3532144"/>
              <a:gd name="connsiteX10" fmla="*/ 263923 w 16805241"/>
              <a:gd name="connsiteY10" fmla="*/ 895359 h 3532144"/>
              <a:gd name="connsiteX11" fmla="*/ 206773 w 16805241"/>
              <a:gd name="connsiteY11" fmla="*/ 819159 h 3532144"/>
              <a:gd name="connsiteX12" fmla="*/ 206773 w 16805241"/>
              <a:gd name="connsiteY12" fmla="*/ 914409 h 3532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805241" h="3532144">
                <a:moveTo>
                  <a:pt x="206773" y="914409"/>
                </a:moveTo>
                <a:cubicBezTo>
                  <a:pt x="663973" y="777884"/>
                  <a:pt x="1889523" y="-3166"/>
                  <a:pt x="2949973" y="9"/>
                </a:cubicBezTo>
                <a:cubicBezTo>
                  <a:pt x="4010423" y="3184"/>
                  <a:pt x="5451873" y="917584"/>
                  <a:pt x="6569473" y="933459"/>
                </a:cubicBezTo>
                <a:cubicBezTo>
                  <a:pt x="7687073" y="949334"/>
                  <a:pt x="8645923" y="114309"/>
                  <a:pt x="9655573" y="95259"/>
                </a:cubicBezTo>
                <a:cubicBezTo>
                  <a:pt x="10665223" y="76209"/>
                  <a:pt x="11725673" y="796934"/>
                  <a:pt x="12627373" y="819159"/>
                </a:cubicBezTo>
                <a:cubicBezTo>
                  <a:pt x="13529073" y="841384"/>
                  <a:pt x="14370448" y="269884"/>
                  <a:pt x="15065773" y="228609"/>
                </a:cubicBezTo>
                <a:cubicBezTo>
                  <a:pt x="15761098" y="187334"/>
                  <a:pt x="16773923" y="31759"/>
                  <a:pt x="16799323" y="571509"/>
                </a:cubicBezTo>
                <a:cubicBezTo>
                  <a:pt x="16824723" y="1111259"/>
                  <a:pt x="16840598" y="3133734"/>
                  <a:pt x="15218173" y="3467109"/>
                </a:cubicBezTo>
                <a:cubicBezTo>
                  <a:pt x="13595748" y="3800484"/>
                  <a:pt x="9436498" y="2752734"/>
                  <a:pt x="7064773" y="2571759"/>
                </a:cubicBezTo>
                <a:cubicBezTo>
                  <a:pt x="4693048" y="2390784"/>
                  <a:pt x="2121298" y="2660659"/>
                  <a:pt x="987823" y="2381259"/>
                </a:cubicBezTo>
                <a:cubicBezTo>
                  <a:pt x="-145652" y="2101859"/>
                  <a:pt x="394098" y="1155709"/>
                  <a:pt x="263923" y="895359"/>
                </a:cubicBezTo>
                <a:cubicBezTo>
                  <a:pt x="133748" y="635009"/>
                  <a:pt x="222648" y="815984"/>
                  <a:pt x="206773" y="819159"/>
                </a:cubicBezTo>
                <a:cubicBezTo>
                  <a:pt x="190898" y="822334"/>
                  <a:pt x="-250427" y="1050934"/>
                  <a:pt x="206773" y="914409"/>
                </a:cubicBez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5" name="任意多边形: 形状 14"/>
          <p:cNvSpPr/>
          <p:nvPr/>
        </p:nvSpPr>
        <p:spPr>
          <a:xfrm>
            <a:off x="-1997473" y="5505441"/>
            <a:ext cx="16805241" cy="3532144"/>
          </a:xfrm>
          <a:custGeom>
            <a:avLst/>
            <a:gdLst>
              <a:gd name="connsiteX0" fmla="*/ 206773 w 16805241"/>
              <a:gd name="connsiteY0" fmla="*/ 914409 h 3532144"/>
              <a:gd name="connsiteX1" fmla="*/ 2949973 w 16805241"/>
              <a:gd name="connsiteY1" fmla="*/ 9 h 3532144"/>
              <a:gd name="connsiteX2" fmla="*/ 6569473 w 16805241"/>
              <a:gd name="connsiteY2" fmla="*/ 933459 h 3532144"/>
              <a:gd name="connsiteX3" fmla="*/ 9655573 w 16805241"/>
              <a:gd name="connsiteY3" fmla="*/ 95259 h 3532144"/>
              <a:gd name="connsiteX4" fmla="*/ 12627373 w 16805241"/>
              <a:gd name="connsiteY4" fmla="*/ 819159 h 3532144"/>
              <a:gd name="connsiteX5" fmla="*/ 15065773 w 16805241"/>
              <a:gd name="connsiteY5" fmla="*/ 228609 h 3532144"/>
              <a:gd name="connsiteX6" fmla="*/ 16799323 w 16805241"/>
              <a:gd name="connsiteY6" fmla="*/ 571509 h 3532144"/>
              <a:gd name="connsiteX7" fmla="*/ 15218173 w 16805241"/>
              <a:gd name="connsiteY7" fmla="*/ 3467109 h 3532144"/>
              <a:gd name="connsiteX8" fmla="*/ 7064773 w 16805241"/>
              <a:gd name="connsiteY8" fmla="*/ 2571759 h 3532144"/>
              <a:gd name="connsiteX9" fmla="*/ 987823 w 16805241"/>
              <a:gd name="connsiteY9" fmla="*/ 2381259 h 3532144"/>
              <a:gd name="connsiteX10" fmla="*/ 263923 w 16805241"/>
              <a:gd name="connsiteY10" fmla="*/ 895359 h 3532144"/>
              <a:gd name="connsiteX11" fmla="*/ 206773 w 16805241"/>
              <a:gd name="connsiteY11" fmla="*/ 819159 h 3532144"/>
              <a:gd name="connsiteX12" fmla="*/ 206773 w 16805241"/>
              <a:gd name="connsiteY12" fmla="*/ 914409 h 3532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805241" h="3532144">
                <a:moveTo>
                  <a:pt x="206773" y="914409"/>
                </a:moveTo>
                <a:cubicBezTo>
                  <a:pt x="663973" y="777884"/>
                  <a:pt x="1889523" y="-3166"/>
                  <a:pt x="2949973" y="9"/>
                </a:cubicBezTo>
                <a:cubicBezTo>
                  <a:pt x="4010423" y="3184"/>
                  <a:pt x="5451873" y="917584"/>
                  <a:pt x="6569473" y="933459"/>
                </a:cubicBezTo>
                <a:cubicBezTo>
                  <a:pt x="7687073" y="949334"/>
                  <a:pt x="8645923" y="114309"/>
                  <a:pt x="9655573" y="95259"/>
                </a:cubicBezTo>
                <a:cubicBezTo>
                  <a:pt x="10665223" y="76209"/>
                  <a:pt x="11725673" y="796934"/>
                  <a:pt x="12627373" y="819159"/>
                </a:cubicBezTo>
                <a:cubicBezTo>
                  <a:pt x="13529073" y="841384"/>
                  <a:pt x="14370448" y="269884"/>
                  <a:pt x="15065773" y="228609"/>
                </a:cubicBezTo>
                <a:cubicBezTo>
                  <a:pt x="15761098" y="187334"/>
                  <a:pt x="16773923" y="31759"/>
                  <a:pt x="16799323" y="571509"/>
                </a:cubicBezTo>
                <a:cubicBezTo>
                  <a:pt x="16824723" y="1111259"/>
                  <a:pt x="16840598" y="3133734"/>
                  <a:pt x="15218173" y="3467109"/>
                </a:cubicBezTo>
                <a:cubicBezTo>
                  <a:pt x="13595748" y="3800484"/>
                  <a:pt x="9436498" y="2752734"/>
                  <a:pt x="7064773" y="2571759"/>
                </a:cubicBezTo>
                <a:cubicBezTo>
                  <a:pt x="4693048" y="2390784"/>
                  <a:pt x="2121298" y="2660659"/>
                  <a:pt x="987823" y="2381259"/>
                </a:cubicBezTo>
                <a:cubicBezTo>
                  <a:pt x="-145652" y="2101859"/>
                  <a:pt x="394098" y="1155709"/>
                  <a:pt x="263923" y="895359"/>
                </a:cubicBezTo>
                <a:cubicBezTo>
                  <a:pt x="133748" y="635009"/>
                  <a:pt x="222648" y="815984"/>
                  <a:pt x="206773" y="819159"/>
                </a:cubicBezTo>
                <a:cubicBezTo>
                  <a:pt x="190898" y="822334"/>
                  <a:pt x="-250427" y="1050934"/>
                  <a:pt x="206773" y="914409"/>
                </a:cubicBezTo>
                <a:close/>
              </a:path>
            </a:pathLst>
          </a:custGeom>
          <a:solidFill>
            <a:srgbClr val="69C0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7" name="任意多边形: 形状 16"/>
          <p:cNvSpPr/>
          <p:nvPr/>
        </p:nvSpPr>
        <p:spPr>
          <a:xfrm>
            <a:off x="-9315449" y="5505441"/>
            <a:ext cx="24898350" cy="5233163"/>
          </a:xfrm>
          <a:custGeom>
            <a:avLst/>
            <a:gdLst>
              <a:gd name="connsiteX0" fmla="*/ 206773 w 16805241"/>
              <a:gd name="connsiteY0" fmla="*/ 914409 h 3532144"/>
              <a:gd name="connsiteX1" fmla="*/ 2949973 w 16805241"/>
              <a:gd name="connsiteY1" fmla="*/ 9 h 3532144"/>
              <a:gd name="connsiteX2" fmla="*/ 6569473 w 16805241"/>
              <a:gd name="connsiteY2" fmla="*/ 933459 h 3532144"/>
              <a:gd name="connsiteX3" fmla="*/ 9655573 w 16805241"/>
              <a:gd name="connsiteY3" fmla="*/ 95259 h 3532144"/>
              <a:gd name="connsiteX4" fmla="*/ 12627373 w 16805241"/>
              <a:gd name="connsiteY4" fmla="*/ 819159 h 3532144"/>
              <a:gd name="connsiteX5" fmla="*/ 15065773 w 16805241"/>
              <a:gd name="connsiteY5" fmla="*/ 228609 h 3532144"/>
              <a:gd name="connsiteX6" fmla="*/ 16799323 w 16805241"/>
              <a:gd name="connsiteY6" fmla="*/ 571509 h 3532144"/>
              <a:gd name="connsiteX7" fmla="*/ 15218173 w 16805241"/>
              <a:gd name="connsiteY7" fmla="*/ 3467109 h 3532144"/>
              <a:gd name="connsiteX8" fmla="*/ 7064773 w 16805241"/>
              <a:gd name="connsiteY8" fmla="*/ 2571759 h 3532144"/>
              <a:gd name="connsiteX9" fmla="*/ 987823 w 16805241"/>
              <a:gd name="connsiteY9" fmla="*/ 2381259 h 3532144"/>
              <a:gd name="connsiteX10" fmla="*/ 263923 w 16805241"/>
              <a:gd name="connsiteY10" fmla="*/ 895359 h 3532144"/>
              <a:gd name="connsiteX11" fmla="*/ 206773 w 16805241"/>
              <a:gd name="connsiteY11" fmla="*/ 819159 h 3532144"/>
              <a:gd name="connsiteX12" fmla="*/ 206773 w 16805241"/>
              <a:gd name="connsiteY12" fmla="*/ 914409 h 3532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805241" h="3532144">
                <a:moveTo>
                  <a:pt x="206773" y="914409"/>
                </a:moveTo>
                <a:cubicBezTo>
                  <a:pt x="663973" y="777884"/>
                  <a:pt x="1889523" y="-3166"/>
                  <a:pt x="2949973" y="9"/>
                </a:cubicBezTo>
                <a:cubicBezTo>
                  <a:pt x="4010423" y="3184"/>
                  <a:pt x="5451873" y="917584"/>
                  <a:pt x="6569473" y="933459"/>
                </a:cubicBezTo>
                <a:cubicBezTo>
                  <a:pt x="7687073" y="949334"/>
                  <a:pt x="8645923" y="114309"/>
                  <a:pt x="9655573" y="95259"/>
                </a:cubicBezTo>
                <a:cubicBezTo>
                  <a:pt x="10665223" y="76209"/>
                  <a:pt x="11725673" y="796934"/>
                  <a:pt x="12627373" y="819159"/>
                </a:cubicBezTo>
                <a:cubicBezTo>
                  <a:pt x="13529073" y="841384"/>
                  <a:pt x="14370448" y="269884"/>
                  <a:pt x="15065773" y="228609"/>
                </a:cubicBezTo>
                <a:cubicBezTo>
                  <a:pt x="15761098" y="187334"/>
                  <a:pt x="16773923" y="31759"/>
                  <a:pt x="16799323" y="571509"/>
                </a:cubicBezTo>
                <a:cubicBezTo>
                  <a:pt x="16824723" y="1111259"/>
                  <a:pt x="16840598" y="3133734"/>
                  <a:pt x="15218173" y="3467109"/>
                </a:cubicBezTo>
                <a:cubicBezTo>
                  <a:pt x="13595748" y="3800484"/>
                  <a:pt x="9436498" y="2752734"/>
                  <a:pt x="7064773" y="2571759"/>
                </a:cubicBezTo>
                <a:cubicBezTo>
                  <a:pt x="4693048" y="2390784"/>
                  <a:pt x="2121298" y="2660659"/>
                  <a:pt x="987823" y="2381259"/>
                </a:cubicBezTo>
                <a:cubicBezTo>
                  <a:pt x="-145652" y="2101859"/>
                  <a:pt x="394098" y="1155709"/>
                  <a:pt x="263923" y="895359"/>
                </a:cubicBezTo>
                <a:cubicBezTo>
                  <a:pt x="133748" y="635009"/>
                  <a:pt x="222648" y="815984"/>
                  <a:pt x="206773" y="819159"/>
                </a:cubicBezTo>
                <a:cubicBezTo>
                  <a:pt x="190898" y="822334"/>
                  <a:pt x="-250427" y="1050934"/>
                  <a:pt x="206773" y="914409"/>
                </a:cubicBezTo>
                <a:close/>
              </a:path>
            </a:pathLst>
          </a:cu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cxnSp>
        <p:nvCxnSpPr>
          <p:cNvPr id="19" name="直接连接符 18"/>
          <p:cNvCxnSpPr/>
          <p:nvPr/>
        </p:nvCxnSpPr>
        <p:spPr>
          <a:xfrm>
            <a:off x="1495425" y="1771650"/>
            <a:ext cx="1943100" cy="0"/>
          </a:xfrm>
          <a:prstGeom prst="line">
            <a:avLst/>
          </a:prstGeom>
          <a:ln w="34925">
            <a:solidFill>
              <a:srgbClr val="10507E"/>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8753475" y="1771650"/>
            <a:ext cx="1943100" cy="0"/>
          </a:xfrm>
          <a:prstGeom prst="line">
            <a:avLst/>
          </a:prstGeom>
          <a:ln w="34925">
            <a:solidFill>
              <a:srgbClr val="10507E"/>
            </a:solidFill>
          </a:ln>
        </p:spPr>
        <p:style>
          <a:lnRef idx="1">
            <a:schemeClr val="accent1"/>
          </a:lnRef>
          <a:fillRef idx="0">
            <a:schemeClr val="accent1"/>
          </a:fillRef>
          <a:effectRef idx="0">
            <a:schemeClr val="accent1"/>
          </a:effectRef>
          <a:fontRef idx="minor">
            <a:schemeClr val="tx1"/>
          </a:fontRef>
        </p:style>
      </p:cxnSp>
      <p:sp>
        <p:nvSpPr>
          <p:cNvPr id="23" name="文本框 22"/>
          <p:cNvSpPr txBox="1"/>
          <p:nvPr/>
        </p:nvSpPr>
        <p:spPr>
          <a:xfrm>
            <a:off x="3100137" y="1417707"/>
            <a:ext cx="5991727" cy="707886"/>
          </a:xfrm>
          <a:prstGeom prst="rect">
            <a:avLst/>
          </a:prstGeom>
          <a:noFill/>
        </p:spPr>
        <p:txBody>
          <a:bodyPr wrap="square" rtlCol="0">
            <a:spAutoFit/>
          </a:bodyPr>
          <a:lstStyle/>
          <a:p>
            <a:pPr algn="ctr"/>
            <a:r>
              <a:rPr lang="en-US" altLang="zh-CN" sz="4000" dirty="0">
                <a:solidFill>
                  <a:srgbClr val="69C0E1"/>
                </a:solidFill>
                <a:cs typeface="+mn-ea"/>
                <a:sym typeface="+mn-lt"/>
              </a:rPr>
              <a:t>GRADUATION REPLY</a:t>
            </a:r>
            <a:endParaRPr lang="zh-CN" altLang="en-US" sz="4000" dirty="0">
              <a:solidFill>
                <a:srgbClr val="69C0E1"/>
              </a:solidFill>
              <a:cs typeface="+mn-ea"/>
              <a:sym typeface="+mn-lt"/>
            </a:endParaRPr>
          </a:p>
        </p:txBody>
      </p:sp>
      <p:grpSp>
        <p:nvGrpSpPr>
          <p:cNvPr id="54" name="组合 53"/>
          <p:cNvGrpSpPr/>
          <p:nvPr/>
        </p:nvGrpSpPr>
        <p:grpSpPr>
          <a:xfrm>
            <a:off x="2312591" y="2130842"/>
            <a:ext cx="7566818" cy="1577355"/>
            <a:chOff x="2312591" y="2092742"/>
            <a:chExt cx="7566818" cy="1577355"/>
          </a:xfrm>
        </p:grpSpPr>
        <p:sp>
          <p:nvSpPr>
            <p:cNvPr id="37" name="文本框 36"/>
            <p:cNvSpPr txBox="1"/>
            <p:nvPr/>
          </p:nvSpPr>
          <p:spPr>
            <a:xfrm>
              <a:off x="2312591" y="2092742"/>
              <a:ext cx="7566818" cy="1445260"/>
            </a:xfrm>
            <a:prstGeom prst="rect">
              <a:avLst/>
            </a:prstGeom>
            <a:noFill/>
          </p:spPr>
          <p:txBody>
            <a:bodyPr wrap="square" rtlCol="0">
              <a:spAutoFit/>
            </a:bodyPr>
            <a:lstStyle/>
            <a:p>
              <a:pPr algn="dist"/>
              <a:r>
                <a:rPr lang="zh-CN" altLang="en-US" sz="8800" dirty="0">
                  <a:solidFill>
                    <a:schemeClr val="tx1">
                      <a:lumMod val="75000"/>
                      <a:lumOff val="25000"/>
                    </a:schemeClr>
                  </a:solidFill>
                  <a:latin typeface="方正正黑简体" panose="02000000000000000000" pitchFamily="2" charset="-122"/>
                  <a:ea typeface="方正正黑简体" panose="02000000000000000000" pitchFamily="2" charset="-122"/>
                  <a:cs typeface="+mn-ea"/>
                  <a:sym typeface="+mn-lt"/>
                </a:rPr>
                <a:t>毕业答辩</a:t>
              </a:r>
              <a:endParaRPr lang="zh-CN" altLang="en-US" sz="8800" dirty="0">
                <a:solidFill>
                  <a:schemeClr val="tx1">
                    <a:lumMod val="75000"/>
                    <a:lumOff val="25000"/>
                  </a:schemeClr>
                </a:solidFill>
                <a:latin typeface="方正正黑简体" panose="02000000000000000000" pitchFamily="2" charset="-122"/>
                <a:ea typeface="方正正黑简体" panose="02000000000000000000" pitchFamily="2" charset="-122"/>
                <a:cs typeface="+mn-ea"/>
                <a:sym typeface="+mn-lt"/>
              </a:endParaRPr>
            </a:p>
          </p:txBody>
        </p:sp>
        <p:sp>
          <p:nvSpPr>
            <p:cNvPr id="38" name="文本框 37"/>
            <p:cNvSpPr txBox="1"/>
            <p:nvPr/>
          </p:nvSpPr>
          <p:spPr>
            <a:xfrm>
              <a:off x="2312591" y="3408487"/>
              <a:ext cx="7566818" cy="261610"/>
            </a:xfrm>
            <a:prstGeom prst="rect">
              <a:avLst/>
            </a:prstGeom>
            <a:noFill/>
          </p:spPr>
          <p:txBody>
            <a:bodyPr wrap="square" rtlCol="0">
              <a:spAutoFit/>
            </a:bodyPr>
            <a:lstStyle/>
            <a:p>
              <a:pPr algn="dist"/>
              <a:r>
                <a:rPr lang="en-US" altLang="zh-CN" sz="1100" dirty="0">
                  <a:cs typeface="+mn-ea"/>
                  <a:sym typeface="+mn-lt"/>
                </a:rPr>
                <a:t>SIMPLE GRADUATION DEFENSE</a:t>
              </a:r>
              <a:endParaRPr lang="zh-CN" altLang="en-US" sz="1100" dirty="0">
                <a:cs typeface="+mn-ea"/>
                <a:sym typeface="+mn-lt"/>
              </a:endParaRPr>
            </a:p>
          </p:txBody>
        </p:sp>
      </p:grpSp>
      <p:grpSp>
        <p:nvGrpSpPr>
          <p:cNvPr id="44" name="组合 43"/>
          <p:cNvGrpSpPr/>
          <p:nvPr/>
        </p:nvGrpSpPr>
        <p:grpSpPr>
          <a:xfrm>
            <a:off x="4134888" y="4059851"/>
            <a:ext cx="2114550" cy="337185"/>
            <a:chOff x="4408975" y="3969165"/>
            <a:chExt cx="2114550" cy="337185"/>
          </a:xfrm>
        </p:grpSpPr>
        <p:grpSp>
          <p:nvGrpSpPr>
            <p:cNvPr id="42" name="组合 41"/>
            <p:cNvGrpSpPr/>
            <p:nvPr/>
          </p:nvGrpSpPr>
          <p:grpSpPr>
            <a:xfrm>
              <a:off x="4408975" y="3971205"/>
              <a:ext cx="334475" cy="334475"/>
              <a:chOff x="4408975" y="3968750"/>
              <a:chExt cx="334475" cy="334475"/>
            </a:xfrm>
          </p:grpSpPr>
          <p:sp>
            <p:nvSpPr>
              <p:cNvPr id="39" name="椭圆 38"/>
              <p:cNvSpPr/>
              <p:nvPr/>
            </p:nvSpPr>
            <p:spPr>
              <a:xfrm>
                <a:off x="4408975" y="3968750"/>
                <a:ext cx="334475" cy="334475"/>
              </a:xfrm>
              <a:prstGeom prst="ellipse">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pic>
            <p:nvPicPr>
              <p:cNvPr id="41" name="图片 40"/>
              <p:cNvPicPr>
                <a:picLocks noChangeAspect="1"/>
              </p:cNvPicPr>
              <p:nvPr/>
            </p:nvPicPr>
            <p:blipFill>
              <a:blip r:embed="rId2"/>
              <a:stretch>
                <a:fillRect/>
              </a:stretch>
            </p:blipFill>
            <p:spPr>
              <a:xfrm>
                <a:off x="4488687" y="4048462"/>
                <a:ext cx="175050" cy="175050"/>
              </a:xfrm>
              <a:prstGeom prst="rect">
                <a:avLst/>
              </a:prstGeom>
            </p:spPr>
          </p:pic>
        </p:grpSp>
        <p:sp>
          <p:nvSpPr>
            <p:cNvPr id="43" name="文本框 42"/>
            <p:cNvSpPr txBox="1"/>
            <p:nvPr/>
          </p:nvSpPr>
          <p:spPr>
            <a:xfrm>
              <a:off x="4743448" y="3969165"/>
              <a:ext cx="1780077" cy="337185"/>
            </a:xfrm>
            <a:prstGeom prst="rect">
              <a:avLst/>
            </a:prstGeom>
            <a:noFill/>
          </p:spPr>
          <p:txBody>
            <a:bodyPr wrap="square" rtlCol="0">
              <a:spAutoFit/>
            </a:bodyPr>
            <a:lstStyle/>
            <a:p>
              <a:pPr algn="dist"/>
              <a:r>
                <a:rPr lang="zh-CN" altLang="en-US" sz="1600" dirty="0">
                  <a:cs typeface="+mn-ea"/>
                  <a:sym typeface="+mn-lt"/>
                </a:rPr>
                <a:t>答辩人</a:t>
              </a:r>
              <a:r>
                <a:rPr lang="zh-CN" altLang="en-US" sz="1600" dirty="0" smtClean="0">
                  <a:cs typeface="+mn-ea"/>
                  <a:sym typeface="+mn-lt"/>
                </a:rPr>
                <a:t>：</a:t>
              </a:r>
              <a:r>
                <a:rPr lang="zh-CN" altLang="en-US" sz="1600" dirty="0" smtClean="0">
                  <a:cs typeface="+mn-ea"/>
                  <a:sym typeface="+mn-lt"/>
                </a:rPr>
                <a:t>刘哲</a:t>
              </a:r>
              <a:endParaRPr lang="zh-CN" altLang="en-US" sz="1600" dirty="0" smtClean="0">
                <a:cs typeface="+mn-ea"/>
                <a:sym typeface="+mn-lt"/>
              </a:endParaRPr>
            </a:p>
          </p:txBody>
        </p:sp>
      </p:grpSp>
      <p:grpSp>
        <p:nvGrpSpPr>
          <p:cNvPr id="53" name="组合 52"/>
          <p:cNvGrpSpPr/>
          <p:nvPr/>
        </p:nvGrpSpPr>
        <p:grpSpPr>
          <a:xfrm>
            <a:off x="6307495" y="4059851"/>
            <a:ext cx="2255932" cy="337185"/>
            <a:chOff x="6249439" y="3970951"/>
            <a:chExt cx="2255932" cy="337185"/>
          </a:xfrm>
        </p:grpSpPr>
        <p:grpSp>
          <p:nvGrpSpPr>
            <p:cNvPr id="45" name="组合 44"/>
            <p:cNvGrpSpPr/>
            <p:nvPr/>
          </p:nvGrpSpPr>
          <p:grpSpPr>
            <a:xfrm>
              <a:off x="6249439" y="3970951"/>
              <a:ext cx="2255932" cy="337185"/>
              <a:chOff x="4408975" y="3969165"/>
              <a:chExt cx="2255932" cy="337185"/>
            </a:xfrm>
          </p:grpSpPr>
          <p:sp>
            <p:nvSpPr>
              <p:cNvPr id="48" name="椭圆 47"/>
              <p:cNvSpPr/>
              <p:nvPr/>
            </p:nvSpPr>
            <p:spPr>
              <a:xfrm>
                <a:off x="4408975" y="3971205"/>
                <a:ext cx="334475" cy="334475"/>
              </a:xfrm>
              <a:prstGeom prst="ellipse">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mn-ea"/>
                  <a:sym typeface="+mn-lt"/>
                </a:endParaRPr>
              </a:p>
            </p:txBody>
          </p:sp>
          <p:sp>
            <p:nvSpPr>
              <p:cNvPr id="47" name="文本框 46"/>
              <p:cNvSpPr txBox="1"/>
              <p:nvPr/>
            </p:nvSpPr>
            <p:spPr>
              <a:xfrm>
                <a:off x="4743449" y="3969165"/>
                <a:ext cx="1921458" cy="337185"/>
              </a:xfrm>
              <a:prstGeom prst="rect">
                <a:avLst/>
              </a:prstGeom>
              <a:noFill/>
            </p:spPr>
            <p:txBody>
              <a:bodyPr wrap="square" rtlCol="0">
                <a:spAutoFit/>
              </a:bodyPr>
              <a:lstStyle/>
              <a:p>
                <a:pPr algn="dist"/>
                <a:r>
                  <a:rPr lang="zh-CN" altLang="en-US" sz="1600" dirty="0">
                    <a:cs typeface="+mn-ea"/>
                    <a:sym typeface="+mn-lt"/>
                  </a:rPr>
                  <a:t>指导教师</a:t>
                </a:r>
                <a:r>
                  <a:rPr lang="zh-CN" altLang="en-US" sz="1600" dirty="0" smtClean="0">
                    <a:cs typeface="+mn-ea"/>
                    <a:sym typeface="+mn-lt"/>
                  </a:rPr>
                  <a:t>：朱素</a:t>
                </a:r>
                <a:r>
                  <a:rPr lang="zh-CN" altLang="en-US" sz="1600" dirty="0" smtClean="0">
                    <a:cs typeface="+mn-ea"/>
                    <a:sym typeface="+mn-lt"/>
                  </a:rPr>
                  <a:t>英</a:t>
                </a:r>
                <a:endParaRPr lang="zh-CN" altLang="en-US" sz="1600" dirty="0" smtClean="0">
                  <a:cs typeface="+mn-ea"/>
                  <a:sym typeface="+mn-lt"/>
                </a:endParaRPr>
              </a:p>
            </p:txBody>
          </p:sp>
        </p:grpSp>
        <p:pic>
          <p:nvPicPr>
            <p:cNvPr id="52" name="图片 51"/>
            <p:cNvPicPr>
              <a:picLocks noChangeAspect="1"/>
            </p:cNvPicPr>
            <p:nvPr/>
          </p:nvPicPr>
          <p:blipFill>
            <a:blip r:embed="rId3"/>
            <a:stretch>
              <a:fillRect/>
            </a:stretch>
          </p:blipFill>
          <p:spPr>
            <a:xfrm>
              <a:off x="6324887" y="4052703"/>
              <a:ext cx="178791" cy="178791"/>
            </a:xfrm>
            <a:prstGeom prst="rect">
              <a:avLst/>
            </a:prstGeom>
          </p:spPr>
        </p:pic>
      </p:grpSp>
      <p:pic>
        <p:nvPicPr>
          <p:cNvPr id="3" name="图片 2"/>
          <p:cNvPicPr>
            <a:picLocks noChangeAspect="1"/>
          </p:cNvPicPr>
          <p:nvPr/>
        </p:nvPicPr>
        <p:blipFill>
          <a:blip r:embed="rId4"/>
          <a:stretch>
            <a:fillRect/>
          </a:stretch>
        </p:blipFill>
        <p:spPr>
          <a:xfrm>
            <a:off x="254635" y="384810"/>
            <a:ext cx="2964180" cy="594360"/>
          </a:xfrm>
          <a:prstGeom prst="rect">
            <a:avLst/>
          </a:prstGeom>
        </p:spPr>
      </p:pic>
    </p:spTree>
    <p:custDataLst>
      <p:tags r:id="rId5"/>
    </p:custDataLst>
  </p:cSld>
  <p:clrMapOvr>
    <a:masterClrMapping/>
  </p:clrMapOvr>
  <mc:AlternateContent xmlns:mc="http://schemas.openxmlformats.org/markup-compatibility/2006">
    <mc:Choice xmlns:p14="http://schemas.microsoft.com/office/powerpoint/2010/main" Requires="p14">
      <p:transition spd="slow" p14:dur="1500" advTm="4344">
        <p:random/>
      </p:transition>
    </mc:Choice>
    <mc:Fallback>
      <p:transition spd="slow" advTm="4344">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anim calcmode="lin" valueType="num">
                                      <p:cBhvr>
                                        <p:cTn id="8" dur="500" fill="hold"/>
                                        <p:tgtEl>
                                          <p:spTgt spid="23"/>
                                        </p:tgtEl>
                                        <p:attrNameLst>
                                          <p:attrName>ppt_x</p:attrName>
                                        </p:attrNameLst>
                                      </p:cBhvr>
                                      <p:tavLst>
                                        <p:tav tm="0">
                                          <p:val>
                                            <p:strVal val="#ppt_x"/>
                                          </p:val>
                                        </p:tav>
                                        <p:tav tm="100000">
                                          <p:val>
                                            <p:strVal val="#ppt_x"/>
                                          </p:val>
                                        </p:tav>
                                      </p:tavLst>
                                    </p:anim>
                                    <p:anim calcmode="lin" valueType="num">
                                      <p:cBhvr>
                                        <p:cTn id="9" dur="500" fill="hold"/>
                                        <p:tgtEl>
                                          <p:spTgt spid="23"/>
                                        </p:tgtEl>
                                        <p:attrNameLst>
                                          <p:attrName>ppt_y</p:attrName>
                                        </p:attrNameLst>
                                      </p:cBhvr>
                                      <p:tavLst>
                                        <p:tav tm="0">
                                          <p:val>
                                            <p:strVal val="#ppt_y-.1"/>
                                          </p:val>
                                        </p:tav>
                                        <p:tav tm="100000">
                                          <p:val>
                                            <p:strVal val="#ppt_y"/>
                                          </p:val>
                                        </p:tav>
                                      </p:tavLst>
                                    </p:anim>
                                  </p:childTnLst>
                                </p:cTn>
                              </p:par>
                              <p:par>
                                <p:cTn id="10" presetID="2" presetClass="entr" presetSubtype="8" fill="hold" nodeType="withEffect">
                                  <p:stCondLst>
                                    <p:cond delay="0"/>
                                  </p:stCondLst>
                                  <p:childTnLst>
                                    <p:set>
                                      <p:cBhvr>
                                        <p:cTn id="11" dur="1" fill="hold">
                                          <p:stCondLst>
                                            <p:cond delay="0"/>
                                          </p:stCondLst>
                                        </p:cTn>
                                        <p:tgtEl>
                                          <p:spTgt spid="19"/>
                                        </p:tgtEl>
                                        <p:attrNameLst>
                                          <p:attrName>style.visibility</p:attrName>
                                        </p:attrNameLst>
                                      </p:cBhvr>
                                      <p:to>
                                        <p:strVal val="visible"/>
                                      </p:to>
                                    </p:set>
                                    <p:anim calcmode="lin" valueType="num">
                                      <p:cBhvr additive="base">
                                        <p:cTn id="12" dur="500" fill="hold"/>
                                        <p:tgtEl>
                                          <p:spTgt spid="19"/>
                                        </p:tgtEl>
                                        <p:attrNameLst>
                                          <p:attrName>ppt_x</p:attrName>
                                        </p:attrNameLst>
                                      </p:cBhvr>
                                      <p:tavLst>
                                        <p:tav tm="0">
                                          <p:val>
                                            <p:strVal val="0-#ppt_w/2"/>
                                          </p:val>
                                        </p:tav>
                                        <p:tav tm="100000">
                                          <p:val>
                                            <p:strVal val="#ppt_x"/>
                                          </p:val>
                                        </p:tav>
                                      </p:tavLst>
                                    </p:anim>
                                    <p:anim calcmode="lin" valueType="num">
                                      <p:cBhvr additive="base">
                                        <p:cTn id="13" dur="500" fill="hold"/>
                                        <p:tgtEl>
                                          <p:spTgt spid="19"/>
                                        </p:tgtEl>
                                        <p:attrNameLst>
                                          <p:attrName>ppt_y</p:attrName>
                                        </p:attrNameLst>
                                      </p:cBhvr>
                                      <p:tavLst>
                                        <p:tav tm="0">
                                          <p:val>
                                            <p:strVal val="#ppt_y"/>
                                          </p:val>
                                        </p:tav>
                                        <p:tav tm="100000">
                                          <p:val>
                                            <p:strVal val="#ppt_y"/>
                                          </p:val>
                                        </p:tav>
                                      </p:tavLst>
                                    </p:anim>
                                  </p:childTnLst>
                                </p:cTn>
                              </p:par>
                              <p:par>
                                <p:cTn id="14" presetID="2" presetClass="entr" presetSubtype="2"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anim calcmode="lin" valueType="num">
                                      <p:cBhvr additive="base">
                                        <p:cTn id="16" dur="500" fill="hold"/>
                                        <p:tgtEl>
                                          <p:spTgt spid="20"/>
                                        </p:tgtEl>
                                        <p:attrNameLst>
                                          <p:attrName>ppt_x</p:attrName>
                                        </p:attrNameLst>
                                      </p:cBhvr>
                                      <p:tavLst>
                                        <p:tav tm="0">
                                          <p:val>
                                            <p:strVal val="1+#ppt_w/2"/>
                                          </p:val>
                                        </p:tav>
                                        <p:tav tm="100000">
                                          <p:val>
                                            <p:strVal val="#ppt_x"/>
                                          </p:val>
                                        </p:tav>
                                      </p:tavLst>
                                    </p:anim>
                                    <p:anim calcmode="lin" valueType="num">
                                      <p:cBhvr additive="base">
                                        <p:cTn id="17" dur="500" fill="hold"/>
                                        <p:tgtEl>
                                          <p:spTgt spid="20"/>
                                        </p:tgtEl>
                                        <p:attrNameLst>
                                          <p:attrName>ppt_y</p:attrName>
                                        </p:attrNameLst>
                                      </p:cBhvr>
                                      <p:tavLst>
                                        <p:tav tm="0">
                                          <p:val>
                                            <p:strVal val="#ppt_y"/>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42"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1000"/>
                                        <p:tgtEl>
                                          <p:spTgt spid="54"/>
                                        </p:tgtEl>
                                      </p:cBhvr>
                                    </p:animEffect>
                                    <p:anim calcmode="lin" valueType="num">
                                      <p:cBhvr>
                                        <p:cTn id="23" dur="1000" fill="hold"/>
                                        <p:tgtEl>
                                          <p:spTgt spid="54"/>
                                        </p:tgtEl>
                                        <p:attrNameLst>
                                          <p:attrName>ppt_x</p:attrName>
                                        </p:attrNameLst>
                                      </p:cBhvr>
                                      <p:tavLst>
                                        <p:tav tm="0">
                                          <p:val>
                                            <p:strVal val="#ppt_x"/>
                                          </p:val>
                                        </p:tav>
                                        <p:tav tm="100000">
                                          <p:val>
                                            <p:strVal val="#ppt_x"/>
                                          </p:val>
                                        </p:tav>
                                      </p:tavLst>
                                    </p:anim>
                                    <p:anim calcmode="lin" valueType="num">
                                      <p:cBhvr>
                                        <p:cTn id="24" dur="1000" fill="hold"/>
                                        <p:tgtEl>
                                          <p:spTgt spid="54"/>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1000"/>
                                        <p:tgtEl>
                                          <p:spTgt spid="44"/>
                                        </p:tgtEl>
                                      </p:cBhvr>
                                    </p:animEffect>
                                    <p:anim calcmode="lin" valueType="num">
                                      <p:cBhvr>
                                        <p:cTn id="30" dur="1000" fill="hold"/>
                                        <p:tgtEl>
                                          <p:spTgt spid="44"/>
                                        </p:tgtEl>
                                        <p:attrNameLst>
                                          <p:attrName>ppt_x</p:attrName>
                                        </p:attrNameLst>
                                      </p:cBhvr>
                                      <p:tavLst>
                                        <p:tav tm="0">
                                          <p:val>
                                            <p:strVal val="#ppt_x"/>
                                          </p:val>
                                        </p:tav>
                                        <p:tav tm="100000">
                                          <p:val>
                                            <p:strVal val="#ppt_x"/>
                                          </p:val>
                                        </p:tav>
                                      </p:tavLst>
                                    </p:anim>
                                    <p:anim calcmode="lin" valueType="num">
                                      <p:cBhvr>
                                        <p:cTn id="31" dur="1000" fill="hold"/>
                                        <p:tgtEl>
                                          <p:spTgt spid="44"/>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53"/>
                                        </p:tgtEl>
                                        <p:attrNameLst>
                                          <p:attrName>style.visibility</p:attrName>
                                        </p:attrNameLst>
                                      </p:cBhvr>
                                      <p:to>
                                        <p:strVal val="visible"/>
                                      </p:to>
                                    </p:set>
                                    <p:animEffect transition="in" filter="fade">
                                      <p:cBhvr>
                                        <p:cTn id="34" dur="1000"/>
                                        <p:tgtEl>
                                          <p:spTgt spid="53"/>
                                        </p:tgtEl>
                                      </p:cBhvr>
                                    </p:animEffect>
                                    <p:anim calcmode="lin" valueType="num">
                                      <p:cBhvr>
                                        <p:cTn id="35" dur="1000" fill="hold"/>
                                        <p:tgtEl>
                                          <p:spTgt spid="53"/>
                                        </p:tgtEl>
                                        <p:attrNameLst>
                                          <p:attrName>ppt_x</p:attrName>
                                        </p:attrNameLst>
                                      </p:cBhvr>
                                      <p:tavLst>
                                        <p:tav tm="0">
                                          <p:val>
                                            <p:strVal val="#ppt_x"/>
                                          </p:val>
                                        </p:tav>
                                        <p:tav tm="100000">
                                          <p:val>
                                            <p:strVal val="#ppt_x"/>
                                          </p:val>
                                        </p:tav>
                                      </p:tavLst>
                                    </p:anim>
                                    <p:anim calcmode="lin" valueType="num">
                                      <p:cBhvr>
                                        <p:cTn id="36" dur="1000" fill="hold"/>
                                        <p:tgtEl>
                                          <p:spTgt spid="5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 空心 1"/>
          <p:cNvSpPr/>
          <p:nvPr/>
        </p:nvSpPr>
        <p:spPr>
          <a:xfrm>
            <a:off x="10134600" y="342900"/>
            <a:ext cx="704850" cy="704850"/>
          </a:xfrm>
          <a:prstGeom prst="donut">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cs typeface="+mn-ea"/>
              <a:sym typeface="+mn-lt"/>
            </a:endParaRPr>
          </a:p>
        </p:txBody>
      </p:sp>
      <p:grpSp>
        <p:nvGrpSpPr>
          <p:cNvPr id="39" name="组合 38"/>
          <p:cNvGrpSpPr/>
          <p:nvPr/>
        </p:nvGrpSpPr>
        <p:grpSpPr>
          <a:xfrm>
            <a:off x="1352550" y="779502"/>
            <a:ext cx="2656640" cy="1107996"/>
            <a:chOff x="1352550" y="779502"/>
            <a:chExt cx="2656640" cy="1107996"/>
          </a:xfrm>
        </p:grpSpPr>
        <p:sp>
          <p:nvSpPr>
            <p:cNvPr id="4" name="文本框 3"/>
            <p:cNvSpPr txBox="1"/>
            <p:nvPr/>
          </p:nvSpPr>
          <p:spPr>
            <a:xfrm>
              <a:off x="1352550" y="779502"/>
              <a:ext cx="704850" cy="1107996"/>
            </a:xfrm>
            <a:prstGeom prst="rect">
              <a:avLst/>
            </a:prstGeom>
            <a:noFill/>
          </p:spPr>
          <p:txBody>
            <a:bodyPr wrap="square" rtlCol="0">
              <a:spAutoFit/>
            </a:bodyPr>
            <a:lstStyle/>
            <a:p>
              <a:r>
                <a:rPr lang="en-US" altLang="zh-CN" sz="6600" dirty="0">
                  <a:solidFill>
                    <a:srgbClr val="69C0E1"/>
                  </a:solidFill>
                  <a:effectLst>
                    <a:outerShdw blurRad="63500" sx="102000" sy="102000" algn="ctr" rotWithShape="0">
                      <a:prstClr val="black">
                        <a:alpha val="40000"/>
                      </a:prstClr>
                    </a:outerShdw>
                  </a:effectLst>
                  <a:cs typeface="+mn-ea"/>
                  <a:sym typeface="+mn-lt"/>
                </a:rPr>
                <a:t>C</a:t>
              </a:r>
              <a:endParaRPr lang="zh-CN" altLang="en-US" sz="6600" dirty="0">
                <a:solidFill>
                  <a:srgbClr val="69C0E1"/>
                </a:solidFill>
                <a:effectLst>
                  <a:outerShdw blurRad="63500" sx="102000" sy="102000" algn="ctr" rotWithShape="0">
                    <a:prstClr val="black">
                      <a:alpha val="40000"/>
                    </a:prstClr>
                  </a:outerShdw>
                </a:effectLst>
                <a:cs typeface="+mn-ea"/>
                <a:sym typeface="+mn-lt"/>
              </a:endParaRPr>
            </a:p>
          </p:txBody>
        </p:sp>
        <p:sp>
          <p:nvSpPr>
            <p:cNvPr id="5" name="文本框 4"/>
            <p:cNvSpPr txBox="1"/>
            <p:nvPr/>
          </p:nvSpPr>
          <p:spPr>
            <a:xfrm>
              <a:off x="2057400" y="1249276"/>
              <a:ext cx="1951790" cy="461665"/>
            </a:xfrm>
            <a:prstGeom prst="rect">
              <a:avLst/>
            </a:prstGeom>
            <a:noFill/>
          </p:spPr>
          <p:txBody>
            <a:bodyPr wrap="square" rtlCol="0">
              <a:spAutoFit/>
            </a:bodyPr>
            <a:lstStyle/>
            <a:p>
              <a:pPr algn="dist"/>
              <a:r>
                <a:rPr lang="en-US" altLang="zh-CN" sz="2400" dirty="0">
                  <a:solidFill>
                    <a:srgbClr val="10507E"/>
                  </a:solidFill>
                  <a:cs typeface="+mn-ea"/>
                  <a:sym typeface="+mn-lt"/>
                </a:rPr>
                <a:t>ONTENTES</a:t>
              </a:r>
              <a:endParaRPr lang="zh-CN" altLang="en-US" sz="2400" dirty="0">
                <a:solidFill>
                  <a:srgbClr val="10507E"/>
                </a:solidFill>
                <a:cs typeface="+mn-ea"/>
                <a:sym typeface="+mn-lt"/>
              </a:endParaRPr>
            </a:p>
          </p:txBody>
        </p:sp>
        <p:sp>
          <p:nvSpPr>
            <p:cNvPr id="6" name="文本框 5"/>
            <p:cNvSpPr txBox="1"/>
            <p:nvPr/>
          </p:nvSpPr>
          <p:spPr>
            <a:xfrm>
              <a:off x="2095500" y="1047750"/>
              <a:ext cx="973931" cy="276999"/>
            </a:xfrm>
            <a:prstGeom prst="rect">
              <a:avLst/>
            </a:prstGeom>
            <a:noFill/>
          </p:spPr>
          <p:txBody>
            <a:bodyPr wrap="square" rtlCol="0">
              <a:spAutoFit/>
            </a:bodyPr>
            <a:lstStyle/>
            <a:p>
              <a:pPr algn="dist"/>
              <a:r>
                <a:rPr lang="zh-CN" altLang="en-US" sz="1200" dirty="0">
                  <a:solidFill>
                    <a:schemeClr val="tx1">
                      <a:lumMod val="85000"/>
                      <a:lumOff val="15000"/>
                    </a:schemeClr>
                  </a:solidFill>
                  <a:cs typeface="+mn-ea"/>
                  <a:sym typeface="+mn-lt"/>
                </a:rPr>
                <a:t>目录内容</a:t>
              </a:r>
              <a:endParaRPr lang="zh-CN" altLang="en-US" sz="1200" dirty="0">
                <a:solidFill>
                  <a:schemeClr val="tx1">
                    <a:lumMod val="85000"/>
                    <a:lumOff val="15000"/>
                  </a:schemeClr>
                </a:solidFill>
                <a:cs typeface="+mn-ea"/>
                <a:sym typeface="+mn-lt"/>
              </a:endParaRPr>
            </a:p>
          </p:txBody>
        </p:sp>
      </p:grpSp>
      <p:sp>
        <p:nvSpPr>
          <p:cNvPr id="7" name="矩形: 圆角 6"/>
          <p:cNvSpPr/>
          <p:nvPr/>
        </p:nvSpPr>
        <p:spPr>
          <a:xfrm>
            <a:off x="1220561" y="1747115"/>
            <a:ext cx="9750879" cy="92975"/>
          </a:xfrm>
          <a:prstGeom prst="roundRect">
            <a:avLst/>
          </a:prstGeom>
          <a:solidFill>
            <a:schemeClr val="bg1"/>
          </a:solidFill>
          <a:ln>
            <a:noFill/>
          </a:ln>
          <a:effectLst>
            <a:outerShdw blurRad="635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3" name="圆: 空心 12"/>
          <p:cNvSpPr/>
          <p:nvPr/>
        </p:nvSpPr>
        <p:spPr>
          <a:xfrm>
            <a:off x="-2188765" y="4734917"/>
            <a:ext cx="4246165" cy="4246165"/>
          </a:xfrm>
          <a:prstGeom prst="donut">
            <a:avLst/>
          </a:prstGeom>
          <a:solidFill>
            <a:srgbClr val="69C0E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cs typeface="+mn-ea"/>
              <a:sym typeface="+mn-lt"/>
            </a:endParaRPr>
          </a:p>
        </p:txBody>
      </p:sp>
      <p:grpSp>
        <p:nvGrpSpPr>
          <p:cNvPr id="16" name="组合 15"/>
          <p:cNvGrpSpPr/>
          <p:nvPr/>
        </p:nvGrpSpPr>
        <p:grpSpPr>
          <a:xfrm>
            <a:off x="2057400" y="2742054"/>
            <a:ext cx="4398725" cy="553998"/>
            <a:chOff x="1922065" y="2510352"/>
            <a:chExt cx="4398725" cy="553998"/>
          </a:xfrm>
        </p:grpSpPr>
        <p:grpSp>
          <p:nvGrpSpPr>
            <p:cNvPr id="11" name="组合 10"/>
            <p:cNvGrpSpPr/>
            <p:nvPr/>
          </p:nvGrpSpPr>
          <p:grpSpPr>
            <a:xfrm>
              <a:off x="1922065" y="2526002"/>
              <a:ext cx="660400" cy="522698"/>
              <a:chOff x="1730792" y="2452119"/>
              <a:chExt cx="660400" cy="522698"/>
            </a:xfrm>
          </p:grpSpPr>
          <p:sp>
            <p:nvSpPr>
              <p:cNvPr id="9" name="矩形 8"/>
              <p:cNvSpPr/>
              <p:nvPr/>
            </p:nvSpPr>
            <p:spPr>
              <a:xfrm rot="2693629">
                <a:off x="1799643" y="2452119"/>
                <a:ext cx="522698" cy="522698"/>
              </a:xfrm>
              <a:prstGeom prst="rect">
                <a:avLst/>
              </a:prstGeom>
              <a:solidFill>
                <a:srgbClr val="69C0E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cs typeface="+mn-ea"/>
                  <a:sym typeface="+mn-lt"/>
                </a:endParaRPr>
              </a:p>
            </p:txBody>
          </p:sp>
          <p:sp>
            <p:nvSpPr>
              <p:cNvPr id="10" name="文本框 9"/>
              <p:cNvSpPr txBox="1"/>
              <p:nvPr/>
            </p:nvSpPr>
            <p:spPr>
              <a:xfrm>
                <a:off x="1730792" y="2482636"/>
                <a:ext cx="660400" cy="461665"/>
              </a:xfrm>
              <a:prstGeom prst="rect">
                <a:avLst/>
              </a:prstGeom>
              <a:noFill/>
            </p:spPr>
            <p:txBody>
              <a:bodyPr wrap="square" rtlCol="0">
                <a:spAutoFit/>
              </a:bodyPr>
              <a:lstStyle/>
              <a:p>
                <a:pPr algn="ctr"/>
                <a:r>
                  <a:rPr lang="en-US" altLang="zh-CN" sz="2400" dirty="0">
                    <a:solidFill>
                      <a:schemeClr val="bg1"/>
                    </a:solidFill>
                    <a:effectLst>
                      <a:outerShdw blurRad="38100" dist="38100" dir="2700000" algn="tl">
                        <a:srgbClr val="000000">
                          <a:alpha val="43137"/>
                        </a:srgbClr>
                      </a:outerShdw>
                    </a:effectLst>
                    <a:cs typeface="+mn-ea"/>
                    <a:sym typeface="+mn-lt"/>
                  </a:rPr>
                  <a:t>01</a:t>
                </a:r>
                <a:endParaRPr lang="zh-CN" altLang="en-US" sz="2400" dirty="0">
                  <a:solidFill>
                    <a:schemeClr val="bg1"/>
                  </a:solidFill>
                  <a:effectLst>
                    <a:outerShdw blurRad="38100" dist="38100" dir="2700000" algn="tl">
                      <a:srgbClr val="000000">
                        <a:alpha val="43137"/>
                      </a:srgbClr>
                    </a:outerShdw>
                  </a:effectLst>
                  <a:cs typeface="+mn-ea"/>
                  <a:sym typeface="+mn-lt"/>
                </a:endParaRPr>
              </a:p>
            </p:txBody>
          </p:sp>
        </p:grpSp>
        <p:grpSp>
          <p:nvGrpSpPr>
            <p:cNvPr id="15" name="组合 14"/>
            <p:cNvGrpSpPr/>
            <p:nvPr/>
          </p:nvGrpSpPr>
          <p:grpSpPr>
            <a:xfrm>
              <a:off x="2731770" y="2510352"/>
              <a:ext cx="3589020" cy="553998"/>
              <a:chOff x="2762250" y="2604356"/>
              <a:chExt cx="3589020" cy="553998"/>
            </a:xfrm>
          </p:grpSpPr>
          <p:sp>
            <p:nvSpPr>
              <p:cNvPr id="12" name="文本框 11"/>
              <p:cNvSpPr txBox="1"/>
              <p:nvPr/>
            </p:nvSpPr>
            <p:spPr>
              <a:xfrm>
                <a:off x="2762250" y="2604356"/>
                <a:ext cx="3589020" cy="460375"/>
              </a:xfrm>
              <a:prstGeom prst="rect">
                <a:avLst/>
              </a:prstGeom>
              <a:noFill/>
            </p:spPr>
            <p:txBody>
              <a:bodyPr wrap="square" rtlCol="0">
                <a:spAutoFit/>
              </a:bodyPr>
              <a:lstStyle/>
              <a:p>
                <a:pPr algn="dist"/>
                <a:r>
                  <a:rPr lang="zh-CN" altLang="en-US" sz="2400" dirty="0">
                    <a:solidFill>
                      <a:schemeClr val="tx1">
                        <a:lumMod val="75000"/>
                        <a:lumOff val="25000"/>
                      </a:schemeClr>
                    </a:solidFill>
                    <a:cs typeface="+mn-ea"/>
                    <a:sym typeface="+mn-lt"/>
                  </a:rPr>
                  <a:t>课题背景及</a:t>
                </a:r>
                <a:r>
                  <a:rPr lang="zh-CN" altLang="en-US" sz="2400" dirty="0">
                    <a:solidFill>
                      <a:schemeClr val="tx1">
                        <a:lumMod val="75000"/>
                        <a:lumOff val="25000"/>
                      </a:schemeClr>
                    </a:solidFill>
                    <a:cs typeface="+mn-ea"/>
                    <a:sym typeface="+mn-lt"/>
                  </a:rPr>
                  <a:t>研究意义</a:t>
                </a:r>
                <a:endParaRPr lang="zh-CN" altLang="en-US" sz="2400" dirty="0">
                  <a:solidFill>
                    <a:schemeClr val="tx1">
                      <a:lumMod val="75000"/>
                      <a:lumOff val="25000"/>
                    </a:schemeClr>
                  </a:solidFill>
                  <a:cs typeface="+mn-ea"/>
                  <a:sym typeface="+mn-lt"/>
                </a:endParaRPr>
              </a:p>
            </p:txBody>
          </p:sp>
          <p:sp>
            <p:nvSpPr>
              <p:cNvPr id="14" name="文本框 13"/>
              <p:cNvSpPr txBox="1"/>
              <p:nvPr/>
            </p:nvSpPr>
            <p:spPr>
              <a:xfrm>
                <a:off x="2762250" y="2958299"/>
                <a:ext cx="2892425" cy="200055"/>
              </a:xfrm>
              <a:prstGeom prst="rect">
                <a:avLst/>
              </a:prstGeom>
              <a:noFill/>
            </p:spPr>
            <p:txBody>
              <a:bodyPr wrap="square" rtlCol="0">
                <a:spAutoFit/>
              </a:bodyPr>
              <a:lstStyle/>
              <a:p>
                <a:pPr algn="dist"/>
                <a:r>
                  <a:rPr lang="en-US" altLang="zh-CN" sz="700" dirty="0">
                    <a:cs typeface="+mn-ea"/>
                    <a:sym typeface="+mn-lt"/>
                  </a:rPr>
                  <a:t>RESEARCH BACKGROUND AND CURRENT SITUATION</a:t>
                </a:r>
                <a:endParaRPr lang="zh-CN" altLang="en-US" sz="700" dirty="0">
                  <a:cs typeface="+mn-ea"/>
                  <a:sym typeface="+mn-lt"/>
                </a:endParaRPr>
              </a:p>
            </p:txBody>
          </p:sp>
        </p:grpSp>
      </p:grpSp>
      <p:grpSp>
        <p:nvGrpSpPr>
          <p:cNvPr id="17" name="组合 16"/>
          <p:cNvGrpSpPr/>
          <p:nvPr/>
        </p:nvGrpSpPr>
        <p:grpSpPr>
          <a:xfrm>
            <a:off x="2057400" y="4085669"/>
            <a:ext cx="3702130" cy="553998"/>
            <a:chOff x="1922065" y="2510352"/>
            <a:chExt cx="3702130" cy="553998"/>
          </a:xfrm>
        </p:grpSpPr>
        <p:grpSp>
          <p:nvGrpSpPr>
            <p:cNvPr id="18" name="组合 17"/>
            <p:cNvGrpSpPr/>
            <p:nvPr/>
          </p:nvGrpSpPr>
          <p:grpSpPr>
            <a:xfrm>
              <a:off x="1922065" y="2526002"/>
              <a:ext cx="660400" cy="522698"/>
              <a:chOff x="1730792" y="2452119"/>
              <a:chExt cx="660400" cy="522698"/>
            </a:xfrm>
          </p:grpSpPr>
          <p:sp>
            <p:nvSpPr>
              <p:cNvPr id="22" name="矩形 21"/>
              <p:cNvSpPr/>
              <p:nvPr/>
            </p:nvSpPr>
            <p:spPr>
              <a:xfrm rot="2693629">
                <a:off x="1799643" y="2452119"/>
                <a:ext cx="522698" cy="522698"/>
              </a:xfrm>
              <a:prstGeom prst="rect">
                <a:avLst/>
              </a:prstGeom>
              <a:solidFill>
                <a:srgbClr val="69C0E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cs typeface="+mn-ea"/>
                  <a:sym typeface="+mn-lt"/>
                </a:endParaRPr>
              </a:p>
            </p:txBody>
          </p:sp>
          <p:sp>
            <p:nvSpPr>
              <p:cNvPr id="23" name="文本框 22"/>
              <p:cNvSpPr txBox="1"/>
              <p:nvPr/>
            </p:nvSpPr>
            <p:spPr>
              <a:xfrm>
                <a:off x="1730792" y="2482636"/>
                <a:ext cx="660400" cy="461665"/>
              </a:xfrm>
              <a:prstGeom prst="rect">
                <a:avLst/>
              </a:prstGeom>
              <a:noFill/>
            </p:spPr>
            <p:txBody>
              <a:bodyPr wrap="square" rtlCol="0">
                <a:spAutoFit/>
              </a:bodyPr>
              <a:lstStyle/>
              <a:p>
                <a:pPr algn="ctr"/>
                <a:r>
                  <a:rPr lang="en-US" altLang="zh-CN" sz="2400" dirty="0">
                    <a:solidFill>
                      <a:schemeClr val="bg1"/>
                    </a:solidFill>
                    <a:effectLst>
                      <a:outerShdw blurRad="38100" dist="38100" dir="2700000" algn="tl">
                        <a:srgbClr val="000000">
                          <a:alpha val="43137"/>
                        </a:srgbClr>
                      </a:outerShdw>
                    </a:effectLst>
                    <a:cs typeface="+mn-ea"/>
                    <a:sym typeface="+mn-lt"/>
                  </a:rPr>
                  <a:t>03</a:t>
                </a:r>
                <a:endParaRPr lang="zh-CN" altLang="en-US" sz="2400" dirty="0">
                  <a:solidFill>
                    <a:schemeClr val="bg1"/>
                  </a:solidFill>
                  <a:effectLst>
                    <a:outerShdw blurRad="38100" dist="38100" dir="2700000" algn="tl">
                      <a:srgbClr val="000000">
                        <a:alpha val="43137"/>
                      </a:srgbClr>
                    </a:outerShdw>
                  </a:effectLst>
                  <a:cs typeface="+mn-ea"/>
                  <a:sym typeface="+mn-lt"/>
                </a:endParaRPr>
              </a:p>
            </p:txBody>
          </p:sp>
        </p:grpSp>
        <p:grpSp>
          <p:nvGrpSpPr>
            <p:cNvPr id="19" name="组合 18"/>
            <p:cNvGrpSpPr/>
            <p:nvPr/>
          </p:nvGrpSpPr>
          <p:grpSpPr>
            <a:xfrm>
              <a:off x="2731770" y="2510352"/>
              <a:ext cx="2892425" cy="553998"/>
              <a:chOff x="2762250" y="2604356"/>
              <a:chExt cx="2892425" cy="553998"/>
            </a:xfrm>
          </p:grpSpPr>
          <p:sp>
            <p:nvSpPr>
              <p:cNvPr id="20" name="文本框 19"/>
              <p:cNvSpPr txBox="1"/>
              <p:nvPr/>
            </p:nvSpPr>
            <p:spPr>
              <a:xfrm>
                <a:off x="2762250" y="2604356"/>
                <a:ext cx="2771775" cy="460375"/>
              </a:xfrm>
              <a:prstGeom prst="rect">
                <a:avLst/>
              </a:prstGeom>
              <a:noFill/>
            </p:spPr>
            <p:txBody>
              <a:bodyPr wrap="square" rtlCol="0">
                <a:spAutoFit/>
              </a:bodyPr>
              <a:lstStyle/>
              <a:p>
                <a:pPr algn="dist"/>
                <a:r>
                  <a:rPr lang="zh-CN" altLang="en-US" sz="2400" dirty="0">
                    <a:solidFill>
                      <a:schemeClr val="tx1">
                        <a:lumMod val="75000"/>
                        <a:lumOff val="25000"/>
                      </a:schemeClr>
                    </a:solidFill>
                    <a:cs typeface="+mn-ea"/>
                    <a:sym typeface="+mn-lt"/>
                  </a:rPr>
                  <a:t>系统设计及其</a:t>
                </a:r>
                <a:r>
                  <a:rPr lang="zh-CN" altLang="en-US" sz="2400" dirty="0">
                    <a:solidFill>
                      <a:schemeClr val="tx1">
                        <a:lumMod val="75000"/>
                        <a:lumOff val="25000"/>
                      </a:schemeClr>
                    </a:solidFill>
                    <a:cs typeface="+mn-ea"/>
                    <a:sym typeface="+mn-lt"/>
                  </a:rPr>
                  <a:t>实现</a:t>
                </a:r>
                <a:endParaRPr lang="zh-CN" altLang="en-US" sz="2400" dirty="0">
                  <a:solidFill>
                    <a:schemeClr val="tx1">
                      <a:lumMod val="75000"/>
                      <a:lumOff val="25000"/>
                    </a:schemeClr>
                  </a:solidFill>
                  <a:cs typeface="+mn-ea"/>
                  <a:sym typeface="+mn-lt"/>
                </a:endParaRPr>
              </a:p>
            </p:txBody>
          </p:sp>
          <p:sp>
            <p:nvSpPr>
              <p:cNvPr id="21" name="文本框 20"/>
              <p:cNvSpPr txBox="1"/>
              <p:nvPr/>
            </p:nvSpPr>
            <p:spPr>
              <a:xfrm>
                <a:off x="2762250" y="2958299"/>
                <a:ext cx="2892425" cy="200055"/>
              </a:xfrm>
              <a:prstGeom prst="rect">
                <a:avLst/>
              </a:prstGeom>
              <a:noFill/>
            </p:spPr>
            <p:txBody>
              <a:bodyPr wrap="square" rtlCol="0">
                <a:spAutoFit/>
              </a:bodyPr>
              <a:lstStyle/>
              <a:p>
                <a:pPr algn="dist"/>
                <a:r>
                  <a:rPr lang="en-US" altLang="zh-CN" sz="700" dirty="0">
                    <a:cs typeface="+mn-ea"/>
                    <a:sym typeface="+mn-lt"/>
                  </a:rPr>
                  <a:t>RESEARCH BACKGROUND AND CURRENT SITUATION</a:t>
                </a:r>
                <a:endParaRPr lang="zh-CN" altLang="en-US" sz="700" dirty="0">
                  <a:cs typeface="+mn-ea"/>
                  <a:sym typeface="+mn-lt"/>
                </a:endParaRPr>
              </a:p>
            </p:txBody>
          </p:sp>
        </p:grpSp>
      </p:grpSp>
      <p:grpSp>
        <p:nvGrpSpPr>
          <p:cNvPr id="24" name="组合 23"/>
          <p:cNvGrpSpPr/>
          <p:nvPr/>
        </p:nvGrpSpPr>
        <p:grpSpPr>
          <a:xfrm>
            <a:off x="6456045" y="2731894"/>
            <a:ext cx="3702130" cy="553998"/>
            <a:chOff x="1922065" y="2510352"/>
            <a:chExt cx="3702130" cy="553998"/>
          </a:xfrm>
        </p:grpSpPr>
        <p:grpSp>
          <p:nvGrpSpPr>
            <p:cNvPr id="25" name="组合 24"/>
            <p:cNvGrpSpPr/>
            <p:nvPr/>
          </p:nvGrpSpPr>
          <p:grpSpPr>
            <a:xfrm>
              <a:off x="1922065" y="2526002"/>
              <a:ext cx="660400" cy="522698"/>
              <a:chOff x="1730792" y="2452119"/>
              <a:chExt cx="660400" cy="522698"/>
            </a:xfrm>
          </p:grpSpPr>
          <p:sp>
            <p:nvSpPr>
              <p:cNvPr id="29" name="矩形 28"/>
              <p:cNvSpPr/>
              <p:nvPr/>
            </p:nvSpPr>
            <p:spPr>
              <a:xfrm rot="2693629">
                <a:off x="1799643" y="2452119"/>
                <a:ext cx="522698" cy="522698"/>
              </a:xfrm>
              <a:prstGeom prst="rect">
                <a:avLst/>
              </a:prstGeom>
              <a:solidFill>
                <a:srgbClr val="69C0E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cs typeface="+mn-ea"/>
                  <a:sym typeface="+mn-lt"/>
                </a:endParaRPr>
              </a:p>
            </p:txBody>
          </p:sp>
          <p:sp>
            <p:nvSpPr>
              <p:cNvPr id="30" name="文本框 29"/>
              <p:cNvSpPr txBox="1"/>
              <p:nvPr/>
            </p:nvSpPr>
            <p:spPr>
              <a:xfrm>
                <a:off x="1730792" y="2482636"/>
                <a:ext cx="660400" cy="461665"/>
              </a:xfrm>
              <a:prstGeom prst="rect">
                <a:avLst/>
              </a:prstGeom>
              <a:noFill/>
            </p:spPr>
            <p:txBody>
              <a:bodyPr wrap="square" rtlCol="0">
                <a:spAutoFit/>
              </a:bodyPr>
              <a:lstStyle/>
              <a:p>
                <a:pPr algn="ctr"/>
                <a:r>
                  <a:rPr lang="en-US" altLang="zh-CN" sz="2400" dirty="0">
                    <a:solidFill>
                      <a:schemeClr val="bg1"/>
                    </a:solidFill>
                    <a:effectLst>
                      <a:outerShdw blurRad="38100" dist="38100" dir="2700000" algn="tl">
                        <a:srgbClr val="000000">
                          <a:alpha val="43137"/>
                        </a:srgbClr>
                      </a:outerShdw>
                    </a:effectLst>
                    <a:cs typeface="+mn-ea"/>
                    <a:sym typeface="+mn-lt"/>
                  </a:rPr>
                  <a:t>02</a:t>
                </a:r>
                <a:endParaRPr lang="zh-CN" altLang="en-US" sz="2400" dirty="0">
                  <a:solidFill>
                    <a:schemeClr val="bg1"/>
                  </a:solidFill>
                  <a:effectLst>
                    <a:outerShdw blurRad="38100" dist="38100" dir="2700000" algn="tl">
                      <a:srgbClr val="000000">
                        <a:alpha val="43137"/>
                      </a:srgbClr>
                    </a:outerShdw>
                  </a:effectLst>
                  <a:cs typeface="+mn-ea"/>
                  <a:sym typeface="+mn-lt"/>
                </a:endParaRPr>
              </a:p>
            </p:txBody>
          </p:sp>
        </p:grpSp>
        <p:grpSp>
          <p:nvGrpSpPr>
            <p:cNvPr id="26" name="组合 25"/>
            <p:cNvGrpSpPr/>
            <p:nvPr/>
          </p:nvGrpSpPr>
          <p:grpSpPr>
            <a:xfrm>
              <a:off x="2731770" y="2510352"/>
              <a:ext cx="2892425" cy="553998"/>
              <a:chOff x="2762250" y="2604356"/>
              <a:chExt cx="2892425" cy="553998"/>
            </a:xfrm>
          </p:grpSpPr>
          <p:sp>
            <p:nvSpPr>
              <p:cNvPr id="27" name="文本框 26"/>
              <p:cNvSpPr txBox="1"/>
              <p:nvPr/>
            </p:nvSpPr>
            <p:spPr>
              <a:xfrm>
                <a:off x="2762250" y="2604356"/>
                <a:ext cx="2609850" cy="460375"/>
              </a:xfrm>
              <a:prstGeom prst="rect">
                <a:avLst/>
              </a:prstGeom>
              <a:noFill/>
            </p:spPr>
            <p:txBody>
              <a:bodyPr wrap="square" rtlCol="0">
                <a:spAutoFit/>
              </a:bodyPr>
              <a:lstStyle/>
              <a:p>
                <a:pPr algn="dist"/>
                <a:r>
                  <a:rPr lang="zh-CN" altLang="en-US" sz="2400" dirty="0">
                    <a:solidFill>
                      <a:schemeClr val="tx1">
                        <a:lumMod val="75000"/>
                        <a:lumOff val="25000"/>
                      </a:schemeClr>
                    </a:solidFill>
                    <a:cs typeface="+mn-ea"/>
                    <a:sym typeface="+mn-lt"/>
                  </a:rPr>
                  <a:t>系统功能</a:t>
                </a:r>
                <a:endParaRPr lang="zh-CN" altLang="en-US" sz="2400" dirty="0">
                  <a:solidFill>
                    <a:schemeClr val="tx1">
                      <a:lumMod val="75000"/>
                      <a:lumOff val="25000"/>
                    </a:schemeClr>
                  </a:solidFill>
                  <a:cs typeface="+mn-ea"/>
                  <a:sym typeface="+mn-lt"/>
                </a:endParaRPr>
              </a:p>
            </p:txBody>
          </p:sp>
          <p:sp>
            <p:nvSpPr>
              <p:cNvPr id="28" name="文本框 27"/>
              <p:cNvSpPr txBox="1"/>
              <p:nvPr/>
            </p:nvSpPr>
            <p:spPr>
              <a:xfrm>
                <a:off x="2762250" y="2958299"/>
                <a:ext cx="2892425" cy="200055"/>
              </a:xfrm>
              <a:prstGeom prst="rect">
                <a:avLst/>
              </a:prstGeom>
              <a:noFill/>
            </p:spPr>
            <p:txBody>
              <a:bodyPr wrap="square" rtlCol="0">
                <a:spAutoFit/>
              </a:bodyPr>
              <a:lstStyle/>
              <a:p>
                <a:pPr algn="dist"/>
                <a:r>
                  <a:rPr lang="en-US" altLang="zh-CN" sz="700" dirty="0">
                    <a:cs typeface="+mn-ea"/>
                    <a:sym typeface="+mn-lt"/>
                  </a:rPr>
                  <a:t>RESEARCH BACKGROUND AND CURRENT SITUATION</a:t>
                </a:r>
                <a:endParaRPr lang="zh-CN" altLang="en-US" sz="700" dirty="0">
                  <a:cs typeface="+mn-ea"/>
                  <a:sym typeface="+mn-lt"/>
                </a:endParaRPr>
              </a:p>
            </p:txBody>
          </p:sp>
        </p:grpSp>
      </p:grpSp>
      <p:grpSp>
        <p:nvGrpSpPr>
          <p:cNvPr id="31" name="组合 30"/>
          <p:cNvGrpSpPr/>
          <p:nvPr/>
        </p:nvGrpSpPr>
        <p:grpSpPr>
          <a:xfrm>
            <a:off x="6565900" y="4085669"/>
            <a:ext cx="3702130" cy="553998"/>
            <a:chOff x="1922065" y="2510352"/>
            <a:chExt cx="3702130" cy="553998"/>
          </a:xfrm>
        </p:grpSpPr>
        <p:grpSp>
          <p:nvGrpSpPr>
            <p:cNvPr id="32" name="组合 31"/>
            <p:cNvGrpSpPr/>
            <p:nvPr/>
          </p:nvGrpSpPr>
          <p:grpSpPr>
            <a:xfrm>
              <a:off x="1922065" y="2526002"/>
              <a:ext cx="660400" cy="522698"/>
              <a:chOff x="1730792" y="2452119"/>
              <a:chExt cx="660400" cy="522698"/>
            </a:xfrm>
          </p:grpSpPr>
          <p:sp>
            <p:nvSpPr>
              <p:cNvPr id="36" name="矩形 35"/>
              <p:cNvSpPr/>
              <p:nvPr/>
            </p:nvSpPr>
            <p:spPr>
              <a:xfrm rot="2693629">
                <a:off x="1799643" y="2452119"/>
                <a:ext cx="522698" cy="522698"/>
              </a:xfrm>
              <a:prstGeom prst="rect">
                <a:avLst/>
              </a:prstGeom>
              <a:solidFill>
                <a:srgbClr val="69C0E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cs typeface="+mn-ea"/>
                  <a:sym typeface="+mn-lt"/>
                </a:endParaRPr>
              </a:p>
            </p:txBody>
          </p:sp>
          <p:sp>
            <p:nvSpPr>
              <p:cNvPr id="37" name="文本框 36"/>
              <p:cNvSpPr txBox="1"/>
              <p:nvPr/>
            </p:nvSpPr>
            <p:spPr>
              <a:xfrm>
                <a:off x="1730792" y="2482636"/>
                <a:ext cx="660400" cy="461665"/>
              </a:xfrm>
              <a:prstGeom prst="rect">
                <a:avLst/>
              </a:prstGeom>
              <a:noFill/>
            </p:spPr>
            <p:txBody>
              <a:bodyPr wrap="square" rtlCol="0">
                <a:spAutoFit/>
              </a:bodyPr>
              <a:lstStyle/>
              <a:p>
                <a:pPr algn="ctr"/>
                <a:r>
                  <a:rPr lang="en-US" altLang="zh-CN" sz="2400" dirty="0">
                    <a:solidFill>
                      <a:schemeClr val="bg1"/>
                    </a:solidFill>
                    <a:effectLst>
                      <a:outerShdw blurRad="38100" dist="38100" dir="2700000" algn="tl">
                        <a:srgbClr val="000000">
                          <a:alpha val="43137"/>
                        </a:srgbClr>
                      </a:outerShdw>
                    </a:effectLst>
                    <a:cs typeface="+mn-ea"/>
                    <a:sym typeface="+mn-lt"/>
                  </a:rPr>
                  <a:t>04</a:t>
                </a:r>
                <a:endParaRPr lang="zh-CN" altLang="en-US" sz="2400" dirty="0">
                  <a:solidFill>
                    <a:schemeClr val="bg1"/>
                  </a:solidFill>
                  <a:effectLst>
                    <a:outerShdw blurRad="38100" dist="38100" dir="2700000" algn="tl">
                      <a:srgbClr val="000000">
                        <a:alpha val="43137"/>
                      </a:srgbClr>
                    </a:outerShdw>
                  </a:effectLst>
                  <a:cs typeface="+mn-ea"/>
                  <a:sym typeface="+mn-lt"/>
                </a:endParaRPr>
              </a:p>
            </p:txBody>
          </p:sp>
        </p:grpSp>
        <p:grpSp>
          <p:nvGrpSpPr>
            <p:cNvPr id="33" name="组合 32"/>
            <p:cNvGrpSpPr/>
            <p:nvPr/>
          </p:nvGrpSpPr>
          <p:grpSpPr>
            <a:xfrm>
              <a:off x="2731770" y="2510352"/>
              <a:ext cx="2892425" cy="553998"/>
              <a:chOff x="2762250" y="2604356"/>
              <a:chExt cx="2892425" cy="553998"/>
            </a:xfrm>
          </p:grpSpPr>
          <p:sp>
            <p:nvSpPr>
              <p:cNvPr id="34" name="文本框 33"/>
              <p:cNvSpPr txBox="1"/>
              <p:nvPr/>
            </p:nvSpPr>
            <p:spPr>
              <a:xfrm>
                <a:off x="2762250" y="2604356"/>
                <a:ext cx="2609850" cy="460375"/>
              </a:xfrm>
              <a:prstGeom prst="rect">
                <a:avLst/>
              </a:prstGeom>
              <a:noFill/>
            </p:spPr>
            <p:txBody>
              <a:bodyPr wrap="square" rtlCol="0">
                <a:spAutoFit/>
              </a:bodyPr>
              <a:lstStyle/>
              <a:p>
                <a:pPr algn="dist"/>
                <a:r>
                  <a:rPr lang="zh-CN" altLang="en-US" sz="2400" dirty="0">
                    <a:solidFill>
                      <a:schemeClr val="tx1">
                        <a:lumMod val="75000"/>
                        <a:lumOff val="25000"/>
                      </a:schemeClr>
                    </a:solidFill>
                    <a:cs typeface="+mn-ea"/>
                    <a:sym typeface="+mn-lt"/>
                  </a:rPr>
                  <a:t>论文小</a:t>
                </a:r>
                <a:r>
                  <a:rPr lang="zh-CN" altLang="en-US" sz="2400" dirty="0">
                    <a:solidFill>
                      <a:schemeClr val="tx1">
                        <a:lumMod val="75000"/>
                        <a:lumOff val="25000"/>
                      </a:schemeClr>
                    </a:solidFill>
                    <a:cs typeface="+mn-ea"/>
                    <a:sym typeface="+mn-lt"/>
                  </a:rPr>
                  <a:t>结</a:t>
                </a:r>
                <a:endParaRPr lang="zh-CN" altLang="en-US" sz="2400" dirty="0">
                  <a:solidFill>
                    <a:schemeClr val="tx1">
                      <a:lumMod val="75000"/>
                      <a:lumOff val="25000"/>
                    </a:schemeClr>
                  </a:solidFill>
                  <a:cs typeface="+mn-ea"/>
                  <a:sym typeface="+mn-lt"/>
                </a:endParaRPr>
              </a:p>
            </p:txBody>
          </p:sp>
          <p:sp>
            <p:nvSpPr>
              <p:cNvPr id="35" name="文本框 34"/>
              <p:cNvSpPr txBox="1"/>
              <p:nvPr/>
            </p:nvSpPr>
            <p:spPr>
              <a:xfrm>
                <a:off x="2762250" y="2958299"/>
                <a:ext cx="2892425" cy="200055"/>
              </a:xfrm>
              <a:prstGeom prst="rect">
                <a:avLst/>
              </a:prstGeom>
              <a:noFill/>
            </p:spPr>
            <p:txBody>
              <a:bodyPr wrap="square" rtlCol="0">
                <a:spAutoFit/>
              </a:bodyPr>
              <a:lstStyle/>
              <a:p>
                <a:pPr algn="dist"/>
                <a:r>
                  <a:rPr lang="en-US" altLang="zh-CN" sz="700" dirty="0">
                    <a:cs typeface="+mn-ea"/>
                    <a:sym typeface="+mn-lt"/>
                  </a:rPr>
                  <a:t>RESEARCH BACKGROUND AND CURRENT SITUATION</a:t>
                </a:r>
                <a:endParaRPr lang="zh-CN" altLang="en-US" sz="700" dirty="0">
                  <a:cs typeface="+mn-ea"/>
                  <a:sym typeface="+mn-lt"/>
                </a:endParaRPr>
              </a:p>
            </p:txBody>
          </p:sp>
        </p:grpSp>
      </p:grpSp>
      <p:sp>
        <p:nvSpPr>
          <p:cNvPr id="38" name="椭圆 37"/>
          <p:cNvSpPr/>
          <p:nvPr/>
        </p:nvSpPr>
        <p:spPr>
          <a:xfrm>
            <a:off x="9782629" y="5544457"/>
            <a:ext cx="351971" cy="351971"/>
          </a:xfrm>
          <a:prstGeom prst="ellipse">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3" name="组合 2"/>
          <p:cNvGrpSpPr/>
          <p:nvPr/>
        </p:nvGrpSpPr>
        <p:grpSpPr>
          <a:xfrm>
            <a:off x="4126230" y="5068014"/>
            <a:ext cx="3702130" cy="553998"/>
            <a:chOff x="1922065" y="2510352"/>
            <a:chExt cx="3702130" cy="553998"/>
          </a:xfrm>
        </p:grpSpPr>
        <p:grpSp>
          <p:nvGrpSpPr>
            <p:cNvPr id="8" name="组合 7"/>
            <p:cNvGrpSpPr/>
            <p:nvPr/>
          </p:nvGrpSpPr>
          <p:grpSpPr>
            <a:xfrm>
              <a:off x="1922065" y="2526002"/>
              <a:ext cx="660400" cy="522698"/>
              <a:chOff x="1730792" y="2452119"/>
              <a:chExt cx="660400" cy="522698"/>
            </a:xfrm>
          </p:grpSpPr>
          <p:sp>
            <p:nvSpPr>
              <p:cNvPr id="40" name="矩形 39"/>
              <p:cNvSpPr/>
              <p:nvPr/>
            </p:nvSpPr>
            <p:spPr>
              <a:xfrm rot="2693629">
                <a:off x="1799643" y="2452119"/>
                <a:ext cx="522698" cy="522698"/>
              </a:xfrm>
              <a:prstGeom prst="rect">
                <a:avLst/>
              </a:prstGeom>
              <a:solidFill>
                <a:srgbClr val="69C0E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sz="2000">
                  <a:cs typeface="+mn-ea"/>
                  <a:sym typeface="+mn-lt"/>
                </a:endParaRPr>
              </a:p>
            </p:txBody>
          </p:sp>
          <p:sp>
            <p:nvSpPr>
              <p:cNvPr id="41" name="文本框 40"/>
              <p:cNvSpPr txBox="1"/>
              <p:nvPr/>
            </p:nvSpPr>
            <p:spPr>
              <a:xfrm>
                <a:off x="1730792" y="2482636"/>
                <a:ext cx="660400" cy="460375"/>
              </a:xfrm>
              <a:prstGeom prst="rect">
                <a:avLst/>
              </a:prstGeom>
              <a:noFill/>
            </p:spPr>
            <p:txBody>
              <a:bodyPr wrap="square" rtlCol="0">
                <a:spAutoFit/>
              </a:bodyPr>
              <a:p>
                <a:pPr algn="ctr"/>
                <a:r>
                  <a:rPr lang="en-US" altLang="zh-CN" sz="2400" dirty="0">
                    <a:solidFill>
                      <a:schemeClr val="bg1"/>
                    </a:solidFill>
                    <a:effectLst>
                      <a:outerShdw blurRad="38100" dist="38100" dir="2700000" algn="tl">
                        <a:srgbClr val="000000">
                          <a:alpha val="43137"/>
                        </a:srgbClr>
                      </a:outerShdw>
                    </a:effectLst>
                    <a:cs typeface="+mn-ea"/>
                    <a:sym typeface="+mn-lt"/>
                  </a:rPr>
                  <a:t>05</a:t>
                </a:r>
                <a:endParaRPr lang="zh-CN" altLang="en-US" sz="2400" dirty="0">
                  <a:solidFill>
                    <a:schemeClr val="bg1"/>
                  </a:solidFill>
                  <a:effectLst>
                    <a:outerShdw blurRad="38100" dist="38100" dir="2700000" algn="tl">
                      <a:srgbClr val="000000">
                        <a:alpha val="43137"/>
                      </a:srgbClr>
                    </a:outerShdw>
                  </a:effectLst>
                  <a:cs typeface="+mn-ea"/>
                  <a:sym typeface="+mn-lt"/>
                </a:endParaRPr>
              </a:p>
            </p:txBody>
          </p:sp>
        </p:grpSp>
        <p:grpSp>
          <p:nvGrpSpPr>
            <p:cNvPr id="42" name="组合 41"/>
            <p:cNvGrpSpPr/>
            <p:nvPr/>
          </p:nvGrpSpPr>
          <p:grpSpPr>
            <a:xfrm>
              <a:off x="2731770" y="2510352"/>
              <a:ext cx="2892425" cy="553998"/>
              <a:chOff x="2762250" y="2604356"/>
              <a:chExt cx="2892425" cy="553998"/>
            </a:xfrm>
          </p:grpSpPr>
          <p:sp>
            <p:nvSpPr>
              <p:cNvPr id="43" name="文本框 42"/>
              <p:cNvSpPr txBox="1"/>
              <p:nvPr/>
            </p:nvSpPr>
            <p:spPr>
              <a:xfrm>
                <a:off x="2762250" y="2604356"/>
                <a:ext cx="2609850" cy="460375"/>
              </a:xfrm>
              <a:prstGeom prst="rect">
                <a:avLst/>
              </a:prstGeom>
              <a:noFill/>
            </p:spPr>
            <p:txBody>
              <a:bodyPr wrap="square" rtlCol="0">
                <a:spAutoFit/>
              </a:bodyPr>
              <a:p>
                <a:pPr algn="dist"/>
                <a:r>
                  <a:rPr lang="zh-CN" altLang="en-US" sz="2400" dirty="0">
                    <a:solidFill>
                      <a:schemeClr val="tx1">
                        <a:lumMod val="75000"/>
                        <a:lumOff val="25000"/>
                      </a:schemeClr>
                    </a:solidFill>
                    <a:cs typeface="+mn-ea"/>
                    <a:sym typeface="+mn-lt"/>
                  </a:rPr>
                  <a:t>致谢</a:t>
                </a:r>
                <a:endParaRPr lang="zh-CN" altLang="en-US" sz="2400" dirty="0">
                  <a:solidFill>
                    <a:schemeClr val="tx1">
                      <a:lumMod val="75000"/>
                      <a:lumOff val="25000"/>
                    </a:schemeClr>
                  </a:solidFill>
                  <a:cs typeface="+mn-ea"/>
                  <a:sym typeface="+mn-lt"/>
                </a:endParaRPr>
              </a:p>
            </p:txBody>
          </p:sp>
          <p:sp>
            <p:nvSpPr>
              <p:cNvPr id="44" name="文本框 43"/>
              <p:cNvSpPr txBox="1"/>
              <p:nvPr/>
            </p:nvSpPr>
            <p:spPr>
              <a:xfrm>
                <a:off x="2762250" y="2958299"/>
                <a:ext cx="2892425" cy="200055"/>
              </a:xfrm>
              <a:prstGeom prst="rect">
                <a:avLst/>
              </a:prstGeom>
              <a:noFill/>
            </p:spPr>
            <p:txBody>
              <a:bodyPr wrap="square" rtlCol="0">
                <a:spAutoFit/>
              </a:bodyPr>
              <a:p>
                <a:pPr algn="dist"/>
                <a:r>
                  <a:rPr lang="en-US" altLang="zh-CN" sz="700" dirty="0">
                    <a:cs typeface="+mn-ea"/>
                    <a:sym typeface="+mn-lt"/>
                  </a:rPr>
                  <a:t>RESEARCH BACKGROUND AND CURRENT SITUATION</a:t>
                </a:r>
                <a:endParaRPr lang="zh-CN" altLang="en-US" sz="700" dirty="0">
                  <a:cs typeface="+mn-ea"/>
                  <a:sym typeface="+mn-lt"/>
                </a:endParaRPr>
              </a:p>
            </p:txBody>
          </p:sp>
        </p:grpSp>
      </p:grpSp>
      <p:pic>
        <p:nvPicPr>
          <p:cNvPr id="45" name="图片 44"/>
          <p:cNvPicPr>
            <a:picLocks noChangeAspect="1"/>
          </p:cNvPicPr>
          <p:nvPr/>
        </p:nvPicPr>
        <p:blipFill>
          <a:blip r:embed="rId1"/>
          <a:stretch>
            <a:fillRect/>
          </a:stretch>
        </p:blipFill>
        <p:spPr>
          <a:xfrm>
            <a:off x="222885" y="281940"/>
            <a:ext cx="2964180" cy="594360"/>
          </a:xfrm>
          <a:prstGeom prst="rect">
            <a:avLst/>
          </a:prstGeom>
        </p:spPr>
      </p:pic>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2589">
        <p:random/>
      </p:transition>
    </mc:Choice>
    <mc:Fallback>
      <p:transition spd="slow" advTm="2589">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wipe(left)">
                                      <p:cBhvr>
                                        <p:cTn id="7" dur="500"/>
                                        <p:tgtEl>
                                          <p:spTgt spid="39"/>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anim calcmode="lin" valueType="num">
                                      <p:cBhvr>
                                        <p:cTn id="13" dur="1000" fill="hold"/>
                                        <p:tgtEl>
                                          <p:spTgt spid="7"/>
                                        </p:tgtEl>
                                        <p:attrNameLst>
                                          <p:attrName>ppt_x</p:attrName>
                                        </p:attrNameLst>
                                      </p:cBhvr>
                                      <p:tavLst>
                                        <p:tav tm="0">
                                          <p:val>
                                            <p:strVal val="#ppt_x"/>
                                          </p:val>
                                        </p:tav>
                                        <p:tav tm="100000">
                                          <p:val>
                                            <p:strVal val="#ppt_x"/>
                                          </p:val>
                                        </p:tav>
                                      </p:tavLst>
                                    </p:anim>
                                    <p:anim calcmode="lin" valueType="num">
                                      <p:cBhvr>
                                        <p:cTn id="1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anim calcmode="lin" valueType="num">
                                      <p:cBhvr additive="base">
                                        <p:cTn id="19" dur="500" fill="hold"/>
                                        <p:tgtEl>
                                          <p:spTgt spid="16"/>
                                        </p:tgtEl>
                                        <p:attrNameLst>
                                          <p:attrName>ppt_x</p:attrName>
                                        </p:attrNameLst>
                                      </p:cBhvr>
                                      <p:tavLst>
                                        <p:tav tm="0">
                                          <p:val>
                                            <p:strVal val="0-#ppt_w/2"/>
                                          </p:val>
                                        </p:tav>
                                        <p:tav tm="100000">
                                          <p:val>
                                            <p:strVal val="#ppt_x"/>
                                          </p:val>
                                        </p:tav>
                                      </p:tavLst>
                                    </p:anim>
                                    <p:anim calcmode="lin" valueType="num">
                                      <p:cBhvr additive="base">
                                        <p:cTn id="20" dur="500" fill="hold"/>
                                        <p:tgtEl>
                                          <p:spTgt spid="16"/>
                                        </p:tgtEl>
                                        <p:attrNameLst>
                                          <p:attrName>ppt_y</p:attrName>
                                        </p:attrNameLst>
                                      </p:cBhvr>
                                      <p:tavLst>
                                        <p:tav tm="0">
                                          <p:val>
                                            <p:strVal val="#ppt_y"/>
                                          </p:val>
                                        </p:tav>
                                        <p:tav tm="100000">
                                          <p:val>
                                            <p:strVal val="#ppt_y"/>
                                          </p:val>
                                        </p:tav>
                                      </p:tavLst>
                                    </p:anim>
                                  </p:childTnLst>
                                </p:cTn>
                              </p:par>
                              <p:par>
                                <p:cTn id="21" presetID="2" presetClass="entr" presetSubtype="2" fill="hold" nodeType="withEffect">
                                  <p:stCondLst>
                                    <p:cond delay="0"/>
                                  </p:stCondLst>
                                  <p:childTnLst>
                                    <p:set>
                                      <p:cBhvr>
                                        <p:cTn id="22" dur="1" fill="hold">
                                          <p:stCondLst>
                                            <p:cond delay="0"/>
                                          </p:stCondLst>
                                        </p:cTn>
                                        <p:tgtEl>
                                          <p:spTgt spid="24"/>
                                        </p:tgtEl>
                                        <p:attrNameLst>
                                          <p:attrName>style.visibility</p:attrName>
                                        </p:attrNameLst>
                                      </p:cBhvr>
                                      <p:to>
                                        <p:strVal val="visible"/>
                                      </p:to>
                                    </p:set>
                                    <p:anim calcmode="lin" valueType="num">
                                      <p:cBhvr additive="base">
                                        <p:cTn id="23" dur="500" fill="hold"/>
                                        <p:tgtEl>
                                          <p:spTgt spid="24"/>
                                        </p:tgtEl>
                                        <p:attrNameLst>
                                          <p:attrName>ppt_x</p:attrName>
                                        </p:attrNameLst>
                                      </p:cBhvr>
                                      <p:tavLst>
                                        <p:tav tm="0">
                                          <p:val>
                                            <p:strVal val="1+#ppt_w/2"/>
                                          </p:val>
                                        </p:tav>
                                        <p:tav tm="100000">
                                          <p:val>
                                            <p:strVal val="#ppt_x"/>
                                          </p:val>
                                        </p:tav>
                                      </p:tavLst>
                                    </p:anim>
                                    <p:anim calcmode="lin" valueType="num">
                                      <p:cBhvr additive="base">
                                        <p:cTn id="24" dur="500" fill="hold"/>
                                        <p:tgtEl>
                                          <p:spTgt spid="24"/>
                                        </p:tgtEl>
                                        <p:attrNameLst>
                                          <p:attrName>ppt_y</p:attrName>
                                        </p:attrNameLst>
                                      </p:cBhvr>
                                      <p:tavLst>
                                        <p:tav tm="0">
                                          <p:val>
                                            <p:strVal val="#ppt_y"/>
                                          </p:val>
                                        </p:tav>
                                        <p:tav tm="100000">
                                          <p:val>
                                            <p:strVal val="#ppt_y"/>
                                          </p:val>
                                        </p:tav>
                                      </p:tavLst>
                                    </p:anim>
                                  </p:childTnLst>
                                </p:cTn>
                              </p:par>
                              <p:par>
                                <p:cTn id="25" presetID="2" presetClass="entr" presetSubtype="8"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anim calcmode="lin" valueType="num">
                                      <p:cBhvr additive="base">
                                        <p:cTn id="27" dur="500" fill="hold"/>
                                        <p:tgtEl>
                                          <p:spTgt spid="17"/>
                                        </p:tgtEl>
                                        <p:attrNameLst>
                                          <p:attrName>ppt_x</p:attrName>
                                        </p:attrNameLst>
                                      </p:cBhvr>
                                      <p:tavLst>
                                        <p:tav tm="0">
                                          <p:val>
                                            <p:strVal val="0-#ppt_w/2"/>
                                          </p:val>
                                        </p:tav>
                                        <p:tav tm="100000">
                                          <p:val>
                                            <p:strVal val="#ppt_x"/>
                                          </p:val>
                                        </p:tav>
                                      </p:tavLst>
                                    </p:anim>
                                    <p:anim calcmode="lin" valueType="num">
                                      <p:cBhvr additive="base">
                                        <p:cTn id="28" dur="500" fill="hold"/>
                                        <p:tgtEl>
                                          <p:spTgt spid="17"/>
                                        </p:tgtEl>
                                        <p:attrNameLst>
                                          <p:attrName>ppt_y</p:attrName>
                                        </p:attrNameLst>
                                      </p:cBhvr>
                                      <p:tavLst>
                                        <p:tav tm="0">
                                          <p:val>
                                            <p:strVal val="#ppt_y"/>
                                          </p:val>
                                        </p:tav>
                                        <p:tav tm="100000">
                                          <p:val>
                                            <p:strVal val="#ppt_y"/>
                                          </p:val>
                                        </p:tav>
                                      </p:tavLst>
                                    </p:anim>
                                  </p:childTnLst>
                                </p:cTn>
                              </p:par>
                              <p:par>
                                <p:cTn id="29" presetID="2" presetClass="entr" presetSubtype="2" fill="hold" nodeType="withEffect">
                                  <p:stCondLst>
                                    <p:cond delay="0"/>
                                  </p:stCondLst>
                                  <p:childTnLst>
                                    <p:set>
                                      <p:cBhvr>
                                        <p:cTn id="30" dur="1" fill="hold">
                                          <p:stCondLst>
                                            <p:cond delay="0"/>
                                          </p:stCondLst>
                                        </p:cTn>
                                        <p:tgtEl>
                                          <p:spTgt spid="31"/>
                                        </p:tgtEl>
                                        <p:attrNameLst>
                                          <p:attrName>style.visibility</p:attrName>
                                        </p:attrNameLst>
                                      </p:cBhvr>
                                      <p:to>
                                        <p:strVal val="visible"/>
                                      </p:to>
                                    </p:set>
                                    <p:anim calcmode="lin" valueType="num">
                                      <p:cBhvr additive="base">
                                        <p:cTn id="31" dur="500" fill="hold"/>
                                        <p:tgtEl>
                                          <p:spTgt spid="31"/>
                                        </p:tgtEl>
                                        <p:attrNameLst>
                                          <p:attrName>ppt_x</p:attrName>
                                        </p:attrNameLst>
                                      </p:cBhvr>
                                      <p:tavLst>
                                        <p:tav tm="0">
                                          <p:val>
                                            <p:strVal val="1+#ppt_w/2"/>
                                          </p:val>
                                        </p:tav>
                                        <p:tav tm="100000">
                                          <p:val>
                                            <p:strVal val="#ppt_x"/>
                                          </p:val>
                                        </p:tav>
                                      </p:tavLst>
                                    </p:anim>
                                    <p:anim calcmode="lin" valueType="num">
                                      <p:cBhvr additive="base">
                                        <p:cTn id="32" dur="500" fill="hold"/>
                                        <p:tgtEl>
                                          <p:spTgt spid="31"/>
                                        </p:tgtEl>
                                        <p:attrNameLst>
                                          <p:attrName>ppt_y</p:attrName>
                                        </p:attrNameLst>
                                      </p:cBhvr>
                                      <p:tavLst>
                                        <p:tav tm="0">
                                          <p:val>
                                            <p:strVal val="#ppt_y"/>
                                          </p:val>
                                        </p:tav>
                                        <p:tav tm="100000">
                                          <p:val>
                                            <p:strVal val="#ppt_y"/>
                                          </p:val>
                                        </p:tav>
                                      </p:tavLst>
                                    </p:anim>
                                  </p:childTnLst>
                                </p:cTn>
                              </p:par>
                              <p:par>
                                <p:cTn id="33" presetID="2" presetClass="entr" presetSubtype="2" fill="hold" nodeType="withEffect">
                                  <p:stCondLst>
                                    <p:cond delay="0"/>
                                  </p:stCondLst>
                                  <p:childTnLst>
                                    <p:set>
                                      <p:cBhvr>
                                        <p:cTn id="34" dur="1" fill="hold">
                                          <p:stCondLst>
                                            <p:cond delay="0"/>
                                          </p:stCondLst>
                                        </p:cTn>
                                        <p:tgtEl>
                                          <p:spTgt spid="3"/>
                                        </p:tgtEl>
                                        <p:attrNameLst>
                                          <p:attrName>style.visibility</p:attrName>
                                        </p:attrNameLst>
                                      </p:cBhvr>
                                      <p:to>
                                        <p:strVal val="visible"/>
                                      </p:to>
                                    </p:set>
                                    <p:anim calcmode="lin" valueType="num">
                                      <p:cBhvr additive="base">
                                        <p:cTn id="35" dur="500" fill="hold"/>
                                        <p:tgtEl>
                                          <p:spTgt spid="3"/>
                                        </p:tgtEl>
                                        <p:attrNameLst>
                                          <p:attrName>ppt_x</p:attrName>
                                        </p:attrNameLst>
                                      </p:cBhvr>
                                      <p:tavLst>
                                        <p:tav tm="0">
                                          <p:val>
                                            <p:strVal val="1+#ppt_w/2"/>
                                          </p:val>
                                        </p:tav>
                                        <p:tav tm="100000">
                                          <p:val>
                                            <p:strVal val="#ppt_x"/>
                                          </p:val>
                                        </p:tav>
                                      </p:tavLst>
                                    </p:anim>
                                    <p:anim calcmode="lin" valueType="num">
                                      <p:cBhvr additive="base">
                                        <p:cTn id="36"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组合 20"/>
          <p:cNvGrpSpPr/>
          <p:nvPr/>
        </p:nvGrpSpPr>
        <p:grpSpPr>
          <a:xfrm>
            <a:off x="-2846530" y="-1770744"/>
            <a:ext cx="8399978" cy="7688943"/>
            <a:chOff x="-2846530" y="-1770744"/>
            <a:chExt cx="8399978" cy="7688943"/>
          </a:xfrm>
        </p:grpSpPr>
        <p:sp>
          <p:nvSpPr>
            <p:cNvPr id="2" name="椭圆 1"/>
            <p:cNvSpPr/>
            <p:nvPr/>
          </p:nvSpPr>
          <p:spPr>
            <a:xfrm>
              <a:off x="-2846530" y="-1770744"/>
              <a:ext cx="7688943" cy="7688943"/>
            </a:xfrm>
            <a:prstGeom prst="ellipse">
              <a:avLst/>
            </a:prstGeom>
            <a:solidFill>
              <a:srgbClr val="D8EFFD"/>
            </a:solidFill>
            <a:ln>
              <a:noFill/>
            </a:ln>
            <a:effectLst>
              <a:outerShdw blurRad="279400" dist="38100" dir="2700000" sx="101000" sy="101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5" name="文本框 14"/>
            <p:cNvSpPr txBox="1"/>
            <p:nvPr/>
          </p:nvSpPr>
          <p:spPr>
            <a:xfrm>
              <a:off x="-1214742" y="1161142"/>
              <a:ext cx="6768190" cy="3770263"/>
            </a:xfrm>
            <a:prstGeom prst="rect">
              <a:avLst/>
            </a:prstGeom>
            <a:noFill/>
          </p:spPr>
          <p:txBody>
            <a:bodyPr wrap="square" rtlCol="0">
              <a:spAutoFit/>
            </a:bodyPr>
            <a:lstStyle/>
            <a:p>
              <a:pPr algn="ctr"/>
              <a:r>
                <a:rPr lang="en-US" altLang="zh-CN" sz="23900" dirty="0">
                  <a:solidFill>
                    <a:srgbClr val="10507E"/>
                  </a:solidFill>
                  <a:effectLst>
                    <a:outerShdw blurRad="63500" sx="101000" sy="101000" algn="ctr" rotWithShape="0">
                      <a:prstClr val="black">
                        <a:alpha val="40000"/>
                      </a:prstClr>
                    </a:outerShdw>
                  </a:effectLst>
                  <a:cs typeface="+mn-ea"/>
                  <a:sym typeface="+mn-lt"/>
                </a:rPr>
                <a:t>01</a:t>
              </a:r>
              <a:endParaRPr lang="zh-CN" altLang="en-US" sz="23900" dirty="0">
                <a:solidFill>
                  <a:srgbClr val="10507E"/>
                </a:solidFill>
                <a:effectLst>
                  <a:outerShdw blurRad="63500" sx="101000" sy="101000" algn="ctr" rotWithShape="0">
                    <a:prstClr val="black">
                      <a:alpha val="40000"/>
                    </a:prstClr>
                  </a:outerShdw>
                </a:effectLst>
                <a:cs typeface="+mn-ea"/>
                <a:sym typeface="+mn-lt"/>
              </a:endParaRPr>
            </a:p>
          </p:txBody>
        </p:sp>
      </p:grpSp>
      <p:grpSp>
        <p:nvGrpSpPr>
          <p:cNvPr id="18" name="组合 17"/>
          <p:cNvGrpSpPr/>
          <p:nvPr/>
        </p:nvGrpSpPr>
        <p:grpSpPr>
          <a:xfrm>
            <a:off x="4842506" y="2474962"/>
            <a:ext cx="7196455" cy="1142621"/>
            <a:chOff x="5563631" y="2617371"/>
            <a:chExt cx="7196455" cy="1142621"/>
          </a:xfrm>
        </p:grpSpPr>
        <p:sp>
          <p:nvSpPr>
            <p:cNvPr id="16" name="文本框 15"/>
            <p:cNvSpPr txBox="1"/>
            <p:nvPr/>
          </p:nvSpPr>
          <p:spPr>
            <a:xfrm>
              <a:off x="5563631" y="2617371"/>
              <a:ext cx="7196455" cy="1014730"/>
            </a:xfrm>
            <a:prstGeom prst="rect">
              <a:avLst/>
            </a:prstGeom>
            <a:noFill/>
          </p:spPr>
          <p:txBody>
            <a:bodyPr wrap="square" rtlCol="0">
              <a:spAutoFit/>
            </a:bodyPr>
            <a:lstStyle/>
            <a:p>
              <a:pPr algn="dist"/>
              <a:r>
                <a:rPr lang="zh-CN" altLang="en-US" sz="6000" dirty="0">
                  <a:solidFill>
                    <a:schemeClr val="tx1">
                      <a:lumMod val="75000"/>
                      <a:lumOff val="25000"/>
                    </a:schemeClr>
                  </a:solidFill>
                  <a:cs typeface="+mn-ea"/>
                  <a:sym typeface="+mn-lt"/>
                </a:rPr>
                <a:t>课题背景及研究</a:t>
              </a:r>
              <a:r>
                <a:rPr lang="zh-CN" altLang="en-US" sz="6000" dirty="0">
                  <a:solidFill>
                    <a:schemeClr val="tx1">
                      <a:lumMod val="75000"/>
                      <a:lumOff val="25000"/>
                    </a:schemeClr>
                  </a:solidFill>
                  <a:cs typeface="+mn-ea"/>
                  <a:sym typeface="+mn-lt"/>
                </a:rPr>
                <a:t>意义</a:t>
              </a:r>
              <a:endParaRPr lang="zh-CN" altLang="en-US" sz="6000" dirty="0">
                <a:solidFill>
                  <a:schemeClr val="tx1">
                    <a:lumMod val="75000"/>
                    <a:lumOff val="25000"/>
                  </a:schemeClr>
                </a:solidFill>
                <a:cs typeface="+mn-ea"/>
                <a:sym typeface="+mn-lt"/>
              </a:endParaRPr>
            </a:p>
          </p:txBody>
        </p:sp>
        <p:sp>
          <p:nvSpPr>
            <p:cNvPr id="17" name="文本框 16"/>
            <p:cNvSpPr txBox="1"/>
            <p:nvPr/>
          </p:nvSpPr>
          <p:spPr>
            <a:xfrm>
              <a:off x="5862081" y="3506076"/>
              <a:ext cx="6477909" cy="253916"/>
            </a:xfrm>
            <a:prstGeom prst="rect">
              <a:avLst/>
            </a:prstGeom>
            <a:noFill/>
          </p:spPr>
          <p:txBody>
            <a:bodyPr wrap="square" rtlCol="0">
              <a:spAutoFit/>
            </a:bodyPr>
            <a:lstStyle/>
            <a:p>
              <a:pPr algn="dist"/>
              <a:r>
                <a:rPr lang="en-US" altLang="zh-CN" sz="1050" dirty="0">
                  <a:cs typeface="+mn-ea"/>
                  <a:sym typeface="+mn-lt"/>
                </a:rPr>
                <a:t>RESEARCH BACKGROUND AND CURRENT SITUATION</a:t>
              </a:r>
              <a:endParaRPr lang="zh-CN" altLang="en-US" sz="1050" dirty="0">
                <a:cs typeface="+mn-ea"/>
                <a:sym typeface="+mn-lt"/>
              </a:endParaRPr>
            </a:p>
          </p:txBody>
        </p:sp>
      </p:grpSp>
      <p:sp>
        <p:nvSpPr>
          <p:cNvPr id="19" name="圆: 空心 18"/>
          <p:cNvSpPr/>
          <p:nvPr/>
        </p:nvSpPr>
        <p:spPr>
          <a:xfrm>
            <a:off x="10808543" y="5670073"/>
            <a:ext cx="2766913" cy="2766913"/>
          </a:xfrm>
          <a:prstGeom prst="donut">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cs typeface="+mn-ea"/>
              <a:sym typeface="+mn-lt"/>
            </a:endParaRPr>
          </a:p>
        </p:txBody>
      </p:sp>
    </p:spTree>
    <p:custDataLst>
      <p:tags r:id="rId1"/>
    </p:custDataLst>
  </p:cSld>
  <p:clrMapOvr>
    <a:masterClrMapping/>
  </p:clrMapOvr>
  <mc:AlternateContent xmlns:mc="http://schemas.openxmlformats.org/markup-compatibility/2006">
    <mc:Choice xmlns:p14="http://schemas.microsoft.com/office/powerpoint/2010/main" Requires="p14">
      <p:transition spd="slow" p14:dur="1500" advTm="2420">
        <p:random/>
      </p:transition>
    </mc:Choice>
    <mc:Fallback>
      <p:transition spd="slow" advTm="2420">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1000"/>
                                        <p:tgtEl>
                                          <p:spTgt spid="21"/>
                                        </p:tgtEl>
                                      </p:cBhvr>
                                    </p:animEffect>
                                    <p:anim calcmode="lin" valueType="num">
                                      <p:cBhvr>
                                        <p:cTn id="8" dur="1000" fill="hold"/>
                                        <p:tgtEl>
                                          <p:spTgt spid="21"/>
                                        </p:tgtEl>
                                        <p:attrNameLst>
                                          <p:attrName>ppt_x</p:attrName>
                                        </p:attrNameLst>
                                      </p:cBhvr>
                                      <p:tavLst>
                                        <p:tav tm="0">
                                          <p:val>
                                            <p:strVal val="#ppt_x"/>
                                          </p:val>
                                        </p:tav>
                                        <p:tav tm="100000">
                                          <p:val>
                                            <p:strVal val="#ppt_x"/>
                                          </p:val>
                                        </p:tav>
                                      </p:tavLst>
                                    </p:anim>
                                    <p:anim calcmode="lin" valueType="num">
                                      <p:cBhvr>
                                        <p:cTn id="9" dur="10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0"/>
                                  </p:stCondLst>
                                  <p:childTnLst>
                                    <p:set>
                                      <p:cBhvr>
                                        <p:cTn id="13" dur="1" fill="hold">
                                          <p:stCondLst>
                                            <p:cond delay="0"/>
                                          </p:stCondLst>
                                        </p:cTn>
                                        <p:tgtEl>
                                          <p:spTgt spid="18"/>
                                        </p:tgtEl>
                                        <p:attrNameLst>
                                          <p:attrName>style.visibility</p:attrName>
                                        </p:attrNameLst>
                                      </p:cBhvr>
                                      <p:to>
                                        <p:strVal val="visible"/>
                                      </p:to>
                                    </p:set>
                                    <p:animEffect transition="in" filter="wipe(left)">
                                      <p:cBhvr>
                                        <p:cTn id="14" dur="500"/>
                                        <p:tgtEl>
                                          <p:spTgt spid="18"/>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1000"/>
                                        <p:tgtEl>
                                          <p:spTgt spid="19"/>
                                        </p:tgtEl>
                                      </p:cBhvr>
                                    </p:animEffect>
                                    <p:anim calcmode="lin" valueType="num">
                                      <p:cBhvr>
                                        <p:cTn id="20" dur="1000" fill="hold"/>
                                        <p:tgtEl>
                                          <p:spTgt spid="19"/>
                                        </p:tgtEl>
                                        <p:attrNameLst>
                                          <p:attrName>ppt_x</p:attrName>
                                        </p:attrNameLst>
                                      </p:cBhvr>
                                      <p:tavLst>
                                        <p:tav tm="0">
                                          <p:val>
                                            <p:strVal val="#ppt_x"/>
                                          </p:val>
                                        </p:tav>
                                        <p:tav tm="100000">
                                          <p:val>
                                            <p:strVal val="#ppt_x"/>
                                          </p:val>
                                        </p:tav>
                                      </p:tavLst>
                                    </p:anim>
                                    <p:anim calcmode="lin" valueType="num">
                                      <p:cBhvr>
                                        <p:cTn id="21"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3465" cy="769441"/>
            <a:chOff x="145646" y="165322"/>
            <a:chExt cx="4863465" cy="769441"/>
          </a:xfrm>
        </p:grpSpPr>
        <p:grpSp>
          <p:nvGrpSpPr>
            <p:cNvPr id="17" name="组合 16"/>
            <p:cNvGrpSpPr/>
            <p:nvPr/>
          </p:nvGrpSpPr>
          <p:grpSpPr>
            <a:xfrm>
              <a:off x="145646" y="165322"/>
              <a:ext cx="4863465" cy="769441"/>
              <a:chOff x="107546" y="317722"/>
              <a:chExt cx="4863465" cy="769441"/>
            </a:xfrm>
          </p:grpSpPr>
          <p:sp>
            <p:nvSpPr>
              <p:cNvPr id="8" name="文本框 7"/>
              <p:cNvSpPr txBox="1"/>
              <p:nvPr/>
            </p:nvSpPr>
            <p:spPr>
              <a:xfrm>
                <a:off x="996546" y="317722"/>
                <a:ext cx="3974465" cy="583565"/>
              </a:xfrm>
              <a:prstGeom prst="rect">
                <a:avLst/>
              </a:prstGeom>
              <a:noFill/>
            </p:spPr>
            <p:txBody>
              <a:bodyPr wrap="square" rtlCol="0">
                <a:spAutoFit/>
              </a:bodyPr>
              <a:lstStyle/>
              <a:p>
                <a:pPr algn="dist"/>
                <a:r>
                  <a:rPr lang="zh-CN" altLang="en-US" sz="3200" dirty="0">
                    <a:cs typeface="+mn-ea"/>
                    <a:sym typeface="+mn-lt"/>
                  </a:rPr>
                  <a:t>课题背景及</a:t>
                </a:r>
                <a:r>
                  <a:rPr lang="zh-CN" altLang="en-US" sz="3200" dirty="0">
                    <a:cs typeface="+mn-ea"/>
                    <a:sym typeface="+mn-lt"/>
                  </a:rPr>
                  <a:t>研究意义</a:t>
                </a:r>
                <a:endParaRPr lang="zh-CN" altLang="en-US" sz="3200" dirty="0">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01.</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 name="矩形 1"/>
          <p:cNvSpPr/>
          <p:nvPr/>
        </p:nvSpPr>
        <p:spPr>
          <a:xfrm>
            <a:off x="381000" y="1232535"/>
            <a:ext cx="2626995" cy="90297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4000"/>
              <a:t>课题背景</a:t>
            </a:r>
            <a:endParaRPr lang="zh-CN" altLang="en-US" sz="4000"/>
          </a:p>
        </p:txBody>
      </p:sp>
      <p:sp>
        <p:nvSpPr>
          <p:cNvPr id="3" name="流程图: 过程 2"/>
          <p:cNvSpPr/>
          <p:nvPr/>
        </p:nvSpPr>
        <p:spPr>
          <a:xfrm>
            <a:off x="381000" y="2619375"/>
            <a:ext cx="11218545" cy="2710180"/>
          </a:xfrm>
          <a:prstGeom prst="flowChartProcess">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en-US" altLang="zh-CN" sz="2800"/>
              <a:t>     </a:t>
            </a:r>
            <a:r>
              <a:rPr lang="zh-CN" altLang="en-US" sz="2000"/>
              <a:t>随着现代科技的迅速发展，计算机已经成为人们日常生活中非常重要的一环。许多行业都已经离不开计算机了，因为计算机能够帮助人们做许多以前非常难做的事情，比如以前没有计算机的时候，记录客户信息需要纸和笔来记录客户的信息，这样不仅不好修改而且不易保存，在现代社会，人们早已学会使用计算机来存储客户信息，使用一款操作简单便捷，界面优美的客户关系管理系统能够记录好客户信息，记录客户需求，记录客户售后，记录客户计划，记录客户流失原因，使公司的事业越发蓬勃，使公司发展蒸蒸日上。国内外也有许多的客户关系管理系统，不过大多都是收费且价格对于小型公司来说不太友好，因此我决定本次毕业设计将设计一款客户关系管理系统供国内外小型公司使用，以此来记录客户信息。</a:t>
            </a:r>
            <a:endParaRPr lang="zh-CN" altLang="en-US" sz="2000"/>
          </a:p>
          <a:p>
            <a:pPr algn="l" fontAlgn="auto"/>
            <a:r>
              <a:rPr lang="zh-CN" altLang="en-US" sz="2000"/>
              <a:t>针对现在企业的实际需要和企业人员的计算机操作水平，我设计出了这款操作简单的客户关系管理系统，以此来让企业人员快速上手，学会使用这款客户关系管理系统。在开发过程中，我力求使这款客户关系管理系统操作简单便捷，并且不能占用太多计算机资源，这样才符合小型公司的需求，这样才能受到小型公司的青睐。</a:t>
            </a:r>
            <a:endParaRPr lang="zh-CN" altLang="en-US" sz="2000"/>
          </a:p>
        </p:txBody>
      </p:sp>
    </p:spTree>
    <p:custDataLst>
      <p:tags r:id="rId1"/>
    </p:custDataLst>
  </p:cSld>
  <p:clrMapOvr>
    <a:masterClrMapping/>
  </p:clrMapOvr>
  <mc:AlternateContent xmlns:mc="http://schemas.openxmlformats.org/markup-compatibility/2006">
    <mc:Choice xmlns:p14="http://schemas.microsoft.com/office/powerpoint/2010/main" Requires="p14">
      <p:transition spd="slow" p14:dur="1500" advTm="2270">
        <p:random/>
      </p:transition>
    </mc:Choice>
    <mc:Fallback>
      <p:transition spd="slow" advTm="2270">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9470838" y="1407828"/>
            <a:ext cx="2123638" cy="2181984"/>
            <a:chOff x="8329108" y="1359568"/>
            <a:chExt cx="2123638" cy="2181984"/>
          </a:xfrm>
        </p:grpSpPr>
        <p:grpSp>
          <p:nvGrpSpPr>
            <p:cNvPr id="26" name="组合 25"/>
            <p:cNvGrpSpPr/>
            <p:nvPr/>
          </p:nvGrpSpPr>
          <p:grpSpPr>
            <a:xfrm>
              <a:off x="8329108" y="1359568"/>
              <a:ext cx="2123638" cy="2181984"/>
              <a:chOff x="8329108" y="1359568"/>
              <a:chExt cx="2123638" cy="2181984"/>
            </a:xfrm>
          </p:grpSpPr>
          <p:sp>
            <p:nvSpPr>
              <p:cNvPr id="21" name="泪滴形 20"/>
              <p:cNvSpPr/>
              <p:nvPr/>
            </p:nvSpPr>
            <p:spPr>
              <a:xfrm rot="13113405">
                <a:off x="8329108" y="1440101"/>
                <a:ext cx="2101451" cy="2101451"/>
              </a:xfrm>
              <a:prstGeom prst="teardrop">
                <a:avLst/>
              </a:prstGeom>
              <a:solidFill>
                <a:srgbClr val="69C0E1"/>
              </a:solidFill>
              <a:ln>
                <a:noFill/>
              </a:ln>
              <a:effectLst>
                <a:outerShdw blurRad="635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24" name="组合 23"/>
              <p:cNvGrpSpPr/>
              <p:nvPr/>
            </p:nvGrpSpPr>
            <p:grpSpPr>
              <a:xfrm>
                <a:off x="9423422" y="1359568"/>
                <a:ext cx="1029324" cy="721895"/>
                <a:chOff x="9423422" y="1359568"/>
                <a:chExt cx="1029324" cy="721895"/>
              </a:xfrm>
            </p:grpSpPr>
            <p:sp>
              <p:nvSpPr>
                <p:cNvPr id="22" name="椭圆 21"/>
                <p:cNvSpPr/>
                <p:nvPr/>
              </p:nvSpPr>
              <p:spPr>
                <a:xfrm>
                  <a:off x="9577137" y="1359568"/>
                  <a:ext cx="721895" cy="721895"/>
                </a:xfrm>
                <a:prstGeom prst="ellipse">
                  <a:avLst/>
                </a:prstGeom>
                <a:solidFill>
                  <a:srgbClr val="10507E"/>
                </a:solidFill>
                <a:ln w="349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3" name="文本框 22"/>
                <p:cNvSpPr txBox="1"/>
                <p:nvPr/>
              </p:nvSpPr>
              <p:spPr>
                <a:xfrm>
                  <a:off x="9423422" y="1458905"/>
                  <a:ext cx="1029324" cy="523220"/>
                </a:xfrm>
                <a:prstGeom prst="rect">
                  <a:avLst/>
                </a:prstGeom>
                <a:noFill/>
              </p:spPr>
              <p:txBody>
                <a:bodyPr wrap="square" rtlCol="0">
                  <a:spAutoFit/>
                </a:bodyPr>
                <a:lstStyle/>
                <a:p>
                  <a:pPr algn="ctr"/>
                  <a:r>
                    <a:rPr lang="en-US" altLang="zh-CN" sz="2800" dirty="0">
                      <a:solidFill>
                        <a:schemeClr val="bg1"/>
                      </a:solidFill>
                      <a:cs typeface="+mn-ea"/>
                      <a:sym typeface="+mn-lt"/>
                    </a:rPr>
                    <a:t>01</a:t>
                  </a:r>
                  <a:endParaRPr lang="zh-CN" altLang="en-US" sz="2800" dirty="0">
                    <a:solidFill>
                      <a:schemeClr val="bg1"/>
                    </a:solidFill>
                    <a:cs typeface="+mn-ea"/>
                    <a:sym typeface="+mn-lt"/>
                  </a:endParaRPr>
                </a:p>
              </p:txBody>
            </p:sp>
          </p:grpSp>
        </p:grpSp>
        <p:pic>
          <p:nvPicPr>
            <p:cNvPr id="30" name="图片 29"/>
            <p:cNvPicPr>
              <a:picLocks noChangeAspect="1"/>
            </p:cNvPicPr>
            <p:nvPr/>
          </p:nvPicPr>
          <p:blipFill>
            <a:blip r:embed="rId1"/>
            <a:stretch>
              <a:fillRect/>
            </a:stretch>
          </p:blipFill>
          <p:spPr>
            <a:xfrm>
              <a:off x="8751157" y="1928979"/>
              <a:ext cx="1186927" cy="1194253"/>
            </a:xfrm>
            <a:prstGeom prst="rect">
              <a:avLst/>
            </a:prstGeom>
          </p:spPr>
        </p:pic>
      </p:grpSp>
      <p:sp>
        <p:nvSpPr>
          <p:cNvPr id="2" name="矩形 1"/>
          <p:cNvSpPr/>
          <p:nvPr/>
        </p:nvSpPr>
        <p:spPr>
          <a:xfrm>
            <a:off x="608965" y="1407795"/>
            <a:ext cx="8368030" cy="3661410"/>
          </a:xfrm>
          <a:prstGeom prst="rect">
            <a:avLst/>
          </a:prstGeom>
          <a:solidFill>
            <a:schemeClr val="bg1"/>
          </a:solidFill>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zh-CN" altLang="en-US" sz="2400"/>
              <a:t>国内外有很多比较出名的，可靠性高，功能强大，简单操作的客户关系管理系统，比如Oracle CRM，Oracle CRM产品系列包括销售、营销、交互中心、客户服务和电子商务等五大模块，这款软件在业内有着很高的呼声，使用过的公司都对其大加赞扬，但是在价格方面就有一定的门槛，所以不太适合小型公司使用。</a:t>
            </a:r>
            <a:endParaRPr lang="zh-CN" altLang="en-US" sz="2400"/>
          </a:p>
        </p:txBody>
      </p:sp>
      <p:grpSp>
        <p:nvGrpSpPr>
          <p:cNvPr id="19" name="组合 18"/>
          <p:cNvGrpSpPr/>
          <p:nvPr/>
        </p:nvGrpSpPr>
        <p:grpSpPr>
          <a:xfrm>
            <a:off x="244706" y="165322"/>
            <a:ext cx="5231765" cy="769441"/>
            <a:chOff x="145646" y="165322"/>
            <a:chExt cx="5231765" cy="769441"/>
          </a:xfrm>
        </p:grpSpPr>
        <p:grpSp>
          <p:nvGrpSpPr>
            <p:cNvPr id="17" name="组合 16"/>
            <p:cNvGrpSpPr/>
            <p:nvPr/>
          </p:nvGrpSpPr>
          <p:grpSpPr>
            <a:xfrm>
              <a:off x="145646" y="165322"/>
              <a:ext cx="5231765" cy="769441"/>
              <a:chOff x="107546" y="317722"/>
              <a:chExt cx="5231765" cy="769441"/>
            </a:xfrm>
          </p:grpSpPr>
          <p:sp>
            <p:nvSpPr>
              <p:cNvPr id="8" name="文本框 7"/>
              <p:cNvSpPr txBox="1"/>
              <p:nvPr/>
            </p:nvSpPr>
            <p:spPr>
              <a:xfrm>
                <a:off x="996546" y="317722"/>
                <a:ext cx="4342765" cy="583565"/>
              </a:xfrm>
              <a:prstGeom prst="rect">
                <a:avLst/>
              </a:prstGeom>
              <a:noFill/>
            </p:spPr>
            <p:txBody>
              <a:bodyPr wrap="square" rtlCol="0">
                <a:spAutoFit/>
              </a:bodyPr>
              <a:lstStyle/>
              <a:p>
                <a:pPr algn="dist"/>
                <a:r>
                  <a:rPr lang="zh-CN" altLang="en-US" sz="3200" dirty="0">
                    <a:cs typeface="+mn-ea"/>
                    <a:sym typeface="+mn-lt"/>
                  </a:rPr>
                  <a:t>课题背景及研究意义</a:t>
                </a:r>
                <a:endParaRPr lang="zh-CN" altLang="en-US" sz="3200" dirty="0">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01.</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2" name="文本框 31"/>
          <p:cNvSpPr txBox="1"/>
          <p:nvPr/>
        </p:nvSpPr>
        <p:spPr>
          <a:xfrm>
            <a:off x="517525" y="1014095"/>
            <a:ext cx="3282315" cy="583565"/>
          </a:xfrm>
          <a:prstGeom prst="rect">
            <a:avLst/>
          </a:prstGeom>
          <a:noFill/>
        </p:spPr>
        <p:txBody>
          <a:bodyPr wrap="square" rtlCol="0">
            <a:spAutoFit/>
          </a:bodyPr>
          <a:lstStyle/>
          <a:p>
            <a:pPr algn="r"/>
            <a:r>
              <a:rPr lang="zh-CN" altLang="en-US" sz="3200" dirty="0">
                <a:solidFill>
                  <a:schemeClr val="tx1">
                    <a:lumMod val="75000"/>
                    <a:lumOff val="25000"/>
                  </a:schemeClr>
                </a:solidFill>
                <a:cs typeface="+mn-ea"/>
                <a:sym typeface="+mn-lt"/>
              </a:rPr>
              <a:t>国</a:t>
            </a:r>
            <a:r>
              <a:rPr lang="zh-CN" altLang="en-US" sz="3200" dirty="0">
                <a:solidFill>
                  <a:schemeClr val="tx1">
                    <a:lumMod val="75000"/>
                    <a:lumOff val="25000"/>
                  </a:schemeClr>
                </a:solidFill>
                <a:cs typeface="+mn-ea"/>
                <a:sym typeface="+mn-lt"/>
              </a:rPr>
              <a:t>外研究现状</a:t>
            </a:r>
            <a:endParaRPr lang="zh-CN" altLang="en-US" sz="3200" dirty="0">
              <a:solidFill>
                <a:schemeClr val="tx1">
                  <a:lumMod val="75000"/>
                  <a:lumOff val="25000"/>
                </a:schemeClr>
              </a:solidFill>
              <a:cs typeface="+mn-ea"/>
              <a:sym typeface="+mn-lt"/>
            </a:endParaRPr>
          </a:p>
        </p:txBody>
      </p:sp>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2270">
        <p:random/>
      </p:transition>
    </mc:Choice>
    <mc:Fallback>
      <p:transition spd="slow" advTm="2270">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 calcmode="lin" valueType="num">
                                      <p:cBhvr additive="base">
                                        <p:cTn id="17" dur="500" fill="hold"/>
                                        <p:tgtEl>
                                          <p:spTgt spid="31"/>
                                        </p:tgtEl>
                                        <p:attrNameLst>
                                          <p:attrName>ppt_x</p:attrName>
                                        </p:attrNameLst>
                                      </p:cBhvr>
                                      <p:tavLst>
                                        <p:tav tm="0">
                                          <p:val>
                                            <p:strVal val="1+#ppt_w/2"/>
                                          </p:val>
                                        </p:tav>
                                        <p:tav tm="100000">
                                          <p:val>
                                            <p:strVal val="#ppt_x"/>
                                          </p:val>
                                        </p:tav>
                                      </p:tavLst>
                                    </p:anim>
                                    <p:anim calcmode="lin" valueType="num">
                                      <p:cBhvr additive="base">
                                        <p:cTn id="18" dur="500" fill="hold"/>
                                        <p:tgtEl>
                                          <p:spTgt spid="3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3465" cy="769441"/>
            <a:chOff x="145646" y="165322"/>
            <a:chExt cx="4863465" cy="769441"/>
          </a:xfrm>
        </p:grpSpPr>
        <p:grpSp>
          <p:nvGrpSpPr>
            <p:cNvPr id="17" name="组合 16"/>
            <p:cNvGrpSpPr/>
            <p:nvPr/>
          </p:nvGrpSpPr>
          <p:grpSpPr>
            <a:xfrm>
              <a:off x="145646" y="165322"/>
              <a:ext cx="4863465" cy="769441"/>
              <a:chOff x="107546" y="317722"/>
              <a:chExt cx="4863465" cy="769441"/>
            </a:xfrm>
          </p:grpSpPr>
          <p:sp>
            <p:nvSpPr>
              <p:cNvPr id="8" name="文本框 7"/>
              <p:cNvSpPr txBox="1"/>
              <p:nvPr/>
            </p:nvSpPr>
            <p:spPr>
              <a:xfrm>
                <a:off x="996546" y="317722"/>
                <a:ext cx="3974465" cy="583565"/>
              </a:xfrm>
              <a:prstGeom prst="rect">
                <a:avLst/>
              </a:prstGeom>
              <a:noFill/>
            </p:spPr>
            <p:txBody>
              <a:bodyPr wrap="square" rtlCol="0">
                <a:spAutoFit/>
              </a:bodyPr>
              <a:lstStyle/>
              <a:p>
                <a:pPr algn="dist"/>
                <a:r>
                  <a:rPr lang="zh-CN" altLang="en-US" sz="3200" dirty="0">
                    <a:cs typeface="+mn-ea"/>
                    <a:sym typeface="+mn-lt"/>
                  </a:rPr>
                  <a:t>课题背景及研究意义</a:t>
                </a:r>
                <a:endParaRPr lang="zh-CN" altLang="en-US" sz="3200" dirty="0">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01.</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46" name="组合 45"/>
          <p:cNvGrpSpPr/>
          <p:nvPr/>
        </p:nvGrpSpPr>
        <p:grpSpPr>
          <a:xfrm rot="0">
            <a:off x="244703" y="2278005"/>
            <a:ext cx="2305418" cy="2101451"/>
            <a:chOff x="1340078" y="3969010"/>
            <a:chExt cx="2305418" cy="2101451"/>
          </a:xfrm>
        </p:grpSpPr>
        <p:sp>
          <p:nvSpPr>
            <p:cNvPr id="38" name="泪滴形 37"/>
            <p:cNvSpPr/>
            <p:nvPr/>
          </p:nvSpPr>
          <p:spPr>
            <a:xfrm rot="2660510">
              <a:off x="1544045" y="3969010"/>
              <a:ext cx="2101451" cy="2101451"/>
            </a:xfrm>
            <a:prstGeom prst="teardrop">
              <a:avLst/>
            </a:prstGeom>
            <a:solidFill>
              <a:srgbClr val="69C0E1"/>
            </a:solidFill>
            <a:ln>
              <a:noFill/>
            </a:ln>
            <a:effectLst>
              <a:outerShdw blurRad="635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43" name="组合 42"/>
            <p:cNvGrpSpPr/>
            <p:nvPr/>
          </p:nvGrpSpPr>
          <p:grpSpPr>
            <a:xfrm>
              <a:off x="1340078" y="3990338"/>
              <a:ext cx="1029324" cy="721895"/>
              <a:chOff x="1340078" y="3990338"/>
              <a:chExt cx="1029324" cy="721895"/>
            </a:xfrm>
          </p:grpSpPr>
          <p:sp>
            <p:nvSpPr>
              <p:cNvPr id="40" name="椭圆 39"/>
              <p:cNvSpPr/>
              <p:nvPr/>
            </p:nvSpPr>
            <p:spPr>
              <a:xfrm rot="11026152">
                <a:off x="1493793" y="3990338"/>
                <a:ext cx="721895" cy="721895"/>
              </a:xfrm>
              <a:prstGeom prst="ellipse">
                <a:avLst/>
              </a:prstGeom>
              <a:solidFill>
                <a:srgbClr val="10507E"/>
              </a:solidFill>
              <a:ln w="349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42" name="文本框 41"/>
              <p:cNvSpPr txBox="1"/>
              <p:nvPr/>
            </p:nvSpPr>
            <p:spPr>
              <a:xfrm>
                <a:off x="1340078" y="4089675"/>
                <a:ext cx="1029324" cy="523220"/>
              </a:xfrm>
              <a:prstGeom prst="rect">
                <a:avLst/>
              </a:prstGeom>
              <a:noFill/>
            </p:spPr>
            <p:txBody>
              <a:bodyPr wrap="square" rtlCol="0">
                <a:spAutoFit/>
              </a:bodyPr>
              <a:lstStyle/>
              <a:p>
                <a:pPr algn="ctr"/>
                <a:r>
                  <a:rPr lang="en-US" altLang="zh-CN" sz="2800" dirty="0">
                    <a:solidFill>
                      <a:schemeClr val="bg1"/>
                    </a:solidFill>
                    <a:cs typeface="+mn-ea"/>
                    <a:sym typeface="+mn-lt"/>
                  </a:rPr>
                  <a:t>02</a:t>
                </a:r>
                <a:endParaRPr lang="zh-CN" altLang="en-US" sz="2800" dirty="0">
                  <a:solidFill>
                    <a:schemeClr val="bg1"/>
                  </a:solidFill>
                  <a:cs typeface="+mn-ea"/>
                  <a:sym typeface="+mn-lt"/>
                </a:endParaRPr>
              </a:p>
            </p:txBody>
          </p:sp>
        </p:grpSp>
        <p:pic>
          <p:nvPicPr>
            <p:cNvPr id="45" name="图片 44"/>
            <p:cNvPicPr>
              <a:picLocks noChangeAspect="1"/>
            </p:cNvPicPr>
            <p:nvPr/>
          </p:nvPicPr>
          <p:blipFill>
            <a:blip r:embed="rId1"/>
            <a:stretch>
              <a:fillRect/>
            </a:stretch>
          </p:blipFill>
          <p:spPr>
            <a:xfrm>
              <a:off x="2238636" y="4656973"/>
              <a:ext cx="968539" cy="827549"/>
            </a:xfrm>
            <a:prstGeom prst="rect">
              <a:avLst/>
            </a:prstGeom>
          </p:spPr>
        </p:pic>
      </p:grpSp>
      <p:sp>
        <p:nvSpPr>
          <p:cNvPr id="2" name="矩形 1"/>
          <p:cNvSpPr/>
          <p:nvPr/>
        </p:nvSpPr>
        <p:spPr>
          <a:xfrm>
            <a:off x="872490" y="1014095"/>
            <a:ext cx="3428365" cy="912495"/>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3200"/>
              <a:t>国内研究现状</a:t>
            </a:r>
            <a:endParaRPr lang="zh-CN" altLang="en-US" sz="3200"/>
          </a:p>
        </p:txBody>
      </p:sp>
      <p:sp>
        <p:nvSpPr>
          <p:cNvPr id="3" name="矩形 2"/>
          <p:cNvSpPr/>
          <p:nvPr/>
        </p:nvSpPr>
        <p:spPr>
          <a:xfrm>
            <a:off x="3143885" y="1842770"/>
            <a:ext cx="8590915" cy="352933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zh-CN" altLang="en-US" sz="2800"/>
              <a:t>国内软件厂家在客户关系管理系统也大有建树，金蝶作为国内知名软件厂商，国内首个具有中间件应用服务器的厂商之一，CRM逐渐成为其产品多元化战略的一部分，在CRM市场风头正劲。</a:t>
            </a:r>
            <a:endParaRPr lang="zh-CN" altLang="en-US" sz="2800"/>
          </a:p>
        </p:txBody>
      </p:sp>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2270">
        <p:random/>
      </p:transition>
    </mc:Choice>
    <mc:Fallback>
      <p:transition spd="slow" advTm="2270">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par>
                                <p:cTn id="13" presetID="2" presetClass="entr" presetSubtype="8" fill="hold" nodeType="withEffect">
                                  <p:stCondLst>
                                    <p:cond delay="0"/>
                                  </p:stCondLst>
                                  <p:childTnLst>
                                    <p:set>
                                      <p:cBhvr>
                                        <p:cTn id="14" dur="1" fill="hold">
                                          <p:stCondLst>
                                            <p:cond delay="0"/>
                                          </p:stCondLst>
                                        </p:cTn>
                                        <p:tgtEl>
                                          <p:spTgt spid="46"/>
                                        </p:tgtEl>
                                        <p:attrNameLst>
                                          <p:attrName>style.visibility</p:attrName>
                                        </p:attrNameLst>
                                      </p:cBhvr>
                                      <p:to>
                                        <p:strVal val="visible"/>
                                      </p:to>
                                    </p:set>
                                    <p:anim calcmode="lin" valueType="num">
                                      <p:cBhvr additive="base">
                                        <p:cTn id="15" dur="500" fill="hold"/>
                                        <p:tgtEl>
                                          <p:spTgt spid="46"/>
                                        </p:tgtEl>
                                        <p:attrNameLst>
                                          <p:attrName>ppt_x</p:attrName>
                                        </p:attrNameLst>
                                      </p:cBhvr>
                                      <p:tavLst>
                                        <p:tav tm="0">
                                          <p:val>
                                            <p:strVal val="0-#ppt_w/2"/>
                                          </p:val>
                                        </p:tav>
                                        <p:tav tm="100000">
                                          <p:val>
                                            <p:strVal val="#ppt_x"/>
                                          </p:val>
                                        </p:tav>
                                      </p:tavLst>
                                    </p:anim>
                                    <p:anim calcmode="lin" valueType="num">
                                      <p:cBhvr additive="base">
                                        <p:cTn id="16" dur="500" fill="hold"/>
                                        <p:tgtEl>
                                          <p:spTgt spid="4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1076325"/>
            <a:chOff x="145646" y="165322"/>
            <a:chExt cx="4862917" cy="1076325"/>
          </a:xfrm>
        </p:grpSpPr>
        <p:grpSp>
          <p:nvGrpSpPr>
            <p:cNvPr id="17" name="组合 16"/>
            <p:cNvGrpSpPr/>
            <p:nvPr/>
          </p:nvGrpSpPr>
          <p:grpSpPr>
            <a:xfrm>
              <a:off x="145646" y="165322"/>
              <a:ext cx="4795520" cy="1076325"/>
              <a:chOff x="107546" y="317722"/>
              <a:chExt cx="4795520" cy="1076325"/>
            </a:xfrm>
          </p:grpSpPr>
          <p:sp>
            <p:nvSpPr>
              <p:cNvPr id="8" name="文本框 7"/>
              <p:cNvSpPr txBox="1"/>
              <p:nvPr/>
            </p:nvSpPr>
            <p:spPr>
              <a:xfrm>
                <a:off x="996546" y="317722"/>
                <a:ext cx="3906520" cy="1076325"/>
              </a:xfrm>
              <a:prstGeom prst="rect">
                <a:avLst/>
              </a:prstGeom>
              <a:noFill/>
            </p:spPr>
            <p:txBody>
              <a:bodyPr wrap="square" rtlCol="0">
                <a:spAutoFit/>
              </a:bodyPr>
              <a:lstStyle/>
              <a:p>
                <a:pPr algn="dist"/>
                <a:r>
                  <a:rPr lang="zh-CN" altLang="en-US" sz="3200" dirty="0">
                    <a:cs typeface="+mn-ea"/>
                    <a:sym typeface="+mn-lt"/>
                  </a:rPr>
                  <a:t>课题背景及研究意义</a:t>
                </a:r>
                <a:endParaRPr lang="zh-CN" altLang="en-US" sz="3200" dirty="0">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01.</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46" name="组合 45"/>
          <p:cNvGrpSpPr/>
          <p:nvPr/>
        </p:nvGrpSpPr>
        <p:grpSpPr>
          <a:xfrm rot="0">
            <a:off x="244703" y="2278005"/>
            <a:ext cx="2305418" cy="2101451"/>
            <a:chOff x="1340078" y="3969010"/>
            <a:chExt cx="2305418" cy="2101451"/>
          </a:xfrm>
        </p:grpSpPr>
        <p:sp>
          <p:nvSpPr>
            <p:cNvPr id="38" name="泪滴形 37"/>
            <p:cNvSpPr/>
            <p:nvPr/>
          </p:nvSpPr>
          <p:spPr>
            <a:xfrm rot="2660510">
              <a:off x="1544045" y="3969010"/>
              <a:ext cx="2101451" cy="2101451"/>
            </a:xfrm>
            <a:prstGeom prst="teardrop">
              <a:avLst/>
            </a:prstGeom>
            <a:solidFill>
              <a:srgbClr val="69C0E1"/>
            </a:solidFill>
            <a:ln>
              <a:noFill/>
            </a:ln>
            <a:effectLst>
              <a:outerShdw blurRad="635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43" name="组合 42"/>
            <p:cNvGrpSpPr/>
            <p:nvPr/>
          </p:nvGrpSpPr>
          <p:grpSpPr>
            <a:xfrm>
              <a:off x="1340078" y="3990338"/>
              <a:ext cx="1029324" cy="721895"/>
              <a:chOff x="1340078" y="3990338"/>
              <a:chExt cx="1029324" cy="721895"/>
            </a:xfrm>
          </p:grpSpPr>
          <p:sp>
            <p:nvSpPr>
              <p:cNvPr id="40" name="椭圆 39"/>
              <p:cNvSpPr/>
              <p:nvPr/>
            </p:nvSpPr>
            <p:spPr>
              <a:xfrm rot="11026152">
                <a:off x="1493793" y="3990338"/>
                <a:ext cx="721895" cy="721895"/>
              </a:xfrm>
              <a:prstGeom prst="ellipse">
                <a:avLst/>
              </a:prstGeom>
              <a:solidFill>
                <a:srgbClr val="10507E"/>
              </a:solidFill>
              <a:ln w="349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42" name="文本框 41"/>
              <p:cNvSpPr txBox="1"/>
              <p:nvPr/>
            </p:nvSpPr>
            <p:spPr>
              <a:xfrm>
                <a:off x="1340078" y="4089675"/>
                <a:ext cx="1029324" cy="521970"/>
              </a:xfrm>
              <a:prstGeom prst="rect">
                <a:avLst/>
              </a:prstGeom>
              <a:noFill/>
            </p:spPr>
            <p:txBody>
              <a:bodyPr wrap="square" rtlCol="0">
                <a:spAutoFit/>
              </a:bodyPr>
              <a:lstStyle/>
              <a:p>
                <a:pPr algn="ctr"/>
                <a:r>
                  <a:rPr lang="en-US" altLang="zh-CN" sz="2800" dirty="0">
                    <a:solidFill>
                      <a:schemeClr val="bg1"/>
                    </a:solidFill>
                    <a:cs typeface="+mn-ea"/>
                    <a:sym typeface="+mn-lt"/>
                  </a:rPr>
                  <a:t>03</a:t>
                </a:r>
                <a:endParaRPr lang="zh-CN" altLang="en-US" sz="2800" dirty="0">
                  <a:solidFill>
                    <a:schemeClr val="bg1"/>
                  </a:solidFill>
                  <a:cs typeface="+mn-ea"/>
                  <a:sym typeface="+mn-lt"/>
                </a:endParaRPr>
              </a:p>
            </p:txBody>
          </p:sp>
        </p:grpSp>
        <p:pic>
          <p:nvPicPr>
            <p:cNvPr id="45" name="图片 44"/>
            <p:cNvPicPr>
              <a:picLocks noChangeAspect="1"/>
            </p:cNvPicPr>
            <p:nvPr/>
          </p:nvPicPr>
          <p:blipFill>
            <a:blip r:embed="rId1"/>
            <a:stretch>
              <a:fillRect/>
            </a:stretch>
          </p:blipFill>
          <p:spPr>
            <a:xfrm>
              <a:off x="2238636" y="4656973"/>
              <a:ext cx="968539" cy="827549"/>
            </a:xfrm>
            <a:prstGeom prst="rect">
              <a:avLst/>
            </a:prstGeom>
          </p:spPr>
        </p:pic>
      </p:grpSp>
      <p:sp>
        <p:nvSpPr>
          <p:cNvPr id="2" name="矩形 1"/>
          <p:cNvSpPr/>
          <p:nvPr/>
        </p:nvSpPr>
        <p:spPr>
          <a:xfrm>
            <a:off x="872490" y="1014095"/>
            <a:ext cx="3428365" cy="912495"/>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3200"/>
              <a:t>研究</a:t>
            </a:r>
            <a:r>
              <a:rPr lang="zh-CN" altLang="en-US" sz="3200"/>
              <a:t>意义</a:t>
            </a:r>
            <a:endParaRPr lang="zh-CN" altLang="en-US" sz="3200"/>
          </a:p>
        </p:txBody>
      </p:sp>
      <p:sp>
        <p:nvSpPr>
          <p:cNvPr id="3" name="矩形 2"/>
          <p:cNvSpPr/>
          <p:nvPr/>
        </p:nvSpPr>
        <p:spPr>
          <a:xfrm>
            <a:off x="3143885" y="1842770"/>
            <a:ext cx="8590915" cy="352933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zh-CN" altLang="en-US" sz="2400"/>
              <a:t>国内外都在研究安全可靠、概念性强、功能强大，简单易用的客户关系管理系统。在计算机还不发代的年代，各行各业的工作人员为了记录客户信息都会选择使用纸和笔来记录，使用纸笔不仅繁琐，而且不易保存，经常会出现遗失客户信息的情况出现，而在计算机相当普及的现在，各行各业的公司都会选择一款功能强大的客户客户关系管理系统。国内很多软件公司都在致力于该项目的开发。随着计算机在现代社会的普及，以及各行各业的公司兴起，越来越需要一款适合小型公司的客户关系管理系统。</a:t>
            </a:r>
            <a:endParaRPr lang="zh-CN" altLang="en-US" sz="2400"/>
          </a:p>
        </p:txBody>
      </p:sp>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2270">
        <p:random/>
      </p:transition>
    </mc:Choice>
    <mc:Fallback>
      <p:transition spd="slow" advTm="2270">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par>
                                <p:cTn id="13" presetID="2" presetClass="entr" presetSubtype="8" fill="hold" nodeType="withEffect">
                                  <p:stCondLst>
                                    <p:cond delay="0"/>
                                  </p:stCondLst>
                                  <p:childTnLst>
                                    <p:set>
                                      <p:cBhvr>
                                        <p:cTn id="14" dur="1" fill="hold">
                                          <p:stCondLst>
                                            <p:cond delay="0"/>
                                          </p:stCondLst>
                                        </p:cTn>
                                        <p:tgtEl>
                                          <p:spTgt spid="46"/>
                                        </p:tgtEl>
                                        <p:attrNameLst>
                                          <p:attrName>style.visibility</p:attrName>
                                        </p:attrNameLst>
                                      </p:cBhvr>
                                      <p:to>
                                        <p:strVal val="visible"/>
                                      </p:to>
                                    </p:set>
                                    <p:anim calcmode="lin" valueType="num">
                                      <p:cBhvr additive="base">
                                        <p:cTn id="15" dur="500" fill="hold"/>
                                        <p:tgtEl>
                                          <p:spTgt spid="46"/>
                                        </p:tgtEl>
                                        <p:attrNameLst>
                                          <p:attrName>ppt_x</p:attrName>
                                        </p:attrNameLst>
                                      </p:cBhvr>
                                      <p:tavLst>
                                        <p:tav tm="0">
                                          <p:val>
                                            <p:strVal val="0-#ppt_w/2"/>
                                          </p:val>
                                        </p:tav>
                                        <p:tav tm="100000">
                                          <p:val>
                                            <p:strVal val="#ppt_x"/>
                                          </p:val>
                                        </p:tav>
                                      </p:tavLst>
                                    </p:anim>
                                    <p:anim calcmode="lin" valueType="num">
                                      <p:cBhvr additive="base">
                                        <p:cTn id="16" dur="500" fill="hold"/>
                                        <p:tgtEl>
                                          <p:spTgt spid="4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组合 20"/>
          <p:cNvGrpSpPr/>
          <p:nvPr/>
        </p:nvGrpSpPr>
        <p:grpSpPr>
          <a:xfrm>
            <a:off x="-2846530" y="-1770744"/>
            <a:ext cx="8399978" cy="7688943"/>
            <a:chOff x="-2846530" y="-1770744"/>
            <a:chExt cx="8399978" cy="7688943"/>
          </a:xfrm>
        </p:grpSpPr>
        <p:sp>
          <p:nvSpPr>
            <p:cNvPr id="2" name="椭圆 1"/>
            <p:cNvSpPr/>
            <p:nvPr/>
          </p:nvSpPr>
          <p:spPr>
            <a:xfrm>
              <a:off x="-2846530" y="-1770744"/>
              <a:ext cx="7688943" cy="7688943"/>
            </a:xfrm>
            <a:prstGeom prst="ellipse">
              <a:avLst/>
            </a:prstGeom>
            <a:solidFill>
              <a:srgbClr val="D8EFFD"/>
            </a:solidFill>
            <a:ln>
              <a:noFill/>
            </a:ln>
            <a:effectLst>
              <a:outerShdw blurRad="279400" dist="38100" dir="2700000" sx="101000" sy="101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5" name="文本框 14"/>
            <p:cNvSpPr txBox="1"/>
            <p:nvPr/>
          </p:nvSpPr>
          <p:spPr>
            <a:xfrm>
              <a:off x="-1214742" y="1161142"/>
              <a:ext cx="6768190" cy="3770263"/>
            </a:xfrm>
            <a:prstGeom prst="rect">
              <a:avLst/>
            </a:prstGeom>
            <a:noFill/>
          </p:spPr>
          <p:txBody>
            <a:bodyPr wrap="square" rtlCol="0">
              <a:spAutoFit/>
            </a:bodyPr>
            <a:lstStyle/>
            <a:p>
              <a:pPr algn="ctr"/>
              <a:r>
                <a:rPr lang="en-US" altLang="zh-CN" sz="23900" dirty="0">
                  <a:solidFill>
                    <a:srgbClr val="10507E"/>
                  </a:solidFill>
                  <a:effectLst>
                    <a:outerShdw blurRad="63500" sx="101000" sy="101000" algn="ctr" rotWithShape="0">
                      <a:prstClr val="black">
                        <a:alpha val="40000"/>
                      </a:prstClr>
                    </a:outerShdw>
                  </a:effectLst>
                  <a:cs typeface="+mn-ea"/>
                  <a:sym typeface="+mn-lt"/>
                </a:rPr>
                <a:t>02</a:t>
              </a:r>
              <a:endParaRPr lang="zh-CN" altLang="en-US" sz="23900" dirty="0">
                <a:solidFill>
                  <a:srgbClr val="10507E"/>
                </a:solidFill>
                <a:effectLst>
                  <a:outerShdw blurRad="63500" sx="101000" sy="101000" algn="ctr" rotWithShape="0">
                    <a:prstClr val="black">
                      <a:alpha val="40000"/>
                    </a:prstClr>
                  </a:outerShdw>
                </a:effectLst>
                <a:cs typeface="+mn-ea"/>
                <a:sym typeface="+mn-lt"/>
              </a:endParaRPr>
            </a:p>
          </p:txBody>
        </p:sp>
      </p:grpSp>
      <p:grpSp>
        <p:nvGrpSpPr>
          <p:cNvPr id="18" name="组合 17"/>
          <p:cNvGrpSpPr/>
          <p:nvPr/>
        </p:nvGrpSpPr>
        <p:grpSpPr>
          <a:xfrm>
            <a:off x="5140956" y="2474962"/>
            <a:ext cx="6477909" cy="1142621"/>
            <a:chOff x="5862081" y="2617371"/>
            <a:chExt cx="6477909" cy="1142621"/>
          </a:xfrm>
        </p:grpSpPr>
        <p:sp>
          <p:nvSpPr>
            <p:cNvPr id="16" name="文本框 15"/>
            <p:cNvSpPr txBox="1"/>
            <p:nvPr/>
          </p:nvSpPr>
          <p:spPr>
            <a:xfrm>
              <a:off x="5862082" y="2617371"/>
              <a:ext cx="6006236" cy="1014730"/>
            </a:xfrm>
            <a:prstGeom prst="rect">
              <a:avLst/>
            </a:prstGeom>
            <a:noFill/>
          </p:spPr>
          <p:txBody>
            <a:bodyPr wrap="square" rtlCol="0">
              <a:spAutoFit/>
            </a:bodyPr>
            <a:lstStyle/>
            <a:p>
              <a:pPr algn="dist"/>
              <a:r>
                <a:rPr lang="zh-CN" altLang="en-US" sz="6000" dirty="0">
                  <a:solidFill>
                    <a:schemeClr val="tx1">
                      <a:lumMod val="75000"/>
                      <a:lumOff val="25000"/>
                    </a:schemeClr>
                  </a:solidFill>
                  <a:cs typeface="+mn-ea"/>
                  <a:sym typeface="+mn-lt"/>
                </a:rPr>
                <a:t>系统功能</a:t>
              </a:r>
              <a:endParaRPr lang="zh-CN" altLang="en-US" sz="6000" dirty="0">
                <a:solidFill>
                  <a:schemeClr val="tx1">
                    <a:lumMod val="75000"/>
                    <a:lumOff val="25000"/>
                  </a:schemeClr>
                </a:solidFill>
                <a:cs typeface="+mn-ea"/>
                <a:sym typeface="+mn-lt"/>
              </a:endParaRPr>
            </a:p>
          </p:txBody>
        </p:sp>
        <p:sp>
          <p:nvSpPr>
            <p:cNvPr id="17" name="文本框 16"/>
            <p:cNvSpPr txBox="1"/>
            <p:nvPr/>
          </p:nvSpPr>
          <p:spPr>
            <a:xfrm>
              <a:off x="5862081" y="3506076"/>
              <a:ext cx="6477909" cy="253916"/>
            </a:xfrm>
            <a:prstGeom prst="rect">
              <a:avLst/>
            </a:prstGeom>
            <a:noFill/>
          </p:spPr>
          <p:txBody>
            <a:bodyPr wrap="square" rtlCol="0">
              <a:spAutoFit/>
            </a:bodyPr>
            <a:lstStyle/>
            <a:p>
              <a:pPr algn="dist"/>
              <a:r>
                <a:rPr lang="en-US" altLang="zh-CN" sz="1050" dirty="0">
                  <a:cs typeface="+mn-ea"/>
                  <a:sym typeface="+mn-lt"/>
                </a:rPr>
                <a:t>RESEARCH BACKGROUND AND CURRENT SITUATION</a:t>
              </a:r>
              <a:endParaRPr lang="zh-CN" altLang="en-US" sz="1050" dirty="0">
                <a:cs typeface="+mn-ea"/>
                <a:sym typeface="+mn-lt"/>
              </a:endParaRPr>
            </a:p>
          </p:txBody>
        </p:sp>
      </p:grpSp>
      <p:sp>
        <p:nvSpPr>
          <p:cNvPr id="19" name="圆: 空心 18"/>
          <p:cNvSpPr/>
          <p:nvPr/>
        </p:nvSpPr>
        <p:spPr>
          <a:xfrm>
            <a:off x="10808543" y="5670073"/>
            <a:ext cx="2766913" cy="2766913"/>
          </a:xfrm>
          <a:prstGeom prst="donut">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cs typeface="+mn-ea"/>
              <a:sym typeface="+mn-lt"/>
            </a:endParaRPr>
          </a:p>
        </p:txBody>
      </p:sp>
    </p:spTree>
    <p:custDataLst>
      <p:tags r:id="rId1"/>
    </p:custDataLst>
  </p:cSld>
  <p:clrMapOvr>
    <a:masterClrMapping/>
  </p:clrMapOvr>
  <mc:AlternateContent xmlns:mc="http://schemas.openxmlformats.org/markup-compatibility/2006">
    <mc:Choice xmlns:p14="http://schemas.microsoft.com/office/powerpoint/2010/main" Requires="p14">
      <p:transition spd="slow" p14:dur="1500" advTm="2094">
        <p:random/>
      </p:transition>
    </mc:Choice>
    <mc:Fallback>
      <p:transition spd="slow" advTm="2094">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1000"/>
                                        <p:tgtEl>
                                          <p:spTgt spid="21"/>
                                        </p:tgtEl>
                                      </p:cBhvr>
                                    </p:animEffect>
                                    <p:anim calcmode="lin" valueType="num">
                                      <p:cBhvr>
                                        <p:cTn id="8" dur="1000" fill="hold"/>
                                        <p:tgtEl>
                                          <p:spTgt spid="21"/>
                                        </p:tgtEl>
                                        <p:attrNameLst>
                                          <p:attrName>ppt_x</p:attrName>
                                        </p:attrNameLst>
                                      </p:cBhvr>
                                      <p:tavLst>
                                        <p:tav tm="0">
                                          <p:val>
                                            <p:strVal val="#ppt_x"/>
                                          </p:val>
                                        </p:tav>
                                        <p:tav tm="100000">
                                          <p:val>
                                            <p:strVal val="#ppt_x"/>
                                          </p:val>
                                        </p:tav>
                                      </p:tavLst>
                                    </p:anim>
                                    <p:anim calcmode="lin" valueType="num">
                                      <p:cBhvr>
                                        <p:cTn id="9" dur="10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0"/>
                                  </p:stCondLst>
                                  <p:childTnLst>
                                    <p:set>
                                      <p:cBhvr>
                                        <p:cTn id="13" dur="1" fill="hold">
                                          <p:stCondLst>
                                            <p:cond delay="0"/>
                                          </p:stCondLst>
                                        </p:cTn>
                                        <p:tgtEl>
                                          <p:spTgt spid="18"/>
                                        </p:tgtEl>
                                        <p:attrNameLst>
                                          <p:attrName>style.visibility</p:attrName>
                                        </p:attrNameLst>
                                      </p:cBhvr>
                                      <p:to>
                                        <p:strVal val="visible"/>
                                      </p:to>
                                    </p:set>
                                    <p:animEffect transition="in" filter="wipe(left)">
                                      <p:cBhvr>
                                        <p:cTn id="14" dur="500"/>
                                        <p:tgtEl>
                                          <p:spTgt spid="18"/>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1000"/>
                                        <p:tgtEl>
                                          <p:spTgt spid="19"/>
                                        </p:tgtEl>
                                      </p:cBhvr>
                                    </p:animEffect>
                                    <p:anim calcmode="lin" valueType="num">
                                      <p:cBhvr>
                                        <p:cTn id="20" dur="1000" fill="hold"/>
                                        <p:tgtEl>
                                          <p:spTgt spid="19"/>
                                        </p:tgtEl>
                                        <p:attrNameLst>
                                          <p:attrName>ppt_x</p:attrName>
                                        </p:attrNameLst>
                                      </p:cBhvr>
                                      <p:tavLst>
                                        <p:tav tm="0">
                                          <p:val>
                                            <p:strVal val="#ppt_x"/>
                                          </p:val>
                                        </p:tav>
                                        <p:tav tm="100000">
                                          <p:val>
                                            <p:strVal val="#ppt_x"/>
                                          </p:val>
                                        </p:tav>
                                      </p:tavLst>
                                    </p:anim>
                                    <p:anim calcmode="lin" valueType="num">
                                      <p:cBhvr>
                                        <p:cTn id="21"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系统功能</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02.</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66" name="组合 65"/>
          <p:cNvGrpSpPr/>
          <p:nvPr/>
        </p:nvGrpSpPr>
        <p:grpSpPr>
          <a:xfrm>
            <a:off x="285723" y="1915838"/>
            <a:ext cx="2765606" cy="3656725"/>
            <a:chOff x="285723" y="1915838"/>
            <a:chExt cx="2765606" cy="3656725"/>
          </a:xfrm>
        </p:grpSpPr>
        <p:grpSp>
          <p:nvGrpSpPr>
            <p:cNvPr id="12" name="组合 11"/>
            <p:cNvGrpSpPr/>
            <p:nvPr/>
          </p:nvGrpSpPr>
          <p:grpSpPr>
            <a:xfrm>
              <a:off x="285723" y="1915838"/>
              <a:ext cx="2765606" cy="3656725"/>
              <a:chOff x="291057" y="1924050"/>
              <a:chExt cx="2765606" cy="3656725"/>
            </a:xfrm>
          </p:grpSpPr>
          <p:sp>
            <p:nvSpPr>
              <p:cNvPr id="2" name="矩形 1"/>
              <p:cNvSpPr/>
              <p:nvPr/>
            </p:nvSpPr>
            <p:spPr>
              <a:xfrm>
                <a:off x="547485" y="1985585"/>
                <a:ext cx="2509178" cy="3595190"/>
              </a:xfrm>
              <a:prstGeom prst="rect">
                <a:avLst/>
              </a:prstGeom>
              <a:noFill/>
              <a:ln>
                <a:solidFill>
                  <a:srgbClr val="10507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7" name="组合 6"/>
              <p:cNvGrpSpPr/>
              <p:nvPr/>
            </p:nvGrpSpPr>
            <p:grpSpPr>
              <a:xfrm>
                <a:off x="291057" y="1924050"/>
                <a:ext cx="801939" cy="595936"/>
                <a:chOff x="291057" y="1924050"/>
                <a:chExt cx="801939" cy="595936"/>
              </a:xfrm>
            </p:grpSpPr>
            <p:sp>
              <p:nvSpPr>
                <p:cNvPr id="4" name="梯形 3"/>
                <p:cNvSpPr/>
                <p:nvPr/>
              </p:nvSpPr>
              <p:spPr>
                <a:xfrm rot="18953237">
                  <a:off x="291057" y="1990695"/>
                  <a:ext cx="769390" cy="232809"/>
                </a:xfrm>
                <a:prstGeom prst="trapezoid">
                  <a:avLst>
                    <a:gd name="adj" fmla="val 106174"/>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5" name="等腰三角形 4"/>
                <p:cNvSpPr/>
                <p:nvPr/>
              </p:nvSpPr>
              <p:spPr>
                <a:xfrm>
                  <a:off x="964445" y="1924050"/>
                  <a:ext cx="128551" cy="61535"/>
                </a:xfrm>
                <a:prstGeom prst="triangle">
                  <a:avLst/>
                </a:prstGeom>
                <a:solidFill>
                  <a:srgbClr val="0A31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1" name="等腰三角形 20"/>
                <p:cNvSpPr/>
                <p:nvPr/>
              </p:nvSpPr>
              <p:spPr>
                <a:xfrm rot="16200000">
                  <a:off x="450081" y="2424943"/>
                  <a:ext cx="128551" cy="61535"/>
                </a:xfrm>
                <a:prstGeom prst="triangle">
                  <a:avLst/>
                </a:prstGeom>
                <a:solidFill>
                  <a:srgbClr val="0A31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grpSp>
        <p:pic>
          <p:nvPicPr>
            <p:cNvPr id="15" name="图片 14"/>
            <p:cNvPicPr>
              <a:picLocks noChangeAspect="1"/>
            </p:cNvPicPr>
            <p:nvPr/>
          </p:nvPicPr>
          <p:blipFill>
            <a:blip r:embed="rId1"/>
            <a:stretch>
              <a:fillRect/>
            </a:stretch>
          </p:blipFill>
          <p:spPr>
            <a:xfrm>
              <a:off x="1439513" y="2223250"/>
              <a:ext cx="714454" cy="726496"/>
            </a:xfrm>
            <a:prstGeom prst="rect">
              <a:avLst/>
            </a:prstGeom>
          </p:spPr>
        </p:pic>
        <p:sp>
          <p:nvSpPr>
            <p:cNvPr id="51" name="文本框 50"/>
            <p:cNvSpPr txBox="1"/>
            <p:nvPr/>
          </p:nvSpPr>
          <p:spPr>
            <a:xfrm>
              <a:off x="670418" y="3116273"/>
              <a:ext cx="2056702" cy="1116965"/>
            </a:xfrm>
            <a:prstGeom prst="rect">
              <a:avLst/>
            </a:prstGeom>
            <a:noFill/>
          </p:spPr>
          <p:txBody>
            <a:bodyPr wrap="square" rtlCol="0">
              <a:spAutoFit/>
            </a:bodyPr>
            <a:lstStyle/>
            <a:p>
              <a:pPr algn="ctr">
                <a:lnSpc>
                  <a:spcPts val="2000"/>
                </a:lnSpc>
              </a:pPr>
              <a:r>
                <a:rPr lang="zh-CN" altLang="en-US" sz="1400" spc="300" dirty="0">
                  <a:solidFill>
                    <a:schemeClr val="tx1">
                      <a:lumMod val="75000"/>
                      <a:lumOff val="25000"/>
                    </a:schemeClr>
                  </a:solidFill>
                  <a:cs typeface="+mn-ea"/>
                  <a:sym typeface="+mn-lt"/>
                </a:rPr>
                <a:t>客户信息管理</a:t>
              </a:r>
              <a:endParaRPr lang="zh-CN" altLang="en-US" sz="1400" spc="300" dirty="0">
                <a:solidFill>
                  <a:schemeClr val="tx1">
                    <a:lumMod val="75000"/>
                    <a:lumOff val="25000"/>
                  </a:schemeClr>
                </a:solidFill>
                <a:cs typeface="+mn-ea"/>
                <a:sym typeface="+mn-lt"/>
              </a:endParaRPr>
            </a:p>
            <a:p>
              <a:pPr algn="ctr">
                <a:lnSpc>
                  <a:spcPts val="2000"/>
                </a:lnSpc>
              </a:pPr>
              <a:r>
                <a:rPr lang="zh-CN" altLang="en-US" sz="1400" spc="300" dirty="0">
                  <a:solidFill>
                    <a:schemeClr val="tx1">
                      <a:lumMod val="75000"/>
                      <a:lumOff val="25000"/>
                    </a:schemeClr>
                  </a:solidFill>
                  <a:cs typeface="+mn-ea"/>
                  <a:sym typeface="+mn-lt"/>
                </a:rPr>
                <a:t>客户订单查看</a:t>
              </a:r>
              <a:endParaRPr lang="zh-CN" altLang="en-US" sz="1400" spc="300" dirty="0">
                <a:solidFill>
                  <a:schemeClr val="tx1">
                    <a:lumMod val="75000"/>
                    <a:lumOff val="25000"/>
                  </a:schemeClr>
                </a:solidFill>
                <a:cs typeface="+mn-ea"/>
                <a:sym typeface="+mn-lt"/>
              </a:endParaRPr>
            </a:p>
            <a:p>
              <a:pPr algn="ctr">
                <a:lnSpc>
                  <a:spcPts val="2000"/>
                </a:lnSpc>
              </a:pPr>
              <a:r>
                <a:rPr lang="zh-CN" altLang="en-US" sz="1400" spc="300" dirty="0">
                  <a:solidFill>
                    <a:schemeClr val="tx1">
                      <a:lumMod val="75000"/>
                      <a:lumOff val="25000"/>
                    </a:schemeClr>
                  </a:solidFill>
                  <a:cs typeface="+mn-ea"/>
                  <a:sym typeface="+mn-lt"/>
                </a:rPr>
                <a:t>流失客户管理</a:t>
              </a:r>
              <a:endParaRPr lang="zh-CN" altLang="en-US" sz="1400" spc="300" dirty="0">
                <a:solidFill>
                  <a:schemeClr val="tx1">
                    <a:lumMod val="75000"/>
                    <a:lumOff val="25000"/>
                  </a:schemeClr>
                </a:solidFill>
                <a:cs typeface="+mn-ea"/>
                <a:sym typeface="+mn-lt"/>
              </a:endParaRPr>
            </a:p>
            <a:p>
              <a:pPr algn="ctr">
                <a:lnSpc>
                  <a:spcPts val="2000"/>
                </a:lnSpc>
              </a:pPr>
              <a:r>
                <a:rPr lang="zh-CN" altLang="en-US" sz="1400" spc="300" dirty="0">
                  <a:solidFill>
                    <a:schemeClr val="tx1">
                      <a:lumMod val="75000"/>
                      <a:lumOff val="25000"/>
                    </a:schemeClr>
                  </a:solidFill>
                  <a:cs typeface="+mn-ea"/>
                  <a:sym typeface="+mn-lt"/>
                </a:rPr>
                <a:t>重点客户</a:t>
              </a:r>
              <a:r>
                <a:rPr lang="zh-CN" altLang="en-US" sz="1400" spc="300" dirty="0">
                  <a:solidFill>
                    <a:schemeClr val="tx1">
                      <a:lumMod val="75000"/>
                      <a:lumOff val="25000"/>
                    </a:schemeClr>
                  </a:solidFill>
                  <a:cs typeface="+mn-ea"/>
                  <a:sym typeface="+mn-lt"/>
                </a:rPr>
                <a:t>管理</a:t>
              </a:r>
              <a:endParaRPr lang="zh-CN" altLang="en-US" sz="1400" spc="300" dirty="0">
                <a:solidFill>
                  <a:schemeClr val="tx1">
                    <a:lumMod val="75000"/>
                    <a:lumOff val="25000"/>
                  </a:schemeClr>
                </a:solidFill>
                <a:cs typeface="+mn-ea"/>
                <a:sym typeface="+mn-lt"/>
              </a:endParaRPr>
            </a:p>
          </p:txBody>
        </p:sp>
        <p:grpSp>
          <p:nvGrpSpPr>
            <p:cNvPr id="65" name="组合 64"/>
            <p:cNvGrpSpPr/>
            <p:nvPr/>
          </p:nvGrpSpPr>
          <p:grpSpPr>
            <a:xfrm>
              <a:off x="843526" y="4996439"/>
              <a:ext cx="1876225" cy="310310"/>
              <a:chOff x="843526" y="4996439"/>
              <a:chExt cx="1876225" cy="310310"/>
            </a:xfrm>
          </p:grpSpPr>
          <p:sp>
            <p:nvSpPr>
              <p:cNvPr id="53" name="矩形: 圆角 52"/>
              <p:cNvSpPr/>
              <p:nvPr/>
            </p:nvSpPr>
            <p:spPr>
              <a:xfrm>
                <a:off x="1007552" y="4996439"/>
                <a:ext cx="1567521" cy="310310"/>
              </a:xfrm>
              <a:prstGeom prst="roundRect">
                <a:avLst>
                  <a:gd name="adj" fmla="val 50000"/>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57" name="文本框 56"/>
              <p:cNvSpPr txBox="1"/>
              <p:nvPr/>
            </p:nvSpPr>
            <p:spPr>
              <a:xfrm>
                <a:off x="843526" y="4996439"/>
                <a:ext cx="1876225" cy="306705"/>
              </a:xfrm>
              <a:prstGeom prst="rect">
                <a:avLst/>
              </a:prstGeom>
              <a:noFill/>
            </p:spPr>
            <p:txBody>
              <a:bodyPr wrap="square" rtlCol="0">
                <a:spAutoFit/>
              </a:bodyPr>
              <a:lstStyle/>
              <a:p>
                <a:pPr algn="ctr"/>
                <a:r>
                  <a:rPr lang="zh-CN" altLang="en-US" sz="1400" dirty="0">
                    <a:solidFill>
                      <a:schemeClr val="bg1"/>
                    </a:solidFill>
                    <a:cs typeface="+mn-ea"/>
                    <a:sym typeface="+mn-lt"/>
                  </a:rPr>
                  <a:t>客户管理模块</a:t>
                </a:r>
                <a:endParaRPr lang="zh-CN" altLang="en-US" sz="1400" dirty="0">
                  <a:solidFill>
                    <a:schemeClr val="bg1"/>
                  </a:solidFill>
                  <a:cs typeface="+mn-ea"/>
                  <a:sym typeface="+mn-lt"/>
                </a:endParaRPr>
              </a:p>
            </p:txBody>
          </p:sp>
        </p:grpSp>
      </p:grpSp>
      <p:grpSp>
        <p:nvGrpSpPr>
          <p:cNvPr id="67" name="组合 66"/>
          <p:cNvGrpSpPr/>
          <p:nvPr/>
        </p:nvGrpSpPr>
        <p:grpSpPr>
          <a:xfrm>
            <a:off x="3169639" y="1915838"/>
            <a:ext cx="2765606" cy="3656725"/>
            <a:chOff x="3169639" y="1915838"/>
            <a:chExt cx="2765606" cy="3656725"/>
          </a:xfrm>
        </p:grpSpPr>
        <p:grpSp>
          <p:nvGrpSpPr>
            <p:cNvPr id="22" name="组合 21"/>
            <p:cNvGrpSpPr/>
            <p:nvPr/>
          </p:nvGrpSpPr>
          <p:grpSpPr>
            <a:xfrm>
              <a:off x="3169639" y="1915838"/>
              <a:ext cx="2765606" cy="3656725"/>
              <a:chOff x="291057" y="1924050"/>
              <a:chExt cx="2765606" cy="3656725"/>
            </a:xfrm>
          </p:grpSpPr>
          <p:sp>
            <p:nvSpPr>
              <p:cNvPr id="23" name="矩形 22"/>
              <p:cNvSpPr/>
              <p:nvPr/>
            </p:nvSpPr>
            <p:spPr>
              <a:xfrm>
                <a:off x="547485" y="1985585"/>
                <a:ext cx="2509178" cy="3595190"/>
              </a:xfrm>
              <a:prstGeom prst="rect">
                <a:avLst/>
              </a:prstGeom>
              <a:noFill/>
              <a:ln>
                <a:solidFill>
                  <a:srgbClr val="10507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24" name="组合 23"/>
              <p:cNvGrpSpPr/>
              <p:nvPr/>
            </p:nvGrpSpPr>
            <p:grpSpPr>
              <a:xfrm>
                <a:off x="291057" y="1924050"/>
                <a:ext cx="801939" cy="595936"/>
                <a:chOff x="291057" y="1924050"/>
                <a:chExt cx="801939" cy="595936"/>
              </a:xfrm>
            </p:grpSpPr>
            <p:sp>
              <p:nvSpPr>
                <p:cNvPr id="25" name="梯形 24"/>
                <p:cNvSpPr/>
                <p:nvPr/>
              </p:nvSpPr>
              <p:spPr>
                <a:xfrm rot="18953237">
                  <a:off x="291057" y="1990695"/>
                  <a:ext cx="769390" cy="232809"/>
                </a:xfrm>
                <a:prstGeom prst="trapezoid">
                  <a:avLst>
                    <a:gd name="adj" fmla="val 106174"/>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6" name="等腰三角形 25"/>
                <p:cNvSpPr/>
                <p:nvPr/>
              </p:nvSpPr>
              <p:spPr>
                <a:xfrm>
                  <a:off x="964445" y="1924050"/>
                  <a:ext cx="128551" cy="61535"/>
                </a:xfrm>
                <a:prstGeom prst="triangle">
                  <a:avLst/>
                </a:prstGeom>
                <a:solidFill>
                  <a:srgbClr val="0A31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7" name="等腰三角形 26"/>
                <p:cNvSpPr/>
                <p:nvPr/>
              </p:nvSpPr>
              <p:spPr>
                <a:xfrm rot="16200000">
                  <a:off x="450081" y="2424943"/>
                  <a:ext cx="128551" cy="61535"/>
                </a:xfrm>
                <a:prstGeom prst="triangle">
                  <a:avLst/>
                </a:prstGeom>
                <a:solidFill>
                  <a:srgbClr val="0A31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grpSp>
        <p:pic>
          <p:nvPicPr>
            <p:cNvPr id="41" name="图片 40"/>
            <p:cNvPicPr>
              <a:picLocks noChangeAspect="1"/>
            </p:cNvPicPr>
            <p:nvPr/>
          </p:nvPicPr>
          <p:blipFill>
            <a:blip r:embed="rId2"/>
            <a:stretch>
              <a:fillRect/>
            </a:stretch>
          </p:blipFill>
          <p:spPr>
            <a:xfrm>
              <a:off x="4352310" y="2296499"/>
              <a:ext cx="827999" cy="579999"/>
            </a:xfrm>
            <a:prstGeom prst="rect">
              <a:avLst/>
            </a:prstGeom>
          </p:spPr>
        </p:pic>
        <p:sp>
          <p:nvSpPr>
            <p:cNvPr id="50" name="文本框 49"/>
            <p:cNvSpPr txBox="1"/>
            <p:nvPr/>
          </p:nvSpPr>
          <p:spPr>
            <a:xfrm>
              <a:off x="3652305" y="3116273"/>
              <a:ext cx="2056702" cy="860425"/>
            </a:xfrm>
            <a:prstGeom prst="rect">
              <a:avLst/>
            </a:prstGeom>
            <a:noFill/>
          </p:spPr>
          <p:txBody>
            <a:bodyPr wrap="square" rtlCol="0">
              <a:spAutoFit/>
            </a:bodyPr>
            <a:lstStyle/>
            <a:p>
              <a:pPr algn="ctr">
                <a:lnSpc>
                  <a:spcPts val="2000"/>
                </a:lnSpc>
              </a:pPr>
              <a:r>
                <a:rPr lang="zh-CN" altLang="en-US" sz="1400" spc="300" dirty="0">
                  <a:solidFill>
                    <a:schemeClr val="tx1">
                      <a:lumMod val="75000"/>
                      <a:lumOff val="25000"/>
                    </a:schemeClr>
                  </a:solidFill>
                  <a:cs typeface="+mn-ea"/>
                  <a:sym typeface="+mn-lt"/>
                </a:rPr>
                <a:t>用户管理</a:t>
              </a:r>
              <a:endParaRPr lang="zh-CN" altLang="en-US" sz="1400" spc="300" dirty="0">
                <a:solidFill>
                  <a:schemeClr val="tx1">
                    <a:lumMod val="75000"/>
                    <a:lumOff val="25000"/>
                  </a:schemeClr>
                </a:solidFill>
                <a:cs typeface="+mn-ea"/>
                <a:sym typeface="+mn-lt"/>
              </a:endParaRPr>
            </a:p>
            <a:p>
              <a:pPr algn="ctr">
                <a:lnSpc>
                  <a:spcPts val="2000"/>
                </a:lnSpc>
              </a:pPr>
              <a:r>
                <a:rPr lang="zh-CN" altLang="en-US" sz="1400" spc="300" dirty="0">
                  <a:solidFill>
                    <a:schemeClr val="tx1">
                      <a:lumMod val="75000"/>
                      <a:lumOff val="25000"/>
                    </a:schemeClr>
                  </a:solidFill>
                  <a:cs typeface="+mn-ea"/>
                  <a:sym typeface="+mn-lt"/>
                </a:rPr>
                <a:t>角色</a:t>
              </a:r>
              <a:r>
                <a:rPr lang="zh-CN" altLang="en-US" sz="1400" spc="300" dirty="0">
                  <a:solidFill>
                    <a:schemeClr val="tx1">
                      <a:lumMod val="75000"/>
                      <a:lumOff val="25000"/>
                    </a:schemeClr>
                  </a:solidFill>
                  <a:cs typeface="+mn-ea"/>
                  <a:sym typeface="+mn-lt"/>
                </a:rPr>
                <a:t>管理</a:t>
              </a:r>
              <a:endParaRPr lang="zh-CN" altLang="en-US" sz="1400" spc="300" dirty="0">
                <a:solidFill>
                  <a:schemeClr val="tx1">
                    <a:lumMod val="75000"/>
                    <a:lumOff val="25000"/>
                  </a:schemeClr>
                </a:solidFill>
                <a:cs typeface="+mn-ea"/>
                <a:sym typeface="+mn-lt"/>
              </a:endParaRPr>
            </a:p>
            <a:p>
              <a:pPr algn="ctr">
                <a:lnSpc>
                  <a:spcPts val="2000"/>
                </a:lnSpc>
              </a:pPr>
              <a:r>
                <a:rPr lang="zh-CN" altLang="en-US" sz="1400" spc="300" dirty="0">
                  <a:solidFill>
                    <a:schemeClr val="tx1">
                      <a:lumMod val="75000"/>
                      <a:lumOff val="25000"/>
                    </a:schemeClr>
                  </a:solidFill>
                  <a:cs typeface="+mn-ea"/>
                  <a:sym typeface="+mn-lt"/>
                </a:rPr>
                <a:t>资源管理</a:t>
              </a:r>
              <a:endParaRPr lang="zh-CN" altLang="en-US" sz="1400" spc="300" dirty="0">
                <a:solidFill>
                  <a:schemeClr val="tx1">
                    <a:lumMod val="75000"/>
                    <a:lumOff val="25000"/>
                  </a:schemeClr>
                </a:solidFill>
                <a:cs typeface="+mn-ea"/>
                <a:sym typeface="+mn-lt"/>
              </a:endParaRPr>
            </a:p>
          </p:txBody>
        </p:sp>
        <p:grpSp>
          <p:nvGrpSpPr>
            <p:cNvPr id="64" name="组合 63"/>
            <p:cNvGrpSpPr/>
            <p:nvPr/>
          </p:nvGrpSpPr>
          <p:grpSpPr>
            <a:xfrm>
              <a:off x="3777296" y="4996439"/>
              <a:ext cx="1876225" cy="312044"/>
              <a:chOff x="3777296" y="4996439"/>
              <a:chExt cx="1876225" cy="312044"/>
            </a:xfrm>
          </p:grpSpPr>
          <p:sp>
            <p:nvSpPr>
              <p:cNvPr id="54" name="矩形: 圆角 53"/>
              <p:cNvSpPr/>
              <p:nvPr/>
            </p:nvSpPr>
            <p:spPr>
              <a:xfrm>
                <a:off x="3893277" y="4996439"/>
                <a:ext cx="1567521" cy="310310"/>
              </a:xfrm>
              <a:prstGeom prst="roundRect">
                <a:avLst>
                  <a:gd name="adj" fmla="val 50000"/>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58" name="文本框 57"/>
              <p:cNvSpPr txBox="1"/>
              <p:nvPr/>
            </p:nvSpPr>
            <p:spPr>
              <a:xfrm>
                <a:off x="3777296" y="5001778"/>
                <a:ext cx="1876225" cy="306705"/>
              </a:xfrm>
              <a:prstGeom prst="rect">
                <a:avLst/>
              </a:prstGeom>
              <a:noFill/>
            </p:spPr>
            <p:txBody>
              <a:bodyPr wrap="square" rtlCol="0">
                <a:spAutoFit/>
              </a:bodyPr>
              <a:lstStyle/>
              <a:p>
                <a:pPr algn="ctr"/>
                <a:r>
                  <a:rPr lang="zh-CN" altLang="en-US" sz="1400" dirty="0">
                    <a:solidFill>
                      <a:schemeClr val="bg1"/>
                    </a:solidFill>
                    <a:cs typeface="+mn-ea"/>
                    <a:sym typeface="+mn-lt"/>
                  </a:rPr>
                  <a:t>用户管理</a:t>
                </a:r>
                <a:r>
                  <a:rPr lang="zh-CN" altLang="en-US" sz="1400" dirty="0">
                    <a:solidFill>
                      <a:schemeClr val="bg1"/>
                    </a:solidFill>
                    <a:cs typeface="+mn-ea"/>
                    <a:sym typeface="+mn-lt"/>
                  </a:rPr>
                  <a:t>模块</a:t>
                </a:r>
                <a:endParaRPr lang="zh-CN" altLang="en-US" sz="1400" dirty="0">
                  <a:solidFill>
                    <a:schemeClr val="bg1"/>
                  </a:solidFill>
                  <a:cs typeface="+mn-ea"/>
                  <a:sym typeface="+mn-lt"/>
                </a:endParaRPr>
              </a:p>
            </p:txBody>
          </p:sp>
        </p:grpSp>
      </p:grpSp>
      <p:grpSp>
        <p:nvGrpSpPr>
          <p:cNvPr id="68" name="组合 67"/>
          <p:cNvGrpSpPr/>
          <p:nvPr/>
        </p:nvGrpSpPr>
        <p:grpSpPr>
          <a:xfrm>
            <a:off x="6053555" y="1915838"/>
            <a:ext cx="2765606" cy="3656725"/>
            <a:chOff x="6053555" y="1915838"/>
            <a:chExt cx="2765606" cy="3656725"/>
          </a:xfrm>
        </p:grpSpPr>
        <p:grpSp>
          <p:nvGrpSpPr>
            <p:cNvPr id="28" name="组合 27"/>
            <p:cNvGrpSpPr/>
            <p:nvPr/>
          </p:nvGrpSpPr>
          <p:grpSpPr>
            <a:xfrm>
              <a:off x="6053555" y="1915838"/>
              <a:ext cx="2765606" cy="3656725"/>
              <a:chOff x="291057" y="1924050"/>
              <a:chExt cx="2765606" cy="3656725"/>
            </a:xfrm>
          </p:grpSpPr>
          <p:sp>
            <p:nvSpPr>
              <p:cNvPr id="29" name="矩形 28"/>
              <p:cNvSpPr/>
              <p:nvPr/>
            </p:nvSpPr>
            <p:spPr>
              <a:xfrm>
                <a:off x="547485" y="1985585"/>
                <a:ext cx="2509178" cy="3595190"/>
              </a:xfrm>
              <a:prstGeom prst="rect">
                <a:avLst/>
              </a:prstGeom>
              <a:noFill/>
              <a:ln>
                <a:solidFill>
                  <a:srgbClr val="10507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30" name="组合 29"/>
              <p:cNvGrpSpPr/>
              <p:nvPr/>
            </p:nvGrpSpPr>
            <p:grpSpPr>
              <a:xfrm>
                <a:off x="291057" y="1924050"/>
                <a:ext cx="801939" cy="595936"/>
                <a:chOff x="291057" y="1924050"/>
                <a:chExt cx="801939" cy="595936"/>
              </a:xfrm>
            </p:grpSpPr>
            <p:sp>
              <p:nvSpPr>
                <p:cNvPr id="31" name="梯形 30"/>
                <p:cNvSpPr/>
                <p:nvPr/>
              </p:nvSpPr>
              <p:spPr>
                <a:xfrm rot="18953237">
                  <a:off x="291057" y="1990695"/>
                  <a:ext cx="769390" cy="232809"/>
                </a:xfrm>
                <a:prstGeom prst="trapezoid">
                  <a:avLst>
                    <a:gd name="adj" fmla="val 106174"/>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2" name="等腰三角形 31"/>
                <p:cNvSpPr/>
                <p:nvPr/>
              </p:nvSpPr>
              <p:spPr>
                <a:xfrm>
                  <a:off x="964445" y="1924050"/>
                  <a:ext cx="128551" cy="61535"/>
                </a:xfrm>
                <a:prstGeom prst="triangle">
                  <a:avLst/>
                </a:prstGeom>
                <a:solidFill>
                  <a:srgbClr val="0A31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3" name="等腰三角形 32"/>
                <p:cNvSpPr/>
                <p:nvPr/>
              </p:nvSpPr>
              <p:spPr>
                <a:xfrm rot="16200000">
                  <a:off x="450081" y="2424943"/>
                  <a:ext cx="128551" cy="61535"/>
                </a:xfrm>
                <a:prstGeom prst="triangle">
                  <a:avLst/>
                </a:prstGeom>
                <a:solidFill>
                  <a:srgbClr val="0A31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grpSp>
        <p:pic>
          <p:nvPicPr>
            <p:cNvPr id="43" name="图片 42"/>
            <p:cNvPicPr>
              <a:picLocks noChangeAspect="1"/>
            </p:cNvPicPr>
            <p:nvPr/>
          </p:nvPicPr>
          <p:blipFill>
            <a:blip r:embed="rId3"/>
            <a:stretch>
              <a:fillRect/>
            </a:stretch>
          </p:blipFill>
          <p:spPr>
            <a:xfrm>
              <a:off x="7398377" y="2196361"/>
              <a:ext cx="511839" cy="654755"/>
            </a:xfrm>
            <a:prstGeom prst="rect">
              <a:avLst/>
            </a:prstGeom>
          </p:spPr>
        </p:pic>
        <p:sp>
          <p:nvSpPr>
            <p:cNvPr id="49" name="文本框 48"/>
            <p:cNvSpPr txBox="1"/>
            <p:nvPr/>
          </p:nvSpPr>
          <p:spPr>
            <a:xfrm>
              <a:off x="6536221" y="3116273"/>
              <a:ext cx="2056702" cy="603885"/>
            </a:xfrm>
            <a:prstGeom prst="rect">
              <a:avLst/>
            </a:prstGeom>
            <a:noFill/>
          </p:spPr>
          <p:txBody>
            <a:bodyPr wrap="square" rtlCol="0">
              <a:spAutoFit/>
            </a:bodyPr>
            <a:lstStyle/>
            <a:p>
              <a:pPr algn="ctr">
                <a:lnSpc>
                  <a:spcPts val="2000"/>
                </a:lnSpc>
              </a:pPr>
              <a:r>
                <a:rPr lang="zh-CN" altLang="en-US" sz="1400" spc="300" dirty="0">
                  <a:solidFill>
                    <a:schemeClr val="tx1">
                      <a:lumMod val="75000"/>
                      <a:lumOff val="25000"/>
                    </a:schemeClr>
                  </a:solidFill>
                  <a:cs typeface="+mn-ea"/>
                  <a:sym typeface="+mn-lt"/>
                </a:rPr>
                <a:t>营销机会管理</a:t>
              </a:r>
              <a:endParaRPr lang="zh-CN" altLang="en-US" sz="1400" spc="300" dirty="0">
                <a:solidFill>
                  <a:schemeClr val="tx1">
                    <a:lumMod val="75000"/>
                    <a:lumOff val="25000"/>
                  </a:schemeClr>
                </a:solidFill>
                <a:cs typeface="+mn-ea"/>
                <a:sym typeface="+mn-lt"/>
              </a:endParaRPr>
            </a:p>
            <a:p>
              <a:pPr algn="ctr">
                <a:lnSpc>
                  <a:spcPts val="2000"/>
                </a:lnSpc>
              </a:pPr>
              <a:r>
                <a:rPr lang="zh-CN" altLang="en-US" sz="1400" spc="300" dirty="0">
                  <a:solidFill>
                    <a:schemeClr val="tx1">
                      <a:lumMod val="75000"/>
                      <a:lumOff val="25000"/>
                    </a:schemeClr>
                  </a:solidFill>
                  <a:cs typeface="+mn-ea"/>
                  <a:sym typeface="+mn-lt"/>
                </a:rPr>
                <a:t>客户开发计划</a:t>
              </a:r>
              <a:endParaRPr lang="zh-CN" altLang="en-US" sz="1400" spc="300" dirty="0">
                <a:solidFill>
                  <a:schemeClr val="tx1">
                    <a:lumMod val="75000"/>
                    <a:lumOff val="25000"/>
                  </a:schemeClr>
                </a:solidFill>
                <a:cs typeface="+mn-ea"/>
                <a:sym typeface="+mn-lt"/>
              </a:endParaRPr>
            </a:p>
          </p:txBody>
        </p:sp>
        <p:grpSp>
          <p:nvGrpSpPr>
            <p:cNvPr id="63" name="组合 62"/>
            <p:cNvGrpSpPr/>
            <p:nvPr/>
          </p:nvGrpSpPr>
          <p:grpSpPr>
            <a:xfrm>
              <a:off x="6624649" y="4996439"/>
              <a:ext cx="1876225" cy="310310"/>
              <a:chOff x="6624649" y="4996439"/>
              <a:chExt cx="1876225" cy="310310"/>
            </a:xfrm>
          </p:grpSpPr>
          <p:sp>
            <p:nvSpPr>
              <p:cNvPr id="55" name="矩形: 圆角 54"/>
              <p:cNvSpPr/>
              <p:nvPr/>
            </p:nvSpPr>
            <p:spPr>
              <a:xfrm>
                <a:off x="6779002" y="4996439"/>
                <a:ext cx="1567521" cy="310310"/>
              </a:xfrm>
              <a:prstGeom prst="roundRect">
                <a:avLst>
                  <a:gd name="adj" fmla="val 50000"/>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59" name="文本框 58"/>
              <p:cNvSpPr txBox="1"/>
              <p:nvPr/>
            </p:nvSpPr>
            <p:spPr>
              <a:xfrm>
                <a:off x="6624649" y="4996439"/>
                <a:ext cx="1876225" cy="306705"/>
              </a:xfrm>
              <a:prstGeom prst="rect">
                <a:avLst/>
              </a:prstGeom>
              <a:noFill/>
            </p:spPr>
            <p:txBody>
              <a:bodyPr wrap="square" rtlCol="0">
                <a:spAutoFit/>
              </a:bodyPr>
              <a:lstStyle/>
              <a:p>
                <a:pPr algn="ctr"/>
                <a:r>
                  <a:rPr lang="zh-CN" altLang="en-US" sz="1400" dirty="0">
                    <a:solidFill>
                      <a:schemeClr val="bg1"/>
                    </a:solidFill>
                    <a:cs typeface="+mn-ea"/>
                    <a:sym typeface="+mn-lt"/>
                  </a:rPr>
                  <a:t>营销管理模块</a:t>
                </a:r>
                <a:endParaRPr lang="zh-CN" altLang="en-US" sz="1400" dirty="0">
                  <a:solidFill>
                    <a:schemeClr val="bg1"/>
                  </a:solidFill>
                  <a:cs typeface="+mn-ea"/>
                  <a:sym typeface="+mn-lt"/>
                </a:endParaRPr>
              </a:p>
            </p:txBody>
          </p:sp>
        </p:grpSp>
      </p:grpSp>
      <p:grpSp>
        <p:nvGrpSpPr>
          <p:cNvPr id="69" name="组合 68"/>
          <p:cNvGrpSpPr/>
          <p:nvPr/>
        </p:nvGrpSpPr>
        <p:grpSpPr>
          <a:xfrm>
            <a:off x="8937471" y="1915838"/>
            <a:ext cx="2765606" cy="3656725"/>
            <a:chOff x="8937471" y="1915838"/>
            <a:chExt cx="2765606" cy="3656725"/>
          </a:xfrm>
        </p:grpSpPr>
        <p:grpSp>
          <p:nvGrpSpPr>
            <p:cNvPr id="34" name="组合 33"/>
            <p:cNvGrpSpPr/>
            <p:nvPr/>
          </p:nvGrpSpPr>
          <p:grpSpPr>
            <a:xfrm>
              <a:off x="8937471" y="1915838"/>
              <a:ext cx="2765606" cy="3656725"/>
              <a:chOff x="291057" y="1924050"/>
              <a:chExt cx="2765606" cy="3656725"/>
            </a:xfrm>
          </p:grpSpPr>
          <p:sp>
            <p:nvSpPr>
              <p:cNvPr id="35" name="矩形 34"/>
              <p:cNvSpPr/>
              <p:nvPr/>
            </p:nvSpPr>
            <p:spPr>
              <a:xfrm>
                <a:off x="547485" y="1985585"/>
                <a:ext cx="2509178" cy="3595190"/>
              </a:xfrm>
              <a:prstGeom prst="rect">
                <a:avLst/>
              </a:prstGeom>
              <a:noFill/>
              <a:ln>
                <a:solidFill>
                  <a:srgbClr val="10507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36" name="组合 35"/>
              <p:cNvGrpSpPr/>
              <p:nvPr/>
            </p:nvGrpSpPr>
            <p:grpSpPr>
              <a:xfrm>
                <a:off x="291057" y="1924050"/>
                <a:ext cx="801939" cy="595936"/>
                <a:chOff x="291057" y="1924050"/>
                <a:chExt cx="801939" cy="595936"/>
              </a:xfrm>
            </p:grpSpPr>
            <p:sp>
              <p:nvSpPr>
                <p:cNvPr id="37" name="梯形 36"/>
                <p:cNvSpPr/>
                <p:nvPr/>
              </p:nvSpPr>
              <p:spPr>
                <a:xfrm rot="18953237">
                  <a:off x="291057" y="1990695"/>
                  <a:ext cx="769390" cy="232809"/>
                </a:xfrm>
                <a:prstGeom prst="trapezoid">
                  <a:avLst>
                    <a:gd name="adj" fmla="val 106174"/>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8" name="等腰三角形 37"/>
                <p:cNvSpPr/>
                <p:nvPr/>
              </p:nvSpPr>
              <p:spPr>
                <a:xfrm>
                  <a:off x="964445" y="1924050"/>
                  <a:ext cx="128551" cy="61535"/>
                </a:xfrm>
                <a:prstGeom prst="triangle">
                  <a:avLst/>
                </a:prstGeom>
                <a:solidFill>
                  <a:srgbClr val="0A31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9" name="等腰三角形 38"/>
                <p:cNvSpPr/>
                <p:nvPr/>
              </p:nvSpPr>
              <p:spPr>
                <a:xfrm rot="16200000">
                  <a:off x="450081" y="2424943"/>
                  <a:ext cx="128551" cy="61535"/>
                </a:xfrm>
                <a:prstGeom prst="triangle">
                  <a:avLst/>
                </a:prstGeom>
                <a:solidFill>
                  <a:srgbClr val="0A31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grpSp>
        <p:pic>
          <p:nvPicPr>
            <p:cNvPr id="45" name="图片 44"/>
            <p:cNvPicPr>
              <a:picLocks noChangeAspect="1"/>
            </p:cNvPicPr>
            <p:nvPr/>
          </p:nvPicPr>
          <p:blipFill>
            <a:blip r:embed="rId4"/>
            <a:stretch>
              <a:fillRect/>
            </a:stretch>
          </p:blipFill>
          <p:spPr>
            <a:xfrm>
              <a:off x="10159579" y="2222865"/>
              <a:ext cx="577817" cy="577817"/>
            </a:xfrm>
            <a:prstGeom prst="rect">
              <a:avLst/>
            </a:prstGeom>
          </p:spPr>
        </p:pic>
        <p:sp>
          <p:nvSpPr>
            <p:cNvPr id="52" name="文本框 51"/>
            <p:cNvSpPr txBox="1"/>
            <p:nvPr/>
          </p:nvSpPr>
          <p:spPr>
            <a:xfrm>
              <a:off x="9420136" y="3116273"/>
              <a:ext cx="2056702" cy="347345"/>
            </a:xfrm>
            <a:prstGeom prst="rect">
              <a:avLst/>
            </a:prstGeom>
            <a:noFill/>
          </p:spPr>
          <p:txBody>
            <a:bodyPr wrap="square" rtlCol="0">
              <a:spAutoFit/>
            </a:bodyPr>
            <a:lstStyle/>
            <a:p>
              <a:pPr algn="ctr">
                <a:lnSpc>
                  <a:spcPts val="2000"/>
                </a:lnSpc>
              </a:pPr>
              <a:r>
                <a:rPr lang="zh-CN" altLang="en-US" sz="1400" spc="300" dirty="0">
                  <a:solidFill>
                    <a:schemeClr val="tx1">
                      <a:lumMod val="75000"/>
                      <a:lumOff val="25000"/>
                    </a:schemeClr>
                  </a:solidFill>
                  <a:cs typeface="+mn-ea"/>
                  <a:sym typeface="+mn-lt"/>
                </a:rPr>
                <a:t>服务创建</a:t>
              </a:r>
              <a:endParaRPr lang="zh-CN" altLang="en-US" sz="1400" spc="300" dirty="0">
                <a:solidFill>
                  <a:schemeClr val="tx1">
                    <a:lumMod val="75000"/>
                    <a:lumOff val="25000"/>
                  </a:schemeClr>
                </a:solidFill>
                <a:cs typeface="+mn-ea"/>
                <a:sym typeface="+mn-lt"/>
              </a:endParaRPr>
            </a:p>
          </p:txBody>
        </p:sp>
        <p:grpSp>
          <p:nvGrpSpPr>
            <p:cNvPr id="61" name="组合 60"/>
            <p:cNvGrpSpPr/>
            <p:nvPr/>
          </p:nvGrpSpPr>
          <p:grpSpPr>
            <a:xfrm>
              <a:off x="9510373" y="4996439"/>
              <a:ext cx="1876225" cy="329061"/>
              <a:chOff x="9510373" y="4996439"/>
              <a:chExt cx="1876225" cy="329061"/>
            </a:xfrm>
          </p:grpSpPr>
          <p:sp>
            <p:nvSpPr>
              <p:cNvPr id="56" name="矩形: 圆角 55"/>
              <p:cNvSpPr/>
              <p:nvPr/>
            </p:nvSpPr>
            <p:spPr>
              <a:xfrm>
                <a:off x="9664726" y="4996439"/>
                <a:ext cx="1567521" cy="310310"/>
              </a:xfrm>
              <a:prstGeom prst="roundRect">
                <a:avLst>
                  <a:gd name="adj" fmla="val 50000"/>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60" name="文本框 59"/>
              <p:cNvSpPr txBox="1"/>
              <p:nvPr/>
            </p:nvSpPr>
            <p:spPr>
              <a:xfrm>
                <a:off x="9510373" y="5018795"/>
                <a:ext cx="1876225" cy="306705"/>
              </a:xfrm>
              <a:prstGeom prst="rect">
                <a:avLst/>
              </a:prstGeom>
              <a:noFill/>
            </p:spPr>
            <p:txBody>
              <a:bodyPr wrap="square" rtlCol="0">
                <a:spAutoFit/>
              </a:bodyPr>
              <a:lstStyle/>
              <a:p>
                <a:pPr algn="ctr"/>
                <a:r>
                  <a:rPr lang="zh-CN" altLang="en-US" sz="1400" dirty="0">
                    <a:solidFill>
                      <a:schemeClr val="bg1"/>
                    </a:solidFill>
                    <a:cs typeface="+mn-ea"/>
                    <a:sym typeface="+mn-lt"/>
                  </a:rPr>
                  <a:t>服务管理模块</a:t>
                </a:r>
                <a:endParaRPr lang="zh-CN" altLang="en-US" sz="1400" dirty="0">
                  <a:solidFill>
                    <a:schemeClr val="bg1"/>
                  </a:solidFill>
                  <a:cs typeface="+mn-ea"/>
                  <a:sym typeface="+mn-lt"/>
                </a:endParaRPr>
              </a:p>
            </p:txBody>
          </p:sp>
        </p:grpSp>
      </p:grpSp>
    </p:spTree>
    <p:custDataLst>
      <p:tags r:id="rId5"/>
    </p:custDataLst>
  </p:cSld>
  <p:clrMapOvr>
    <a:masterClrMapping/>
  </p:clrMapOvr>
  <mc:AlternateContent xmlns:mc="http://schemas.openxmlformats.org/markup-compatibility/2006">
    <mc:Choice xmlns:p14="http://schemas.microsoft.com/office/powerpoint/2010/main" Requires="p14">
      <p:transition spd="slow" p14:dur="1500" advTm="1352">
        <p:random/>
      </p:transition>
    </mc:Choice>
    <mc:Fallback>
      <p:transition spd="slow" advTm="1352">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fade">
                                      <p:cBhvr>
                                        <p:cTn id="17" dur="1000"/>
                                        <p:tgtEl>
                                          <p:spTgt spid="68"/>
                                        </p:tgtEl>
                                      </p:cBhvr>
                                    </p:animEffect>
                                    <p:anim calcmode="lin" valueType="num">
                                      <p:cBhvr>
                                        <p:cTn id="18" dur="1000" fill="hold"/>
                                        <p:tgtEl>
                                          <p:spTgt spid="68"/>
                                        </p:tgtEl>
                                        <p:attrNameLst>
                                          <p:attrName>ppt_x</p:attrName>
                                        </p:attrNameLst>
                                      </p:cBhvr>
                                      <p:tavLst>
                                        <p:tav tm="0">
                                          <p:val>
                                            <p:strVal val="#ppt_x"/>
                                          </p:val>
                                        </p:tav>
                                        <p:tav tm="100000">
                                          <p:val>
                                            <p:strVal val="#ppt_x"/>
                                          </p:val>
                                        </p:tav>
                                      </p:tavLst>
                                    </p:anim>
                                    <p:anim calcmode="lin" valueType="num">
                                      <p:cBhvr>
                                        <p:cTn id="19" dur="1000" fill="hold"/>
                                        <p:tgtEl>
                                          <p:spTgt spid="68"/>
                                        </p:tgtEl>
                                        <p:attrNameLst>
                                          <p:attrName>ppt_y</p:attrName>
                                        </p:attrNameLst>
                                      </p:cBhvr>
                                      <p:tavLst>
                                        <p:tav tm="0">
                                          <p:val>
                                            <p:strVal val="#ppt_y+.1"/>
                                          </p:val>
                                        </p:tav>
                                        <p:tav tm="100000">
                                          <p:val>
                                            <p:strVal val="#ppt_y"/>
                                          </p:val>
                                        </p:tav>
                                      </p:tavLst>
                                    </p:anim>
                                  </p:childTnLst>
                                </p:cTn>
                              </p:par>
                              <p:par>
                                <p:cTn id="20" presetID="47" presetClass="entr" presetSubtype="0" fill="hold" nodeType="with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anim calcmode="lin" valueType="num">
                                      <p:cBhvr>
                                        <p:cTn id="23" dur="1000" fill="hold"/>
                                        <p:tgtEl>
                                          <p:spTgt spid="67"/>
                                        </p:tgtEl>
                                        <p:attrNameLst>
                                          <p:attrName>ppt_x</p:attrName>
                                        </p:attrNameLst>
                                      </p:cBhvr>
                                      <p:tavLst>
                                        <p:tav tm="0">
                                          <p:val>
                                            <p:strVal val="#ppt_x"/>
                                          </p:val>
                                        </p:tav>
                                        <p:tav tm="100000">
                                          <p:val>
                                            <p:strVal val="#ppt_x"/>
                                          </p:val>
                                        </p:tav>
                                      </p:tavLst>
                                    </p:anim>
                                    <p:anim calcmode="lin" valueType="num">
                                      <p:cBhvr>
                                        <p:cTn id="24" dur="1000" fill="hold"/>
                                        <p:tgtEl>
                                          <p:spTgt spid="67"/>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66"/>
                                        </p:tgtEl>
                                        <p:attrNameLst>
                                          <p:attrName>style.visibility</p:attrName>
                                        </p:attrNameLst>
                                      </p:cBhvr>
                                      <p:to>
                                        <p:strVal val="visible"/>
                                      </p:to>
                                    </p:set>
                                    <p:animEffect transition="in" filter="fade">
                                      <p:cBhvr>
                                        <p:cTn id="27" dur="1000"/>
                                        <p:tgtEl>
                                          <p:spTgt spid="66"/>
                                        </p:tgtEl>
                                      </p:cBhvr>
                                    </p:animEffect>
                                    <p:anim calcmode="lin" valueType="num">
                                      <p:cBhvr>
                                        <p:cTn id="28" dur="1000" fill="hold"/>
                                        <p:tgtEl>
                                          <p:spTgt spid="66"/>
                                        </p:tgtEl>
                                        <p:attrNameLst>
                                          <p:attrName>ppt_x</p:attrName>
                                        </p:attrNameLst>
                                      </p:cBhvr>
                                      <p:tavLst>
                                        <p:tav tm="0">
                                          <p:val>
                                            <p:strVal val="#ppt_x"/>
                                          </p:val>
                                        </p:tav>
                                        <p:tav tm="100000">
                                          <p:val>
                                            <p:strVal val="#ppt_x"/>
                                          </p:val>
                                        </p:tav>
                                      </p:tavLst>
                                    </p:anim>
                                    <p:anim calcmode="lin" valueType="num">
                                      <p:cBhvr>
                                        <p:cTn id="29" dur="1000" fill="hold"/>
                                        <p:tgtEl>
                                          <p:spTgt spid="66"/>
                                        </p:tgtEl>
                                        <p:attrNameLst>
                                          <p:attrName>ppt_y</p:attrName>
                                        </p:attrNameLst>
                                      </p:cBhvr>
                                      <p:tavLst>
                                        <p:tav tm="0">
                                          <p:val>
                                            <p:strVal val="#ppt_y+.1"/>
                                          </p:val>
                                        </p:tav>
                                        <p:tav tm="100000">
                                          <p:val>
                                            <p:strVal val="#ppt_y"/>
                                          </p:val>
                                        </p:tav>
                                      </p:tavLst>
                                    </p:anim>
                                  </p:childTnLst>
                                </p:cTn>
                              </p:par>
                              <p:par>
                                <p:cTn id="30" presetID="47" presetClass="entr" presetSubtype="0" fill="hold" nodeType="with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fade">
                                      <p:cBhvr>
                                        <p:cTn id="32" dur="1000"/>
                                        <p:tgtEl>
                                          <p:spTgt spid="69"/>
                                        </p:tgtEl>
                                      </p:cBhvr>
                                    </p:animEffect>
                                    <p:anim calcmode="lin" valueType="num">
                                      <p:cBhvr>
                                        <p:cTn id="33" dur="1000" fill="hold"/>
                                        <p:tgtEl>
                                          <p:spTgt spid="69"/>
                                        </p:tgtEl>
                                        <p:attrNameLst>
                                          <p:attrName>ppt_x</p:attrName>
                                        </p:attrNameLst>
                                      </p:cBhvr>
                                      <p:tavLst>
                                        <p:tav tm="0">
                                          <p:val>
                                            <p:strVal val="#ppt_x"/>
                                          </p:val>
                                        </p:tav>
                                        <p:tav tm="100000">
                                          <p:val>
                                            <p:strVal val="#ppt_x"/>
                                          </p:val>
                                        </p:tav>
                                      </p:tavLst>
                                    </p:anim>
                                    <p:anim calcmode="lin" valueType="num">
                                      <p:cBhvr>
                                        <p:cTn id="34" dur="1000" fill="hold"/>
                                        <p:tgtEl>
                                          <p:spTgt spid="6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系统功能</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02.</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6" name="组合 5"/>
          <p:cNvGrpSpPr/>
          <p:nvPr/>
        </p:nvGrpSpPr>
        <p:grpSpPr>
          <a:xfrm>
            <a:off x="4141799" y="1988932"/>
            <a:ext cx="1727824" cy="1599722"/>
            <a:chOff x="4141799" y="1829278"/>
            <a:chExt cx="1727824" cy="1599722"/>
          </a:xfrm>
        </p:grpSpPr>
        <p:sp>
          <p:nvSpPr>
            <p:cNvPr id="2" name="矩形: 圆角 1"/>
            <p:cNvSpPr/>
            <p:nvPr/>
          </p:nvSpPr>
          <p:spPr>
            <a:xfrm>
              <a:off x="4345623" y="1905000"/>
              <a:ext cx="1524000" cy="1524000"/>
            </a:xfrm>
            <a:prstGeom prst="roundRect">
              <a:avLst/>
            </a:prstGeom>
            <a:solidFill>
              <a:srgbClr val="69C0E1"/>
            </a:solidFill>
            <a:ln>
              <a:noFill/>
            </a:ln>
            <a:effectLst>
              <a:outerShdw blurRad="635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3" name="组合 2"/>
            <p:cNvGrpSpPr/>
            <p:nvPr/>
          </p:nvGrpSpPr>
          <p:grpSpPr>
            <a:xfrm>
              <a:off x="4141799" y="1829278"/>
              <a:ext cx="688011" cy="482522"/>
              <a:chOff x="1340078" y="3990338"/>
              <a:chExt cx="1029324" cy="721895"/>
            </a:xfrm>
          </p:grpSpPr>
          <p:sp>
            <p:nvSpPr>
              <p:cNvPr id="12" name="椭圆 11"/>
              <p:cNvSpPr/>
              <p:nvPr/>
            </p:nvSpPr>
            <p:spPr>
              <a:xfrm rot="11026152">
                <a:off x="1493793" y="3990338"/>
                <a:ext cx="721895" cy="721895"/>
              </a:xfrm>
              <a:prstGeom prst="ellipse">
                <a:avLst/>
              </a:prstGeom>
              <a:solidFill>
                <a:srgbClr val="10507E"/>
              </a:solidFill>
              <a:ln w="349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3" name="文本框 12"/>
              <p:cNvSpPr txBox="1"/>
              <p:nvPr/>
            </p:nvSpPr>
            <p:spPr>
              <a:xfrm>
                <a:off x="1340078" y="4079729"/>
                <a:ext cx="1029324" cy="598599"/>
              </a:xfrm>
              <a:prstGeom prst="rect">
                <a:avLst/>
              </a:prstGeom>
              <a:noFill/>
            </p:spPr>
            <p:txBody>
              <a:bodyPr wrap="square" rtlCol="0">
                <a:spAutoFit/>
              </a:bodyPr>
              <a:lstStyle/>
              <a:p>
                <a:pPr algn="ctr"/>
                <a:r>
                  <a:rPr lang="en-US" altLang="zh-CN" sz="2000" dirty="0">
                    <a:solidFill>
                      <a:schemeClr val="bg1"/>
                    </a:solidFill>
                    <a:cs typeface="+mn-ea"/>
                    <a:sym typeface="+mn-lt"/>
                  </a:rPr>
                  <a:t>01</a:t>
                </a:r>
                <a:endParaRPr lang="zh-CN" altLang="en-US" sz="2000" dirty="0">
                  <a:solidFill>
                    <a:schemeClr val="bg1"/>
                  </a:solidFill>
                  <a:cs typeface="+mn-ea"/>
                  <a:sym typeface="+mn-lt"/>
                </a:endParaRPr>
              </a:p>
            </p:txBody>
          </p:sp>
        </p:grpSp>
        <p:pic>
          <p:nvPicPr>
            <p:cNvPr id="5" name="图片 4"/>
            <p:cNvPicPr>
              <a:picLocks noChangeAspect="1"/>
            </p:cNvPicPr>
            <p:nvPr/>
          </p:nvPicPr>
          <p:blipFill>
            <a:blip r:embed="rId1"/>
            <a:stretch>
              <a:fillRect/>
            </a:stretch>
          </p:blipFill>
          <p:spPr>
            <a:xfrm>
              <a:off x="4705107" y="2334858"/>
              <a:ext cx="805479" cy="805479"/>
            </a:xfrm>
            <a:prstGeom prst="rect">
              <a:avLst/>
            </a:prstGeom>
          </p:spPr>
        </p:pic>
      </p:grpSp>
      <p:grpSp>
        <p:nvGrpSpPr>
          <p:cNvPr id="29" name="组合 28"/>
          <p:cNvGrpSpPr/>
          <p:nvPr/>
        </p:nvGrpSpPr>
        <p:grpSpPr>
          <a:xfrm>
            <a:off x="6341110" y="2034652"/>
            <a:ext cx="1679575" cy="1554002"/>
            <a:chOff x="6341110" y="1874998"/>
            <a:chExt cx="1679575" cy="1554002"/>
          </a:xfrm>
        </p:grpSpPr>
        <p:sp>
          <p:nvSpPr>
            <p:cNvPr id="9" name="矩形: 圆角 8"/>
            <p:cNvSpPr/>
            <p:nvPr/>
          </p:nvSpPr>
          <p:spPr>
            <a:xfrm>
              <a:off x="6341110" y="1905000"/>
              <a:ext cx="1524000" cy="1524000"/>
            </a:xfrm>
            <a:prstGeom prst="roundRect">
              <a:avLst/>
            </a:prstGeom>
            <a:solidFill>
              <a:srgbClr val="69C0E1"/>
            </a:solidFill>
            <a:ln>
              <a:noFill/>
            </a:ln>
            <a:effectLst>
              <a:outerShdw blurRad="635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15" name="组合 14"/>
            <p:cNvGrpSpPr/>
            <p:nvPr/>
          </p:nvGrpSpPr>
          <p:grpSpPr>
            <a:xfrm>
              <a:off x="7332674" y="1874998"/>
              <a:ext cx="688011" cy="482522"/>
              <a:chOff x="1340078" y="3990338"/>
              <a:chExt cx="1029324" cy="721895"/>
            </a:xfrm>
          </p:grpSpPr>
          <p:sp>
            <p:nvSpPr>
              <p:cNvPr id="21" name="椭圆 20"/>
              <p:cNvSpPr/>
              <p:nvPr/>
            </p:nvSpPr>
            <p:spPr>
              <a:xfrm rot="11026152">
                <a:off x="1493793" y="3990338"/>
                <a:ext cx="721895" cy="721895"/>
              </a:xfrm>
              <a:prstGeom prst="ellipse">
                <a:avLst/>
              </a:prstGeom>
              <a:solidFill>
                <a:srgbClr val="10507E"/>
              </a:solidFill>
              <a:ln w="349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2" name="文本框 21"/>
              <p:cNvSpPr txBox="1"/>
              <p:nvPr/>
            </p:nvSpPr>
            <p:spPr>
              <a:xfrm>
                <a:off x="1340078" y="4079729"/>
                <a:ext cx="1029324" cy="598599"/>
              </a:xfrm>
              <a:prstGeom prst="rect">
                <a:avLst/>
              </a:prstGeom>
              <a:noFill/>
            </p:spPr>
            <p:txBody>
              <a:bodyPr wrap="square" rtlCol="0">
                <a:spAutoFit/>
              </a:bodyPr>
              <a:lstStyle/>
              <a:p>
                <a:pPr algn="ctr"/>
                <a:r>
                  <a:rPr lang="en-US" altLang="zh-CN" sz="2000" dirty="0">
                    <a:solidFill>
                      <a:schemeClr val="bg1"/>
                    </a:solidFill>
                    <a:cs typeface="+mn-ea"/>
                    <a:sym typeface="+mn-lt"/>
                  </a:rPr>
                  <a:t>02</a:t>
                </a:r>
                <a:endParaRPr lang="zh-CN" altLang="en-US" sz="2000" dirty="0">
                  <a:solidFill>
                    <a:schemeClr val="bg1"/>
                  </a:solidFill>
                  <a:cs typeface="+mn-ea"/>
                  <a:sym typeface="+mn-lt"/>
                </a:endParaRPr>
              </a:p>
            </p:txBody>
          </p:sp>
        </p:grpSp>
        <p:pic>
          <p:nvPicPr>
            <p:cNvPr id="14" name="图片 13"/>
            <p:cNvPicPr>
              <a:picLocks noChangeAspect="1"/>
            </p:cNvPicPr>
            <p:nvPr/>
          </p:nvPicPr>
          <p:blipFill>
            <a:blip r:embed="rId2"/>
            <a:stretch>
              <a:fillRect/>
            </a:stretch>
          </p:blipFill>
          <p:spPr>
            <a:xfrm>
              <a:off x="6657199" y="2350197"/>
              <a:ext cx="891822" cy="762000"/>
            </a:xfrm>
            <a:prstGeom prst="rect">
              <a:avLst/>
            </a:prstGeom>
          </p:spPr>
        </p:pic>
      </p:grpSp>
      <p:grpSp>
        <p:nvGrpSpPr>
          <p:cNvPr id="32" name="组合 31"/>
          <p:cNvGrpSpPr/>
          <p:nvPr/>
        </p:nvGrpSpPr>
        <p:grpSpPr>
          <a:xfrm>
            <a:off x="4141799" y="3969655"/>
            <a:ext cx="1727824" cy="1524000"/>
            <a:chOff x="4141799" y="3810001"/>
            <a:chExt cx="1727824" cy="1524000"/>
          </a:xfrm>
        </p:grpSpPr>
        <p:sp>
          <p:nvSpPr>
            <p:cNvPr id="10" name="矩形: 圆角 9"/>
            <p:cNvSpPr/>
            <p:nvPr/>
          </p:nvSpPr>
          <p:spPr>
            <a:xfrm>
              <a:off x="4345623" y="3810001"/>
              <a:ext cx="1524000" cy="1524000"/>
            </a:xfrm>
            <a:prstGeom prst="roundRect">
              <a:avLst/>
            </a:prstGeom>
            <a:solidFill>
              <a:srgbClr val="69C0E1"/>
            </a:solidFill>
            <a:ln>
              <a:noFill/>
            </a:ln>
            <a:effectLst>
              <a:outerShdw blurRad="635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23" name="组合 22"/>
            <p:cNvGrpSpPr/>
            <p:nvPr/>
          </p:nvGrpSpPr>
          <p:grpSpPr>
            <a:xfrm>
              <a:off x="4141799" y="3810001"/>
              <a:ext cx="688011" cy="482522"/>
              <a:chOff x="1340078" y="3990338"/>
              <a:chExt cx="1029324" cy="721895"/>
            </a:xfrm>
          </p:grpSpPr>
          <p:sp>
            <p:nvSpPr>
              <p:cNvPr id="24" name="椭圆 23"/>
              <p:cNvSpPr/>
              <p:nvPr/>
            </p:nvSpPr>
            <p:spPr>
              <a:xfrm rot="11026152">
                <a:off x="1493793" y="3990338"/>
                <a:ext cx="721895" cy="721895"/>
              </a:xfrm>
              <a:prstGeom prst="ellipse">
                <a:avLst/>
              </a:prstGeom>
              <a:solidFill>
                <a:srgbClr val="10507E"/>
              </a:solidFill>
              <a:ln w="349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5" name="文本框 24"/>
              <p:cNvSpPr txBox="1"/>
              <p:nvPr/>
            </p:nvSpPr>
            <p:spPr>
              <a:xfrm>
                <a:off x="1340078" y="4079729"/>
                <a:ext cx="1029324" cy="598599"/>
              </a:xfrm>
              <a:prstGeom prst="rect">
                <a:avLst/>
              </a:prstGeom>
              <a:noFill/>
            </p:spPr>
            <p:txBody>
              <a:bodyPr wrap="square" rtlCol="0">
                <a:spAutoFit/>
              </a:bodyPr>
              <a:lstStyle/>
              <a:p>
                <a:pPr algn="ctr"/>
                <a:r>
                  <a:rPr lang="en-US" altLang="zh-CN" sz="2000" dirty="0">
                    <a:solidFill>
                      <a:schemeClr val="bg1"/>
                    </a:solidFill>
                    <a:cs typeface="+mn-ea"/>
                    <a:sym typeface="+mn-lt"/>
                  </a:rPr>
                  <a:t>03</a:t>
                </a:r>
                <a:endParaRPr lang="zh-CN" altLang="en-US" sz="2000" dirty="0">
                  <a:solidFill>
                    <a:schemeClr val="bg1"/>
                  </a:solidFill>
                  <a:cs typeface="+mn-ea"/>
                  <a:sym typeface="+mn-lt"/>
                </a:endParaRPr>
              </a:p>
            </p:txBody>
          </p:sp>
        </p:grpSp>
        <p:pic>
          <p:nvPicPr>
            <p:cNvPr id="31" name="图片 30"/>
            <p:cNvPicPr>
              <a:picLocks noChangeAspect="1"/>
            </p:cNvPicPr>
            <p:nvPr/>
          </p:nvPicPr>
          <p:blipFill>
            <a:blip r:embed="rId3"/>
            <a:stretch>
              <a:fillRect/>
            </a:stretch>
          </p:blipFill>
          <p:spPr>
            <a:xfrm>
              <a:off x="4777769" y="4259471"/>
              <a:ext cx="732817" cy="782782"/>
            </a:xfrm>
            <a:prstGeom prst="rect">
              <a:avLst/>
            </a:prstGeom>
          </p:spPr>
        </p:pic>
      </p:grpSp>
      <p:grpSp>
        <p:nvGrpSpPr>
          <p:cNvPr id="35" name="组合 34"/>
          <p:cNvGrpSpPr/>
          <p:nvPr/>
        </p:nvGrpSpPr>
        <p:grpSpPr>
          <a:xfrm>
            <a:off x="6341110" y="3969655"/>
            <a:ext cx="1679574" cy="1524000"/>
            <a:chOff x="6341110" y="3810001"/>
            <a:chExt cx="1679574" cy="1524000"/>
          </a:xfrm>
        </p:grpSpPr>
        <p:sp>
          <p:nvSpPr>
            <p:cNvPr id="11" name="矩形: 圆角 10"/>
            <p:cNvSpPr/>
            <p:nvPr/>
          </p:nvSpPr>
          <p:spPr>
            <a:xfrm>
              <a:off x="6341110" y="3810001"/>
              <a:ext cx="1524000" cy="1524000"/>
            </a:xfrm>
            <a:prstGeom prst="roundRect">
              <a:avLst/>
            </a:prstGeom>
            <a:solidFill>
              <a:srgbClr val="69C0E1"/>
            </a:solidFill>
            <a:ln>
              <a:noFill/>
            </a:ln>
            <a:effectLst>
              <a:outerShdw blurRad="635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26" name="组合 25"/>
            <p:cNvGrpSpPr/>
            <p:nvPr/>
          </p:nvGrpSpPr>
          <p:grpSpPr>
            <a:xfrm>
              <a:off x="7332673" y="3810001"/>
              <a:ext cx="688011" cy="482522"/>
              <a:chOff x="1340078" y="3990338"/>
              <a:chExt cx="1029324" cy="721895"/>
            </a:xfrm>
          </p:grpSpPr>
          <p:sp>
            <p:nvSpPr>
              <p:cNvPr id="27" name="椭圆 26"/>
              <p:cNvSpPr/>
              <p:nvPr/>
            </p:nvSpPr>
            <p:spPr>
              <a:xfrm rot="11026152">
                <a:off x="1493793" y="3990338"/>
                <a:ext cx="721895" cy="721895"/>
              </a:xfrm>
              <a:prstGeom prst="ellipse">
                <a:avLst/>
              </a:prstGeom>
              <a:solidFill>
                <a:srgbClr val="10507E"/>
              </a:solidFill>
              <a:ln w="349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8" name="文本框 27"/>
              <p:cNvSpPr txBox="1"/>
              <p:nvPr/>
            </p:nvSpPr>
            <p:spPr>
              <a:xfrm>
                <a:off x="1340078" y="4079729"/>
                <a:ext cx="1029324" cy="598599"/>
              </a:xfrm>
              <a:prstGeom prst="rect">
                <a:avLst/>
              </a:prstGeom>
              <a:noFill/>
            </p:spPr>
            <p:txBody>
              <a:bodyPr wrap="square" rtlCol="0">
                <a:spAutoFit/>
              </a:bodyPr>
              <a:lstStyle/>
              <a:p>
                <a:pPr algn="ctr"/>
                <a:r>
                  <a:rPr lang="en-US" altLang="zh-CN" sz="2000" dirty="0">
                    <a:solidFill>
                      <a:schemeClr val="bg1"/>
                    </a:solidFill>
                    <a:cs typeface="+mn-ea"/>
                    <a:sym typeface="+mn-lt"/>
                  </a:rPr>
                  <a:t>04</a:t>
                </a:r>
                <a:endParaRPr lang="zh-CN" altLang="en-US" sz="2000" dirty="0">
                  <a:solidFill>
                    <a:schemeClr val="bg1"/>
                  </a:solidFill>
                  <a:cs typeface="+mn-ea"/>
                  <a:sym typeface="+mn-lt"/>
                </a:endParaRPr>
              </a:p>
            </p:txBody>
          </p:sp>
        </p:grpSp>
        <p:pic>
          <p:nvPicPr>
            <p:cNvPr id="34" name="图片 33"/>
            <p:cNvPicPr>
              <a:picLocks noChangeAspect="1"/>
            </p:cNvPicPr>
            <p:nvPr/>
          </p:nvPicPr>
          <p:blipFill>
            <a:blip r:embed="rId4"/>
            <a:stretch>
              <a:fillRect/>
            </a:stretch>
          </p:blipFill>
          <p:spPr>
            <a:xfrm>
              <a:off x="6715395" y="4256982"/>
              <a:ext cx="775429" cy="780216"/>
            </a:xfrm>
            <a:prstGeom prst="rect">
              <a:avLst/>
            </a:prstGeom>
          </p:spPr>
        </p:pic>
      </p:grpSp>
      <p:grpSp>
        <p:nvGrpSpPr>
          <p:cNvPr id="38" name="组合 37"/>
          <p:cNvGrpSpPr/>
          <p:nvPr/>
        </p:nvGrpSpPr>
        <p:grpSpPr>
          <a:xfrm>
            <a:off x="1017256" y="1593863"/>
            <a:ext cx="2956185" cy="1849147"/>
            <a:chOff x="595045" y="2045185"/>
            <a:chExt cx="2956185" cy="1849147"/>
          </a:xfrm>
        </p:grpSpPr>
        <p:sp>
          <p:nvSpPr>
            <p:cNvPr id="36" name="文本框 35"/>
            <p:cNvSpPr txBox="1"/>
            <p:nvPr/>
          </p:nvSpPr>
          <p:spPr>
            <a:xfrm>
              <a:off x="1424355" y="2045185"/>
              <a:ext cx="2126615" cy="460375"/>
            </a:xfrm>
            <a:prstGeom prst="rect">
              <a:avLst/>
            </a:prstGeom>
            <a:noFill/>
          </p:spPr>
          <p:txBody>
            <a:bodyPr wrap="square" rtlCol="0">
              <a:spAutoFit/>
            </a:bodyPr>
            <a:lstStyle/>
            <a:p>
              <a:pPr algn="r"/>
              <a:r>
                <a:rPr lang="zh-CN" altLang="en-US" sz="2400" dirty="0">
                  <a:solidFill>
                    <a:schemeClr val="tx1">
                      <a:lumMod val="85000"/>
                      <a:lumOff val="15000"/>
                    </a:schemeClr>
                  </a:solidFill>
                  <a:cs typeface="+mn-ea"/>
                  <a:sym typeface="+mn-lt"/>
                </a:rPr>
                <a:t>客户</a:t>
              </a:r>
              <a:r>
                <a:rPr lang="zh-CN" altLang="en-US" sz="2400" dirty="0">
                  <a:solidFill>
                    <a:schemeClr val="tx1">
                      <a:lumMod val="85000"/>
                      <a:lumOff val="15000"/>
                    </a:schemeClr>
                  </a:solidFill>
                  <a:cs typeface="+mn-ea"/>
                  <a:sym typeface="+mn-lt"/>
                </a:rPr>
                <a:t>信息管理</a:t>
              </a:r>
              <a:endParaRPr lang="zh-CN" altLang="en-US" sz="2400" dirty="0">
                <a:solidFill>
                  <a:schemeClr val="tx1">
                    <a:lumMod val="85000"/>
                    <a:lumOff val="15000"/>
                  </a:schemeClr>
                </a:solidFill>
                <a:cs typeface="+mn-ea"/>
                <a:sym typeface="+mn-lt"/>
              </a:endParaRPr>
            </a:p>
          </p:txBody>
        </p:sp>
        <p:sp>
          <p:nvSpPr>
            <p:cNvPr id="37" name="文本框 36"/>
            <p:cNvSpPr txBox="1"/>
            <p:nvPr/>
          </p:nvSpPr>
          <p:spPr>
            <a:xfrm>
              <a:off x="595045" y="2520827"/>
              <a:ext cx="2956185" cy="1373505"/>
            </a:xfrm>
            <a:prstGeom prst="rect">
              <a:avLst/>
            </a:prstGeom>
            <a:noFill/>
          </p:spPr>
          <p:txBody>
            <a:bodyPr wrap="square" rtlCol="0">
              <a:spAutoFit/>
            </a:bodyPr>
            <a:lstStyle/>
            <a:p>
              <a:pPr algn="l" fontAlgn="auto">
                <a:lnSpc>
                  <a:spcPts val="2000"/>
                </a:lnSpc>
              </a:pPr>
              <a:r>
                <a:rPr lang="zh-CN" altLang="en-US" sz="1400" spc="300" dirty="0">
                  <a:solidFill>
                    <a:schemeClr val="tx1">
                      <a:lumMod val="75000"/>
                      <a:lumOff val="25000"/>
                    </a:schemeClr>
                  </a:solidFill>
                  <a:cs typeface="+mn-ea"/>
                  <a:sym typeface="+mn-lt"/>
                </a:rPr>
                <a:t>对客户信息进行管理，包括客户信息的增加、删除、更改和查询客户信息。</a:t>
              </a:r>
              <a:endParaRPr lang="zh-CN" altLang="en-US" sz="1400" spc="300" dirty="0">
                <a:solidFill>
                  <a:schemeClr val="tx1">
                    <a:lumMod val="75000"/>
                    <a:lumOff val="25000"/>
                  </a:schemeClr>
                </a:solidFill>
                <a:cs typeface="+mn-ea"/>
                <a:sym typeface="+mn-lt"/>
              </a:endParaRPr>
            </a:p>
            <a:p>
              <a:pPr algn="l" fontAlgn="auto">
                <a:lnSpc>
                  <a:spcPts val="2000"/>
                </a:lnSpc>
              </a:pPr>
              <a:r>
                <a:rPr lang="zh-CN" altLang="en-US" sz="1400" spc="300" dirty="0">
                  <a:solidFill>
                    <a:schemeClr val="tx1">
                      <a:lumMod val="75000"/>
                      <a:lumOff val="25000"/>
                    </a:schemeClr>
                  </a:solidFill>
                  <a:cs typeface="+mn-ea"/>
                  <a:sym typeface="+mn-lt"/>
                </a:rPr>
                <a:t>对客户进行分类，客户分为企业级客户和个人级客户。</a:t>
              </a:r>
              <a:endParaRPr lang="zh-CN" altLang="en-US" sz="1400" spc="300" dirty="0">
                <a:solidFill>
                  <a:schemeClr val="tx1">
                    <a:lumMod val="75000"/>
                    <a:lumOff val="25000"/>
                  </a:schemeClr>
                </a:solidFill>
                <a:cs typeface="+mn-ea"/>
                <a:sym typeface="+mn-lt"/>
              </a:endParaRPr>
            </a:p>
          </p:txBody>
        </p:sp>
      </p:grpSp>
      <p:grpSp>
        <p:nvGrpSpPr>
          <p:cNvPr id="39" name="组合 38"/>
          <p:cNvGrpSpPr/>
          <p:nvPr/>
        </p:nvGrpSpPr>
        <p:grpSpPr>
          <a:xfrm>
            <a:off x="956931" y="4146467"/>
            <a:ext cx="2956185" cy="2618767"/>
            <a:chOff x="595045" y="2045185"/>
            <a:chExt cx="2956185" cy="2618767"/>
          </a:xfrm>
        </p:grpSpPr>
        <p:sp>
          <p:nvSpPr>
            <p:cNvPr id="40" name="文本框 39"/>
            <p:cNvSpPr txBox="1"/>
            <p:nvPr/>
          </p:nvSpPr>
          <p:spPr>
            <a:xfrm>
              <a:off x="1404670" y="2045185"/>
              <a:ext cx="2146300" cy="460375"/>
            </a:xfrm>
            <a:prstGeom prst="rect">
              <a:avLst/>
            </a:prstGeom>
            <a:noFill/>
          </p:spPr>
          <p:txBody>
            <a:bodyPr wrap="square" rtlCol="0">
              <a:spAutoFit/>
            </a:bodyPr>
            <a:lstStyle/>
            <a:p>
              <a:pPr algn="r"/>
              <a:r>
                <a:rPr lang="zh-CN" altLang="en-US" sz="2400" dirty="0">
                  <a:solidFill>
                    <a:schemeClr val="tx1">
                      <a:lumMod val="85000"/>
                      <a:lumOff val="15000"/>
                    </a:schemeClr>
                  </a:solidFill>
                  <a:cs typeface="+mn-ea"/>
                  <a:sym typeface="+mn-lt"/>
                </a:rPr>
                <a:t>流失客户管理</a:t>
              </a:r>
              <a:endParaRPr lang="zh-CN" altLang="en-US" sz="2400" dirty="0">
                <a:solidFill>
                  <a:schemeClr val="tx1">
                    <a:lumMod val="85000"/>
                    <a:lumOff val="15000"/>
                  </a:schemeClr>
                </a:solidFill>
                <a:cs typeface="+mn-ea"/>
                <a:sym typeface="+mn-lt"/>
              </a:endParaRPr>
            </a:p>
          </p:txBody>
        </p:sp>
        <p:sp>
          <p:nvSpPr>
            <p:cNvPr id="41" name="文本框 40"/>
            <p:cNvSpPr txBox="1"/>
            <p:nvPr/>
          </p:nvSpPr>
          <p:spPr>
            <a:xfrm>
              <a:off x="595045" y="2520827"/>
              <a:ext cx="2956185" cy="2143125"/>
            </a:xfrm>
            <a:prstGeom prst="rect">
              <a:avLst/>
            </a:prstGeom>
            <a:noFill/>
          </p:spPr>
          <p:txBody>
            <a:bodyPr wrap="square" rtlCol="0">
              <a:spAutoFit/>
            </a:bodyPr>
            <a:lstStyle/>
            <a:p>
              <a:pPr algn="l" fontAlgn="auto">
                <a:lnSpc>
                  <a:spcPts val="2000"/>
                </a:lnSpc>
              </a:pPr>
              <a:r>
                <a:rPr lang="zh-CN" altLang="en-US" sz="1400" spc="300" dirty="0">
                  <a:solidFill>
                    <a:schemeClr val="tx1">
                      <a:lumMod val="75000"/>
                      <a:lumOff val="25000"/>
                    </a:schemeClr>
                  </a:solidFill>
                  <a:cs typeface="+mn-ea"/>
                  <a:sym typeface="+mn-lt"/>
                </a:rPr>
                <a:t>能够记录客户流失原因，有利于公司进行反省。</a:t>
              </a:r>
              <a:endParaRPr lang="zh-CN" altLang="en-US" sz="1400" spc="300" dirty="0">
                <a:solidFill>
                  <a:schemeClr val="tx1">
                    <a:lumMod val="75000"/>
                    <a:lumOff val="25000"/>
                  </a:schemeClr>
                </a:solidFill>
                <a:cs typeface="+mn-ea"/>
                <a:sym typeface="+mn-lt"/>
              </a:endParaRPr>
            </a:p>
            <a:p>
              <a:pPr algn="l" fontAlgn="auto">
                <a:lnSpc>
                  <a:spcPts val="2000"/>
                </a:lnSpc>
              </a:pPr>
              <a:r>
                <a:rPr lang="zh-CN" altLang="en-US" sz="1400" spc="300" dirty="0">
                  <a:solidFill>
                    <a:schemeClr val="tx1">
                      <a:lumMod val="75000"/>
                      <a:lumOff val="25000"/>
                    </a:schemeClr>
                  </a:solidFill>
                  <a:cs typeface="+mn-ea"/>
                  <a:sym typeface="+mn-lt"/>
                </a:rPr>
                <a:t>与客户进行线下交流，确定客户不再与公司发生购买关系后，在客户信息管理中可以通过流失功能按钮，这样客户信息将会进入流失客户表，并呈现在此页面中。</a:t>
              </a:r>
              <a:endParaRPr lang="zh-CN" altLang="en-US" sz="1400" spc="300" dirty="0">
                <a:solidFill>
                  <a:schemeClr val="tx1">
                    <a:lumMod val="75000"/>
                    <a:lumOff val="25000"/>
                  </a:schemeClr>
                </a:solidFill>
                <a:cs typeface="+mn-ea"/>
                <a:sym typeface="+mn-lt"/>
              </a:endParaRPr>
            </a:p>
          </p:txBody>
        </p:sp>
      </p:grpSp>
      <p:grpSp>
        <p:nvGrpSpPr>
          <p:cNvPr id="42" name="组合 41"/>
          <p:cNvGrpSpPr/>
          <p:nvPr/>
        </p:nvGrpSpPr>
        <p:grpSpPr>
          <a:xfrm>
            <a:off x="8245179" y="1632574"/>
            <a:ext cx="2956185" cy="1336067"/>
            <a:chOff x="595045" y="2045185"/>
            <a:chExt cx="2956185" cy="1336067"/>
          </a:xfrm>
        </p:grpSpPr>
        <p:sp>
          <p:nvSpPr>
            <p:cNvPr id="43" name="文本框 42"/>
            <p:cNvSpPr txBox="1"/>
            <p:nvPr/>
          </p:nvSpPr>
          <p:spPr>
            <a:xfrm>
              <a:off x="595045" y="2045185"/>
              <a:ext cx="2220595" cy="460375"/>
            </a:xfrm>
            <a:prstGeom prst="rect">
              <a:avLst/>
            </a:prstGeom>
            <a:noFill/>
          </p:spPr>
          <p:txBody>
            <a:bodyPr wrap="square" rtlCol="0">
              <a:spAutoFit/>
            </a:bodyPr>
            <a:lstStyle/>
            <a:p>
              <a:r>
                <a:rPr lang="zh-CN" altLang="en-US" sz="2400" dirty="0">
                  <a:solidFill>
                    <a:schemeClr val="tx1">
                      <a:lumMod val="85000"/>
                      <a:lumOff val="15000"/>
                    </a:schemeClr>
                  </a:solidFill>
                  <a:cs typeface="+mn-ea"/>
                  <a:sym typeface="+mn-lt"/>
                </a:rPr>
                <a:t>客户订单</a:t>
              </a:r>
              <a:r>
                <a:rPr lang="zh-CN" altLang="en-US" sz="2400" dirty="0">
                  <a:solidFill>
                    <a:schemeClr val="tx1">
                      <a:lumMod val="85000"/>
                      <a:lumOff val="15000"/>
                    </a:schemeClr>
                  </a:solidFill>
                  <a:cs typeface="+mn-ea"/>
                  <a:sym typeface="+mn-lt"/>
                </a:rPr>
                <a:t>查看</a:t>
              </a:r>
              <a:endParaRPr lang="zh-CN" altLang="en-US" sz="2400" dirty="0">
                <a:solidFill>
                  <a:schemeClr val="tx1">
                    <a:lumMod val="85000"/>
                    <a:lumOff val="15000"/>
                  </a:schemeClr>
                </a:solidFill>
                <a:cs typeface="+mn-ea"/>
                <a:sym typeface="+mn-lt"/>
              </a:endParaRPr>
            </a:p>
          </p:txBody>
        </p:sp>
        <p:sp>
          <p:nvSpPr>
            <p:cNvPr id="44" name="文本框 43"/>
            <p:cNvSpPr txBox="1"/>
            <p:nvPr/>
          </p:nvSpPr>
          <p:spPr>
            <a:xfrm>
              <a:off x="595045" y="2520827"/>
              <a:ext cx="2956185" cy="860425"/>
            </a:xfrm>
            <a:prstGeom prst="rect">
              <a:avLst/>
            </a:prstGeom>
            <a:noFill/>
          </p:spPr>
          <p:txBody>
            <a:bodyPr wrap="square" rtlCol="0">
              <a:spAutoFit/>
            </a:bodyPr>
            <a:lstStyle/>
            <a:p>
              <a:pPr>
                <a:lnSpc>
                  <a:spcPts val="2000"/>
                </a:lnSpc>
              </a:pPr>
              <a:r>
                <a:rPr lang="zh-CN" altLang="en-US" sz="1400" spc="300" dirty="0">
                  <a:solidFill>
                    <a:schemeClr val="tx1">
                      <a:lumMod val="75000"/>
                      <a:lumOff val="25000"/>
                    </a:schemeClr>
                  </a:solidFill>
                  <a:cs typeface="+mn-ea"/>
                  <a:sym typeface="+mn-lt"/>
                </a:rPr>
                <a:t>能够实现对订单的查看，在服务创建模块创建订单后会呈现在此。</a:t>
              </a:r>
              <a:endParaRPr lang="zh-CN" altLang="en-US" sz="1400" spc="300" dirty="0">
                <a:solidFill>
                  <a:schemeClr val="tx1">
                    <a:lumMod val="75000"/>
                    <a:lumOff val="25000"/>
                  </a:schemeClr>
                </a:solidFill>
                <a:cs typeface="+mn-ea"/>
                <a:sym typeface="+mn-lt"/>
              </a:endParaRPr>
            </a:p>
          </p:txBody>
        </p:sp>
      </p:grpSp>
      <p:grpSp>
        <p:nvGrpSpPr>
          <p:cNvPr id="45" name="组合 44"/>
          <p:cNvGrpSpPr/>
          <p:nvPr/>
        </p:nvGrpSpPr>
        <p:grpSpPr>
          <a:xfrm>
            <a:off x="8245814" y="4093103"/>
            <a:ext cx="2956185" cy="2105687"/>
            <a:chOff x="595045" y="2045185"/>
            <a:chExt cx="2956185" cy="2105687"/>
          </a:xfrm>
        </p:grpSpPr>
        <p:sp>
          <p:nvSpPr>
            <p:cNvPr id="46" name="文本框 45"/>
            <p:cNvSpPr txBox="1"/>
            <p:nvPr/>
          </p:nvSpPr>
          <p:spPr>
            <a:xfrm>
              <a:off x="595045" y="2045185"/>
              <a:ext cx="2058035" cy="460375"/>
            </a:xfrm>
            <a:prstGeom prst="rect">
              <a:avLst/>
            </a:prstGeom>
            <a:noFill/>
          </p:spPr>
          <p:txBody>
            <a:bodyPr wrap="square" rtlCol="0">
              <a:spAutoFit/>
            </a:bodyPr>
            <a:lstStyle/>
            <a:p>
              <a:r>
                <a:rPr lang="zh-CN" altLang="en-US" sz="2400" dirty="0">
                  <a:solidFill>
                    <a:schemeClr val="tx1">
                      <a:lumMod val="85000"/>
                      <a:lumOff val="15000"/>
                    </a:schemeClr>
                  </a:solidFill>
                  <a:cs typeface="+mn-ea"/>
                  <a:sym typeface="+mn-lt"/>
                </a:rPr>
                <a:t>重点客户管理</a:t>
              </a:r>
              <a:endParaRPr lang="zh-CN" altLang="en-US" sz="2400" dirty="0">
                <a:solidFill>
                  <a:schemeClr val="tx1">
                    <a:lumMod val="85000"/>
                    <a:lumOff val="15000"/>
                  </a:schemeClr>
                </a:solidFill>
                <a:cs typeface="+mn-ea"/>
                <a:sym typeface="+mn-lt"/>
              </a:endParaRPr>
            </a:p>
          </p:txBody>
        </p:sp>
        <p:sp>
          <p:nvSpPr>
            <p:cNvPr id="47" name="文本框 46"/>
            <p:cNvSpPr txBox="1"/>
            <p:nvPr/>
          </p:nvSpPr>
          <p:spPr>
            <a:xfrm>
              <a:off x="595045" y="2520827"/>
              <a:ext cx="2956185" cy="1630045"/>
            </a:xfrm>
            <a:prstGeom prst="rect">
              <a:avLst/>
            </a:prstGeom>
            <a:noFill/>
          </p:spPr>
          <p:txBody>
            <a:bodyPr wrap="square" rtlCol="0">
              <a:spAutoFit/>
            </a:bodyPr>
            <a:lstStyle/>
            <a:p>
              <a:pPr>
                <a:lnSpc>
                  <a:spcPts val="2000"/>
                </a:lnSpc>
              </a:pPr>
              <a:r>
                <a:rPr lang="zh-CN" altLang="en-US" sz="1400" spc="300" dirty="0">
                  <a:solidFill>
                    <a:schemeClr val="tx1">
                      <a:lumMod val="75000"/>
                      <a:lumOff val="25000"/>
                    </a:schemeClr>
                  </a:solidFill>
                  <a:cs typeface="+mn-ea"/>
                  <a:sym typeface="+mn-lt"/>
                </a:rPr>
                <a:t>重点客户管理，可以筛选出重点客户，根据订单表中的某个客户订单总金额来判断是否为重点客户，当客户订单总额大于10000元，自动升级成为重点客户。</a:t>
              </a:r>
              <a:endParaRPr lang="zh-CN" altLang="en-US" sz="1400" spc="300" dirty="0">
                <a:solidFill>
                  <a:schemeClr val="tx1">
                    <a:lumMod val="75000"/>
                    <a:lumOff val="25000"/>
                  </a:schemeClr>
                </a:solidFill>
                <a:cs typeface="+mn-ea"/>
                <a:sym typeface="+mn-lt"/>
              </a:endParaRPr>
            </a:p>
          </p:txBody>
        </p:sp>
      </p:grpSp>
    </p:spTree>
    <p:custDataLst>
      <p:tags r:id="rId5"/>
    </p:custDataLst>
  </p:cSld>
  <p:clrMapOvr>
    <a:masterClrMapping/>
  </p:clrMapOvr>
  <mc:AlternateContent xmlns:mc="http://schemas.openxmlformats.org/markup-compatibility/2006">
    <mc:Choice xmlns:p14="http://schemas.microsoft.com/office/powerpoint/2010/main" Requires="p14">
      <p:transition spd="slow" p14:dur="1500" advTm="1878">
        <p:random/>
      </p:transition>
    </mc:Choice>
    <mc:Fallback>
      <p:transition spd="slow" advTm="1878">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53" presetClass="entr" presetSubtype="16"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p:cTn id="17" dur="500" fill="hold"/>
                                        <p:tgtEl>
                                          <p:spTgt spid="6"/>
                                        </p:tgtEl>
                                        <p:attrNameLst>
                                          <p:attrName>ppt_w</p:attrName>
                                        </p:attrNameLst>
                                      </p:cBhvr>
                                      <p:tavLst>
                                        <p:tav tm="0">
                                          <p:val>
                                            <p:fltVal val="0"/>
                                          </p:val>
                                        </p:tav>
                                        <p:tav tm="100000">
                                          <p:val>
                                            <p:strVal val="#ppt_w"/>
                                          </p:val>
                                        </p:tav>
                                      </p:tavLst>
                                    </p:anim>
                                    <p:anim calcmode="lin" valueType="num">
                                      <p:cBhvr>
                                        <p:cTn id="18" dur="500" fill="hold"/>
                                        <p:tgtEl>
                                          <p:spTgt spid="6"/>
                                        </p:tgtEl>
                                        <p:attrNameLst>
                                          <p:attrName>ppt_h</p:attrName>
                                        </p:attrNameLst>
                                      </p:cBhvr>
                                      <p:tavLst>
                                        <p:tav tm="0">
                                          <p:val>
                                            <p:fltVal val="0"/>
                                          </p:val>
                                        </p:tav>
                                        <p:tav tm="100000">
                                          <p:val>
                                            <p:strVal val="#ppt_h"/>
                                          </p:val>
                                        </p:tav>
                                      </p:tavLst>
                                    </p:anim>
                                    <p:animEffect transition="in" filter="fade">
                                      <p:cBhvr>
                                        <p:cTn id="19" dur="500"/>
                                        <p:tgtEl>
                                          <p:spTgt spid="6"/>
                                        </p:tgtEl>
                                      </p:cBhvr>
                                    </p:animEffect>
                                  </p:childTnLst>
                                </p:cTn>
                              </p:par>
                              <p:par>
                                <p:cTn id="20" presetID="53" presetClass="entr" presetSubtype="16" fill="hold" nodeType="withEffect">
                                  <p:stCondLst>
                                    <p:cond delay="0"/>
                                  </p:stCondLst>
                                  <p:childTnLst>
                                    <p:set>
                                      <p:cBhvr>
                                        <p:cTn id="21" dur="1" fill="hold">
                                          <p:stCondLst>
                                            <p:cond delay="0"/>
                                          </p:stCondLst>
                                        </p:cTn>
                                        <p:tgtEl>
                                          <p:spTgt spid="29"/>
                                        </p:tgtEl>
                                        <p:attrNameLst>
                                          <p:attrName>style.visibility</p:attrName>
                                        </p:attrNameLst>
                                      </p:cBhvr>
                                      <p:to>
                                        <p:strVal val="visible"/>
                                      </p:to>
                                    </p:set>
                                    <p:anim calcmode="lin" valueType="num">
                                      <p:cBhvr>
                                        <p:cTn id="22" dur="500" fill="hold"/>
                                        <p:tgtEl>
                                          <p:spTgt spid="29"/>
                                        </p:tgtEl>
                                        <p:attrNameLst>
                                          <p:attrName>ppt_w</p:attrName>
                                        </p:attrNameLst>
                                      </p:cBhvr>
                                      <p:tavLst>
                                        <p:tav tm="0">
                                          <p:val>
                                            <p:fltVal val="0"/>
                                          </p:val>
                                        </p:tav>
                                        <p:tav tm="100000">
                                          <p:val>
                                            <p:strVal val="#ppt_w"/>
                                          </p:val>
                                        </p:tav>
                                      </p:tavLst>
                                    </p:anim>
                                    <p:anim calcmode="lin" valueType="num">
                                      <p:cBhvr>
                                        <p:cTn id="23" dur="500" fill="hold"/>
                                        <p:tgtEl>
                                          <p:spTgt spid="29"/>
                                        </p:tgtEl>
                                        <p:attrNameLst>
                                          <p:attrName>ppt_h</p:attrName>
                                        </p:attrNameLst>
                                      </p:cBhvr>
                                      <p:tavLst>
                                        <p:tav tm="0">
                                          <p:val>
                                            <p:fltVal val="0"/>
                                          </p:val>
                                        </p:tav>
                                        <p:tav tm="100000">
                                          <p:val>
                                            <p:strVal val="#ppt_h"/>
                                          </p:val>
                                        </p:tav>
                                      </p:tavLst>
                                    </p:anim>
                                    <p:animEffect transition="in" filter="fade">
                                      <p:cBhvr>
                                        <p:cTn id="24" dur="500"/>
                                        <p:tgtEl>
                                          <p:spTgt spid="29"/>
                                        </p:tgtEl>
                                      </p:cBhvr>
                                    </p:animEffect>
                                  </p:childTnLst>
                                </p:cTn>
                              </p:par>
                              <p:par>
                                <p:cTn id="25" presetID="53" presetClass="entr" presetSubtype="16" fill="hold" nodeType="withEffect">
                                  <p:stCondLst>
                                    <p:cond delay="0"/>
                                  </p:stCondLst>
                                  <p:childTnLst>
                                    <p:set>
                                      <p:cBhvr>
                                        <p:cTn id="26" dur="1" fill="hold">
                                          <p:stCondLst>
                                            <p:cond delay="0"/>
                                          </p:stCondLst>
                                        </p:cTn>
                                        <p:tgtEl>
                                          <p:spTgt spid="32"/>
                                        </p:tgtEl>
                                        <p:attrNameLst>
                                          <p:attrName>style.visibility</p:attrName>
                                        </p:attrNameLst>
                                      </p:cBhvr>
                                      <p:to>
                                        <p:strVal val="visible"/>
                                      </p:to>
                                    </p:set>
                                    <p:anim calcmode="lin" valueType="num">
                                      <p:cBhvr>
                                        <p:cTn id="27" dur="500" fill="hold"/>
                                        <p:tgtEl>
                                          <p:spTgt spid="32"/>
                                        </p:tgtEl>
                                        <p:attrNameLst>
                                          <p:attrName>ppt_w</p:attrName>
                                        </p:attrNameLst>
                                      </p:cBhvr>
                                      <p:tavLst>
                                        <p:tav tm="0">
                                          <p:val>
                                            <p:fltVal val="0"/>
                                          </p:val>
                                        </p:tav>
                                        <p:tav tm="100000">
                                          <p:val>
                                            <p:strVal val="#ppt_w"/>
                                          </p:val>
                                        </p:tav>
                                      </p:tavLst>
                                    </p:anim>
                                    <p:anim calcmode="lin" valueType="num">
                                      <p:cBhvr>
                                        <p:cTn id="28" dur="500" fill="hold"/>
                                        <p:tgtEl>
                                          <p:spTgt spid="32"/>
                                        </p:tgtEl>
                                        <p:attrNameLst>
                                          <p:attrName>ppt_h</p:attrName>
                                        </p:attrNameLst>
                                      </p:cBhvr>
                                      <p:tavLst>
                                        <p:tav tm="0">
                                          <p:val>
                                            <p:fltVal val="0"/>
                                          </p:val>
                                        </p:tav>
                                        <p:tav tm="100000">
                                          <p:val>
                                            <p:strVal val="#ppt_h"/>
                                          </p:val>
                                        </p:tav>
                                      </p:tavLst>
                                    </p:anim>
                                    <p:animEffect transition="in" filter="fade">
                                      <p:cBhvr>
                                        <p:cTn id="29" dur="500"/>
                                        <p:tgtEl>
                                          <p:spTgt spid="32"/>
                                        </p:tgtEl>
                                      </p:cBhvr>
                                    </p:animEffect>
                                  </p:childTnLst>
                                </p:cTn>
                              </p:par>
                              <p:par>
                                <p:cTn id="30" presetID="53" presetClass="entr" presetSubtype="16" fill="hold" nodeType="withEffect">
                                  <p:stCondLst>
                                    <p:cond delay="0"/>
                                  </p:stCondLst>
                                  <p:childTnLst>
                                    <p:set>
                                      <p:cBhvr>
                                        <p:cTn id="31" dur="1" fill="hold">
                                          <p:stCondLst>
                                            <p:cond delay="0"/>
                                          </p:stCondLst>
                                        </p:cTn>
                                        <p:tgtEl>
                                          <p:spTgt spid="35"/>
                                        </p:tgtEl>
                                        <p:attrNameLst>
                                          <p:attrName>style.visibility</p:attrName>
                                        </p:attrNameLst>
                                      </p:cBhvr>
                                      <p:to>
                                        <p:strVal val="visible"/>
                                      </p:to>
                                    </p:set>
                                    <p:anim calcmode="lin" valueType="num">
                                      <p:cBhvr>
                                        <p:cTn id="32" dur="500" fill="hold"/>
                                        <p:tgtEl>
                                          <p:spTgt spid="35"/>
                                        </p:tgtEl>
                                        <p:attrNameLst>
                                          <p:attrName>ppt_w</p:attrName>
                                        </p:attrNameLst>
                                      </p:cBhvr>
                                      <p:tavLst>
                                        <p:tav tm="0">
                                          <p:val>
                                            <p:fltVal val="0"/>
                                          </p:val>
                                        </p:tav>
                                        <p:tav tm="100000">
                                          <p:val>
                                            <p:strVal val="#ppt_w"/>
                                          </p:val>
                                        </p:tav>
                                      </p:tavLst>
                                    </p:anim>
                                    <p:anim calcmode="lin" valueType="num">
                                      <p:cBhvr>
                                        <p:cTn id="33" dur="500" fill="hold"/>
                                        <p:tgtEl>
                                          <p:spTgt spid="35"/>
                                        </p:tgtEl>
                                        <p:attrNameLst>
                                          <p:attrName>ppt_h</p:attrName>
                                        </p:attrNameLst>
                                      </p:cBhvr>
                                      <p:tavLst>
                                        <p:tav tm="0">
                                          <p:val>
                                            <p:fltVal val="0"/>
                                          </p:val>
                                        </p:tav>
                                        <p:tav tm="100000">
                                          <p:val>
                                            <p:strVal val="#ppt_h"/>
                                          </p:val>
                                        </p:tav>
                                      </p:tavLst>
                                    </p:anim>
                                    <p:animEffect transition="in" filter="fade">
                                      <p:cBhvr>
                                        <p:cTn id="34" dur="500"/>
                                        <p:tgtEl>
                                          <p:spTgt spid="35"/>
                                        </p:tgtEl>
                                      </p:cBhvr>
                                    </p:animEffect>
                                  </p:childTnLst>
                                </p:cTn>
                              </p:par>
                            </p:childTnLst>
                          </p:cTn>
                        </p:par>
                      </p:childTnLst>
                    </p:cTn>
                  </p:par>
                  <p:par>
                    <p:cTn id="35" fill="hold">
                      <p:stCondLst>
                        <p:cond delay="indefinite"/>
                      </p:stCondLst>
                      <p:childTnLst>
                        <p:par>
                          <p:cTn id="36" fill="hold">
                            <p:stCondLst>
                              <p:cond delay="0"/>
                            </p:stCondLst>
                            <p:childTnLst>
                              <p:par>
                                <p:cTn id="37" presetID="2" presetClass="entr" presetSubtype="8" fill="hold" nodeType="clickEffect">
                                  <p:stCondLst>
                                    <p:cond delay="0"/>
                                  </p:stCondLst>
                                  <p:childTnLst>
                                    <p:set>
                                      <p:cBhvr>
                                        <p:cTn id="38" dur="1" fill="hold">
                                          <p:stCondLst>
                                            <p:cond delay="0"/>
                                          </p:stCondLst>
                                        </p:cTn>
                                        <p:tgtEl>
                                          <p:spTgt spid="38"/>
                                        </p:tgtEl>
                                        <p:attrNameLst>
                                          <p:attrName>style.visibility</p:attrName>
                                        </p:attrNameLst>
                                      </p:cBhvr>
                                      <p:to>
                                        <p:strVal val="visible"/>
                                      </p:to>
                                    </p:set>
                                    <p:anim calcmode="lin" valueType="num">
                                      <p:cBhvr additive="base">
                                        <p:cTn id="39" dur="500" fill="hold"/>
                                        <p:tgtEl>
                                          <p:spTgt spid="38"/>
                                        </p:tgtEl>
                                        <p:attrNameLst>
                                          <p:attrName>ppt_x</p:attrName>
                                        </p:attrNameLst>
                                      </p:cBhvr>
                                      <p:tavLst>
                                        <p:tav tm="0">
                                          <p:val>
                                            <p:strVal val="0-#ppt_w/2"/>
                                          </p:val>
                                        </p:tav>
                                        <p:tav tm="100000">
                                          <p:val>
                                            <p:strVal val="#ppt_x"/>
                                          </p:val>
                                        </p:tav>
                                      </p:tavLst>
                                    </p:anim>
                                    <p:anim calcmode="lin" valueType="num">
                                      <p:cBhvr additive="base">
                                        <p:cTn id="40" dur="500" fill="hold"/>
                                        <p:tgtEl>
                                          <p:spTgt spid="38"/>
                                        </p:tgtEl>
                                        <p:attrNameLst>
                                          <p:attrName>ppt_y</p:attrName>
                                        </p:attrNameLst>
                                      </p:cBhvr>
                                      <p:tavLst>
                                        <p:tav tm="0">
                                          <p:val>
                                            <p:strVal val="#ppt_y"/>
                                          </p:val>
                                        </p:tav>
                                        <p:tav tm="100000">
                                          <p:val>
                                            <p:strVal val="#ppt_y"/>
                                          </p:val>
                                        </p:tav>
                                      </p:tavLst>
                                    </p:anim>
                                  </p:childTnLst>
                                </p:cTn>
                              </p:par>
                              <p:par>
                                <p:cTn id="41" presetID="2" presetClass="entr" presetSubtype="8" fill="hold" nodeType="withEffect">
                                  <p:stCondLst>
                                    <p:cond delay="0"/>
                                  </p:stCondLst>
                                  <p:childTnLst>
                                    <p:set>
                                      <p:cBhvr>
                                        <p:cTn id="42" dur="1" fill="hold">
                                          <p:stCondLst>
                                            <p:cond delay="0"/>
                                          </p:stCondLst>
                                        </p:cTn>
                                        <p:tgtEl>
                                          <p:spTgt spid="39"/>
                                        </p:tgtEl>
                                        <p:attrNameLst>
                                          <p:attrName>style.visibility</p:attrName>
                                        </p:attrNameLst>
                                      </p:cBhvr>
                                      <p:to>
                                        <p:strVal val="visible"/>
                                      </p:to>
                                    </p:set>
                                    <p:anim calcmode="lin" valueType="num">
                                      <p:cBhvr additive="base">
                                        <p:cTn id="43" dur="500" fill="hold"/>
                                        <p:tgtEl>
                                          <p:spTgt spid="39"/>
                                        </p:tgtEl>
                                        <p:attrNameLst>
                                          <p:attrName>ppt_x</p:attrName>
                                        </p:attrNameLst>
                                      </p:cBhvr>
                                      <p:tavLst>
                                        <p:tav tm="0">
                                          <p:val>
                                            <p:strVal val="0-#ppt_w/2"/>
                                          </p:val>
                                        </p:tav>
                                        <p:tav tm="100000">
                                          <p:val>
                                            <p:strVal val="#ppt_x"/>
                                          </p:val>
                                        </p:tav>
                                      </p:tavLst>
                                    </p:anim>
                                    <p:anim calcmode="lin" valueType="num">
                                      <p:cBhvr additive="base">
                                        <p:cTn id="44" dur="500" fill="hold"/>
                                        <p:tgtEl>
                                          <p:spTgt spid="39"/>
                                        </p:tgtEl>
                                        <p:attrNameLst>
                                          <p:attrName>ppt_y</p:attrName>
                                        </p:attrNameLst>
                                      </p:cBhvr>
                                      <p:tavLst>
                                        <p:tav tm="0">
                                          <p:val>
                                            <p:strVal val="#ppt_y"/>
                                          </p:val>
                                        </p:tav>
                                        <p:tav tm="100000">
                                          <p:val>
                                            <p:strVal val="#ppt_y"/>
                                          </p:val>
                                        </p:tav>
                                      </p:tavLst>
                                    </p:anim>
                                  </p:childTnLst>
                                </p:cTn>
                              </p:par>
                              <p:par>
                                <p:cTn id="45" presetID="2" presetClass="entr" presetSubtype="2" fill="hold" nodeType="withEffect">
                                  <p:stCondLst>
                                    <p:cond delay="0"/>
                                  </p:stCondLst>
                                  <p:childTnLst>
                                    <p:set>
                                      <p:cBhvr>
                                        <p:cTn id="46" dur="1" fill="hold">
                                          <p:stCondLst>
                                            <p:cond delay="0"/>
                                          </p:stCondLst>
                                        </p:cTn>
                                        <p:tgtEl>
                                          <p:spTgt spid="45"/>
                                        </p:tgtEl>
                                        <p:attrNameLst>
                                          <p:attrName>style.visibility</p:attrName>
                                        </p:attrNameLst>
                                      </p:cBhvr>
                                      <p:to>
                                        <p:strVal val="visible"/>
                                      </p:to>
                                    </p:set>
                                    <p:anim calcmode="lin" valueType="num">
                                      <p:cBhvr additive="base">
                                        <p:cTn id="47" dur="500" fill="hold"/>
                                        <p:tgtEl>
                                          <p:spTgt spid="45"/>
                                        </p:tgtEl>
                                        <p:attrNameLst>
                                          <p:attrName>ppt_x</p:attrName>
                                        </p:attrNameLst>
                                      </p:cBhvr>
                                      <p:tavLst>
                                        <p:tav tm="0">
                                          <p:val>
                                            <p:strVal val="1+#ppt_w/2"/>
                                          </p:val>
                                        </p:tav>
                                        <p:tav tm="100000">
                                          <p:val>
                                            <p:strVal val="#ppt_x"/>
                                          </p:val>
                                        </p:tav>
                                      </p:tavLst>
                                    </p:anim>
                                    <p:anim calcmode="lin" valueType="num">
                                      <p:cBhvr additive="base">
                                        <p:cTn id="48" dur="500" fill="hold"/>
                                        <p:tgtEl>
                                          <p:spTgt spid="45"/>
                                        </p:tgtEl>
                                        <p:attrNameLst>
                                          <p:attrName>ppt_y</p:attrName>
                                        </p:attrNameLst>
                                      </p:cBhvr>
                                      <p:tavLst>
                                        <p:tav tm="0">
                                          <p:val>
                                            <p:strVal val="#ppt_y"/>
                                          </p:val>
                                        </p:tav>
                                        <p:tav tm="100000">
                                          <p:val>
                                            <p:strVal val="#ppt_y"/>
                                          </p:val>
                                        </p:tav>
                                      </p:tavLst>
                                    </p:anim>
                                  </p:childTnLst>
                                </p:cTn>
                              </p:par>
                              <p:par>
                                <p:cTn id="49" presetID="2" presetClass="entr" presetSubtype="2" fill="hold" nodeType="withEffect">
                                  <p:stCondLst>
                                    <p:cond delay="0"/>
                                  </p:stCondLst>
                                  <p:childTnLst>
                                    <p:set>
                                      <p:cBhvr>
                                        <p:cTn id="50" dur="1" fill="hold">
                                          <p:stCondLst>
                                            <p:cond delay="0"/>
                                          </p:stCondLst>
                                        </p:cTn>
                                        <p:tgtEl>
                                          <p:spTgt spid="42"/>
                                        </p:tgtEl>
                                        <p:attrNameLst>
                                          <p:attrName>style.visibility</p:attrName>
                                        </p:attrNameLst>
                                      </p:cBhvr>
                                      <p:to>
                                        <p:strVal val="visible"/>
                                      </p:to>
                                    </p:set>
                                    <p:anim calcmode="lin" valueType="num">
                                      <p:cBhvr additive="base">
                                        <p:cTn id="51" dur="500" fill="hold"/>
                                        <p:tgtEl>
                                          <p:spTgt spid="42"/>
                                        </p:tgtEl>
                                        <p:attrNameLst>
                                          <p:attrName>ppt_x</p:attrName>
                                        </p:attrNameLst>
                                      </p:cBhvr>
                                      <p:tavLst>
                                        <p:tav tm="0">
                                          <p:val>
                                            <p:strVal val="1+#ppt_w/2"/>
                                          </p:val>
                                        </p:tav>
                                        <p:tav tm="100000">
                                          <p:val>
                                            <p:strVal val="#ppt_x"/>
                                          </p:val>
                                        </p:tav>
                                      </p:tavLst>
                                    </p:anim>
                                    <p:anim calcmode="lin" valueType="num">
                                      <p:cBhvr additive="base">
                                        <p:cTn id="52" dur="500" fill="hold"/>
                                        <p:tgtEl>
                                          <p:spTgt spid="4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系统功能</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02.</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55" name="组合 54"/>
          <p:cNvGrpSpPr/>
          <p:nvPr/>
        </p:nvGrpSpPr>
        <p:grpSpPr>
          <a:xfrm>
            <a:off x="1133908" y="1129393"/>
            <a:ext cx="2745333" cy="5240242"/>
            <a:chOff x="1133908" y="1129393"/>
            <a:chExt cx="2745333" cy="5240242"/>
          </a:xfrm>
        </p:grpSpPr>
        <p:grpSp>
          <p:nvGrpSpPr>
            <p:cNvPr id="11" name="组合 10"/>
            <p:cNvGrpSpPr/>
            <p:nvPr/>
          </p:nvGrpSpPr>
          <p:grpSpPr>
            <a:xfrm>
              <a:off x="1133908" y="1129393"/>
              <a:ext cx="2745333" cy="3526270"/>
              <a:chOff x="1133908" y="1225649"/>
              <a:chExt cx="2745333" cy="3526270"/>
            </a:xfrm>
          </p:grpSpPr>
          <p:grpSp>
            <p:nvGrpSpPr>
              <p:cNvPr id="6" name="组合 5"/>
              <p:cNvGrpSpPr/>
              <p:nvPr/>
            </p:nvGrpSpPr>
            <p:grpSpPr>
              <a:xfrm>
                <a:off x="1133908" y="1225649"/>
                <a:ext cx="2745333" cy="3526270"/>
                <a:chOff x="1661567" y="1158772"/>
                <a:chExt cx="2114828" cy="2716412"/>
              </a:xfrm>
            </p:grpSpPr>
            <p:sp>
              <p:nvSpPr>
                <p:cNvPr id="12" name="任意多边形: 形状 11"/>
                <p:cNvSpPr/>
                <p:nvPr/>
              </p:nvSpPr>
              <p:spPr>
                <a:xfrm>
                  <a:off x="1661567" y="1759746"/>
                  <a:ext cx="2114828" cy="2115438"/>
                </a:xfrm>
                <a:custGeom>
                  <a:avLst/>
                  <a:gdLst>
                    <a:gd name="connsiteX0" fmla="*/ 1021346 w 2114828"/>
                    <a:gd name="connsiteY0" fmla="*/ 0 h 2115438"/>
                    <a:gd name="connsiteX1" fmla="*/ 2114828 w 2114828"/>
                    <a:gd name="connsiteY1" fmla="*/ 1013603 h 2115438"/>
                    <a:gd name="connsiteX2" fmla="*/ 1093482 w 2114828"/>
                    <a:gd name="connsiteY2" fmla="*/ 2115438 h 2115438"/>
                    <a:gd name="connsiteX3" fmla="*/ 0 w 2114828"/>
                    <a:gd name="connsiteY3" fmla="*/ 1101835 h 2115438"/>
                  </a:gdLst>
                  <a:ahLst/>
                  <a:cxnLst>
                    <a:cxn ang="0">
                      <a:pos x="connsiteX0" y="connsiteY0"/>
                    </a:cxn>
                    <a:cxn ang="0">
                      <a:pos x="connsiteX1" y="connsiteY1"/>
                    </a:cxn>
                    <a:cxn ang="0">
                      <a:pos x="connsiteX2" y="connsiteY2"/>
                    </a:cxn>
                    <a:cxn ang="0">
                      <a:pos x="connsiteX3" y="connsiteY3"/>
                    </a:cxn>
                  </a:cxnLst>
                  <a:rect l="l" t="t" r="r" b="b"/>
                  <a:pathLst>
                    <a:path w="2114828" h="2115438">
                      <a:moveTo>
                        <a:pt x="1021346" y="0"/>
                      </a:moveTo>
                      <a:lnTo>
                        <a:pt x="2114828" y="1013603"/>
                      </a:lnTo>
                      <a:lnTo>
                        <a:pt x="1093482" y="2115438"/>
                      </a:lnTo>
                      <a:lnTo>
                        <a:pt x="0" y="1101835"/>
                      </a:lnTo>
                      <a:close/>
                    </a:path>
                  </a:pathLst>
                </a:custGeom>
                <a:noFill/>
                <a:ln>
                  <a:solidFill>
                    <a:srgbClr val="10507E"/>
                  </a:solidFill>
                </a:ln>
                <a:scene3d>
                  <a:camera prst="perspectiveRelaxedModerately">
                    <a:rot lat="17090574"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sp>
              <p:nvSpPr>
                <p:cNvPr id="14" name="任意多边形: 形状 13"/>
                <p:cNvSpPr/>
                <p:nvPr/>
              </p:nvSpPr>
              <p:spPr>
                <a:xfrm>
                  <a:off x="1661567" y="1658146"/>
                  <a:ext cx="2114828" cy="2115438"/>
                </a:xfrm>
                <a:custGeom>
                  <a:avLst/>
                  <a:gdLst>
                    <a:gd name="connsiteX0" fmla="*/ 1021346 w 2114828"/>
                    <a:gd name="connsiteY0" fmla="*/ 0 h 2115438"/>
                    <a:gd name="connsiteX1" fmla="*/ 2114828 w 2114828"/>
                    <a:gd name="connsiteY1" fmla="*/ 1013603 h 2115438"/>
                    <a:gd name="connsiteX2" fmla="*/ 1093482 w 2114828"/>
                    <a:gd name="connsiteY2" fmla="*/ 2115438 h 2115438"/>
                    <a:gd name="connsiteX3" fmla="*/ 0 w 2114828"/>
                    <a:gd name="connsiteY3" fmla="*/ 1101835 h 2115438"/>
                  </a:gdLst>
                  <a:ahLst/>
                  <a:cxnLst>
                    <a:cxn ang="0">
                      <a:pos x="connsiteX0" y="connsiteY0"/>
                    </a:cxn>
                    <a:cxn ang="0">
                      <a:pos x="connsiteX1" y="connsiteY1"/>
                    </a:cxn>
                    <a:cxn ang="0">
                      <a:pos x="connsiteX2" y="connsiteY2"/>
                    </a:cxn>
                    <a:cxn ang="0">
                      <a:pos x="connsiteX3" y="connsiteY3"/>
                    </a:cxn>
                  </a:cxnLst>
                  <a:rect l="l" t="t" r="r" b="b"/>
                  <a:pathLst>
                    <a:path w="2114828" h="2115438">
                      <a:moveTo>
                        <a:pt x="1021346" y="0"/>
                      </a:moveTo>
                      <a:lnTo>
                        <a:pt x="2114828" y="1013603"/>
                      </a:lnTo>
                      <a:lnTo>
                        <a:pt x="1093482" y="2115438"/>
                      </a:lnTo>
                      <a:lnTo>
                        <a:pt x="0" y="1101835"/>
                      </a:lnTo>
                      <a:close/>
                    </a:path>
                  </a:pathLst>
                </a:custGeom>
                <a:gradFill flip="none" rotWithShape="1">
                  <a:gsLst>
                    <a:gs pos="37000">
                      <a:srgbClr val="10507E">
                        <a:alpha val="31000"/>
                      </a:srgbClr>
                    </a:gs>
                    <a:gs pos="1000">
                      <a:srgbClr val="10507E">
                        <a:alpha val="15000"/>
                      </a:srgbClr>
                    </a:gs>
                    <a:gs pos="61000">
                      <a:srgbClr val="10507E">
                        <a:alpha val="58000"/>
                      </a:srgbClr>
                    </a:gs>
                    <a:gs pos="83000">
                      <a:srgbClr val="10507E">
                        <a:alpha val="73000"/>
                      </a:srgbClr>
                    </a:gs>
                    <a:gs pos="100000">
                      <a:srgbClr val="10507E">
                        <a:alpha val="79000"/>
                      </a:srgbClr>
                    </a:gs>
                  </a:gsLst>
                  <a:lin ang="5400000" scaled="1"/>
                  <a:tileRect/>
                </a:gradFill>
                <a:ln>
                  <a:noFill/>
                </a:ln>
                <a:scene3d>
                  <a:camera prst="perspectiveRelaxedModerately">
                    <a:rot lat="17090576"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sp>
              <p:nvSpPr>
                <p:cNvPr id="15" name="任意多边形: 形状 14"/>
                <p:cNvSpPr/>
                <p:nvPr/>
              </p:nvSpPr>
              <p:spPr>
                <a:xfrm>
                  <a:off x="1661567" y="1158772"/>
                  <a:ext cx="2114828" cy="2115438"/>
                </a:xfrm>
                <a:custGeom>
                  <a:avLst/>
                  <a:gdLst>
                    <a:gd name="connsiteX0" fmla="*/ 1021346 w 2114828"/>
                    <a:gd name="connsiteY0" fmla="*/ 0 h 2115438"/>
                    <a:gd name="connsiteX1" fmla="*/ 2114828 w 2114828"/>
                    <a:gd name="connsiteY1" fmla="*/ 1013603 h 2115438"/>
                    <a:gd name="connsiteX2" fmla="*/ 1093482 w 2114828"/>
                    <a:gd name="connsiteY2" fmla="*/ 2115438 h 2115438"/>
                    <a:gd name="connsiteX3" fmla="*/ 0 w 2114828"/>
                    <a:gd name="connsiteY3" fmla="*/ 1101835 h 2115438"/>
                  </a:gdLst>
                  <a:ahLst/>
                  <a:cxnLst>
                    <a:cxn ang="0">
                      <a:pos x="connsiteX0" y="connsiteY0"/>
                    </a:cxn>
                    <a:cxn ang="0">
                      <a:pos x="connsiteX1" y="connsiteY1"/>
                    </a:cxn>
                    <a:cxn ang="0">
                      <a:pos x="connsiteX2" y="connsiteY2"/>
                    </a:cxn>
                    <a:cxn ang="0">
                      <a:pos x="connsiteX3" y="connsiteY3"/>
                    </a:cxn>
                  </a:cxnLst>
                  <a:rect l="l" t="t" r="r" b="b"/>
                  <a:pathLst>
                    <a:path w="2114828" h="2115438">
                      <a:moveTo>
                        <a:pt x="1021346" y="0"/>
                      </a:moveTo>
                      <a:lnTo>
                        <a:pt x="2114828" y="1013603"/>
                      </a:lnTo>
                      <a:lnTo>
                        <a:pt x="1093482" y="2115438"/>
                      </a:lnTo>
                      <a:lnTo>
                        <a:pt x="0" y="1101835"/>
                      </a:lnTo>
                      <a:close/>
                    </a:path>
                  </a:pathLst>
                </a:custGeom>
                <a:gradFill>
                  <a:gsLst>
                    <a:gs pos="37000">
                      <a:schemeClr val="bg1"/>
                    </a:gs>
                    <a:gs pos="0">
                      <a:schemeClr val="bg1">
                        <a:alpha val="55000"/>
                      </a:schemeClr>
                    </a:gs>
                    <a:gs pos="61000">
                      <a:schemeClr val="bg1"/>
                    </a:gs>
                    <a:gs pos="83000">
                      <a:schemeClr val="bg1"/>
                    </a:gs>
                    <a:gs pos="100000">
                      <a:schemeClr val="bg1"/>
                    </a:gs>
                  </a:gsLst>
                  <a:lin ang="5400000" scaled="1"/>
                </a:gradFill>
                <a:ln w="25400">
                  <a:gradFill flip="none" rotWithShape="1">
                    <a:gsLst>
                      <a:gs pos="0">
                        <a:schemeClr val="accent1">
                          <a:lumMod val="5000"/>
                          <a:lumOff val="95000"/>
                        </a:schemeClr>
                      </a:gs>
                      <a:gs pos="48000">
                        <a:srgbClr val="10507E"/>
                      </a:gs>
                      <a:gs pos="78000">
                        <a:srgbClr val="10507E"/>
                      </a:gs>
                      <a:gs pos="100000">
                        <a:srgbClr val="10507E"/>
                      </a:gs>
                    </a:gsLst>
                    <a:lin ang="5400000" scaled="1"/>
                    <a:tileRect/>
                  </a:gradFill>
                </a:ln>
                <a:scene3d>
                  <a:camera prst="perspectiveRelaxedModerately">
                    <a:rot lat="18290558" lon="2196" rev="21599983"/>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grpSp>
          <p:pic>
            <p:nvPicPr>
              <p:cNvPr id="9" name="图片 8"/>
              <p:cNvPicPr>
                <a:picLocks noChangeAspect="1"/>
              </p:cNvPicPr>
              <p:nvPr/>
            </p:nvPicPr>
            <p:blipFill>
              <a:blip r:embed="rId1"/>
              <a:stretch>
                <a:fillRect/>
              </a:stretch>
            </p:blipFill>
            <p:spPr>
              <a:xfrm>
                <a:off x="2271389" y="2283891"/>
                <a:ext cx="611511" cy="782258"/>
              </a:xfrm>
              <a:prstGeom prst="rect">
                <a:avLst/>
              </a:prstGeom>
            </p:spPr>
          </p:pic>
        </p:grpSp>
        <p:grpSp>
          <p:nvGrpSpPr>
            <p:cNvPr id="48" name="组合 47"/>
            <p:cNvGrpSpPr/>
            <p:nvPr/>
          </p:nvGrpSpPr>
          <p:grpSpPr>
            <a:xfrm>
              <a:off x="1330234" y="4007408"/>
              <a:ext cx="2469755" cy="2362227"/>
              <a:chOff x="1548791" y="4065069"/>
              <a:chExt cx="2469755" cy="2362227"/>
            </a:xfrm>
          </p:grpSpPr>
          <p:sp>
            <p:nvSpPr>
              <p:cNvPr id="46" name="文本框 45"/>
              <p:cNvSpPr txBox="1"/>
              <p:nvPr/>
            </p:nvSpPr>
            <p:spPr>
              <a:xfrm>
                <a:off x="1977553" y="4065069"/>
                <a:ext cx="1612231" cy="460375"/>
              </a:xfrm>
              <a:prstGeom prst="rect">
                <a:avLst/>
              </a:prstGeom>
              <a:noFill/>
            </p:spPr>
            <p:txBody>
              <a:bodyPr wrap="square" rtlCol="0">
                <a:spAutoFit/>
              </a:bodyPr>
              <a:lstStyle/>
              <a:p>
                <a:pPr algn="ctr"/>
                <a:r>
                  <a:rPr lang="zh-CN" altLang="en-US" sz="2400" dirty="0">
                    <a:solidFill>
                      <a:schemeClr val="tx1">
                        <a:lumMod val="85000"/>
                        <a:lumOff val="15000"/>
                      </a:schemeClr>
                    </a:solidFill>
                    <a:cs typeface="+mn-ea"/>
                    <a:sym typeface="+mn-lt"/>
                  </a:rPr>
                  <a:t>用户管理</a:t>
                </a:r>
                <a:endParaRPr lang="zh-CN" altLang="en-US" sz="2400" dirty="0">
                  <a:solidFill>
                    <a:schemeClr val="tx1">
                      <a:lumMod val="85000"/>
                      <a:lumOff val="15000"/>
                    </a:schemeClr>
                  </a:solidFill>
                  <a:cs typeface="+mn-ea"/>
                  <a:sym typeface="+mn-lt"/>
                </a:endParaRPr>
              </a:p>
            </p:txBody>
          </p:sp>
          <p:sp>
            <p:nvSpPr>
              <p:cNvPr id="47" name="文本框 46"/>
              <p:cNvSpPr txBox="1"/>
              <p:nvPr/>
            </p:nvSpPr>
            <p:spPr>
              <a:xfrm>
                <a:off x="1548791" y="4540711"/>
                <a:ext cx="2469755" cy="1886585"/>
              </a:xfrm>
              <a:prstGeom prst="rect">
                <a:avLst/>
              </a:prstGeom>
              <a:noFill/>
            </p:spPr>
            <p:txBody>
              <a:bodyPr wrap="square" rtlCol="0">
                <a:spAutoFit/>
              </a:bodyPr>
              <a:lstStyle/>
              <a:p>
                <a:pPr algn="l" fontAlgn="auto">
                  <a:lnSpc>
                    <a:spcPts val="2000"/>
                  </a:lnSpc>
                </a:pPr>
                <a:r>
                  <a:rPr lang="zh-CN" altLang="en-US" sz="1400" spc="300" dirty="0">
                    <a:solidFill>
                      <a:schemeClr val="tx1">
                        <a:lumMod val="75000"/>
                        <a:lumOff val="25000"/>
                      </a:schemeClr>
                    </a:solidFill>
                    <a:cs typeface="+mn-ea"/>
                    <a:sym typeface="+mn-lt"/>
                  </a:rPr>
                  <a:t>实现用户的增加、删除、更改、查询。</a:t>
                </a:r>
                <a:endParaRPr lang="zh-CN" altLang="en-US" sz="1400" spc="300" dirty="0">
                  <a:solidFill>
                    <a:schemeClr val="tx1">
                      <a:lumMod val="75000"/>
                      <a:lumOff val="25000"/>
                    </a:schemeClr>
                  </a:solidFill>
                  <a:cs typeface="+mn-ea"/>
                  <a:sym typeface="+mn-lt"/>
                </a:endParaRPr>
              </a:p>
              <a:p>
                <a:pPr algn="l" fontAlgn="auto">
                  <a:lnSpc>
                    <a:spcPts val="2000"/>
                  </a:lnSpc>
                </a:pPr>
                <a:r>
                  <a:rPr lang="zh-CN" altLang="en-US" sz="1400" spc="300" dirty="0">
                    <a:solidFill>
                      <a:schemeClr val="tx1">
                        <a:lumMod val="75000"/>
                        <a:lumOff val="25000"/>
                      </a:schemeClr>
                    </a:solidFill>
                    <a:cs typeface="+mn-ea"/>
                    <a:sym typeface="+mn-lt"/>
                  </a:rPr>
                  <a:t>给予每个用户不同的</a:t>
                </a:r>
                <a:r>
                  <a:rPr lang="zh-CN" altLang="en-US" sz="1400" spc="300" dirty="0">
                    <a:solidFill>
                      <a:schemeClr val="tx1">
                        <a:lumMod val="75000"/>
                        <a:lumOff val="25000"/>
                      </a:schemeClr>
                    </a:solidFill>
                    <a:cs typeface="+mn-ea"/>
                    <a:sym typeface="+mn-lt"/>
                  </a:rPr>
                  <a:t>角色。</a:t>
                </a:r>
                <a:endParaRPr lang="zh-CN" altLang="en-US" sz="1400" spc="300" dirty="0">
                  <a:solidFill>
                    <a:schemeClr val="tx1">
                      <a:lumMod val="75000"/>
                      <a:lumOff val="25000"/>
                    </a:schemeClr>
                  </a:solidFill>
                  <a:cs typeface="+mn-ea"/>
                  <a:sym typeface="+mn-lt"/>
                </a:endParaRPr>
              </a:p>
              <a:p>
                <a:pPr algn="l" fontAlgn="auto">
                  <a:lnSpc>
                    <a:spcPts val="2000"/>
                  </a:lnSpc>
                </a:pPr>
                <a:r>
                  <a:rPr lang="zh-CN" altLang="en-US" sz="1400" spc="300" dirty="0">
                    <a:solidFill>
                      <a:schemeClr val="tx1">
                        <a:lumMod val="75000"/>
                        <a:lumOff val="25000"/>
                      </a:schemeClr>
                    </a:solidFill>
                    <a:cs typeface="+mn-ea"/>
                    <a:sym typeface="+mn-lt"/>
                  </a:rPr>
                  <a:t>登录系统时需使用用户名和密码进行比对，正确才能登录入系统。</a:t>
                </a:r>
                <a:endParaRPr lang="zh-CN" altLang="en-US" sz="1400" spc="300" dirty="0">
                  <a:solidFill>
                    <a:schemeClr val="tx1">
                      <a:lumMod val="75000"/>
                      <a:lumOff val="25000"/>
                    </a:schemeClr>
                  </a:solidFill>
                  <a:cs typeface="+mn-ea"/>
                  <a:sym typeface="+mn-lt"/>
                </a:endParaRPr>
              </a:p>
            </p:txBody>
          </p:sp>
        </p:grpSp>
      </p:grpSp>
      <p:grpSp>
        <p:nvGrpSpPr>
          <p:cNvPr id="56" name="组合 55"/>
          <p:cNvGrpSpPr/>
          <p:nvPr/>
        </p:nvGrpSpPr>
        <p:grpSpPr>
          <a:xfrm>
            <a:off x="4723335" y="1129393"/>
            <a:ext cx="2745333" cy="4470622"/>
            <a:chOff x="4723335" y="1129393"/>
            <a:chExt cx="2745333" cy="4470622"/>
          </a:xfrm>
        </p:grpSpPr>
        <p:grpSp>
          <p:nvGrpSpPr>
            <p:cNvPr id="42" name="组合 41"/>
            <p:cNvGrpSpPr/>
            <p:nvPr/>
          </p:nvGrpSpPr>
          <p:grpSpPr>
            <a:xfrm>
              <a:off x="4723335" y="1129393"/>
              <a:ext cx="2745333" cy="3526270"/>
              <a:chOff x="4723335" y="1225649"/>
              <a:chExt cx="2745333" cy="3526270"/>
            </a:xfrm>
          </p:grpSpPr>
          <p:grpSp>
            <p:nvGrpSpPr>
              <p:cNvPr id="30" name="组合 29"/>
              <p:cNvGrpSpPr/>
              <p:nvPr/>
            </p:nvGrpSpPr>
            <p:grpSpPr>
              <a:xfrm>
                <a:off x="4723335" y="1225649"/>
                <a:ext cx="2745333" cy="3526270"/>
                <a:chOff x="1661567" y="1158772"/>
                <a:chExt cx="2114828" cy="2716412"/>
              </a:xfrm>
            </p:grpSpPr>
            <p:sp>
              <p:nvSpPr>
                <p:cNvPr id="32" name="任意多边形: 形状 31"/>
                <p:cNvSpPr/>
                <p:nvPr/>
              </p:nvSpPr>
              <p:spPr>
                <a:xfrm>
                  <a:off x="1661567" y="1759746"/>
                  <a:ext cx="2114828" cy="2115438"/>
                </a:xfrm>
                <a:custGeom>
                  <a:avLst/>
                  <a:gdLst>
                    <a:gd name="connsiteX0" fmla="*/ 1021346 w 2114828"/>
                    <a:gd name="connsiteY0" fmla="*/ 0 h 2115438"/>
                    <a:gd name="connsiteX1" fmla="*/ 2114828 w 2114828"/>
                    <a:gd name="connsiteY1" fmla="*/ 1013603 h 2115438"/>
                    <a:gd name="connsiteX2" fmla="*/ 1093482 w 2114828"/>
                    <a:gd name="connsiteY2" fmla="*/ 2115438 h 2115438"/>
                    <a:gd name="connsiteX3" fmla="*/ 0 w 2114828"/>
                    <a:gd name="connsiteY3" fmla="*/ 1101835 h 2115438"/>
                  </a:gdLst>
                  <a:ahLst/>
                  <a:cxnLst>
                    <a:cxn ang="0">
                      <a:pos x="connsiteX0" y="connsiteY0"/>
                    </a:cxn>
                    <a:cxn ang="0">
                      <a:pos x="connsiteX1" y="connsiteY1"/>
                    </a:cxn>
                    <a:cxn ang="0">
                      <a:pos x="connsiteX2" y="connsiteY2"/>
                    </a:cxn>
                    <a:cxn ang="0">
                      <a:pos x="connsiteX3" y="connsiteY3"/>
                    </a:cxn>
                  </a:cxnLst>
                  <a:rect l="l" t="t" r="r" b="b"/>
                  <a:pathLst>
                    <a:path w="2114828" h="2115438">
                      <a:moveTo>
                        <a:pt x="1021346" y="0"/>
                      </a:moveTo>
                      <a:lnTo>
                        <a:pt x="2114828" y="1013603"/>
                      </a:lnTo>
                      <a:lnTo>
                        <a:pt x="1093482" y="2115438"/>
                      </a:lnTo>
                      <a:lnTo>
                        <a:pt x="0" y="1101835"/>
                      </a:lnTo>
                      <a:close/>
                    </a:path>
                  </a:pathLst>
                </a:custGeom>
                <a:noFill/>
                <a:ln>
                  <a:solidFill>
                    <a:srgbClr val="10507E"/>
                  </a:solidFill>
                </a:ln>
                <a:scene3d>
                  <a:camera prst="perspectiveRelaxedModerately">
                    <a:rot lat="17090574"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sp>
              <p:nvSpPr>
                <p:cNvPr id="33" name="任意多边形: 形状 32"/>
                <p:cNvSpPr/>
                <p:nvPr/>
              </p:nvSpPr>
              <p:spPr>
                <a:xfrm>
                  <a:off x="1661567" y="1658146"/>
                  <a:ext cx="2114828" cy="2115438"/>
                </a:xfrm>
                <a:custGeom>
                  <a:avLst/>
                  <a:gdLst>
                    <a:gd name="connsiteX0" fmla="*/ 1021346 w 2114828"/>
                    <a:gd name="connsiteY0" fmla="*/ 0 h 2115438"/>
                    <a:gd name="connsiteX1" fmla="*/ 2114828 w 2114828"/>
                    <a:gd name="connsiteY1" fmla="*/ 1013603 h 2115438"/>
                    <a:gd name="connsiteX2" fmla="*/ 1093482 w 2114828"/>
                    <a:gd name="connsiteY2" fmla="*/ 2115438 h 2115438"/>
                    <a:gd name="connsiteX3" fmla="*/ 0 w 2114828"/>
                    <a:gd name="connsiteY3" fmla="*/ 1101835 h 2115438"/>
                  </a:gdLst>
                  <a:ahLst/>
                  <a:cxnLst>
                    <a:cxn ang="0">
                      <a:pos x="connsiteX0" y="connsiteY0"/>
                    </a:cxn>
                    <a:cxn ang="0">
                      <a:pos x="connsiteX1" y="connsiteY1"/>
                    </a:cxn>
                    <a:cxn ang="0">
                      <a:pos x="connsiteX2" y="connsiteY2"/>
                    </a:cxn>
                    <a:cxn ang="0">
                      <a:pos x="connsiteX3" y="connsiteY3"/>
                    </a:cxn>
                  </a:cxnLst>
                  <a:rect l="l" t="t" r="r" b="b"/>
                  <a:pathLst>
                    <a:path w="2114828" h="2115438">
                      <a:moveTo>
                        <a:pt x="1021346" y="0"/>
                      </a:moveTo>
                      <a:lnTo>
                        <a:pt x="2114828" y="1013603"/>
                      </a:lnTo>
                      <a:lnTo>
                        <a:pt x="1093482" y="2115438"/>
                      </a:lnTo>
                      <a:lnTo>
                        <a:pt x="0" y="1101835"/>
                      </a:lnTo>
                      <a:close/>
                    </a:path>
                  </a:pathLst>
                </a:custGeom>
                <a:gradFill flip="none" rotWithShape="1">
                  <a:gsLst>
                    <a:gs pos="37000">
                      <a:srgbClr val="10507E">
                        <a:alpha val="31000"/>
                      </a:srgbClr>
                    </a:gs>
                    <a:gs pos="1000">
                      <a:srgbClr val="10507E">
                        <a:alpha val="15000"/>
                      </a:srgbClr>
                    </a:gs>
                    <a:gs pos="61000">
                      <a:srgbClr val="10507E">
                        <a:alpha val="58000"/>
                      </a:srgbClr>
                    </a:gs>
                    <a:gs pos="83000">
                      <a:srgbClr val="10507E">
                        <a:alpha val="73000"/>
                      </a:srgbClr>
                    </a:gs>
                    <a:gs pos="100000">
                      <a:srgbClr val="10507E">
                        <a:alpha val="79000"/>
                      </a:srgbClr>
                    </a:gs>
                  </a:gsLst>
                  <a:lin ang="5400000" scaled="1"/>
                  <a:tileRect/>
                </a:gradFill>
                <a:ln>
                  <a:noFill/>
                </a:ln>
                <a:scene3d>
                  <a:camera prst="perspectiveRelaxedModerately">
                    <a:rot lat="17090576"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sp>
              <p:nvSpPr>
                <p:cNvPr id="34" name="任意多边形: 形状 33"/>
                <p:cNvSpPr/>
                <p:nvPr/>
              </p:nvSpPr>
              <p:spPr>
                <a:xfrm>
                  <a:off x="1661567" y="1158772"/>
                  <a:ext cx="2114828" cy="2115438"/>
                </a:xfrm>
                <a:custGeom>
                  <a:avLst/>
                  <a:gdLst>
                    <a:gd name="connsiteX0" fmla="*/ 1021346 w 2114828"/>
                    <a:gd name="connsiteY0" fmla="*/ 0 h 2115438"/>
                    <a:gd name="connsiteX1" fmla="*/ 2114828 w 2114828"/>
                    <a:gd name="connsiteY1" fmla="*/ 1013603 h 2115438"/>
                    <a:gd name="connsiteX2" fmla="*/ 1093482 w 2114828"/>
                    <a:gd name="connsiteY2" fmla="*/ 2115438 h 2115438"/>
                    <a:gd name="connsiteX3" fmla="*/ 0 w 2114828"/>
                    <a:gd name="connsiteY3" fmla="*/ 1101835 h 2115438"/>
                  </a:gdLst>
                  <a:ahLst/>
                  <a:cxnLst>
                    <a:cxn ang="0">
                      <a:pos x="connsiteX0" y="connsiteY0"/>
                    </a:cxn>
                    <a:cxn ang="0">
                      <a:pos x="connsiteX1" y="connsiteY1"/>
                    </a:cxn>
                    <a:cxn ang="0">
                      <a:pos x="connsiteX2" y="connsiteY2"/>
                    </a:cxn>
                    <a:cxn ang="0">
                      <a:pos x="connsiteX3" y="connsiteY3"/>
                    </a:cxn>
                  </a:cxnLst>
                  <a:rect l="l" t="t" r="r" b="b"/>
                  <a:pathLst>
                    <a:path w="2114828" h="2115438">
                      <a:moveTo>
                        <a:pt x="1021346" y="0"/>
                      </a:moveTo>
                      <a:lnTo>
                        <a:pt x="2114828" y="1013603"/>
                      </a:lnTo>
                      <a:lnTo>
                        <a:pt x="1093482" y="2115438"/>
                      </a:lnTo>
                      <a:lnTo>
                        <a:pt x="0" y="1101835"/>
                      </a:lnTo>
                      <a:close/>
                    </a:path>
                  </a:pathLst>
                </a:custGeom>
                <a:gradFill>
                  <a:gsLst>
                    <a:gs pos="37000">
                      <a:schemeClr val="bg1"/>
                    </a:gs>
                    <a:gs pos="0">
                      <a:schemeClr val="bg1">
                        <a:alpha val="55000"/>
                      </a:schemeClr>
                    </a:gs>
                    <a:gs pos="61000">
                      <a:schemeClr val="bg1"/>
                    </a:gs>
                    <a:gs pos="83000">
                      <a:schemeClr val="bg1"/>
                    </a:gs>
                    <a:gs pos="100000">
                      <a:schemeClr val="bg1"/>
                    </a:gs>
                  </a:gsLst>
                  <a:lin ang="5400000" scaled="1"/>
                </a:gradFill>
                <a:ln w="25400">
                  <a:gradFill flip="none" rotWithShape="1">
                    <a:gsLst>
                      <a:gs pos="0">
                        <a:schemeClr val="accent1">
                          <a:lumMod val="5000"/>
                          <a:lumOff val="95000"/>
                        </a:schemeClr>
                      </a:gs>
                      <a:gs pos="48000">
                        <a:srgbClr val="10507E"/>
                      </a:gs>
                      <a:gs pos="78000">
                        <a:srgbClr val="10507E"/>
                      </a:gs>
                      <a:gs pos="100000">
                        <a:srgbClr val="10507E"/>
                      </a:gs>
                    </a:gsLst>
                    <a:lin ang="5400000" scaled="1"/>
                    <a:tileRect/>
                  </a:gradFill>
                </a:ln>
                <a:scene3d>
                  <a:camera prst="perspectiveRelaxedModerately">
                    <a:rot lat="18290558" lon="2196" rev="21599983"/>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grpSp>
          <p:pic>
            <p:nvPicPr>
              <p:cNvPr id="41" name="图片 40"/>
              <p:cNvPicPr>
                <a:picLocks noChangeAspect="1"/>
              </p:cNvPicPr>
              <p:nvPr/>
            </p:nvPicPr>
            <p:blipFill>
              <a:blip r:embed="rId2"/>
              <a:stretch>
                <a:fillRect/>
              </a:stretch>
            </p:blipFill>
            <p:spPr>
              <a:xfrm>
                <a:off x="5715550" y="2283891"/>
                <a:ext cx="760899" cy="773723"/>
              </a:xfrm>
              <a:prstGeom prst="rect">
                <a:avLst/>
              </a:prstGeom>
            </p:spPr>
          </p:pic>
        </p:grpSp>
        <p:grpSp>
          <p:nvGrpSpPr>
            <p:cNvPr id="49" name="组合 48"/>
            <p:cNvGrpSpPr/>
            <p:nvPr/>
          </p:nvGrpSpPr>
          <p:grpSpPr>
            <a:xfrm>
              <a:off x="4884376" y="4007408"/>
              <a:ext cx="2469755" cy="1592607"/>
              <a:chOff x="1548791" y="4065069"/>
              <a:chExt cx="2469755" cy="1592607"/>
            </a:xfrm>
          </p:grpSpPr>
          <p:sp>
            <p:nvSpPr>
              <p:cNvPr id="50" name="文本框 49"/>
              <p:cNvSpPr txBox="1"/>
              <p:nvPr/>
            </p:nvSpPr>
            <p:spPr>
              <a:xfrm>
                <a:off x="1977553" y="4065069"/>
                <a:ext cx="1612231" cy="460375"/>
              </a:xfrm>
              <a:prstGeom prst="rect">
                <a:avLst/>
              </a:prstGeom>
              <a:noFill/>
            </p:spPr>
            <p:txBody>
              <a:bodyPr wrap="square" rtlCol="0">
                <a:spAutoFit/>
              </a:bodyPr>
              <a:lstStyle/>
              <a:p>
                <a:pPr algn="ctr"/>
                <a:r>
                  <a:rPr lang="zh-CN" altLang="en-US" sz="2400" dirty="0">
                    <a:solidFill>
                      <a:schemeClr val="tx1">
                        <a:lumMod val="85000"/>
                        <a:lumOff val="15000"/>
                      </a:schemeClr>
                    </a:solidFill>
                    <a:cs typeface="+mn-ea"/>
                    <a:sym typeface="+mn-lt"/>
                  </a:rPr>
                  <a:t>角色</a:t>
                </a:r>
                <a:r>
                  <a:rPr lang="zh-CN" altLang="en-US" sz="2400" dirty="0">
                    <a:solidFill>
                      <a:schemeClr val="tx1">
                        <a:lumMod val="85000"/>
                        <a:lumOff val="15000"/>
                      </a:schemeClr>
                    </a:solidFill>
                    <a:cs typeface="+mn-ea"/>
                    <a:sym typeface="+mn-lt"/>
                  </a:rPr>
                  <a:t>管理</a:t>
                </a:r>
                <a:endParaRPr lang="zh-CN" altLang="en-US" sz="2400" dirty="0">
                  <a:solidFill>
                    <a:schemeClr val="tx1">
                      <a:lumMod val="85000"/>
                      <a:lumOff val="15000"/>
                    </a:schemeClr>
                  </a:solidFill>
                  <a:cs typeface="+mn-ea"/>
                  <a:sym typeface="+mn-lt"/>
                </a:endParaRPr>
              </a:p>
            </p:txBody>
          </p:sp>
          <p:sp>
            <p:nvSpPr>
              <p:cNvPr id="51" name="文本框 50"/>
              <p:cNvSpPr txBox="1"/>
              <p:nvPr/>
            </p:nvSpPr>
            <p:spPr>
              <a:xfrm>
                <a:off x="1548791" y="4540711"/>
                <a:ext cx="2469755" cy="1116965"/>
              </a:xfrm>
              <a:prstGeom prst="rect">
                <a:avLst/>
              </a:prstGeom>
              <a:noFill/>
            </p:spPr>
            <p:txBody>
              <a:bodyPr wrap="square" rtlCol="0">
                <a:spAutoFit/>
              </a:bodyPr>
              <a:lstStyle/>
              <a:p>
                <a:pPr algn="l" fontAlgn="auto">
                  <a:lnSpc>
                    <a:spcPts val="2000"/>
                  </a:lnSpc>
                </a:pPr>
                <a:r>
                  <a:rPr lang="zh-CN" altLang="en-US" sz="1400" spc="300" dirty="0">
                    <a:solidFill>
                      <a:schemeClr val="tx1">
                        <a:lumMod val="75000"/>
                        <a:lumOff val="25000"/>
                      </a:schemeClr>
                    </a:solidFill>
                    <a:cs typeface="+mn-ea"/>
                    <a:sym typeface="+mn-lt"/>
                  </a:rPr>
                  <a:t>能够实现对角色的权限限制，各个角色拥有不同的权限，超级管理员拥有所有权限。</a:t>
                </a:r>
                <a:endParaRPr lang="zh-CN" altLang="en-US" sz="1400" spc="300" dirty="0">
                  <a:solidFill>
                    <a:schemeClr val="tx1">
                      <a:lumMod val="75000"/>
                      <a:lumOff val="25000"/>
                    </a:schemeClr>
                  </a:solidFill>
                  <a:cs typeface="+mn-ea"/>
                  <a:sym typeface="+mn-lt"/>
                </a:endParaRPr>
              </a:p>
            </p:txBody>
          </p:sp>
        </p:grpSp>
      </p:grpSp>
      <p:grpSp>
        <p:nvGrpSpPr>
          <p:cNvPr id="57" name="组合 56"/>
          <p:cNvGrpSpPr/>
          <p:nvPr/>
        </p:nvGrpSpPr>
        <p:grpSpPr>
          <a:xfrm>
            <a:off x="8312761" y="1129393"/>
            <a:ext cx="2745333" cy="4470622"/>
            <a:chOff x="8312761" y="1129393"/>
            <a:chExt cx="2745333" cy="4470622"/>
          </a:xfrm>
        </p:grpSpPr>
        <p:grpSp>
          <p:nvGrpSpPr>
            <p:cNvPr id="45" name="组合 44"/>
            <p:cNvGrpSpPr/>
            <p:nvPr/>
          </p:nvGrpSpPr>
          <p:grpSpPr>
            <a:xfrm>
              <a:off x="8312761" y="1129393"/>
              <a:ext cx="2745333" cy="3526270"/>
              <a:chOff x="8312761" y="1225649"/>
              <a:chExt cx="2745333" cy="3526270"/>
            </a:xfrm>
          </p:grpSpPr>
          <p:grpSp>
            <p:nvGrpSpPr>
              <p:cNvPr id="36" name="组合 35"/>
              <p:cNvGrpSpPr/>
              <p:nvPr/>
            </p:nvGrpSpPr>
            <p:grpSpPr>
              <a:xfrm>
                <a:off x="8312761" y="1225649"/>
                <a:ext cx="2745333" cy="3526270"/>
                <a:chOff x="1661567" y="1158772"/>
                <a:chExt cx="2114828" cy="2716412"/>
              </a:xfrm>
            </p:grpSpPr>
            <p:sp>
              <p:nvSpPr>
                <p:cNvPr id="38" name="任意多边形: 形状 37"/>
                <p:cNvSpPr/>
                <p:nvPr/>
              </p:nvSpPr>
              <p:spPr>
                <a:xfrm>
                  <a:off x="1661567" y="1759746"/>
                  <a:ext cx="2114828" cy="2115438"/>
                </a:xfrm>
                <a:custGeom>
                  <a:avLst/>
                  <a:gdLst>
                    <a:gd name="connsiteX0" fmla="*/ 1021346 w 2114828"/>
                    <a:gd name="connsiteY0" fmla="*/ 0 h 2115438"/>
                    <a:gd name="connsiteX1" fmla="*/ 2114828 w 2114828"/>
                    <a:gd name="connsiteY1" fmla="*/ 1013603 h 2115438"/>
                    <a:gd name="connsiteX2" fmla="*/ 1093482 w 2114828"/>
                    <a:gd name="connsiteY2" fmla="*/ 2115438 h 2115438"/>
                    <a:gd name="connsiteX3" fmla="*/ 0 w 2114828"/>
                    <a:gd name="connsiteY3" fmla="*/ 1101835 h 2115438"/>
                  </a:gdLst>
                  <a:ahLst/>
                  <a:cxnLst>
                    <a:cxn ang="0">
                      <a:pos x="connsiteX0" y="connsiteY0"/>
                    </a:cxn>
                    <a:cxn ang="0">
                      <a:pos x="connsiteX1" y="connsiteY1"/>
                    </a:cxn>
                    <a:cxn ang="0">
                      <a:pos x="connsiteX2" y="connsiteY2"/>
                    </a:cxn>
                    <a:cxn ang="0">
                      <a:pos x="connsiteX3" y="connsiteY3"/>
                    </a:cxn>
                  </a:cxnLst>
                  <a:rect l="l" t="t" r="r" b="b"/>
                  <a:pathLst>
                    <a:path w="2114828" h="2115438">
                      <a:moveTo>
                        <a:pt x="1021346" y="0"/>
                      </a:moveTo>
                      <a:lnTo>
                        <a:pt x="2114828" y="1013603"/>
                      </a:lnTo>
                      <a:lnTo>
                        <a:pt x="1093482" y="2115438"/>
                      </a:lnTo>
                      <a:lnTo>
                        <a:pt x="0" y="1101835"/>
                      </a:lnTo>
                      <a:close/>
                    </a:path>
                  </a:pathLst>
                </a:custGeom>
                <a:noFill/>
                <a:ln>
                  <a:solidFill>
                    <a:srgbClr val="10507E"/>
                  </a:solidFill>
                </a:ln>
                <a:scene3d>
                  <a:camera prst="perspectiveRelaxedModerately">
                    <a:rot lat="17090574"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sp>
              <p:nvSpPr>
                <p:cNvPr id="39" name="任意多边形: 形状 38"/>
                <p:cNvSpPr/>
                <p:nvPr/>
              </p:nvSpPr>
              <p:spPr>
                <a:xfrm>
                  <a:off x="1661567" y="1658146"/>
                  <a:ext cx="2114828" cy="2115438"/>
                </a:xfrm>
                <a:custGeom>
                  <a:avLst/>
                  <a:gdLst>
                    <a:gd name="connsiteX0" fmla="*/ 1021346 w 2114828"/>
                    <a:gd name="connsiteY0" fmla="*/ 0 h 2115438"/>
                    <a:gd name="connsiteX1" fmla="*/ 2114828 w 2114828"/>
                    <a:gd name="connsiteY1" fmla="*/ 1013603 h 2115438"/>
                    <a:gd name="connsiteX2" fmla="*/ 1093482 w 2114828"/>
                    <a:gd name="connsiteY2" fmla="*/ 2115438 h 2115438"/>
                    <a:gd name="connsiteX3" fmla="*/ 0 w 2114828"/>
                    <a:gd name="connsiteY3" fmla="*/ 1101835 h 2115438"/>
                  </a:gdLst>
                  <a:ahLst/>
                  <a:cxnLst>
                    <a:cxn ang="0">
                      <a:pos x="connsiteX0" y="connsiteY0"/>
                    </a:cxn>
                    <a:cxn ang="0">
                      <a:pos x="connsiteX1" y="connsiteY1"/>
                    </a:cxn>
                    <a:cxn ang="0">
                      <a:pos x="connsiteX2" y="connsiteY2"/>
                    </a:cxn>
                    <a:cxn ang="0">
                      <a:pos x="connsiteX3" y="connsiteY3"/>
                    </a:cxn>
                  </a:cxnLst>
                  <a:rect l="l" t="t" r="r" b="b"/>
                  <a:pathLst>
                    <a:path w="2114828" h="2115438">
                      <a:moveTo>
                        <a:pt x="1021346" y="0"/>
                      </a:moveTo>
                      <a:lnTo>
                        <a:pt x="2114828" y="1013603"/>
                      </a:lnTo>
                      <a:lnTo>
                        <a:pt x="1093482" y="2115438"/>
                      </a:lnTo>
                      <a:lnTo>
                        <a:pt x="0" y="1101835"/>
                      </a:lnTo>
                      <a:close/>
                    </a:path>
                  </a:pathLst>
                </a:custGeom>
                <a:gradFill flip="none" rotWithShape="1">
                  <a:gsLst>
                    <a:gs pos="37000">
                      <a:srgbClr val="10507E">
                        <a:alpha val="31000"/>
                      </a:srgbClr>
                    </a:gs>
                    <a:gs pos="1000">
                      <a:srgbClr val="10507E">
                        <a:alpha val="15000"/>
                      </a:srgbClr>
                    </a:gs>
                    <a:gs pos="61000">
                      <a:srgbClr val="10507E">
                        <a:alpha val="58000"/>
                      </a:srgbClr>
                    </a:gs>
                    <a:gs pos="83000">
                      <a:srgbClr val="10507E">
                        <a:alpha val="73000"/>
                      </a:srgbClr>
                    </a:gs>
                    <a:gs pos="100000">
                      <a:srgbClr val="10507E">
                        <a:alpha val="79000"/>
                      </a:srgbClr>
                    </a:gs>
                  </a:gsLst>
                  <a:lin ang="5400000" scaled="1"/>
                  <a:tileRect/>
                </a:gradFill>
                <a:ln>
                  <a:noFill/>
                </a:ln>
                <a:scene3d>
                  <a:camera prst="perspectiveRelaxedModerately">
                    <a:rot lat="17090576"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sp>
              <p:nvSpPr>
                <p:cNvPr id="40" name="任意多边形: 形状 39"/>
                <p:cNvSpPr/>
                <p:nvPr/>
              </p:nvSpPr>
              <p:spPr>
                <a:xfrm>
                  <a:off x="1661567" y="1158772"/>
                  <a:ext cx="2114828" cy="2115438"/>
                </a:xfrm>
                <a:custGeom>
                  <a:avLst/>
                  <a:gdLst>
                    <a:gd name="connsiteX0" fmla="*/ 1021346 w 2114828"/>
                    <a:gd name="connsiteY0" fmla="*/ 0 h 2115438"/>
                    <a:gd name="connsiteX1" fmla="*/ 2114828 w 2114828"/>
                    <a:gd name="connsiteY1" fmla="*/ 1013603 h 2115438"/>
                    <a:gd name="connsiteX2" fmla="*/ 1093482 w 2114828"/>
                    <a:gd name="connsiteY2" fmla="*/ 2115438 h 2115438"/>
                    <a:gd name="connsiteX3" fmla="*/ 0 w 2114828"/>
                    <a:gd name="connsiteY3" fmla="*/ 1101835 h 2115438"/>
                  </a:gdLst>
                  <a:ahLst/>
                  <a:cxnLst>
                    <a:cxn ang="0">
                      <a:pos x="connsiteX0" y="connsiteY0"/>
                    </a:cxn>
                    <a:cxn ang="0">
                      <a:pos x="connsiteX1" y="connsiteY1"/>
                    </a:cxn>
                    <a:cxn ang="0">
                      <a:pos x="connsiteX2" y="connsiteY2"/>
                    </a:cxn>
                    <a:cxn ang="0">
                      <a:pos x="connsiteX3" y="connsiteY3"/>
                    </a:cxn>
                  </a:cxnLst>
                  <a:rect l="l" t="t" r="r" b="b"/>
                  <a:pathLst>
                    <a:path w="2114828" h="2115438">
                      <a:moveTo>
                        <a:pt x="1021346" y="0"/>
                      </a:moveTo>
                      <a:lnTo>
                        <a:pt x="2114828" y="1013603"/>
                      </a:lnTo>
                      <a:lnTo>
                        <a:pt x="1093482" y="2115438"/>
                      </a:lnTo>
                      <a:lnTo>
                        <a:pt x="0" y="1101835"/>
                      </a:lnTo>
                      <a:close/>
                    </a:path>
                  </a:pathLst>
                </a:custGeom>
                <a:gradFill>
                  <a:gsLst>
                    <a:gs pos="37000">
                      <a:schemeClr val="bg1"/>
                    </a:gs>
                    <a:gs pos="0">
                      <a:schemeClr val="bg1">
                        <a:alpha val="55000"/>
                      </a:schemeClr>
                    </a:gs>
                    <a:gs pos="61000">
                      <a:schemeClr val="bg1"/>
                    </a:gs>
                    <a:gs pos="83000">
                      <a:schemeClr val="bg1"/>
                    </a:gs>
                    <a:gs pos="100000">
                      <a:schemeClr val="bg1"/>
                    </a:gs>
                  </a:gsLst>
                  <a:lin ang="5400000" scaled="1"/>
                </a:gradFill>
                <a:ln w="25400">
                  <a:gradFill flip="none" rotWithShape="1">
                    <a:gsLst>
                      <a:gs pos="0">
                        <a:schemeClr val="accent1">
                          <a:lumMod val="5000"/>
                          <a:lumOff val="95000"/>
                        </a:schemeClr>
                      </a:gs>
                      <a:gs pos="48000">
                        <a:srgbClr val="10507E"/>
                      </a:gs>
                      <a:gs pos="78000">
                        <a:srgbClr val="10507E"/>
                      </a:gs>
                      <a:gs pos="100000">
                        <a:srgbClr val="10507E"/>
                      </a:gs>
                    </a:gsLst>
                    <a:lin ang="5400000" scaled="1"/>
                    <a:tileRect/>
                  </a:gradFill>
                </a:ln>
                <a:scene3d>
                  <a:camera prst="perspectiveRelaxedModerately">
                    <a:rot lat="18290558" lon="2196" rev="21599983"/>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grpSp>
          <p:pic>
            <p:nvPicPr>
              <p:cNvPr id="44" name="图片 43"/>
              <p:cNvPicPr>
                <a:picLocks noChangeAspect="1"/>
              </p:cNvPicPr>
              <p:nvPr/>
            </p:nvPicPr>
            <p:blipFill>
              <a:blip r:embed="rId3"/>
              <a:stretch>
                <a:fillRect/>
              </a:stretch>
            </p:blipFill>
            <p:spPr>
              <a:xfrm>
                <a:off x="9225555" y="2247795"/>
                <a:ext cx="1016000" cy="711691"/>
              </a:xfrm>
              <a:prstGeom prst="rect">
                <a:avLst/>
              </a:prstGeom>
            </p:spPr>
          </p:pic>
        </p:grpSp>
        <p:grpSp>
          <p:nvGrpSpPr>
            <p:cNvPr id="52" name="组合 51"/>
            <p:cNvGrpSpPr/>
            <p:nvPr/>
          </p:nvGrpSpPr>
          <p:grpSpPr>
            <a:xfrm>
              <a:off x="8438517" y="4007408"/>
              <a:ext cx="2469755" cy="1592607"/>
              <a:chOff x="1548791" y="4065069"/>
              <a:chExt cx="2469755" cy="1592607"/>
            </a:xfrm>
          </p:grpSpPr>
          <p:sp>
            <p:nvSpPr>
              <p:cNvPr id="53" name="文本框 52"/>
              <p:cNvSpPr txBox="1"/>
              <p:nvPr/>
            </p:nvSpPr>
            <p:spPr>
              <a:xfrm>
                <a:off x="1977553" y="4065069"/>
                <a:ext cx="1612231" cy="460375"/>
              </a:xfrm>
              <a:prstGeom prst="rect">
                <a:avLst/>
              </a:prstGeom>
              <a:noFill/>
            </p:spPr>
            <p:txBody>
              <a:bodyPr wrap="square" rtlCol="0">
                <a:spAutoFit/>
              </a:bodyPr>
              <a:lstStyle/>
              <a:p>
                <a:pPr algn="ctr"/>
                <a:r>
                  <a:rPr lang="zh-CN" altLang="en-US" sz="2400" dirty="0">
                    <a:solidFill>
                      <a:schemeClr val="tx1">
                        <a:lumMod val="85000"/>
                        <a:lumOff val="15000"/>
                      </a:schemeClr>
                    </a:solidFill>
                    <a:cs typeface="+mn-ea"/>
                    <a:sym typeface="+mn-lt"/>
                  </a:rPr>
                  <a:t>资源管理</a:t>
                </a:r>
                <a:endParaRPr lang="zh-CN" altLang="en-US" sz="2400" dirty="0">
                  <a:solidFill>
                    <a:schemeClr val="tx1">
                      <a:lumMod val="85000"/>
                      <a:lumOff val="15000"/>
                    </a:schemeClr>
                  </a:solidFill>
                  <a:cs typeface="+mn-ea"/>
                  <a:sym typeface="+mn-lt"/>
                </a:endParaRPr>
              </a:p>
            </p:txBody>
          </p:sp>
          <p:sp>
            <p:nvSpPr>
              <p:cNvPr id="54" name="文本框 53"/>
              <p:cNvSpPr txBox="1"/>
              <p:nvPr/>
            </p:nvSpPr>
            <p:spPr>
              <a:xfrm>
                <a:off x="1548791" y="4540711"/>
                <a:ext cx="2469755" cy="1116965"/>
              </a:xfrm>
              <a:prstGeom prst="rect">
                <a:avLst/>
              </a:prstGeom>
              <a:noFill/>
            </p:spPr>
            <p:txBody>
              <a:bodyPr wrap="square" rtlCol="0">
                <a:spAutoFit/>
              </a:bodyPr>
              <a:lstStyle/>
              <a:p>
                <a:pPr algn="l" fontAlgn="auto">
                  <a:lnSpc>
                    <a:spcPts val="2000"/>
                  </a:lnSpc>
                </a:pPr>
                <a:r>
                  <a:rPr lang="zh-CN" altLang="en-US" sz="1400" spc="300" dirty="0">
                    <a:solidFill>
                      <a:schemeClr val="tx1">
                        <a:lumMod val="75000"/>
                        <a:lumOff val="25000"/>
                      </a:schemeClr>
                    </a:solidFill>
                    <a:cs typeface="+mn-ea"/>
                    <a:sym typeface="+mn-lt"/>
                  </a:rPr>
                  <a:t>实现编辑各个权限具体所拥有的权限名称，权限内容备注，设置权限是否可用。</a:t>
                </a:r>
                <a:endParaRPr lang="zh-CN" altLang="en-US" sz="1400" spc="300" dirty="0">
                  <a:solidFill>
                    <a:schemeClr val="tx1">
                      <a:lumMod val="75000"/>
                      <a:lumOff val="25000"/>
                    </a:schemeClr>
                  </a:solidFill>
                  <a:cs typeface="+mn-ea"/>
                  <a:sym typeface="+mn-lt"/>
                </a:endParaRPr>
              </a:p>
            </p:txBody>
          </p:sp>
        </p:grpSp>
      </p:grpSp>
    </p:spTree>
    <p:custDataLst>
      <p:tags r:id="rId4"/>
    </p:custDataLst>
  </p:cSld>
  <p:clrMapOvr>
    <a:masterClrMapping/>
  </p:clrMapOvr>
  <mc:AlternateContent xmlns:mc="http://schemas.openxmlformats.org/markup-compatibility/2006">
    <mc:Choice xmlns:p14="http://schemas.microsoft.com/office/powerpoint/2010/main" Requires="p14">
      <p:transition spd="slow" p14:dur="1500" advTm="1009">
        <p:random/>
      </p:transition>
    </mc:Choice>
    <mc:Fallback>
      <p:transition spd="slow" advTm="1009">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系统功能</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02.</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6" name="组合 5"/>
          <p:cNvGrpSpPr/>
          <p:nvPr/>
        </p:nvGrpSpPr>
        <p:grpSpPr>
          <a:xfrm>
            <a:off x="1229123" y="1842493"/>
            <a:ext cx="3826147" cy="3826146"/>
            <a:chOff x="4182926" y="1515927"/>
            <a:chExt cx="3826147" cy="3826146"/>
          </a:xfrm>
        </p:grpSpPr>
        <p:sp>
          <p:nvSpPr>
            <p:cNvPr id="12" name="任意多边形: 形状 11"/>
            <p:cNvSpPr/>
            <p:nvPr/>
          </p:nvSpPr>
          <p:spPr>
            <a:xfrm>
              <a:off x="4419886" y="1752887"/>
              <a:ext cx="3352227" cy="3352226"/>
            </a:xfrm>
            <a:custGeom>
              <a:avLst/>
              <a:gdLst>
                <a:gd name="connsiteX0" fmla="*/ 1671896 w 3352227"/>
                <a:gd name="connsiteY0" fmla="*/ 0 h 3352226"/>
                <a:gd name="connsiteX1" fmla="*/ 3352227 w 3352227"/>
                <a:gd name="connsiteY1" fmla="*/ 1671896 h 3352226"/>
                <a:gd name="connsiteX2" fmla="*/ 1680331 w 3352227"/>
                <a:gd name="connsiteY2" fmla="*/ 3352226 h 3352226"/>
                <a:gd name="connsiteX3" fmla="*/ 0 w 3352227"/>
                <a:gd name="connsiteY3" fmla="*/ 1680330 h 3352226"/>
              </a:gdLst>
              <a:ahLst/>
              <a:cxnLst>
                <a:cxn ang="0">
                  <a:pos x="connsiteX0" y="connsiteY0"/>
                </a:cxn>
                <a:cxn ang="0">
                  <a:pos x="connsiteX1" y="connsiteY1"/>
                </a:cxn>
                <a:cxn ang="0">
                  <a:pos x="connsiteX2" y="connsiteY2"/>
                </a:cxn>
                <a:cxn ang="0">
                  <a:pos x="connsiteX3" y="connsiteY3"/>
                </a:cxn>
              </a:cxnLst>
              <a:rect l="l" t="t" r="r" b="b"/>
              <a:pathLst>
                <a:path w="3352227" h="3352226">
                  <a:moveTo>
                    <a:pt x="1671896" y="0"/>
                  </a:moveTo>
                  <a:lnTo>
                    <a:pt x="3352227" y="1671896"/>
                  </a:lnTo>
                  <a:lnTo>
                    <a:pt x="1680331" y="3352226"/>
                  </a:lnTo>
                  <a:lnTo>
                    <a:pt x="0" y="1680330"/>
                  </a:lnTo>
                  <a:close/>
                </a:path>
              </a:pathLst>
            </a:custGeom>
            <a:blipFill>
              <a:blip r:embed="rId1"/>
              <a:stretch>
                <a:fillRect/>
              </a:stretch>
            </a:blipFill>
            <a:ln>
              <a:noFill/>
            </a:ln>
            <a:effectLst>
              <a:outerShdw blurRad="63500" sx="101000" sy="101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sp>
          <p:nvSpPr>
            <p:cNvPr id="13" name="任意多边形: 形状 12"/>
            <p:cNvSpPr/>
            <p:nvPr/>
          </p:nvSpPr>
          <p:spPr>
            <a:xfrm>
              <a:off x="4182926" y="1515927"/>
              <a:ext cx="3826147" cy="3826146"/>
            </a:xfrm>
            <a:custGeom>
              <a:avLst/>
              <a:gdLst>
                <a:gd name="connsiteX0" fmla="*/ 1671896 w 3352227"/>
                <a:gd name="connsiteY0" fmla="*/ 0 h 3352226"/>
                <a:gd name="connsiteX1" fmla="*/ 3352227 w 3352227"/>
                <a:gd name="connsiteY1" fmla="*/ 1671896 h 3352226"/>
                <a:gd name="connsiteX2" fmla="*/ 1680331 w 3352227"/>
                <a:gd name="connsiteY2" fmla="*/ 3352226 h 3352226"/>
                <a:gd name="connsiteX3" fmla="*/ 0 w 3352227"/>
                <a:gd name="connsiteY3" fmla="*/ 1680330 h 3352226"/>
              </a:gdLst>
              <a:ahLst/>
              <a:cxnLst>
                <a:cxn ang="0">
                  <a:pos x="connsiteX0" y="connsiteY0"/>
                </a:cxn>
                <a:cxn ang="0">
                  <a:pos x="connsiteX1" y="connsiteY1"/>
                </a:cxn>
                <a:cxn ang="0">
                  <a:pos x="connsiteX2" y="connsiteY2"/>
                </a:cxn>
                <a:cxn ang="0">
                  <a:pos x="connsiteX3" y="connsiteY3"/>
                </a:cxn>
              </a:cxnLst>
              <a:rect l="l" t="t" r="r" b="b"/>
              <a:pathLst>
                <a:path w="3352227" h="3352226">
                  <a:moveTo>
                    <a:pt x="1671896" y="0"/>
                  </a:moveTo>
                  <a:lnTo>
                    <a:pt x="3352227" y="1671896"/>
                  </a:lnTo>
                  <a:lnTo>
                    <a:pt x="1680331" y="3352226"/>
                  </a:lnTo>
                  <a:lnTo>
                    <a:pt x="0" y="1680330"/>
                  </a:lnTo>
                  <a:close/>
                </a:path>
              </a:pathLst>
            </a:custGeom>
            <a:noFill/>
            <a:ln>
              <a:solidFill>
                <a:srgbClr val="69C0E1"/>
              </a:solidFill>
            </a:ln>
            <a:effectLst>
              <a:outerShdw blurRad="63500" sx="101000" sy="101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grpSp>
      <p:grpSp>
        <p:nvGrpSpPr>
          <p:cNvPr id="15" name="组合 14"/>
          <p:cNvGrpSpPr/>
          <p:nvPr/>
        </p:nvGrpSpPr>
        <p:grpSpPr>
          <a:xfrm>
            <a:off x="5759450" y="1744177"/>
            <a:ext cx="5546128" cy="1336067"/>
            <a:chOff x="595045" y="2045185"/>
            <a:chExt cx="5546128" cy="1336067"/>
          </a:xfrm>
        </p:grpSpPr>
        <p:sp>
          <p:nvSpPr>
            <p:cNvPr id="21" name="文本框 20"/>
            <p:cNvSpPr txBox="1"/>
            <p:nvPr/>
          </p:nvSpPr>
          <p:spPr>
            <a:xfrm>
              <a:off x="595045" y="2045185"/>
              <a:ext cx="2139315" cy="460375"/>
            </a:xfrm>
            <a:prstGeom prst="rect">
              <a:avLst/>
            </a:prstGeom>
            <a:noFill/>
          </p:spPr>
          <p:txBody>
            <a:bodyPr wrap="square" rtlCol="0">
              <a:spAutoFit/>
            </a:bodyPr>
            <a:lstStyle/>
            <a:p>
              <a:r>
                <a:rPr lang="zh-CN" altLang="en-US" sz="2400" dirty="0">
                  <a:solidFill>
                    <a:schemeClr val="tx1">
                      <a:lumMod val="85000"/>
                      <a:lumOff val="15000"/>
                    </a:schemeClr>
                  </a:solidFill>
                  <a:cs typeface="+mn-ea"/>
                  <a:sym typeface="+mn-lt"/>
                </a:rPr>
                <a:t>营销机会</a:t>
              </a:r>
              <a:r>
                <a:rPr lang="zh-CN" altLang="en-US" sz="2400" dirty="0">
                  <a:solidFill>
                    <a:schemeClr val="tx1">
                      <a:lumMod val="85000"/>
                      <a:lumOff val="15000"/>
                    </a:schemeClr>
                  </a:solidFill>
                  <a:cs typeface="+mn-ea"/>
                  <a:sym typeface="+mn-lt"/>
                </a:rPr>
                <a:t>管理</a:t>
              </a:r>
              <a:endParaRPr lang="zh-CN" altLang="en-US" sz="2400" dirty="0">
                <a:solidFill>
                  <a:schemeClr val="tx1">
                    <a:lumMod val="85000"/>
                    <a:lumOff val="15000"/>
                  </a:schemeClr>
                </a:solidFill>
                <a:cs typeface="+mn-ea"/>
                <a:sym typeface="+mn-lt"/>
              </a:endParaRPr>
            </a:p>
          </p:txBody>
        </p:sp>
        <p:sp>
          <p:nvSpPr>
            <p:cNvPr id="22" name="文本框 21"/>
            <p:cNvSpPr txBox="1"/>
            <p:nvPr/>
          </p:nvSpPr>
          <p:spPr>
            <a:xfrm>
              <a:off x="595045" y="2520827"/>
              <a:ext cx="5546128" cy="860425"/>
            </a:xfrm>
            <a:prstGeom prst="rect">
              <a:avLst/>
            </a:prstGeom>
            <a:noFill/>
          </p:spPr>
          <p:txBody>
            <a:bodyPr wrap="square" rtlCol="0">
              <a:spAutoFit/>
            </a:bodyPr>
            <a:lstStyle/>
            <a:p>
              <a:pPr>
                <a:lnSpc>
                  <a:spcPts val="2000"/>
                </a:lnSpc>
              </a:pPr>
              <a:r>
                <a:rPr lang="zh-CN" altLang="en-US" sz="1400" spc="300" dirty="0">
                  <a:solidFill>
                    <a:schemeClr val="tx1">
                      <a:lumMod val="75000"/>
                      <a:lumOff val="25000"/>
                    </a:schemeClr>
                  </a:solidFill>
                  <a:cs typeface="+mn-ea"/>
                  <a:sym typeface="+mn-lt"/>
                </a:rPr>
                <a:t>实现记录对于每个客户的概述，包括客户名称，客户来源</a:t>
              </a:r>
              <a:r>
                <a:rPr lang="zh-CN" altLang="en-US" sz="1400" spc="300" dirty="0">
                  <a:solidFill>
                    <a:schemeClr val="tx1">
                      <a:lumMod val="75000"/>
                      <a:lumOff val="25000"/>
                    </a:schemeClr>
                  </a:solidFill>
                  <a:cs typeface="+mn-ea"/>
                  <a:sym typeface="+mn-lt"/>
                </a:rPr>
                <a:t>等，记录对于客户的营销计划，记录客户对于公司产品的态度。</a:t>
              </a:r>
              <a:endParaRPr lang="zh-CN" altLang="en-US" sz="1400" spc="300" dirty="0">
                <a:solidFill>
                  <a:schemeClr val="tx1">
                    <a:lumMod val="75000"/>
                    <a:lumOff val="25000"/>
                  </a:schemeClr>
                </a:solidFill>
                <a:cs typeface="+mn-ea"/>
                <a:sym typeface="+mn-lt"/>
              </a:endParaRPr>
            </a:p>
          </p:txBody>
        </p:sp>
      </p:grpSp>
      <p:grpSp>
        <p:nvGrpSpPr>
          <p:cNvPr id="23" name="组合 22"/>
          <p:cNvGrpSpPr/>
          <p:nvPr/>
        </p:nvGrpSpPr>
        <p:grpSpPr>
          <a:xfrm>
            <a:off x="5759450" y="3279924"/>
            <a:ext cx="5546128" cy="822987"/>
            <a:chOff x="595045" y="2045185"/>
            <a:chExt cx="5546128" cy="822987"/>
          </a:xfrm>
        </p:grpSpPr>
        <p:sp>
          <p:nvSpPr>
            <p:cNvPr id="24" name="文本框 23"/>
            <p:cNvSpPr txBox="1"/>
            <p:nvPr/>
          </p:nvSpPr>
          <p:spPr>
            <a:xfrm>
              <a:off x="595045" y="2045185"/>
              <a:ext cx="2139315" cy="460375"/>
            </a:xfrm>
            <a:prstGeom prst="rect">
              <a:avLst/>
            </a:prstGeom>
            <a:noFill/>
          </p:spPr>
          <p:txBody>
            <a:bodyPr wrap="square" rtlCol="0">
              <a:spAutoFit/>
            </a:bodyPr>
            <a:lstStyle/>
            <a:p>
              <a:r>
                <a:rPr lang="zh-CN" altLang="en-US" sz="2400" dirty="0">
                  <a:solidFill>
                    <a:schemeClr val="tx1">
                      <a:lumMod val="85000"/>
                      <a:lumOff val="15000"/>
                    </a:schemeClr>
                  </a:solidFill>
                  <a:cs typeface="+mn-ea"/>
                  <a:sym typeface="+mn-lt"/>
                </a:rPr>
                <a:t>客户开发</a:t>
              </a:r>
              <a:r>
                <a:rPr lang="zh-CN" altLang="en-US" sz="2400" dirty="0">
                  <a:solidFill>
                    <a:schemeClr val="tx1">
                      <a:lumMod val="85000"/>
                      <a:lumOff val="15000"/>
                    </a:schemeClr>
                  </a:solidFill>
                  <a:cs typeface="+mn-ea"/>
                  <a:sym typeface="+mn-lt"/>
                </a:rPr>
                <a:t>计划</a:t>
              </a:r>
              <a:endParaRPr lang="zh-CN" altLang="en-US" sz="2400" dirty="0">
                <a:solidFill>
                  <a:schemeClr val="tx1">
                    <a:lumMod val="85000"/>
                    <a:lumOff val="15000"/>
                  </a:schemeClr>
                </a:solidFill>
                <a:cs typeface="+mn-ea"/>
                <a:sym typeface="+mn-lt"/>
              </a:endParaRPr>
            </a:p>
          </p:txBody>
        </p:sp>
        <p:sp>
          <p:nvSpPr>
            <p:cNvPr id="25" name="文本框 24"/>
            <p:cNvSpPr txBox="1"/>
            <p:nvPr/>
          </p:nvSpPr>
          <p:spPr>
            <a:xfrm>
              <a:off x="595045" y="2520827"/>
              <a:ext cx="5546128" cy="347345"/>
            </a:xfrm>
            <a:prstGeom prst="rect">
              <a:avLst/>
            </a:prstGeom>
            <a:noFill/>
          </p:spPr>
          <p:txBody>
            <a:bodyPr wrap="square" rtlCol="0">
              <a:spAutoFit/>
            </a:bodyPr>
            <a:lstStyle/>
            <a:p>
              <a:pPr>
                <a:lnSpc>
                  <a:spcPts val="2000"/>
                </a:lnSpc>
              </a:pPr>
              <a:r>
                <a:rPr lang="zh-CN" altLang="en-US" sz="1400" spc="300" dirty="0">
                  <a:solidFill>
                    <a:schemeClr val="tx1">
                      <a:lumMod val="75000"/>
                      <a:lumOff val="25000"/>
                    </a:schemeClr>
                  </a:solidFill>
                  <a:cs typeface="+mn-ea"/>
                  <a:sym typeface="+mn-lt"/>
                </a:rPr>
                <a:t>记录公司对客户的开发计划描述以及开发进度等。</a:t>
              </a:r>
              <a:endParaRPr lang="zh-CN" altLang="en-US" sz="1400" spc="300" dirty="0">
                <a:solidFill>
                  <a:schemeClr val="tx1">
                    <a:lumMod val="75000"/>
                    <a:lumOff val="25000"/>
                  </a:schemeClr>
                </a:solidFill>
                <a:cs typeface="+mn-ea"/>
                <a:sym typeface="+mn-lt"/>
              </a:endParaRPr>
            </a:p>
          </p:txBody>
        </p:sp>
      </p:grpSp>
      <p:grpSp>
        <p:nvGrpSpPr>
          <p:cNvPr id="2" name="组合 1"/>
          <p:cNvGrpSpPr/>
          <p:nvPr/>
        </p:nvGrpSpPr>
        <p:grpSpPr>
          <a:xfrm>
            <a:off x="5759450" y="4461659"/>
            <a:ext cx="5546128" cy="1079527"/>
            <a:chOff x="595045" y="2045185"/>
            <a:chExt cx="5546128" cy="1079527"/>
          </a:xfrm>
        </p:grpSpPr>
        <p:sp>
          <p:nvSpPr>
            <p:cNvPr id="3" name="文本框 2"/>
            <p:cNvSpPr txBox="1"/>
            <p:nvPr/>
          </p:nvSpPr>
          <p:spPr>
            <a:xfrm>
              <a:off x="595045" y="2045185"/>
              <a:ext cx="2139315" cy="460375"/>
            </a:xfrm>
            <a:prstGeom prst="rect">
              <a:avLst/>
            </a:prstGeom>
            <a:noFill/>
          </p:spPr>
          <p:txBody>
            <a:bodyPr wrap="square" rtlCol="0">
              <a:spAutoFit/>
            </a:bodyPr>
            <a:p>
              <a:r>
                <a:rPr lang="zh-CN" altLang="en-US" sz="2400" dirty="0">
                  <a:solidFill>
                    <a:schemeClr val="tx1">
                      <a:lumMod val="85000"/>
                      <a:lumOff val="15000"/>
                    </a:schemeClr>
                  </a:solidFill>
                  <a:cs typeface="+mn-ea"/>
                  <a:sym typeface="+mn-lt"/>
                </a:rPr>
                <a:t>服务创建</a:t>
              </a:r>
              <a:endParaRPr lang="zh-CN" altLang="en-US" sz="2400" dirty="0">
                <a:solidFill>
                  <a:schemeClr val="tx1">
                    <a:lumMod val="85000"/>
                    <a:lumOff val="15000"/>
                  </a:schemeClr>
                </a:solidFill>
                <a:cs typeface="+mn-ea"/>
                <a:sym typeface="+mn-lt"/>
              </a:endParaRPr>
            </a:p>
          </p:txBody>
        </p:sp>
        <p:sp>
          <p:nvSpPr>
            <p:cNvPr id="4" name="文本框 3"/>
            <p:cNvSpPr txBox="1"/>
            <p:nvPr/>
          </p:nvSpPr>
          <p:spPr>
            <a:xfrm>
              <a:off x="595045" y="2520827"/>
              <a:ext cx="5546128" cy="603885"/>
            </a:xfrm>
            <a:prstGeom prst="rect">
              <a:avLst/>
            </a:prstGeom>
            <a:noFill/>
          </p:spPr>
          <p:txBody>
            <a:bodyPr wrap="square" rtlCol="0">
              <a:spAutoFit/>
            </a:bodyPr>
            <a:p>
              <a:pPr>
                <a:lnSpc>
                  <a:spcPts val="2000"/>
                </a:lnSpc>
              </a:pPr>
              <a:r>
                <a:rPr lang="zh-CN" altLang="en-US" sz="1400" spc="300" dirty="0">
                  <a:solidFill>
                    <a:schemeClr val="tx1">
                      <a:lumMod val="75000"/>
                      <a:lumOff val="25000"/>
                    </a:schemeClr>
                  </a:solidFill>
                  <a:cs typeface="+mn-ea"/>
                  <a:sym typeface="+mn-lt"/>
                </a:rPr>
                <a:t>记录客户要求的服务类型，类如售前服务，售后服务，以及客户的想法和生成订单。</a:t>
              </a:r>
              <a:endParaRPr lang="zh-CN" altLang="en-US" sz="1400" spc="300" dirty="0">
                <a:solidFill>
                  <a:schemeClr val="tx1">
                    <a:lumMod val="75000"/>
                    <a:lumOff val="25000"/>
                  </a:schemeClr>
                </a:solidFill>
                <a:cs typeface="+mn-ea"/>
                <a:sym typeface="+mn-lt"/>
              </a:endParaRPr>
            </a:p>
          </p:txBody>
        </p:sp>
      </p:grpSp>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2015">
        <p:random/>
      </p:transition>
    </mc:Choice>
    <mc:Fallback>
      <p:transition spd="slow" advTm="2015">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53" presetClass="entr" presetSubtype="16"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p:cTn id="17" dur="500" fill="hold"/>
                                        <p:tgtEl>
                                          <p:spTgt spid="6"/>
                                        </p:tgtEl>
                                        <p:attrNameLst>
                                          <p:attrName>ppt_w</p:attrName>
                                        </p:attrNameLst>
                                      </p:cBhvr>
                                      <p:tavLst>
                                        <p:tav tm="0">
                                          <p:val>
                                            <p:fltVal val="0"/>
                                          </p:val>
                                        </p:tav>
                                        <p:tav tm="100000">
                                          <p:val>
                                            <p:strVal val="#ppt_w"/>
                                          </p:val>
                                        </p:tav>
                                      </p:tavLst>
                                    </p:anim>
                                    <p:anim calcmode="lin" valueType="num">
                                      <p:cBhvr>
                                        <p:cTn id="18" dur="500" fill="hold"/>
                                        <p:tgtEl>
                                          <p:spTgt spid="6"/>
                                        </p:tgtEl>
                                        <p:attrNameLst>
                                          <p:attrName>ppt_h</p:attrName>
                                        </p:attrNameLst>
                                      </p:cBhvr>
                                      <p:tavLst>
                                        <p:tav tm="0">
                                          <p:val>
                                            <p:fltVal val="0"/>
                                          </p:val>
                                        </p:tav>
                                        <p:tav tm="100000">
                                          <p:val>
                                            <p:strVal val="#ppt_h"/>
                                          </p:val>
                                        </p:tav>
                                      </p:tavLst>
                                    </p:anim>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2" presetClass="entr" presetSubtype="2" fill="hold" nodeType="clickEffect">
                                  <p:stCondLst>
                                    <p:cond delay="0"/>
                                  </p:stCondLst>
                                  <p:childTnLst>
                                    <p:set>
                                      <p:cBhvr>
                                        <p:cTn id="23" dur="1" fill="hold">
                                          <p:stCondLst>
                                            <p:cond delay="0"/>
                                          </p:stCondLst>
                                        </p:cTn>
                                        <p:tgtEl>
                                          <p:spTgt spid="15"/>
                                        </p:tgtEl>
                                        <p:attrNameLst>
                                          <p:attrName>style.visibility</p:attrName>
                                        </p:attrNameLst>
                                      </p:cBhvr>
                                      <p:to>
                                        <p:strVal val="visible"/>
                                      </p:to>
                                    </p:set>
                                    <p:anim calcmode="lin" valueType="num">
                                      <p:cBhvr additive="base">
                                        <p:cTn id="24" dur="500" fill="hold"/>
                                        <p:tgtEl>
                                          <p:spTgt spid="15"/>
                                        </p:tgtEl>
                                        <p:attrNameLst>
                                          <p:attrName>ppt_x</p:attrName>
                                        </p:attrNameLst>
                                      </p:cBhvr>
                                      <p:tavLst>
                                        <p:tav tm="0">
                                          <p:val>
                                            <p:strVal val="1+#ppt_w/2"/>
                                          </p:val>
                                        </p:tav>
                                        <p:tav tm="100000">
                                          <p:val>
                                            <p:strVal val="#ppt_x"/>
                                          </p:val>
                                        </p:tav>
                                      </p:tavLst>
                                    </p:anim>
                                    <p:anim calcmode="lin" valueType="num">
                                      <p:cBhvr additive="base">
                                        <p:cTn id="25" dur="500" fill="hold"/>
                                        <p:tgtEl>
                                          <p:spTgt spid="15"/>
                                        </p:tgtEl>
                                        <p:attrNameLst>
                                          <p:attrName>ppt_y</p:attrName>
                                        </p:attrNameLst>
                                      </p:cBhvr>
                                      <p:tavLst>
                                        <p:tav tm="0">
                                          <p:val>
                                            <p:strVal val="#ppt_y"/>
                                          </p:val>
                                        </p:tav>
                                        <p:tav tm="100000">
                                          <p:val>
                                            <p:strVal val="#ppt_y"/>
                                          </p:val>
                                        </p:tav>
                                      </p:tavLst>
                                    </p:anim>
                                  </p:childTnLst>
                                </p:cTn>
                              </p:par>
                              <p:par>
                                <p:cTn id="26" presetID="2" presetClass="entr" presetSubtype="2" fill="hold" nodeType="withEffect">
                                  <p:stCondLst>
                                    <p:cond delay="0"/>
                                  </p:stCondLst>
                                  <p:childTnLst>
                                    <p:set>
                                      <p:cBhvr>
                                        <p:cTn id="27" dur="1" fill="hold">
                                          <p:stCondLst>
                                            <p:cond delay="0"/>
                                          </p:stCondLst>
                                        </p:cTn>
                                        <p:tgtEl>
                                          <p:spTgt spid="23"/>
                                        </p:tgtEl>
                                        <p:attrNameLst>
                                          <p:attrName>style.visibility</p:attrName>
                                        </p:attrNameLst>
                                      </p:cBhvr>
                                      <p:to>
                                        <p:strVal val="visible"/>
                                      </p:to>
                                    </p:set>
                                    <p:anim calcmode="lin" valueType="num">
                                      <p:cBhvr additive="base">
                                        <p:cTn id="28" dur="500" fill="hold"/>
                                        <p:tgtEl>
                                          <p:spTgt spid="23"/>
                                        </p:tgtEl>
                                        <p:attrNameLst>
                                          <p:attrName>ppt_x</p:attrName>
                                        </p:attrNameLst>
                                      </p:cBhvr>
                                      <p:tavLst>
                                        <p:tav tm="0">
                                          <p:val>
                                            <p:strVal val="1+#ppt_w/2"/>
                                          </p:val>
                                        </p:tav>
                                        <p:tav tm="100000">
                                          <p:val>
                                            <p:strVal val="#ppt_x"/>
                                          </p:val>
                                        </p:tav>
                                      </p:tavLst>
                                    </p:anim>
                                    <p:anim calcmode="lin" valueType="num">
                                      <p:cBhvr additive="base">
                                        <p:cTn id="29" dur="500" fill="hold"/>
                                        <p:tgtEl>
                                          <p:spTgt spid="23"/>
                                        </p:tgtEl>
                                        <p:attrNameLst>
                                          <p:attrName>ppt_y</p:attrName>
                                        </p:attrNameLst>
                                      </p:cBhvr>
                                      <p:tavLst>
                                        <p:tav tm="0">
                                          <p:val>
                                            <p:strVal val="#ppt_y"/>
                                          </p:val>
                                        </p:tav>
                                        <p:tav tm="100000">
                                          <p:val>
                                            <p:strVal val="#ppt_y"/>
                                          </p:val>
                                        </p:tav>
                                      </p:tavLst>
                                    </p:anim>
                                  </p:childTnLst>
                                </p:cTn>
                              </p:par>
                              <p:par>
                                <p:cTn id="30" presetID="2" presetClass="entr" presetSubtype="2" fill="hold" nodeType="withEffect">
                                  <p:stCondLst>
                                    <p:cond delay="0"/>
                                  </p:stCondLst>
                                  <p:childTnLst>
                                    <p:set>
                                      <p:cBhvr>
                                        <p:cTn id="31" dur="1" fill="hold">
                                          <p:stCondLst>
                                            <p:cond delay="0"/>
                                          </p:stCondLst>
                                        </p:cTn>
                                        <p:tgtEl>
                                          <p:spTgt spid="2"/>
                                        </p:tgtEl>
                                        <p:attrNameLst>
                                          <p:attrName>style.visibility</p:attrName>
                                        </p:attrNameLst>
                                      </p:cBhvr>
                                      <p:to>
                                        <p:strVal val="visible"/>
                                      </p:to>
                                    </p:set>
                                    <p:anim calcmode="lin" valueType="num">
                                      <p:cBhvr additive="base">
                                        <p:cTn id="32" dur="500" fill="hold"/>
                                        <p:tgtEl>
                                          <p:spTgt spid="2"/>
                                        </p:tgtEl>
                                        <p:attrNameLst>
                                          <p:attrName>ppt_x</p:attrName>
                                        </p:attrNameLst>
                                      </p:cBhvr>
                                      <p:tavLst>
                                        <p:tav tm="0">
                                          <p:val>
                                            <p:strVal val="1+#ppt_w/2"/>
                                          </p:val>
                                        </p:tav>
                                        <p:tav tm="100000">
                                          <p:val>
                                            <p:strVal val="#ppt_x"/>
                                          </p:val>
                                        </p:tav>
                                      </p:tavLst>
                                    </p:anim>
                                    <p:anim calcmode="lin" valueType="num">
                                      <p:cBhvr additive="base">
                                        <p:cTn id="33"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组合 20"/>
          <p:cNvGrpSpPr/>
          <p:nvPr/>
        </p:nvGrpSpPr>
        <p:grpSpPr>
          <a:xfrm>
            <a:off x="-2846530" y="-1770744"/>
            <a:ext cx="8399978" cy="7688943"/>
            <a:chOff x="-2846530" y="-1770744"/>
            <a:chExt cx="8399978" cy="7688943"/>
          </a:xfrm>
        </p:grpSpPr>
        <p:sp>
          <p:nvSpPr>
            <p:cNvPr id="2" name="椭圆 1"/>
            <p:cNvSpPr/>
            <p:nvPr/>
          </p:nvSpPr>
          <p:spPr>
            <a:xfrm>
              <a:off x="-2846530" y="-1770744"/>
              <a:ext cx="7688943" cy="7688943"/>
            </a:xfrm>
            <a:prstGeom prst="ellipse">
              <a:avLst/>
            </a:prstGeom>
            <a:solidFill>
              <a:srgbClr val="D8EFFD"/>
            </a:solidFill>
            <a:ln>
              <a:noFill/>
            </a:ln>
            <a:effectLst>
              <a:outerShdw blurRad="279400" dist="38100" dir="2700000" sx="101000" sy="101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5" name="文本框 14"/>
            <p:cNvSpPr txBox="1"/>
            <p:nvPr/>
          </p:nvSpPr>
          <p:spPr>
            <a:xfrm>
              <a:off x="-1214742" y="1161142"/>
              <a:ext cx="6768190" cy="3770263"/>
            </a:xfrm>
            <a:prstGeom prst="rect">
              <a:avLst/>
            </a:prstGeom>
            <a:noFill/>
          </p:spPr>
          <p:txBody>
            <a:bodyPr wrap="square" rtlCol="0">
              <a:spAutoFit/>
            </a:bodyPr>
            <a:lstStyle/>
            <a:p>
              <a:pPr algn="ctr"/>
              <a:r>
                <a:rPr lang="en-US" altLang="zh-CN" sz="23900" dirty="0">
                  <a:solidFill>
                    <a:srgbClr val="10507E"/>
                  </a:solidFill>
                  <a:effectLst>
                    <a:outerShdw blurRad="63500" sx="101000" sy="101000" algn="ctr" rotWithShape="0">
                      <a:prstClr val="black">
                        <a:alpha val="40000"/>
                      </a:prstClr>
                    </a:outerShdw>
                  </a:effectLst>
                  <a:cs typeface="+mn-ea"/>
                  <a:sym typeface="+mn-lt"/>
                </a:rPr>
                <a:t>03</a:t>
              </a:r>
              <a:endParaRPr lang="zh-CN" altLang="en-US" sz="23900" dirty="0">
                <a:solidFill>
                  <a:srgbClr val="10507E"/>
                </a:solidFill>
                <a:effectLst>
                  <a:outerShdw blurRad="63500" sx="101000" sy="101000" algn="ctr" rotWithShape="0">
                    <a:prstClr val="black">
                      <a:alpha val="40000"/>
                    </a:prstClr>
                  </a:outerShdw>
                </a:effectLst>
                <a:cs typeface="+mn-ea"/>
                <a:sym typeface="+mn-lt"/>
              </a:endParaRPr>
            </a:p>
          </p:txBody>
        </p:sp>
      </p:grpSp>
      <p:grpSp>
        <p:nvGrpSpPr>
          <p:cNvPr id="18" name="组合 17"/>
          <p:cNvGrpSpPr/>
          <p:nvPr/>
        </p:nvGrpSpPr>
        <p:grpSpPr>
          <a:xfrm>
            <a:off x="5140956" y="2474962"/>
            <a:ext cx="6584315" cy="1142621"/>
            <a:chOff x="5862081" y="2617371"/>
            <a:chExt cx="6584315" cy="1142621"/>
          </a:xfrm>
        </p:grpSpPr>
        <p:sp>
          <p:nvSpPr>
            <p:cNvPr id="16" name="文本框 15"/>
            <p:cNvSpPr txBox="1"/>
            <p:nvPr/>
          </p:nvSpPr>
          <p:spPr>
            <a:xfrm>
              <a:off x="5862081" y="2617371"/>
              <a:ext cx="6584315" cy="1014730"/>
            </a:xfrm>
            <a:prstGeom prst="rect">
              <a:avLst/>
            </a:prstGeom>
            <a:noFill/>
          </p:spPr>
          <p:txBody>
            <a:bodyPr wrap="square" rtlCol="0">
              <a:spAutoFit/>
            </a:bodyPr>
            <a:lstStyle/>
            <a:p>
              <a:pPr algn="dist"/>
              <a:r>
                <a:rPr lang="zh-CN" altLang="en-US" sz="6000" dirty="0">
                  <a:solidFill>
                    <a:schemeClr val="tx1">
                      <a:lumMod val="75000"/>
                      <a:lumOff val="25000"/>
                    </a:schemeClr>
                  </a:solidFill>
                  <a:cs typeface="+mn-ea"/>
                  <a:sym typeface="+mn-lt"/>
                </a:rPr>
                <a:t>系统设计及其</a:t>
              </a:r>
              <a:r>
                <a:rPr lang="zh-CN" altLang="en-US" sz="6000" dirty="0">
                  <a:solidFill>
                    <a:schemeClr val="tx1">
                      <a:lumMod val="75000"/>
                      <a:lumOff val="25000"/>
                    </a:schemeClr>
                  </a:solidFill>
                  <a:cs typeface="+mn-ea"/>
                  <a:sym typeface="+mn-lt"/>
                </a:rPr>
                <a:t>实现</a:t>
              </a:r>
              <a:endParaRPr lang="zh-CN" altLang="en-US" sz="6000" dirty="0">
                <a:solidFill>
                  <a:schemeClr val="tx1">
                    <a:lumMod val="75000"/>
                    <a:lumOff val="25000"/>
                  </a:schemeClr>
                </a:solidFill>
                <a:cs typeface="+mn-ea"/>
                <a:sym typeface="+mn-lt"/>
              </a:endParaRPr>
            </a:p>
          </p:txBody>
        </p:sp>
        <p:sp>
          <p:nvSpPr>
            <p:cNvPr id="17" name="文本框 16"/>
            <p:cNvSpPr txBox="1"/>
            <p:nvPr/>
          </p:nvSpPr>
          <p:spPr>
            <a:xfrm>
              <a:off x="5862081" y="3506076"/>
              <a:ext cx="6477909" cy="253916"/>
            </a:xfrm>
            <a:prstGeom prst="rect">
              <a:avLst/>
            </a:prstGeom>
            <a:noFill/>
          </p:spPr>
          <p:txBody>
            <a:bodyPr wrap="square" rtlCol="0">
              <a:spAutoFit/>
            </a:bodyPr>
            <a:lstStyle/>
            <a:p>
              <a:pPr algn="dist"/>
              <a:r>
                <a:rPr lang="en-US" altLang="zh-CN" sz="1050" dirty="0">
                  <a:cs typeface="+mn-ea"/>
                  <a:sym typeface="+mn-lt"/>
                </a:rPr>
                <a:t>RESEARCH BACKGROUND AND CURRENT SITUATION</a:t>
              </a:r>
              <a:endParaRPr lang="zh-CN" altLang="en-US" sz="1050" dirty="0">
                <a:cs typeface="+mn-ea"/>
                <a:sym typeface="+mn-lt"/>
              </a:endParaRPr>
            </a:p>
          </p:txBody>
        </p:sp>
      </p:grpSp>
      <p:sp>
        <p:nvSpPr>
          <p:cNvPr id="19" name="圆: 空心 18"/>
          <p:cNvSpPr/>
          <p:nvPr/>
        </p:nvSpPr>
        <p:spPr>
          <a:xfrm>
            <a:off x="10808543" y="5670073"/>
            <a:ext cx="2766913" cy="2766913"/>
          </a:xfrm>
          <a:prstGeom prst="donut">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cs typeface="+mn-ea"/>
              <a:sym typeface="+mn-lt"/>
            </a:endParaRPr>
          </a:p>
        </p:txBody>
      </p:sp>
    </p:spTree>
    <p:custDataLst>
      <p:tags r:id="rId1"/>
    </p:custDataLst>
  </p:cSld>
  <p:clrMapOvr>
    <a:masterClrMapping/>
  </p:clrMapOvr>
  <mc:AlternateContent xmlns:mc="http://schemas.openxmlformats.org/markup-compatibility/2006">
    <mc:Choice xmlns:p14="http://schemas.microsoft.com/office/powerpoint/2010/main" Requires="p14">
      <p:transition spd="slow" p14:dur="1500" advTm="2360">
        <p:random/>
      </p:transition>
    </mc:Choice>
    <mc:Fallback>
      <p:transition spd="slow" advTm="2360">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1000"/>
                                        <p:tgtEl>
                                          <p:spTgt spid="21"/>
                                        </p:tgtEl>
                                      </p:cBhvr>
                                    </p:animEffect>
                                    <p:anim calcmode="lin" valueType="num">
                                      <p:cBhvr>
                                        <p:cTn id="8" dur="1000" fill="hold"/>
                                        <p:tgtEl>
                                          <p:spTgt spid="21"/>
                                        </p:tgtEl>
                                        <p:attrNameLst>
                                          <p:attrName>ppt_x</p:attrName>
                                        </p:attrNameLst>
                                      </p:cBhvr>
                                      <p:tavLst>
                                        <p:tav tm="0">
                                          <p:val>
                                            <p:strVal val="#ppt_x"/>
                                          </p:val>
                                        </p:tav>
                                        <p:tav tm="100000">
                                          <p:val>
                                            <p:strVal val="#ppt_x"/>
                                          </p:val>
                                        </p:tav>
                                      </p:tavLst>
                                    </p:anim>
                                    <p:anim calcmode="lin" valueType="num">
                                      <p:cBhvr>
                                        <p:cTn id="9" dur="10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0"/>
                                  </p:stCondLst>
                                  <p:childTnLst>
                                    <p:set>
                                      <p:cBhvr>
                                        <p:cTn id="13" dur="1" fill="hold">
                                          <p:stCondLst>
                                            <p:cond delay="0"/>
                                          </p:stCondLst>
                                        </p:cTn>
                                        <p:tgtEl>
                                          <p:spTgt spid="18"/>
                                        </p:tgtEl>
                                        <p:attrNameLst>
                                          <p:attrName>style.visibility</p:attrName>
                                        </p:attrNameLst>
                                      </p:cBhvr>
                                      <p:to>
                                        <p:strVal val="visible"/>
                                      </p:to>
                                    </p:set>
                                    <p:animEffect transition="in" filter="wipe(left)">
                                      <p:cBhvr>
                                        <p:cTn id="14" dur="500"/>
                                        <p:tgtEl>
                                          <p:spTgt spid="18"/>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1000"/>
                                        <p:tgtEl>
                                          <p:spTgt spid="19"/>
                                        </p:tgtEl>
                                      </p:cBhvr>
                                    </p:animEffect>
                                    <p:anim calcmode="lin" valueType="num">
                                      <p:cBhvr>
                                        <p:cTn id="20" dur="1000" fill="hold"/>
                                        <p:tgtEl>
                                          <p:spTgt spid="19"/>
                                        </p:tgtEl>
                                        <p:attrNameLst>
                                          <p:attrName>ppt_x</p:attrName>
                                        </p:attrNameLst>
                                      </p:cBhvr>
                                      <p:tavLst>
                                        <p:tav tm="0">
                                          <p:val>
                                            <p:strVal val="#ppt_x"/>
                                          </p:val>
                                        </p:tav>
                                        <p:tav tm="100000">
                                          <p:val>
                                            <p:strVal val="#ppt_x"/>
                                          </p:val>
                                        </p:tav>
                                      </p:tavLst>
                                    </p:anim>
                                    <p:anim calcmode="lin" valueType="num">
                                      <p:cBhvr>
                                        <p:cTn id="21"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系统设计及其</a:t>
                </a:r>
                <a:r>
                  <a:rPr lang="zh-CN" altLang="en-US" sz="3200" dirty="0">
                    <a:solidFill>
                      <a:schemeClr val="tx1">
                        <a:lumMod val="75000"/>
                        <a:lumOff val="25000"/>
                      </a:schemeClr>
                    </a:solidFill>
                    <a:cs typeface="+mn-ea"/>
                    <a:sym typeface="+mn-lt"/>
                  </a:rPr>
                  <a:t>实现</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03.</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46" name="组合 45"/>
          <p:cNvGrpSpPr/>
          <p:nvPr/>
        </p:nvGrpSpPr>
        <p:grpSpPr>
          <a:xfrm>
            <a:off x="673100" y="1473723"/>
            <a:ext cx="10879992" cy="5436086"/>
            <a:chOff x="673100" y="1473723"/>
            <a:chExt cx="10879992" cy="5436086"/>
          </a:xfrm>
        </p:grpSpPr>
        <p:grpSp>
          <p:nvGrpSpPr>
            <p:cNvPr id="9" name="ïŝḻîḑé"/>
            <p:cNvGrpSpPr/>
            <p:nvPr/>
          </p:nvGrpSpPr>
          <p:grpSpPr>
            <a:xfrm>
              <a:off x="673100" y="2305176"/>
              <a:ext cx="10845800" cy="2146143"/>
              <a:chOff x="1267063" y="2254531"/>
              <a:chExt cx="9773218" cy="2609570"/>
            </a:xfrm>
          </p:grpSpPr>
          <p:sp>
            <p:nvSpPr>
              <p:cNvPr id="10" name="ïś1iḓê"/>
              <p:cNvSpPr/>
              <p:nvPr/>
            </p:nvSpPr>
            <p:spPr>
              <a:xfrm>
                <a:off x="1267063" y="4211672"/>
                <a:ext cx="2280103" cy="652353"/>
              </a:xfrm>
              <a:prstGeom prst="roundRect">
                <a:avLst>
                  <a:gd name="adj" fmla="val 5000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cs typeface="+mn-ea"/>
                  <a:sym typeface="+mn-lt"/>
                </a:endParaRPr>
              </a:p>
            </p:txBody>
          </p:sp>
          <p:sp>
            <p:nvSpPr>
              <p:cNvPr id="11" name="îṩḷíde"/>
              <p:cNvSpPr/>
              <p:nvPr/>
            </p:nvSpPr>
            <p:spPr>
              <a:xfrm>
                <a:off x="3857136" y="3559317"/>
                <a:ext cx="2019480" cy="652356"/>
              </a:xfrm>
              <a:prstGeom prst="roundRect">
                <a:avLst>
                  <a:gd name="adj" fmla="val 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cs typeface="+mn-ea"/>
                  <a:sym typeface="+mn-lt"/>
                </a:endParaRPr>
              </a:p>
            </p:txBody>
          </p:sp>
          <p:sp>
            <p:nvSpPr>
              <p:cNvPr id="12" name="ïṧ1iḑe"/>
              <p:cNvSpPr/>
              <p:nvPr/>
            </p:nvSpPr>
            <p:spPr>
              <a:xfrm>
                <a:off x="6301917" y="2907041"/>
                <a:ext cx="2019480" cy="652356"/>
              </a:xfrm>
              <a:prstGeom prst="roundRect">
                <a:avLst>
                  <a:gd name="adj" fmla="val 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cs typeface="+mn-ea"/>
                  <a:sym typeface="+mn-lt"/>
                </a:endParaRPr>
              </a:p>
            </p:txBody>
          </p:sp>
          <p:sp>
            <p:nvSpPr>
              <p:cNvPr id="13" name="ísḷîḑè"/>
              <p:cNvSpPr/>
              <p:nvPr/>
            </p:nvSpPr>
            <p:spPr>
              <a:xfrm>
                <a:off x="8760178" y="2254532"/>
                <a:ext cx="2280103" cy="652353"/>
              </a:xfrm>
              <a:prstGeom prst="roundRect">
                <a:avLst>
                  <a:gd name="adj" fmla="val 5000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cs typeface="+mn-ea"/>
                  <a:sym typeface="+mn-lt"/>
                </a:endParaRPr>
              </a:p>
            </p:txBody>
          </p:sp>
          <p:sp>
            <p:nvSpPr>
              <p:cNvPr id="14" name="îSḻíḑe"/>
              <p:cNvSpPr/>
              <p:nvPr/>
            </p:nvSpPr>
            <p:spPr>
              <a:xfrm flipV="1">
                <a:off x="8321397" y="2254531"/>
                <a:ext cx="438781" cy="1304862"/>
              </a:xfrm>
              <a:custGeom>
                <a:avLst/>
                <a:gdLst>
                  <a:gd name="connsiteX0" fmla="*/ 962026 w 962026"/>
                  <a:gd name="connsiteY0" fmla="*/ 1924050 h 1924050"/>
                  <a:gd name="connsiteX1" fmla="*/ 962026 w 962026"/>
                  <a:gd name="connsiteY1" fmla="*/ 962025 h 1924050"/>
                  <a:gd name="connsiteX2" fmla="*/ 962025 w 962026"/>
                  <a:gd name="connsiteY2" fmla="*/ 962025 h 1924050"/>
                  <a:gd name="connsiteX3" fmla="*/ 0 w 962026"/>
                  <a:gd name="connsiteY3" fmla="*/ 0 h 1924050"/>
                  <a:gd name="connsiteX4" fmla="*/ 0 w 962026"/>
                  <a:gd name="connsiteY4" fmla="*/ 962025 h 1924050"/>
                  <a:gd name="connsiteX5" fmla="*/ 1 w 962026"/>
                  <a:gd name="connsiteY5" fmla="*/ 962025 h 1924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62026" h="1924050">
                    <a:moveTo>
                      <a:pt x="962026" y="1924050"/>
                    </a:moveTo>
                    <a:lnTo>
                      <a:pt x="962026" y="962025"/>
                    </a:lnTo>
                    <a:lnTo>
                      <a:pt x="962025" y="962025"/>
                    </a:lnTo>
                    <a:lnTo>
                      <a:pt x="0" y="0"/>
                    </a:lnTo>
                    <a:lnTo>
                      <a:pt x="0" y="962025"/>
                    </a:lnTo>
                    <a:lnTo>
                      <a:pt x="1" y="962025"/>
                    </a:ln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cs typeface="+mn-ea"/>
                  <a:sym typeface="+mn-lt"/>
                </a:endParaRPr>
              </a:p>
            </p:txBody>
          </p:sp>
          <p:sp>
            <p:nvSpPr>
              <p:cNvPr id="15" name="îṧ1íḍé"/>
              <p:cNvSpPr/>
              <p:nvPr/>
            </p:nvSpPr>
            <p:spPr>
              <a:xfrm flipV="1">
                <a:off x="5863136" y="2906884"/>
                <a:ext cx="438781" cy="1304862"/>
              </a:xfrm>
              <a:custGeom>
                <a:avLst/>
                <a:gdLst>
                  <a:gd name="connsiteX0" fmla="*/ 962026 w 962026"/>
                  <a:gd name="connsiteY0" fmla="*/ 1924050 h 1924050"/>
                  <a:gd name="connsiteX1" fmla="*/ 962026 w 962026"/>
                  <a:gd name="connsiteY1" fmla="*/ 962025 h 1924050"/>
                  <a:gd name="connsiteX2" fmla="*/ 962025 w 962026"/>
                  <a:gd name="connsiteY2" fmla="*/ 962025 h 1924050"/>
                  <a:gd name="connsiteX3" fmla="*/ 0 w 962026"/>
                  <a:gd name="connsiteY3" fmla="*/ 0 h 1924050"/>
                  <a:gd name="connsiteX4" fmla="*/ 0 w 962026"/>
                  <a:gd name="connsiteY4" fmla="*/ 962025 h 1924050"/>
                  <a:gd name="connsiteX5" fmla="*/ 1 w 962026"/>
                  <a:gd name="connsiteY5" fmla="*/ 962025 h 1924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62026" h="1924050">
                    <a:moveTo>
                      <a:pt x="962026" y="1924050"/>
                    </a:moveTo>
                    <a:lnTo>
                      <a:pt x="962026" y="962025"/>
                    </a:lnTo>
                    <a:lnTo>
                      <a:pt x="962025" y="962025"/>
                    </a:lnTo>
                    <a:lnTo>
                      <a:pt x="0" y="0"/>
                    </a:lnTo>
                    <a:lnTo>
                      <a:pt x="0" y="962025"/>
                    </a:lnTo>
                    <a:lnTo>
                      <a:pt x="1" y="962025"/>
                    </a:ln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cs typeface="+mn-ea"/>
                  <a:sym typeface="+mn-lt"/>
                </a:endParaRPr>
              </a:p>
            </p:txBody>
          </p:sp>
          <p:sp>
            <p:nvSpPr>
              <p:cNvPr id="21" name="iṥľïďè"/>
              <p:cNvSpPr/>
              <p:nvPr/>
            </p:nvSpPr>
            <p:spPr>
              <a:xfrm flipV="1">
                <a:off x="3431835" y="3559239"/>
                <a:ext cx="438781" cy="1304862"/>
              </a:xfrm>
              <a:custGeom>
                <a:avLst/>
                <a:gdLst>
                  <a:gd name="connsiteX0" fmla="*/ 962026 w 962026"/>
                  <a:gd name="connsiteY0" fmla="*/ 1924050 h 1924050"/>
                  <a:gd name="connsiteX1" fmla="*/ 962026 w 962026"/>
                  <a:gd name="connsiteY1" fmla="*/ 962025 h 1924050"/>
                  <a:gd name="connsiteX2" fmla="*/ 962025 w 962026"/>
                  <a:gd name="connsiteY2" fmla="*/ 962025 h 1924050"/>
                  <a:gd name="connsiteX3" fmla="*/ 0 w 962026"/>
                  <a:gd name="connsiteY3" fmla="*/ 0 h 1924050"/>
                  <a:gd name="connsiteX4" fmla="*/ 0 w 962026"/>
                  <a:gd name="connsiteY4" fmla="*/ 962025 h 1924050"/>
                  <a:gd name="connsiteX5" fmla="*/ 1 w 962026"/>
                  <a:gd name="connsiteY5" fmla="*/ 962025 h 1924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62026" h="1924050">
                    <a:moveTo>
                      <a:pt x="962026" y="1924050"/>
                    </a:moveTo>
                    <a:lnTo>
                      <a:pt x="962026" y="962025"/>
                    </a:lnTo>
                    <a:lnTo>
                      <a:pt x="962025" y="962025"/>
                    </a:lnTo>
                    <a:lnTo>
                      <a:pt x="0" y="0"/>
                    </a:lnTo>
                    <a:lnTo>
                      <a:pt x="0" y="962025"/>
                    </a:lnTo>
                    <a:lnTo>
                      <a:pt x="1" y="962025"/>
                    </a:ln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cs typeface="+mn-ea"/>
                  <a:sym typeface="+mn-lt"/>
                </a:endParaRPr>
              </a:p>
            </p:txBody>
          </p:sp>
          <p:sp>
            <p:nvSpPr>
              <p:cNvPr id="22" name="ïṥļiḍe"/>
              <p:cNvSpPr/>
              <p:nvPr/>
            </p:nvSpPr>
            <p:spPr>
              <a:xfrm>
                <a:off x="2147426" y="4211672"/>
                <a:ext cx="1283837" cy="652353"/>
              </a:xfrm>
              <a:prstGeom prst="roundRect">
                <a:avLst>
                  <a:gd name="adj" fmla="val 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cs typeface="+mn-ea"/>
                  <a:sym typeface="+mn-lt"/>
                </a:endParaRPr>
              </a:p>
            </p:txBody>
          </p:sp>
          <p:sp>
            <p:nvSpPr>
              <p:cNvPr id="23" name="îṥḷïďè"/>
              <p:cNvSpPr/>
              <p:nvPr/>
            </p:nvSpPr>
            <p:spPr>
              <a:xfrm>
                <a:off x="8760179" y="2254532"/>
                <a:ext cx="1071182" cy="652353"/>
              </a:xfrm>
              <a:prstGeom prst="roundRect">
                <a:avLst>
                  <a:gd name="adj" fmla="val 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cs typeface="+mn-ea"/>
                  <a:sym typeface="+mn-lt"/>
                </a:endParaRPr>
              </a:p>
            </p:txBody>
          </p:sp>
        </p:grpSp>
        <p:grpSp>
          <p:nvGrpSpPr>
            <p:cNvPr id="5" name="组合 4"/>
            <p:cNvGrpSpPr/>
            <p:nvPr/>
          </p:nvGrpSpPr>
          <p:grpSpPr>
            <a:xfrm>
              <a:off x="1624257" y="3051612"/>
              <a:ext cx="653143" cy="653143"/>
              <a:chOff x="1624257" y="2964528"/>
              <a:chExt cx="653143" cy="653143"/>
            </a:xfrm>
          </p:grpSpPr>
          <p:sp>
            <p:nvSpPr>
              <p:cNvPr id="2" name="椭圆 1"/>
              <p:cNvSpPr/>
              <p:nvPr/>
            </p:nvSpPr>
            <p:spPr>
              <a:xfrm>
                <a:off x="1624257" y="2964528"/>
                <a:ext cx="653143" cy="653143"/>
              </a:xfrm>
              <a:prstGeom prst="ellipse">
                <a:avLst/>
              </a:prstGeom>
              <a:solidFill>
                <a:srgbClr val="69C0E1"/>
              </a:solidFill>
              <a:ln>
                <a:noFill/>
              </a:ln>
              <a:effectLst>
                <a:outerShdw blurRad="215900" dist="38100" dir="5400000" sx="116000" sy="116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pic>
            <p:nvPicPr>
              <p:cNvPr id="4" name="图片 3"/>
              <p:cNvPicPr>
                <a:picLocks noChangeAspect="1"/>
              </p:cNvPicPr>
              <p:nvPr/>
            </p:nvPicPr>
            <p:blipFill>
              <a:blip r:embed="rId1"/>
              <a:stretch>
                <a:fillRect/>
              </a:stretch>
            </p:blipFill>
            <p:spPr>
              <a:xfrm>
                <a:off x="1798613" y="3140242"/>
                <a:ext cx="301715" cy="301715"/>
              </a:xfrm>
              <a:prstGeom prst="rect">
                <a:avLst/>
              </a:prstGeom>
            </p:spPr>
          </p:pic>
        </p:grpSp>
        <p:grpSp>
          <p:nvGrpSpPr>
            <p:cNvPr id="27" name="组合 26"/>
            <p:cNvGrpSpPr/>
            <p:nvPr/>
          </p:nvGrpSpPr>
          <p:grpSpPr>
            <a:xfrm>
              <a:off x="4439738" y="2515107"/>
              <a:ext cx="653143" cy="653143"/>
              <a:chOff x="4439738" y="2428023"/>
              <a:chExt cx="653143" cy="653143"/>
            </a:xfrm>
          </p:grpSpPr>
          <p:sp>
            <p:nvSpPr>
              <p:cNvPr id="24" name="椭圆 23"/>
              <p:cNvSpPr/>
              <p:nvPr/>
            </p:nvSpPr>
            <p:spPr>
              <a:xfrm>
                <a:off x="4439738" y="2428023"/>
                <a:ext cx="653143" cy="653143"/>
              </a:xfrm>
              <a:prstGeom prst="ellipse">
                <a:avLst/>
              </a:prstGeom>
              <a:solidFill>
                <a:srgbClr val="69C0E1"/>
              </a:solidFill>
              <a:ln>
                <a:noFill/>
              </a:ln>
              <a:effectLst>
                <a:outerShdw blurRad="215900" dist="38100" dir="5400000" sx="116000" sy="116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pic>
            <p:nvPicPr>
              <p:cNvPr id="7" name="图片 6"/>
              <p:cNvPicPr>
                <a:picLocks noChangeAspect="1"/>
              </p:cNvPicPr>
              <p:nvPr/>
            </p:nvPicPr>
            <p:blipFill>
              <a:blip r:embed="rId2"/>
              <a:stretch>
                <a:fillRect/>
              </a:stretch>
            </p:blipFill>
            <p:spPr>
              <a:xfrm>
                <a:off x="4587945" y="2607826"/>
                <a:ext cx="356728" cy="304799"/>
              </a:xfrm>
              <a:prstGeom prst="rect">
                <a:avLst/>
              </a:prstGeom>
            </p:spPr>
          </p:pic>
        </p:grpSp>
        <p:grpSp>
          <p:nvGrpSpPr>
            <p:cNvPr id="30" name="组合 29"/>
            <p:cNvGrpSpPr/>
            <p:nvPr/>
          </p:nvGrpSpPr>
          <p:grpSpPr>
            <a:xfrm>
              <a:off x="7054498" y="1978604"/>
              <a:ext cx="653143" cy="653143"/>
              <a:chOff x="7054498" y="1891520"/>
              <a:chExt cx="653143" cy="653143"/>
            </a:xfrm>
          </p:grpSpPr>
          <p:sp>
            <p:nvSpPr>
              <p:cNvPr id="25" name="椭圆 24"/>
              <p:cNvSpPr/>
              <p:nvPr/>
            </p:nvSpPr>
            <p:spPr>
              <a:xfrm>
                <a:off x="7054498" y="1891520"/>
                <a:ext cx="653143" cy="653143"/>
              </a:xfrm>
              <a:prstGeom prst="ellipse">
                <a:avLst/>
              </a:prstGeom>
              <a:solidFill>
                <a:srgbClr val="69C0E1"/>
              </a:solidFill>
              <a:ln>
                <a:noFill/>
              </a:ln>
              <a:effectLst>
                <a:outerShdw blurRad="215900" dist="38100" dir="5400000" sx="116000" sy="116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pic>
            <p:nvPicPr>
              <p:cNvPr id="29" name="图片 28"/>
              <p:cNvPicPr>
                <a:picLocks noChangeAspect="1"/>
              </p:cNvPicPr>
              <p:nvPr/>
            </p:nvPicPr>
            <p:blipFill>
              <a:blip r:embed="rId3"/>
              <a:stretch>
                <a:fillRect/>
              </a:stretch>
            </p:blipFill>
            <p:spPr>
              <a:xfrm>
                <a:off x="7245074" y="2068821"/>
                <a:ext cx="279486" cy="298541"/>
              </a:xfrm>
              <a:prstGeom prst="rect">
                <a:avLst/>
              </a:prstGeom>
            </p:spPr>
          </p:pic>
        </p:grpSp>
        <p:grpSp>
          <p:nvGrpSpPr>
            <p:cNvPr id="33" name="组合 32"/>
            <p:cNvGrpSpPr/>
            <p:nvPr/>
          </p:nvGrpSpPr>
          <p:grpSpPr>
            <a:xfrm>
              <a:off x="9850732" y="1473723"/>
              <a:ext cx="653143" cy="653143"/>
              <a:chOff x="9850732" y="1386639"/>
              <a:chExt cx="653143" cy="653143"/>
            </a:xfrm>
          </p:grpSpPr>
          <p:sp>
            <p:nvSpPr>
              <p:cNvPr id="26" name="椭圆 25"/>
              <p:cNvSpPr/>
              <p:nvPr/>
            </p:nvSpPr>
            <p:spPr>
              <a:xfrm>
                <a:off x="9850732" y="1386639"/>
                <a:ext cx="653143" cy="653143"/>
              </a:xfrm>
              <a:prstGeom prst="ellipse">
                <a:avLst/>
              </a:prstGeom>
              <a:solidFill>
                <a:srgbClr val="69C0E1"/>
              </a:solidFill>
              <a:ln>
                <a:noFill/>
              </a:ln>
              <a:effectLst>
                <a:outerShdw blurRad="215900" dist="38100" dir="5400000" sx="116000" sy="116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pic>
            <p:nvPicPr>
              <p:cNvPr id="32" name="图片 31"/>
              <p:cNvPicPr>
                <a:picLocks noChangeAspect="1"/>
              </p:cNvPicPr>
              <p:nvPr/>
            </p:nvPicPr>
            <p:blipFill>
              <a:blip r:embed="rId4"/>
              <a:stretch>
                <a:fillRect/>
              </a:stretch>
            </p:blipFill>
            <p:spPr>
              <a:xfrm>
                <a:off x="10002685" y="1537515"/>
                <a:ext cx="349236" cy="351391"/>
              </a:xfrm>
              <a:prstGeom prst="rect">
                <a:avLst/>
              </a:prstGeom>
            </p:spPr>
          </p:pic>
        </p:grpSp>
        <p:grpSp>
          <p:nvGrpSpPr>
            <p:cNvPr id="36" name="组合 35"/>
            <p:cNvGrpSpPr/>
            <p:nvPr/>
          </p:nvGrpSpPr>
          <p:grpSpPr>
            <a:xfrm>
              <a:off x="747522" y="4547582"/>
              <a:ext cx="2558655" cy="2362227"/>
              <a:chOff x="776550" y="4750778"/>
              <a:chExt cx="2558655" cy="2362227"/>
            </a:xfrm>
          </p:grpSpPr>
          <p:sp>
            <p:nvSpPr>
              <p:cNvPr id="34" name="文本框 33"/>
              <p:cNvSpPr txBox="1"/>
              <p:nvPr/>
            </p:nvSpPr>
            <p:spPr>
              <a:xfrm>
                <a:off x="776550" y="4750778"/>
                <a:ext cx="2455545" cy="460375"/>
              </a:xfrm>
              <a:prstGeom prst="rect">
                <a:avLst/>
              </a:prstGeom>
              <a:noFill/>
            </p:spPr>
            <p:txBody>
              <a:bodyPr wrap="square" rtlCol="0">
                <a:spAutoFit/>
              </a:bodyPr>
              <a:lstStyle/>
              <a:p>
                <a:pPr algn="ctr"/>
                <a:r>
                  <a:rPr lang="zh-CN" altLang="en-US" sz="2400" dirty="0">
                    <a:solidFill>
                      <a:schemeClr val="tx1">
                        <a:lumMod val="85000"/>
                        <a:lumOff val="15000"/>
                      </a:schemeClr>
                    </a:solidFill>
                    <a:cs typeface="+mn-ea"/>
                    <a:sym typeface="+mn-lt"/>
                  </a:rPr>
                  <a:t>开发工具</a:t>
                </a:r>
                <a:r>
                  <a:rPr lang="en-US" altLang="zh-CN" sz="2400" dirty="0">
                    <a:solidFill>
                      <a:schemeClr val="tx1">
                        <a:lumMod val="85000"/>
                        <a:lumOff val="15000"/>
                      </a:schemeClr>
                    </a:solidFill>
                    <a:cs typeface="+mn-ea"/>
                    <a:sym typeface="+mn-lt"/>
                  </a:rPr>
                  <a:t>idea</a:t>
                </a:r>
                <a:endParaRPr lang="en-US" altLang="zh-CN" sz="2400" dirty="0">
                  <a:solidFill>
                    <a:schemeClr val="tx1">
                      <a:lumMod val="85000"/>
                      <a:lumOff val="15000"/>
                    </a:schemeClr>
                  </a:solidFill>
                  <a:cs typeface="+mn-ea"/>
                  <a:sym typeface="+mn-lt"/>
                </a:endParaRPr>
              </a:p>
            </p:txBody>
          </p:sp>
          <p:sp>
            <p:nvSpPr>
              <p:cNvPr id="35" name="文本框 34"/>
              <p:cNvSpPr txBox="1"/>
              <p:nvPr/>
            </p:nvSpPr>
            <p:spPr>
              <a:xfrm>
                <a:off x="865450" y="5226420"/>
                <a:ext cx="2469755" cy="1886585"/>
              </a:xfrm>
              <a:prstGeom prst="rect">
                <a:avLst/>
              </a:prstGeom>
              <a:noFill/>
            </p:spPr>
            <p:txBody>
              <a:bodyPr wrap="square" rtlCol="0">
                <a:spAutoFit/>
              </a:bodyPr>
              <a:lstStyle/>
              <a:p>
                <a:pPr algn="l" fontAlgn="auto">
                  <a:lnSpc>
                    <a:spcPts val="2000"/>
                  </a:lnSpc>
                </a:pPr>
                <a:r>
                  <a:rPr lang="zh-CN" altLang="en-US" sz="1400" spc="300" dirty="0">
                    <a:solidFill>
                      <a:schemeClr val="tx1">
                        <a:lumMod val="75000"/>
                        <a:lumOff val="25000"/>
                      </a:schemeClr>
                    </a:solidFill>
                    <a:cs typeface="+mn-ea"/>
                    <a:sym typeface="+mn-lt"/>
                  </a:rPr>
                  <a:t>强大的整合能力：比如Git、Maven、Spring等支持。</a:t>
                </a:r>
                <a:endParaRPr lang="zh-CN" altLang="en-US" sz="1400" spc="300" dirty="0">
                  <a:solidFill>
                    <a:schemeClr val="tx1">
                      <a:lumMod val="75000"/>
                      <a:lumOff val="25000"/>
                    </a:schemeClr>
                  </a:solidFill>
                  <a:cs typeface="+mn-ea"/>
                  <a:sym typeface="+mn-lt"/>
                </a:endParaRPr>
              </a:p>
              <a:p>
                <a:pPr algn="l" fontAlgn="auto">
                  <a:lnSpc>
                    <a:spcPts val="2000"/>
                  </a:lnSpc>
                </a:pPr>
                <a:r>
                  <a:rPr lang="zh-CN" altLang="en-US" sz="1400" spc="300" dirty="0">
                    <a:solidFill>
                      <a:schemeClr val="tx1">
                        <a:lumMod val="75000"/>
                        <a:lumOff val="25000"/>
                      </a:schemeClr>
                    </a:solidFill>
                    <a:cs typeface="+mn-ea"/>
                    <a:sym typeface="+mn-lt"/>
                  </a:rPr>
                  <a:t>提示功能的快速、便捷。</a:t>
                </a:r>
                <a:endParaRPr lang="zh-CN" altLang="en-US" sz="1400" spc="300" dirty="0">
                  <a:solidFill>
                    <a:schemeClr val="tx1">
                      <a:lumMod val="75000"/>
                      <a:lumOff val="25000"/>
                    </a:schemeClr>
                  </a:solidFill>
                  <a:cs typeface="+mn-ea"/>
                  <a:sym typeface="+mn-lt"/>
                </a:endParaRPr>
              </a:p>
              <a:p>
                <a:pPr algn="l" fontAlgn="auto">
                  <a:lnSpc>
                    <a:spcPts val="2000"/>
                  </a:lnSpc>
                </a:pPr>
                <a:r>
                  <a:rPr lang="zh-CN" altLang="en-US" sz="1400" spc="300" dirty="0">
                    <a:solidFill>
                      <a:schemeClr val="tx1">
                        <a:lumMod val="75000"/>
                        <a:lumOff val="25000"/>
                      </a:schemeClr>
                    </a:solidFill>
                    <a:cs typeface="+mn-ea"/>
                    <a:sym typeface="+mn-lt"/>
                  </a:rPr>
                  <a:t>提示功能的范围比较广。</a:t>
                </a:r>
                <a:endParaRPr lang="zh-CN" altLang="en-US" sz="1400" spc="300" dirty="0">
                  <a:solidFill>
                    <a:schemeClr val="tx1">
                      <a:lumMod val="75000"/>
                      <a:lumOff val="25000"/>
                    </a:schemeClr>
                  </a:solidFill>
                  <a:cs typeface="+mn-ea"/>
                  <a:sym typeface="+mn-lt"/>
                </a:endParaRPr>
              </a:p>
              <a:p>
                <a:pPr algn="l" fontAlgn="auto">
                  <a:lnSpc>
                    <a:spcPts val="2000"/>
                  </a:lnSpc>
                </a:pPr>
                <a:r>
                  <a:rPr lang="zh-CN" altLang="en-US" sz="1400" spc="300" dirty="0">
                    <a:solidFill>
                      <a:schemeClr val="tx1">
                        <a:lumMod val="75000"/>
                        <a:lumOff val="25000"/>
                      </a:schemeClr>
                    </a:solidFill>
                    <a:cs typeface="+mn-ea"/>
                    <a:sym typeface="+mn-lt"/>
                  </a:rPr>
                  <a:t>精准搜索。</a:t>
                </a:r>
                <a:endParaRPr lang="zh-CN" altLang="en-US" sz="1400" spc="300" dirty="0">
                  <a:solidFill>
                    <a:schemeClr val="tx1">
                      <a:lumMod val="75000"/>
                      <a:lumOff val="25000"/>
                    </a:schemeClr>
                  </a:solidFill>
                  <a:cs typeface="+mn-ea"/>
                  <a:sym typeface="+mn-lt"/>
                </a:endParaRPr>
              </a:p>
              <a:p>
                <a:pPr algn="l">
                  <a:lnSpc>
                    <a:spcPts val="2000"/>
                  </a:lnSpc>
                </a:pPr>
                <a:endParaRPr lang="zh-CN" altLang="en-US" sz="1400" spc="300" dirty="0">
                  <a:solidFill>
                    <a:schemeClr val="tx1">
                      <a:lumMod val="75000"/>
                      <a:lumOff val="25000"/>
                    </a:schemeClr>
                  </a:solidFill>
                  <a:cs typeface="+mn-ea"/>
                  <a:sym typeface="+mn-lt"/>
                </a:endParaRPr>
              </a:p>
            </p:txBody>
          </p:sp>
        </p:grpSp>
        <p:grpSp>
          <p:nvGrpSpPr>
            <p:cNvPr id="37" name="组合 36"/>
            <p:cNvGrpSpPr/>
            <p:nvPr/>
          </p:nvGrpSpPr>
          <p:grpSpPr>
            <a:xfrm>
              <a:off x="3526842" y="4134633"/>
              <a:ext cx="2471660" cy="1849147"/>
              <a:chOff x="863545" y="4750778"/>
              <a:chExt cx="2471660" cy="1849147"/>
            </a:xfrm>
          </p:grpSpPr>
          <p:sp>
            <p:nvSpPr>
              <p:cNvPr id="38" name="文本框 37"/>
              <p:cNvSpPr txBox="1"/>
              <p:nvPr/>
            </p:nvSpPr>
            <p:spPr>
              <a:xfrm>
                <a:off x="863545" y="4750778"/>
                <a:ext cx="2245995" cy="460375"/>
              </a:xfrm>
              <a:prstGeom prst="rect">
                <a:avLst/>
              </a:prstGeom>
              <a:noFill/>
            </p:spPr>
            <p:txBody>
              <a:bodyPr wrap="square" rtlCol="0">
                <a:spAutoFit/>
              </a:bodyPr>
              <a:lstStyle/>
              <a:p>
                <a:pPr algn="ctr"/>
                <a:r>
                  <a:rPr lang="en-US" altLang="zh-CN" sz="2400" dirty="0">
                    <a:solidFill>
                      <a:schemeClr val="tx1">
                        <a:lumMod val="85000"/>
                        <a:lumOff val="15000"/>
                      </a:schemeClr>
                    </a:solidFill>
                    <a:cs typeface="+mn-ea"/>
                    <a:sym typeface="+mn-lt"/>
                  </a:rPr>
                  <a:t>MySQL</a:t>
                </a:r>
                <a:r>
                  <a:rPr lang="zh-CN" altLang="en-US" sz="2400" dirty="0">
                    <a:solidFill>
                      <a:schemeClr val="tx1">
                        <a:lumMod val="85000"/>
                        <a:lumOff val="15000"/>
                      </a:schemeClr>
                    </a:solidFill>
                    <a:cs typeface="+mn-ea"/>
                    <a:sym typeface="+mn-lt"/>
                  </a:rPr>
                  <a:t>数据库</a:t>
                </a:r>
                <a:endParaRPr lang="zh-CN" altLang="en-US" sz="2400" dirty="0">
                  <a:solidFill>
                    <a:schemeClr val="tx1">
                      <a:lumMod val="85000"/>
                      <a:lumOff val="15000"/>
                    </a:schemeClr>
                  </a:solidFill>
                  <a:cs typeface="+mn-ea"/>
                  <a:sym typeface="+mn-lt"/>
                </a:endParaRPr>
              </a:p>
            </p:txBody>
          </p:sp>
          <p:sp>
            <p:nvSpPr>
              <p:cNvPr id="39" name="文本框 38"/>
              <p:cNvSpPr txBox="1"/>
              <p:nvPr/>
            </p:nvSpPr>
            <p:spPr>
              <a:xfrm>
                <a:off x="865450" y="5226420"/>
                <a:ext cx="2469755" cy="1373505"/>
              </a:xfrm>
              <a:prstGeom prst="rect">
                <a:avLst/>
              </a:prstGeom>
              <a:noFill/>
            </p:spPr>
            <p:txBody>
              <a:bodyPr wrap="square" rtlCol="0">
                <a:spAutoFit/>
              </a:bodyPr>
              <a:lstStyle/>
              <a:p>
                <a:pPr algn="l" fontAlgn="auto">
                  <a:lnSpc>
                    <a:spcPts val="2000"/>
                  </a:lnSpc>
                </a:pPr>
                <a:r>
                  <a:rPr lang="zh-CN" altLang="en-US" sz="1400" spc="300" dirty="0">
                    <a:solidFill>
                      <a:schemeClr val="tx1">
                        <a:lumMod val="75000"/>
                        <a:lumOff val="25000"/>
                      </a:schemeClr>
                    </a:solidFill>
                    <a:cs typeface="+mn-ea"/>
                    <a:sym typeface="+mn-lt"/>
                  </a:rPr>
                  <a:t>MySQL的运行速度快，且体积小，命令执行的速度快，MySQL是开源的，而且提供免费版本供开发人员使用。</a:t>
                </a:r>
                <a:endParaRPr lang="zh-CN" altLang="en-US" sz="1400" spc="300" dirty="0">
                  <a:solidFill>
                    <a:schemeClr val="tx1">
                      <a:lumMod val="75000"/>
                      <a:lumOff val="25000"/>
                    </a:schemeClr>
                  </a:solidFill>
                  <a:cs typeface="+mn-ea"/>
                  <a:sym typeface="+mn-lt"/>
                </a:endParaRPr>
              </a:p>
            </p:txBody>
          </p:sp>
        </p:grpSp>
        <p:grpSp>
          <p:nvGrpSpPr>
            <p:cNvPr id="40" name="组合 39"/>
            <p:cNvGrpSpPr/>
            <p:nvPr/>
          </p:nvGrpSpPr>
          <p:grpSpPr>
            <a:xfrm>
              <a:off x="6221072" y="3560018"/>
              <a:ext cx="2469755" cy="2875307"/>
              <a:chOff x="865450" y="4750778"/>
              <a:chExt cx="2469755" cy="2875307"/>
            </a:xfrm>
          </p:grpSpPr>
          <p:sp>
            <p:nvSpPr>
              <p:cNvPr id="41" name="文本框 40"/>
              <p:cNvSpPr txBox="1"/>
              <p:nvPr/>
            </p:nvSpPr>
            <p:spPr>
              <a:xfrm>
                <a:off x="906090" y="4750778"/>
                <a:ext cx="2273935" cy="460375"/>
              </a:xfrm>
              <a:prstGeom prst="rect">
                <a:avLst/>
              </a:prstGeom>
              <a:noFill/>
            </p:spPr>
            <p:txBody>
              <a:bodyPr wrap="square" rtlCol="0">
                <a:spAutoFit/>
              </a:bodyPr>
              <a:lstStyle/>
              <a:p>
                <a:pPr algn="ctr"/>
                <a:r>
                  <a:rPr lang="zh-CN" altLang="en-US" sz="2400" dirty="0">
                    <a:solidFill>
                      <a:schemeClr val="tx1">
                        <a:lumMod val="85000"/>
                        <a:lumOff val="15000"/>
                      </a:schemeClr>
                    </a:solidFill>
                    <a:cs typeface="+mn-ea"/>
                    <a:sym typeface="+mn-lt"/>
                  </a:rPr>
                  <a:t>开发语言</a:t>
                </a:r>
                <a:r>
                  <a:rPr lang="en-US" altLang="zh-CN" sz="2400" dirty="0">
                    <a:solidFill>
                      <a:schemeClr val="tx1">
                        <a:lumMod val="85000"/>
                        <a:lumOff val="15000"/>
                      </a:schemeClr>
                    </a:solidFill>
                    <a:cs typeface="+mn-ea"/>
                    <a:sym typeface="+mn-lt"/>
                  </a:rPr>
                  <a:t>Java</a:t>
                </a:r>
                <a:endParaRPr lang="en-US" altLang="zh-CN" sz="2400" dirty="0">
                  <a:solidFill>
                    <a:schemeClr val="tx1">
                      <a:lumMod val="85000"/>
                      <a:lumOff val="15000"/>
                    </a:schemeClr>
                  </a:solidFill>
                  <a:cs typeface="+mn-ea"/>
                  <a:sym typeface="+mn-lt"/>
                </a:endParaRPr>
              </a:p>
            </p:txBody>
          </p:sp>
          <p:sp>
            <p:nvSpPr>
              <p:cNvPr id="42" name="文本框 41"/>
              <p:cNvSpPr txBox="1"/>
              <p:nvPr/>
            </p:nvSpPr>
            <p:spPr>
              <a:xfrm>
                <a:off x="865450" y="5226420"/>
                <a:ext cx="2469755" cy="2399665"/>
              </a:xfrm>
              <a:prstGeom prst="rect">
                <a:avLst/>
              </a:prstGeom>
              <a:noFill/>
            </p:spPr>
            <p:txBody>
              <a:bodyPr wrap="square" rtlCol="0">
                <a:spAutoFit/>
              </a:bodyPr>
              <a:lstStyle/>
              <a:p>
                <a:pPr algn="l" fontAlgn="auto">
                  <a:lnSpc>
                    <a:spcPts val="2000"/>
                  </a:lnSpc>
                </a:pPr>
                <a:r>
                  <a:rPr lang="zh-CN" altLang="en-US" sz="1400" spc="300" dirty="0">
                    <a:solidFill>
                      <a:schemeClr val="tx1">
                        <a:lumMod val="75000"/>
                        <a:lumOff val="25000"/>
                      </a:schemeClr>
                    </a:solidFill>
                    <a:cs typeface="+mn-ea"/>
                    <a:sym typeface="+mn-lt"/>
                  </a:rPr>
                  <a:t>Java 是由 Sun Microsystems 公司于 1995 年 5 月推出的 Java 面向对象程序设计语言和 Java 平台的总称。Java是一种面向对象的语言，拥有封装、继承、多态三大特性。</a:t>
                </a:r>
                <a:endParaRPr lang="zh-CN" altLang="en-US" sz="1400" spc="300" dirty="0">
                  <a:solidFill>
                    <a:schemeClr val="tx1">
                      <a:lumMod val="75000"/>
                      <a:lumOff val="25000"/>
                    </a:schemeClr>
                  </a:solidFill>
                  <a:cs typeface="+mn-ea"/>
                  <a:sym typeface="+mn-lt"/>
                </a:endParaRPr>
              </a:p>
            </p:txBody>
          </p:sp>
        </p:grpSp>
        <p:grpSp>
          <p:nvGrpSpPr>
            <p:cNvPr id="43" name="组合 42"/>
            <p:cNvGrpSpPr/>
            <p:nvPr/>
          </p:nvGrpSpPr>
          <p:grpSpPr>
            <a:xfrm>
              <a:off x="8501917" y="3071236"/>
              <a:ext cx="3051175" cy="2875307"/>
              <a:chOff x="453970" y="4750778"/>
              <a:chExt cx="3051175" cy="2875307"/>
            </a:xfrm>
          </p:grpSpPr>
          <p:sp>
            <p:nvSpPr>
              <p:cNvPr id="44" name="文本框 43"/>
              <p:cNvSpPr txBox="1"/>
              <p:nvPr/>
            </p:nvSpPr>
            <p:spPr>
              <a:xfrm>
                <a:off x="453970" y="4750778"/>
                <a:ext cx="3051175" cy="460375"/>
              </a:xfrm>
              <a:prstGeom prst="rect">
                <a:avLst/>
              </a:prstGeom>
              <a:noFill/>
            </p:spPr>
            <p:txBody>
              <a:bodyPr wrap="square" rtlCol="0">
                <a:spAutoFit/>
              </a:bodyPr>
              <a:lstStyle/>
              <a:p>
                <a:pPr algn="ctr"/>
                <a:r>
                  <a:rPr lang="zh-CN" altLang="en-US" sz="2400" dirty="0">
                    <a:solidFill>
                      <a:schemeClr val="tx1">
                        <a:lumMod val="85000"/>
                        <a:lumOff val="15000"/>
                      </a:schemeClr>
                    </a:solidFill>
                    <a:cs typeface="+mn-ea"/>
                    <a:sym typeface="+mn-lt"/>
                  </a:rPr>
                  <a:t>框架</a:t>
                </a:r>
                <a:r>
                  <a:rPr lang="en-US" altLang="zh-CN" sz="2400" dirty="0">
                    <a:solidFill>
                      <a:schemeClr val="tx1">
                        <a:lumMod val="85000"/>
                        <a:lumOff val="15000"/>
                      </a:schemeClr>
                    </a:solidFill>
                    <a:cs typeface="+mn-ea"/>
                    <a:sym typeface="+mn-lt"/>
                  </a:rPr>
                  <a:t>spring boot</a:t>
                </a:r>
                <a:endParaRPr lang="en-US" altLang="zh-CN" sz="2400" dirty="0">
                  <a:solidFill>
                    <a:schemeClr val="tx1">
                      <a:lumMod val="85000"/>
                      <a:lumOff val="15000"/>
                    </a:schemeClr>
                  </a:solidFill>
                  <a:cs typeface="+mn-ea"/>
                  <a:sym typeface="+mn-lt"/>
                </a:endParaRPr>
              </a:p>
            </p:txBody>
          </p:sp>
          <p:sp>
            <p:nvSpPr>
              <p:cNvPr id="45" name="文本框 44"/>
              <p:cNvSpPr txBox="1"/>
              <p:nvPr/>
            </p:nvSpPr>
            <p:spPr>
              <a:xfrm>
                <a:off x="865450" y="5226420"/>
                <a:ext cx="2469755" cy="2399665"/>
              </a:xfrm>
              <a:prstGeom prst="rect">
                <a:avLst/>
              </a:prstGeom>
              <a:noFill/>
            </p:spPr>
            <p:txBody>
              <a:bodyPr wrap="square" rtlCol="0">
                <a:spAutoFit/>
              </a:bodyPr>
              <a:lstStyle/>
              <a:p>
                <a:pPr algn="l" fontAlgn="auto">
                  <a:lnSpc>
                    <a:spcPts val="2000"/>
                  </a:lnSpc>
                </a:pPr>
                <a:r>
                  <a:rPr lang="zh-CN" altLang="en-US" sz="1400" spc="300" dirty="0">
                    <a:solidFill>
                      <a:schemeClr val="tx1">
                        <a:lumMod val="75000"/>
                        <a:lumOff val="25000"/>
                      </a:schemeClr>
                    </a:solidFill>
                    <a:cs typeface="+mn-ea"/>
                    <a:sym typeface="+mn-lt"/>
                  </a:rPr>
                  <a:t>设计目的是用来简化新 Spring 应用的初始搭建以及开发过程。该框架使用了特定的方式来进行配置，从而使开发人员不再需要定义样板化的配置。</a:t>
                </a:r>
                <a:r>
                  <a:rPr lang="en-US" altLang="zh-CN" sz="1400" spc="300" dirty="0">
                    <a:solidFill>
                      <a:schemeClr val="tx1">
                        <a:lumMod val="75000"/>
                        <a:lumOff val="25000"/>
                      </a:schemeClr>
                    </a:solidFill>
                    <a:cs typeface="+mn-ea"/>
                    <a:sym typeface="+mn-lt"/>
                  </a:rPr>
                  <a:t>springboot</a:t>
                </a:r>
                <a:r>
                  <a:rPr lang="zh-CN" altLang="en-US" sz="1400" spc="300" dirty="0">
                    <a:solidFill>
                      <a:schemeClr val="tx1">
                        <a:lumMod val="75000"/>
                        <a:lumOff val="25000"/>
                      </a:schemeClr>
                    </a:solidFill>
                    <a:cs typeface="+mn-ea"/>
                    <a:sym typeface="+mn-lt"/>
                  </a:rPr>
                  <a:t>的优点</a:t>
                </a:r>
                <a:r>
                  <a:rPr lang="zh-CN" altLang="en-US" sz="1400" spc="300" dirty="0">
                    <a:solidFill>
                      <a:schemeClr val="tx1">
                        <a:lumMod val="75000"/>
                        <a:lumOff val="25000"/>
                      </a:schemeClr>
                    </a:solidFill>
                    <a:cs typeface="+mn-ea"/>
                    <a:sym typeface="+mn-lt"/>
                  </a:rPr>
                  <a:t>就是简单、快速、方便。</a:t>
                </a:r>
                <a:endParaRPr lang="zh-CN" altLang="en-US" sz="1400" spc="300" dirty="0">
                  <a:solidFill>
                    <a:schemeClr val="tx1">
                      <a:lumMod val="75000"/>
                      <a:lumOff val="25000"/>
                    </a:schemeClr>
                  </a:solidFill>
                  <a:cs typeface="+mn-ea"/>
                  <a:sym typeface="+mn-lt"/>
                </a:endParaRPr>
              </a:p>
            </p:txBody>
          </p:sp>
        </p:grpSp>
      </p:grpSp>
    </p:spTree>
    <p:custDataLst>
      <p:tags r:id="rId5"/>
    </p:custDataLst>
  </p:cSld>
  <p:clrMapOvr>
    <a:masterClrMapping/>
  </p:clrMapOvr>
  <mc:AlternateContent xmlns:mc="http://schemas.openxmlformats.org/markup-compatibility/2006">
    <mc:Choice xmlns:p14="http://schemas.microsoft.com/office/powerpoint/2010/main" Requires="p14">
      <p:transition spd="slow" p14:dur="1500" advTm="1083">
        <p:random/>
      </p:transition>
    </mc:Choice>
    <mc:Fallback>
      <p:transition spd="slow" advTm="1083">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46"/>
                                        </p:tgtEl>
                                        <p:attrNameLst>
                                          <p:attrName>style.visibility</p:attrName>
                                        </p:attrNameLst>
                                      </p:cBhvr>
                                      <p:to>
                                        <p:strVal val="visible"/>
                                      </p:to>
                                    </p:set>
                                    <p:animEffect transition="in" filter="wipe(left)">
                                      <p:cBhvr>
                                        <p:cTn id="17"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系统设计及其</a:t>
                </a:r>
                <a:r>
                  <a:rPr lang="zh-CN" altLang="en-US" sz="3200" dirty="0">
                    <a:solidFill>
                      <a:schemeClr val="tx1">
                        <a:lumMod val="75000"/>
                        <a:lumOff val="25000"/>
                      </a:schemeClr>
                    </a:solidFill>
                    <a:cs typeface="+mn-ea"/>
                    <a:sym typeface="+mn-lt"/>
                  </a:rPr>
                  <a:t>实现</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03.</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 name="矩形 2"/>
          <p:cNvSpPr/>
          <p:nvPr/>
        </p:nvSpPr>
        <p:spPr>
          <a:xfrm>
            <a:off x="967105" y="1092200"/>
            <a:ext cx="1530350" cy="43688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2400"/>
              <a:t>概念设计</a:t>
            </a:r>
            <a:endParaRPr lang="zh-CN" altLang="en-US" sz="2400"/>
          </a:p>
        </p:txBody>
      </p:sp>
      <p:sp>
        <p:nvSpPr>
          <p:cNvPr id="4" name="矩形 3"/>
          <p:cNvSpPr/>
          <p:nvPr/>
        </p:nvSpPr>
        <p:spPr>
          <a:xfrm>
            <a:off x="439420" y="1686560"/>
            <a:ext cx="11403330" cy="1574165"/>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zh-CN" altLang="en-US" sz="2000"/>
              <a:t>每个实体都在数据库中有相应的表，实体的每一个属性与相应表内的每一列列名对应。经过系统的考虑和设计，本系统主要有如下实体：客户实体，用户实体，流失客户实体，开发计划实体，订单实体，角色实体等等。</a:t>
            </a:r>
            <a:endParaRPr lang="zh-CN" altLang="en-US" sz="2000"/>
          </a:p>
        </p:txBody>
      </p:sp>
      <p:pic>
        <p:nvPicPr>
          <p:cNvPr id="5" name="图片 2"/>
          <p:cNvPicPr>
            <a:picLocks noChangeAspect="1"/>
          </p:cNvPicPr>
          <p:nvPr>
            <p:custDataLst>
              <p:tags r:id="rId1"/>
            </p:custDataLst>
          </p:nvPr>
        </p:nvPicPr>
        <p:blipFill>
          <a:blip r:embed="rId2"/>
          <a:stretch>
            <a:fillRect/>
          </a:stretch>
        </p:blipFill>
        <p:spPr>
          <a:xfrm>
            <a:off x="505143" y="3041968"/>
            <a:ext cx="4679315" cy="3396615"/>
          </a:xfrm>
          <a:prstGeom prst="rect">
            <a:avLst/>
          </a:prstGeom>
          <a:noFill/>
          <a:ln>
            <a:noFill/>
          </a:ln>
        </p:spPr>
      </p:pic>
      <p:pic>
        <p:nvPicPr>
          <p:cNvPr id="6" name="图片 3"/>
          <p:cNvPicPr>
            <a:picLocks noChangeAspect="1"/>
          </p:cNvPicPr>
          <p:nvPr/>
        </p:nvPicPr>
        <p:blipFill>
          <a:blip r:embed="rId3"/>
          <a:stretch>
            <a:fillRect/>
          </a:stretch>
        </p:blipFill>
        <p:spPr>
          <a:xfrm>
            <a:off x="6149658" y="2941320"/>
            <a:ext cx="4628515" cy="3497580"/>
          </a:xfrm>
          <a:prstGeom prst="rect">
            <a:avLst/>
          </a:prstGeom>
          <a:noFill/>
          <a:ln>
            <a:noFill/>
          </a:ln>
        </p:spPr>
      </p:pic>
    </p:spTree>
    <p:custDataLst>
      <p:tags r:id="rId4"/>
    </p:custDataLst>
  </p:cSld>
  <p:clrMapOvr>
    <a:masterClrMapping/>
  </p:clrMapOvr>
  <mc:AlternateContent xmlns:mc="http://schemas.openxmlformats.org/markup-compatibility/2006">
    <mc:Choice xmlns:p14="http://schemas.microsoft.com/office/powerpoint/2010/main" Requires="p14">
      <p:transition spd="slow" p14:dur="1500" advTm="3012">
        <p:random/>
      </p:transition>
    </mc:Choice>
    <mc:Fallback>
      <p:transition spd="slow" advTm="3012">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系统设计及其</a:t>
                </a:r>
                <a:r>
                  <a:rPr lang="zh-CN" altLang="en-US" sz="3200" dirty="0">
                    <a:solidFill>
                      <a:schemeClr val="tx1">
                        <a:lumMod val="75000"/>
                        <a:lumOff val="25000"/>
                      </a:schemeClr>
                    </a:solidFill>
                    <a:cs typeface="+mn-ea"/>
                    <a:sym typeface="+mn-lt"/>
                  </a:rPr>
                  <a:t>实现</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03.</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 name="矩形 2"/>
          <p:cNvSpPr/>
          <p:nvPr/>
        </p:nvSpPr>
        <p:spPr>
          <a:xfrm>
            <a:off x="967105" y="1092200"/>
            <a:ext cx="2030730" cy="43688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2400"/>
              <a:t>逻辑结构设计</a:t>
            </a:r>
            <a:endParaRPr lang="zh-CN" altLang="en-US" sz="2400"/>
          </a:p>
        </p:txBody>
      </p:sp>
      <p:sp>
        <p:nvSpPr>
          <p:cNvPr id="2" name="矩形 1"/>
          <p:cNvSpPr/>
          <p:nvPr/>
        </p:nvSpPr>
        <p:spPr>
          <a:xfrm>
            <a:off x="244475" y="1529080"/>
            <a:ext cx="11688445" cy="5136515"/>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zh-CN" altLang="en-US"/>
              <a:t>a)客户信息表（客户id，客户姓名，地区，类别，级别，客户地址，邮编，手机号，流失状态，有效状态，创建时间，更新时间。）</a:t>
            </a:r>
            <a:endParaRPr lang="zh-CN" altLang="en-US"/>
          </a:p>
          <a:p>
            <a:pPr algn="l" fontAlgn="auto"/>
            <a:r>
              <a:rPr lang="zh-CN" altLang="en-US"/>
              <a:t>b)用户信息表（用户id，用户姓名，用户密码，真实姓名，邮箱，电话，有效状态，创建时间，更新时间）</a:t>
            </a:r>
            <a:endParaRPr lang="zh-CN" altLang="en-US"/>
          </a:p>
          <a:p>
            <a:pPr algn="l" fontAlgn="auto"/>
            <a:r>
              <a:rPr lang="zh-CN" altLang="en-US"/>
              <a:t>c)流失客户信息表（流失客户id，客户id，客户姓名，最后下单时间，确认流失时间，流失状态，流失原因，有效状态，创建时间，更新时间）</a:t>
            </a:r>
            <a:endParaRPr lang="zh-CN" altLang="en-US"/>
          </a:p>
          <a:p>
            <a:pPr algn="l" fontAlgn="auto"/>
            <a:r>
              <a:rPr lang="zh-CN" altLang="en-US"/>
              <a:t>d)客户开发计划表（客户开发计划id，销售机会id，计划内容，计划日期，执行效果，创建时间，更新时间，有效状态）</a:t>
            </a:r>
            <a:endParaRPr lang="zh-CN" altLang="en-US"/>
          </a:p>
          <a:p>
            <a:pPr algn="l" fontAlgn="auto"/>
            <a:r>
              <a:rPr lang="zh-CN" altLang="en-US"/>
              <a:t>e)客户服务表（客户服务id，服务类型，服务概要，客户id，服务创建人，有效状态，服务状态，服务请求，创建时间，更新时间）</a:t>
            </a:r>
            <a:endParaRPr lang="zh-CN" altLang="en-US"/>
          </a:p>
          <a:p>
            <a:pPr algn="l" fontAlgn="auto"/>
            <a:r>
              <a:rPr lang="zh-CN" altLang="en-US"/>
              <a:t>f)客户订单表（订单id，客户id，订单编号，金额，有效状态，创建时间，更新时间，下单时间，地址）</a:t>
            </a:r>
            <a:endParaRPr lang="zh-CN" altLang="en-US"/>
          </a:p>
          <a:p>
            <a:pPr algn="l" fontAlgn="auto"/>
            <a:r>
              <a:rPr lang="zh-CN" altLang="en-US"/>
              <a:t>g)角色表（角色id，角色名称，角色备注，有效状态，创建时间，更新时间）</a:t>
            </a:r>
            <a:endParaRPr lang="zh-CN" altLang="en-US"/>
          </a:p>
          <a:p>
            <a:pPr algn="l" fontAlgn="auto"/>
            <a:r>
              <a:rPr lang="zh-CN" altLang="en-US"/>
              <a:t>h)销售机会表（销售机会id，客户来源，客户名称，成功几率，概要描述，客户开发状态，创建时间，更新时间）</a:t>
            </a:r>
            <a:endParaRPr lang="zh-CN" altLang="en-US"/>
          </a:p>
          <a:p>
            <a:pPr algn="l" fontAlgn="auto"/>
            <a:r>
              <a:rPr lang="zh-CN" altLang="en-US"/>
              <a:t>i)权限信息表（权限id，权限等级，权限名称，权限备注，权限有效状态，创建时间，更新时间）</a:t>
            </a:r>
            <a:endParaRPr lang="zh-CN" altLang="en-US"/>
          </a:p>
          <a:p>
            <a:pPr algn="l" fontAlgn="auto"/>
            <a:r>
              <a:rPr lang="zh-CN" altLang="en-US"/>
              <a:t>j)用户权限表（用户权限id，用户id，角色id，有效状态，创建时间，更新时间）</a:t>
            </a:r>
            <a:endParaRPr lang="zh-CN" altLang="en-US"/>
          </a:p>
          <a:p>
            <a:pPr algn="l" fontAlgn="auto"/>
            <a:r>
              <a:rPr lang="zh-CN" altLang="en-US"/>
              <a:t>k)权限角色关联表（权限角色id，角色id，权限id，有效状态，创建时间，更新时间）</a:t>
            </a:r>
            <a:endParaRPr lang="zh-CN" altLang="en-US"/>
          </a:p>
        </p:txBody>
      </p:sp>
    </p:spTree>
    <p:custDataLst>
      <p:tags r:id="rId1"/>
    </p:custDataLst>
  </p:cSld>
  <p:clrMapOvr>
    <a:masterClrMapping/>
  </p:clrMapOvr>
  <mc:AlternateContent xmlns:mc="http://schemas.openxmlformats.org/markup-compatibility/2006">
    <mc:Choice xmlns:p14="http://schemas.microsoft.com/office/powerpoint/2010/main" Requires="p14">
      <p:transition spd="slow" p14:dur="1500" advTm="3012">
        <p:random/>
      </p:transition>
    </mc:Choice>
    <mc:Fallback>
      <p:transition spd="slow" advTm="3012">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系统设计及其</a:t>
                </a:r>
                <a:r>
                  <a:rPr lang="zh-CN" altLang="en-US" sz="3200" dirty="0">
                    <a:solidFill>
                      <a:schemeClr val="tx1">
                        <a:lumMod val="75000"/>
                        <a:lumOff val="25000"/>
                      </a:schemeClr>
                    </a:solidFill>
                    <a:cs typeface="+mn-ea"/>
                    <a:sym typeface="+mn-lt"/>
                  </a:rPr>
                  <a:t>实现</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03.</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 name="矩形 2"/>
          <p:cNvSpPr/>
          <p:nvPr/>
        </p:nvSpPr>
        <p:spPr>
          <a:xfrm>
            <a:off x="967105" y="1092200"/>
            <a:ext cx="2030730" cy="43688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2400"/>
              <a:t>物理结构设计</a:t>
            </a:r>
            <a:endParaRPr lang="zh-CN" altLang="en-US" sz="2400"/>
          </a:p>
        </p:txBody>
      </p:sp>
      <p:sp>
        <p:nvSpPr>
          <p:cNvPr id="2" name="矩形 1"/>
          <p:cNvSpPr/>
          <p:nvPr/>
        </p:nvSpPr>
        <p:spPr>
          <a:xfrm>
            <a:off x="244475" y="1529080"/>
            <a:ext cx="11947525" cy="132969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en-US" altLang="zh-CN" sz="2000"/>
              <a:t>      </a:t>
            </a:r>
            <a:r>
              <a:rPr lang="zh-CN" altLang="en-US" sz="2000"/>
              <a:t>本系统采用的后台数据库是MySQL数据库系统，本数据库名称为“crm.db”，根据实体及其属性共设计出11张数据表。</a:t>
            </a:r>
            <a:endParaRPr lang="zh-CN" altLang="en-US" sz="2000"/>
          </a:p>
        </p:txBody>
      </p:sp>
      <p:pic>
        <p:nvPicPr>
          <p:cNvPr id="134" name="图片 1"/>
          <p:cNvPicPr>
            <a:picLocks noChangeAspect="1"/>
          </p:cNvPicPr>
          <p:nvPr/>
        </p:nvPicPr>
        <p:blipFill>
          <a:blip r:embed="rId1"/>
          <a:stretch>
            <a:fillRect/>
          </a:stretch>
        </p:blipFill>
        <p:spPr>
          <a:xfrm>
            <a:off x="516890" y="3008630"/>
            <a:ext cx="5251450" cy="2636520"/>
          </a:xfrm>
          <a:prstGeom prst="rect">
            <a:avLst/>
          </a:prstGeom>
          <a:noFill/>
          <a:ln>
            <a:noFill/>
          </a:ln>
        </p:spPr>
      </p:pic>
      <p:pic>
        <p:nvPicPr>
          <p:cNvPr id="36" name="图片 12"/>
          <p:cNvPicPr>
            <a:picLocks noChangeAspect="1"/>
          </p:cNvPicPr>
          <p:nvPr/>
        </p:nvPicPr>
        <p:blipFill>
          <a:blip r:embed="rId2"/>
          <a:stretch>
            <a:fillRect/>
          </a:stretch>
        </p:blipFill>
        <p:spPr>
          <a:xfrm>
            <a:off x="6078855" y="2690495"/>
            <a:ext cx="5808980" cy="3273425"/>
          </a:xfrm>
          <a:prstGeom prst="rect">
            <a:avLst/>
          </a:prstGeom>
          <a:noFill/>
          <a:ln>
            <a:noFill/>
          </a:ln>
        </p:spPr>
      </p:pic>
    </p:spTree>
    <p:custDataLst>
      <p:tags r:id="rId3"/>
    </p:custDataLst>
  </p:cSld>
  <p:clrMapOvr>
    <a:masterClrMapping/>
  </p:clrMapOvr>
  <mc:AlternateContent xmlns:mc="http://schemas.openxmlformats.org/markup-compatibility/2006">
    <mc:Choice xmlns:p14="http://schemas.microsoft.com/office/powerpoint/2010/main" Requires="p14">
      <p:transition spd="slow" p14:dur="1500" advTm="3012">
        <p:random/>
      </p:transition>
    </mc:Choice>
    <mc:Fallback>
      <p:transition spd="slow" advTm="3012">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系统设计及其</a:t>
                </a:r>
                <a:r>
                  <a:rPr lang="zh-CN" altLang="en-US" sz="3200" dirty="0">
                    <a:solidFill>
                      <a:schemeClr val="tx1">
                        <a:lumMod val="75000"/>
                        <a:lumOff val="25000"/>
                      </a:schemeClr>
                    </a:solidFill>
                    <a:cs typeface="+mn-ea"/>
                    <a:sym typeface="+mn-lt"/>
                  </a:rPr>
                  <a:t>实现</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03.</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 name="矩形 2"/>
          <p:cNvSpPr/>
          <p:nvPr/>
        </p:nvSpPr>
        <p:spPr>
          <a:xfrm>
            <a:off x="976630" y="1092200"/>
            <a:ext cx="2030730" cy="43688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2400"/>
              <a:t>用户登录界</a:t>
            </a:r>
            <a:r>
              <a:rPr lang="zh-CN" altLang="en-US" sz="2400"/>
              <a:t>面</a:t>
            </a:r>
            <a:endParaRPr lang="zh-CN" altLang="en-US" sz="2400"/>
          </a:p>
        </p:txBody>
      </p:sp>
      <p:sp>
        <p:nvSpPr>
          <p:cNvPr id="2" name="矩形 1"/>
          <p:cNvSpPr/>
          <p:nvPr/>
        </p:nvSpPr>
        <p:spPr>
          <a:xfrm>
            <a:off x="244475" y="1529080"/>
            <a:ext cx="11947525" cy="132969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en-US" altLang="zh-CN" sz="2000"/>
              <a:t>      </a:t>
            </a:r>
            <a:r>
              <a:rPr lang="zh-CN" altLang="en-US" sz="2000"/>
              <a:t>用户想要使用本客户关系管理系统时，需输入用户名和密码和随机生成的验证码，系统验证用户输入的用户名和密码与数据库中用户表进行比对，如果账号密码与数据库中的用户名、密码相匹配就准许进入系统，否则提示用户名或密码错误。</a:t>
            </a:r>
            <a:endParaRPr lang="zh-CN" altLang="en-US" sz="2000"/>
          </a:p>
        </p:txBody>
      </p:sp>
      <p:pic>
        <p:nvPicPr>
          <p:cNvPr id="138" name="图片 2"/>
          <p:cNvPicPr>
            <a:picLocks noChangeAspect="1"/>
          </p:cNvPicPr>
          <p:nvPr/>
        </p:nvPicPr>
        <p:blipFill>
          <a:blip r:embed="rId1"/>
          <a:stretch>
            <a:fillRect/>
          </a:stretch>
        </p:blipFill>
        <p:spPr>
          <a:xfrm>
            <a:off x="4039235" y="2482850"/>
            <a:ext cx="4357370" cy="3767455"/>
          </a:xfrm>
          <a:prstGeom prst="rect">
            <a:avLst/>
          </a:prstGeom>
          <a:noFill/>
          <a:ln>
            <a:noFill/>
          </a:ln>
        </p:spPr>
      </p:pic>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3012">
        <p:random/>
      </p:transition>
    </mc:Choice>
    <mc:Fallback>
      <p:transition spd="slow" advTm="3012">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系统设计及其</a:t>
                </a:r>
                <a:r>
                  <a:rPr lang="zh-CN" altLang="en-US" sz="3200" dirty="0">
                    <a:solidFill>
                      <a:schemeClr val="tx1">
                        <a:lumMod val="75000"/>
                        <a:lumOff val="25000"/>
                      </a:schemeClr>
                    </a:solidFill>
                    <a:cs typeface="+mn-ea"/>
                    <a:sym typeface="+mn-lt"/>
                  </a:rPr>
                  <a:t>实现</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03.</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 name="矩形 2"/>
          <p:cNvSpPr/>
          <p:nvPr/>
        </p:nvSpPr>
        <p:spPr>
          <a:xfrm>
            <a:off x="976630" y="1092200"/>
            <a:ext cx="2030730" cy="43688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2400"/>
              <a:t>主界</a:t>
            </a:r>
            <a:r>
              <a:rPr lang="zh-CN" altLang="en-US" sz="2400"/>
              <a:t>面</a:t>
            </a:r>
            <a:endParaRPr lang="zh-CN" altLang="en-US" sz="2400"/>
          </a:p>
        </p:txBody>
      </p:sp>
      <p:sp>
        <p:nvSpPr>
          <p:cNvPr id="2" name="矩形 1"/>
          <p:cNvSpPr/>
          <p:nvPr/>
        </p:nvSpPr>
        <p:spPr>
          <a:xfrm>
            <a:off x="244475" y="1529080"/>
            <a:ext cx="11947525" cy="132969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zh-CN" altLang="en-US" sz="2000"/>
              <a:t>用户成功登陆系统后将进入主页面，在主页面的左侧就是功能菜单，用户可以选择自己想要的功能，点击即可进入功能页面，但不同用户权限不同，没有模块的权限是无法访问的，管理员账号拥有所有权限。</a:t>
            </a:r>
            <a:endParaRPr lang="zh-CN" altLang="en-US" sz="2000"/>
          </a:p>
        </p:txBody>
      </p:sp>
      <p:pic>
        <p:nvPicPr>
          <p:cNvPr id="4" name="图片 1"/>
          <p:cNvPicPr>
            <a:picLocks noChangeAspect="1"/>
          </p:cNvPicPr>
          <p:nvPr/>
        </p:nvPicPr>
        <p:blipFill>
          <a:blip r:embed="rId1"/>
          <a:stretch>
            <a:fillRect/>
          </a:stretch>
        </p:blipFill>
        <p:spPr>
          <a:xfrm>
            <a:off x="1248410" y="2538730"/>
            <a:ext cx="9645015" cy="3930015"/>
          </a:xfrm>
          <a:prstGeom prst="rect">
            <a:avLst/>
          </a:prstGeom>
          <a:noFill/>
          <a:ln>
            <a:noFill/>
          </a:ln>
        </p:spPr>
      </p:pic>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3012">
        <p:random/>
      </p:transition>
    </mc:Choice>
    <mc:Fallback>
      <p:transition spd="slow" advTm="3012">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系统设计及其</a:t>
                </a:r>
                <a:r>
                  <a:rPr lang="zh-CN" altLang="en-US" sz="3200" dirty="0">
                    <a:solidFill>
                      <a:schemeClr val="tx1">
                        <a:lumMod val="75000"/>
                        <a:lumOff val="25000"/>
                      </a:schemeClr>
                    </a:solidFill>
                    <a:cs typeface="+mn-ea"/>
                    <a:sym typeface="+mn-lt"/>
                  </a:rPr>
                  <a:t>实现</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03.</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 name="矩形 2"/>
          <p:cNvSpPr/>
          <p:nvPr/>
        </p:nvSpPr>
        <p:spPr>
          <a:xfrm>
            <a:off x="976630" y="1092200"/>
            <a:ext cx="3605530" cy="43688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2400"/>
              <a:t>客户信息管理界面</a:t>
            </a:r>
            <a:endParaRPr lang="zh-CN" altLang="en-US" sz="2400"/>
          </a:p>
        </p:txBody>
      </p:sp>
      <p:sp>
        <p:nvSpPr>
          <p:cNvPr id="2" name="矩形 1"/>
          <p:cNvSpPr/>
          <p:nvPr/>
        </p:nvSpPr>
        <p:spPr>
          <a:xfrm>
            <a:off x="244475" y="1529080"/>
            <a:ext cx="11947525" cy="132969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zh-CN" altLang="en-US" sz="2000"/>
              <a:t>点击主界面中左侧“客户管理”进入此模块。点击“客户信息管理”，可以查看客户的基本信息完成客户的增加、删除、更改、查询客户信息。可以点击“企业”按钮或者“个人按钮”来进行筛选，筛选出企业客户或者个人客户。</a:t>
            </a:r>
            <a:endParaRPr lang="zh-CN" altLang="en-US" sz="2000"/>
          </a:p>
        </p:txBody>
      </p:sp>
      <p:pic>
        <p:nvPicPr>
          <p:cNvPr id="10" name="图片 3"/>
          <p:cNvPicPr>
            <a:picLocks noChangeAspect="1"/>
          </p:cNvPicPr>
          <p:nvPr/>
        </p:nvPicPr>
        <p:blipFill>
          <a:blip r:embed="rId1"/>
          <a:stretch>
            <a:fillRect/>
          </a:stretch>
        </p:blipFill>
        <p:spPr>
          <a:xfrm>
            <a:off x="493395" y="2730500"/>
            <a:ext cx="10038715" cy="3701415"/>
          </a:xfrm>
          <a:prstGeom prst="rect">
            <a:avLst/>
          </a:prstGeom>
          <a:noFill/>
          <a:ln>
            <a:noFill/>
          </a:ln>
        </p:spPr>
      </p:pic>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3012">
        <p:random/>
      </p:transition>
    </mc:Choice>
    <mc:Fallback>
      <p:transition spd="slow" advTm="3012">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系统设计及其</a:t>
                </a:r>
                <a:r>
                  <a:rPr lang="zh-CN" altLang="en-US" sz="3200" dirty="0">
                    <a:solidFill>
                      <a:schemeClr val="tx1">
                        <a:lumMod val="75000"/>
                        <a:lumOff val="25000"/>
                      </a:schemeClr>
                    </a:solidFill>
                    <a:cs typeface="+mn-ea"/>
                    <a:sym typeface="+mn-lt"/>
                  </a:rPr>
                  <a:t>实现</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03.</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 name="矩形 2"/>
          <p:cNvSpPr/>
          <p:nvPr/>
        </p:nvSpPr>
        <p:spPr>
          <a:xfrm>
            <a:off x="976630" y="1092200"/>
            <a:ext cx="2859405" cy="43688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2400"/>
              <a:t>客户订单查看界面</a:t>
            </a:r>
            <a:endParaRPr lang="zh-CN" altLang="en-US" sz="2400"/>
          </a:p>
        </p:txBody>
      </p:sp>
      <p:sp>
        <p:nvSpPr>
          <p:cNvPr id="2" name="矩形 1"/>
          <p:cNvSpPr/>
          <p:nvPr/>
        </p:nvSpPr>
        <p:spPr>
          <a:xfrm>
            <a:off x="244475" y="1529080"/>
            <a:ext cx="11947525" cy="132969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zh-CN" altLang="en-US" sz="2000"/>
              <a:t>点击主界面中左侧“客户管理”进入此模块。点击客户订单查看，可以进入客户订单查看页面，查看客户订单。可以根据客户编号来查询不同客户的订单，在搜索客户编号框内输入客户编号，进行查询某个客户的所有订单。当某个客户订单总额大于10000时，将自动升级为重点客户。</a:t>
            </a:r>
            <a:endParaRPr lang="zh-CN" altLang="en-US" sz="2000"/>
          </a:p>
        </p:txBody>
      </p:sp>
      <p:pic>
        <p:nvPicPr>
          <p:cNvPr id="13" name="图片 5"/>
          <p:cNvPicPr>
            <a:picLocks noChangeAspect="1"/>
          </p:cNvPicPr>
          <p:nvPr/>
        </p:nvPicPr>
        <p:blipFill>
          <a:blip r:embed="rId1"/>
          <a:stretch>
            <a:fillRect/>
          </a:stretch>
        </p:blipFill>
        <p:spPr>
          <a:xfrm>
            <a:off x="713105" y="2758440"/>
            <a:ext cx="10765790" cy="3649345"/>
          </a:xfrm>
          <a:prstGeom prst="rect">
            <a:avLst/>
          </a:prstGeom>
          <a:noFill/>
          <a:ln>
            <a:noFill/>
          </a:ln>
        </p:spPr>
      </p:pic>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3012">
        <p:random/>
      </p:transition>
    </mc:Choice>
    <mc:Fallback>
      <p:transition spd="slow" advTm="3012">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系统设计及其</a:t>
                </a:r>
                <a:r>
                  <a:rPr lang="zh-CN" altLang="en-US" sz="3200" dirty="0">
                    <a:solidFill>
                      <a:schemeClr val="tx1">
                        <a:lumMod val="75000"/>
                        <a:lumOff val="25000"/>
                      </a:schemeClr>
                    </a:solidFill>
                    <a:cs typeface="+mn-ea"/>
                    <a:sym typeface="+mn-lt"/>
                  </a:rPr>
                  <a:t>实现</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03.</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 name="矩形 2"/>
          <p:cNvSpPr/>
          <p:nvPr/>
        </p:nvSpPr>
        <p:spPr>
          <a:xfrm>
            <a:off x="976630" y="1092200"/>
            <a:ext cx="2859405" cy="43688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2400"/>
              <a:t>流失客户管理界面</a:t>
            </a:r>
            <a:endParaRPr lang="zh-CN" altLang="en-US" sz="2400"/>
          </a:p>
        </p:txBody>
      </p:sp>
      <p:sp>
        <p:nvSpPr>
          <p:cNvPr id="2" name="矩形 1"/>
          <p:cNvSpPr/>
          <p:nvPr/>
        </p:nvSpPr>
        <p:spPr>
          <a:xfrm>
            <a:off x="244475" y="1529080"/>
            <a:ext cx="11947525" cy="132969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en-US" altLang="zh-CN" sz="2000"/>
              <a:t>    </a:t>
            </a:r>
            <a:r>
              <a:rPr lang="zh-CN" altLang="en-US" sz="2000"/>
              <a:t>在主界面中左侧“客户管理”进入此模块。点击流失客户管理，可以进入流失客户管理页面，增加、删除、更改、查询流失客户。可以根据流失的姓名来进行查询流失客户，在“搜索客户姓名”框内输入姓名，可以进行流失客户的查询。</a:t>
            </a:r>
            <a:endParaRPr lang="zh-CN" altLang="en-US" sz="2000"/>
          </a:p>
        </p:txBody>
      </p:sp>
      <p:pic>
        <p:nvPicPr>
          <p:cNvPr id="4" name="图片 7"/>
          <p:cNvPicPr>
            <a:picLocks noChangeAspect="1"/>
          </p:cNvPicPr>
          <p:nvPr/>
        </p:nvPicPr>
        <p:blipFill>
          <a:blip r:embed="rId1"/>
          <a:stretch>
            <a:fillRect/>
          </a:stretch>
        </p:blipFill>
        <p:spPr>
          <a:xfrm>
            <a:off x="531495" y="2775585"/>
            <a:ext cx="10318750" cy="3345815"/>
          </a:xfrm>
          <a:prstGeom prst="rect">
            <a:avLst/>
          </a:prstGeom>
          <a:noFill/>
          <a:ln>
            <a:noFill/>
          </a:ln>
        </p:spPr>
      </p:pic>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3012">
        <p:random/>
      </p:transition>
    </mc:Choice>
    <mc:Fallback>
      <p:transition spd="slow" advTm="3012">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系统设计及其</a:t>
                </a:r>
                <a:r>
                  <a:rPr lang="zh-CN" altLang="en-US" sz="3200" dirty="0">
                    <a:solidFill>
                      <a:schemeClr val="tx1">
                        <a:lumMod val="75000"/>
                        <a:lumOff val="25000"/>
                      </a:schemeClr>
                    </a:solidFill>
                    <a:cs typeface="+mn-ea"/>
                    <a:sym typeface="+mn-lt"/>
                  </a:rPr>
                  <a:t>实现</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03.</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 name="矩形 2"/>
          <p:cNvSpPr/>
          <p:nvPr/>
        </p:nvSpPr>
        <p:spPr>
          <a:xfrm>
            <a:off x="976630" y="1092200"/>
            <a:ext cx="3387090" cy="43688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2400"/>
              <a:t>重点客户管理</a:t>
            </a:r>
            <a:endParaRPr lang="zh-CN" altLang="en-US" sz="2400"/>
          </a:p>
        </p:txBody>
      </p:sp>
      <p:sp>
        <p:nvSpPr>
          <p:cNvPr id="2" name="矩形 1"/>
          <p:cNvSpPr/>
          <p:nvPr/>
        </p:nvSpPr>
        <p:spPr>
          <a:xfrm>
            <a:off x="244475" y="1529080"/>
            <a:ext cx="11947525" cy="132969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zh-CN" altLang="en-US" sz="2000"/>
              <a:t>点击主界面中左侧“客户管理”进入此模块。点击重点客户管理，可以进入重点客户管理页面，增加、删除、更改、查询重点客户。</a:t>
            </a:r>
            <a:endParaRPr lang="zh-CN" altLang="en-US" sz="2000"/>
          </a:p>
        </p:txBody>
      </p:sp>
      <p:pic>
        <p:nvPicPr>
          <p:cNvPr id="22" name="图片 9"/>
          <p:cNvPicPr>
            <a:picLocks noChangeAspect="1"/>
          </p:cNvPicPr>
          <p:nvPr/>
        </p:nvPicPr>
        <p:blipFill>
          <a:blip r:embed="rId1"/>
          <a:stretch>
            <a:fillRect/>
          </a:stretch>
        </p:blipFill>
        <p:spPr>
          <a:xfrm>
            <a:off x="1176020" y="2492375"/>
            <a:ext cx="10209530" cy="3804285"/>
          </a:xfrm>
          <a:prstGeom prst="rect">
            <a:avLst/>
          </a:prstGeom>
          <a:noFill/>
          <a:ln>
            <a:noFill/>
          </a:ln>
        </p:spPr>
      </p:pic>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3012">
        <p:random/>
      </p:transition>
    </mc:Choice>
    <mc:Fallback>
      <p:transition spd="slow" advTm="3012">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系统设计及其</a:t>
                </a:r>
                <a:r>
                  <a:rPr lang="zh-CN" altLang="en-US" sz="3200" dirty="0">
                    <a:solidFill>
                      <a:schemeClr val="tx1">
                        <a:lumMod val="75000"/>
                        <a:lumOff val="25000"/>
                      </a:schemeClr>
                    </a:solidFill>
                    <a:cs typeface="+mn-ea"/>
                    <a:sym typeface="+mn-lt"/>
                  </a:rPr>
                  <a:t>实现</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03.</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 name="矩形 2"/>
          <p:cNvSpPr/>
          <p:nvPr/>
        </p:nvSpPr>
        <p:spPr>
          <a:xfrm>
            <a:off x="976630" y="1092200"/>
            <a:ext cx="3387090" cy="43688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2400"/>
              <a:t>用</a:t>
            </a:r>
            <a:r>
              <a:rPr lang="zh-CN" altLang="en-US" sz="2400"/>
              <a:t>户管理</a:t>
            </a:r>
            <a:endParaRPr lang="zh-CN" altLang="en-US" sz="2400"/>
          </a:p>
        </p:txBody>
      </p:sp>
      <p:sp>
        <p:nvSpPr>
          <p:cNvPr id="2" name="矩形 1"/>
          <p:cNvSpPr/>
          <p:nvPr/>
        </p:nvSpPr>
        <p:spPr>
          <a:xfrm>
            <a:off x="244475" y="1529080"/>
            <a:ext cx="11947525" cy="132969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zh-CN" altLang="en-US" sz="2000"/>
              <a:t>点击主界面中左侧“权限管理”进入此模块。点击用户管理，可以进入用户管理页面，增加、删除、更改、查询用户，管理员用户可以给不同用户</a:t>
            </a:r>
            <a:r>
              <a:rPr lang="zh-CN" altLang="en-US" sz="2000"/>
              <a:t>赋予不同</a:t>
            </a:r>
            <a:r>
              <a:rPr lang="zh-CN" altLang="en-US" sz="2000"/>
              <a:t>角色。</a:t>
            </a:r>
            <a:endParaRPr lang="zh-CN" altLang="en-US" sz="2000"/>
          </a:p>
        </p:txBody>
      </p:sp>
      <p:pic>
        <p:nvPicPr>
          <p:cNvPr id="161" name="图片 8"/>
          <p:cNvPicPr>
            <a:picLocks noChangeAspect="1"/>
          </p:cNvPicPr>
          <p:nvPr/>
        </p:nvPicPr>
        <p:blipFill>
          <a:blip r:embed="rId1"/>
          <a:stretch>
            <a:fillRect/>
          </a:stretch>
        </p:blipFill>
        <p:spPr>
          <a:xfrm>
            <a:off x="1401445" y="2584450"/>
            <a:ext cx="10098405" cy="3629025"/>
          </a:xfrm>
          <a:prstGeom prst="rect">
            <a:avLst/>
          </a:prstGeom>
          <a:noFill/>
          <a:ln>
            <a:noFill/>
          </a:ln>
        </p:spPr>
      </p:pic>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3012">
        <p:random/>
      </p:transition>
    </mc:Choice>
    <mc:Fallback>
      <p:transition spd="slow" advTm="3012">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系统设计及其</a:t>
                </a:r>
                <a:r>
                  <a:rPr lang="zh-CN" altLang="en-US" sz="3200" dirty="0">
                    <a:solidFill>
                      <a:schemeClr val="tx1">
                        <a:lumMod val="75000"/>
                        <a:lumOff val="25000"/>
                      </a:schemeClr>
                    </a:solidFill>
                    <a:cs typeface="+mn-ea"/>
                    <a:sym typeface="+mn-lt"/>
                  </a:rPr>
                  <a:t>实现</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03.</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 name="矩形 2"/>
          <p:cNvSpPr/>
          <p:nvPr/>
        </p:nvSpPr>
        <p:spPr>
          <a:xfrm>
            <a:off x="976630" y="1092200"/>
            <a:ext cx="3387090" cy="43688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2400"/>
              <a:t>角色管理</a:t>
            </a:r>
            <a:endParaRPr lang="zh-CN" altLang="en-US" sz="2400"/>
          </a:p>
        </p:txBody>
      </p:sp>
      <p:sp>
        <p:nvSpPr>
          <p:cNvPr id="2" name="矩形 1"/>
          <p:cNvSpPr/>
          <p:nvPr/>
        </p:nvSpPr>
        <p:spPr>
          <a:xfrm>
            <a:off x="244475" y="1529080"/>
            <a:ext cx="11947525" cy="132969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zh-CN" altLang="en-US" sz="2000"/>
              <a:t>点击主界面中左侧“权限管理”进入此模块。点击角色管理，可以进入角色管理页面，增加、删除、更改、查询角色，不同的角色有不同的权限。</a:t>
            </a:r>
            <a:endParaRPr lang="zh-CN" altLang="en-US" sz="2000"/>
          </a:p>
        </p:txBody>
      </p:sp>
      <p:pic>
        <p:nvPicPr>
          <p:cNvPr id="162" name="图片 9"/>
          <p:cNvPicPr>
            <a:picLocks noChangeAspect="1"/>
          </p:cNvPicPr>
          <p:nvPr/>
        </p:nvPicPr>
        <p:blipFill>
          <a:blip r:embed="rId1"/>
          <a:stretch>
            <a:fillRect/>
          </a:stretch>
        </p:blipFill>
        <p:spPr>
          <a:xfrm>
            <a:off x="560070" y="2858770"/>
            <a:ext cx="11154410" cy="3559175"/>
          </a:xfrm>
          <a:prstGeom prst="rect">
            <a:avLst/>
          </a:prstGeom>
          <a:noFill/>
          <a:ln>
            <a:noFill/>
          </a:ln>
        </p:spPr>
      </p:pic>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3012">
        <p:random/>
      </p:transition>
    </mc:Choice>
    <mc:Fallback>
      <p:transition spd="slow" advTm="3012">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系统设计及其</a:t>
                </a:r>
                <a:r>
                  <a:rPr lang="zh-CN" altLang="en-US" sz="3200" dirty="0">
                    <a:solidFill>
                      <a:schemeClr val="tx1">
                        <a:lumMod val="75000"/>
                        <a:lumOff val="25000"/>
                      </a:schemeClr>
                    </a:solidFill>
                    <a:cs typeface="+mn-ea"/>
                    <a:sym typeface="+mn-lt"/>
                  </a:rPr>
                  <a:t>实现</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03.</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 name="矩形 2"/>
          <p:cNvSpPr/>
          <p:nvPr/>
        </p:nvSpPr>
        <p:spPr>
          <a:xfrm>
            <a:off x="976630" y="1092200"/>
            <a:ext cx="3387090" cy="43688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2400"/>
              <a:t>资源管理</a:t>
            </a:r>
            <a:endParaRPr lang="zh-CN" altLang="en-US" sz="2400"/>
          </a:p>
        </p:txBody>
      </p:sp>
      <p:sp>
        <p:nvSpPr>
          <p:cNvPr id="2" name="矩形 1"/>
          <p:cNvSpPr/>
          <p:nvPr/>
        </p:nvSpPr>
        <p:spPr>
          <a:xfrm>
            <a:off x="244475" y="1529080"/>
            <a:ext cx="11947525" cy="132969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zh-CN" altLang="en-US" sz="2000"/>
              <a:t>点击主界面中左侧“权限管理”进入此模块。点击资源管理，可以进入资源管理页面，增加、删除、更改、查询资源，不同的</a:t>
            </a:r>
            <a:r>
              <a:rPr lang="zh-CN" altLang="en-US" sz="2000"/>
              <a:t>权限有不同的资源。</a:t>
            </a:r>
            <a:endParaRPr lang="zh-CN" altLang="en-US" sz="2000"/>
          </a:p>
        </p:txBody>
      </p:sp>
      <p:pic>
        <p:nvPicPr>
          <p:cNvPr id="163" name="图片 10"/>
          <p:cNvPicPr>
            <a:picLocks noChangeAspect="1"/>
          </p:cNvPicPr>
          <p:nvPr/>
        </p:nvPicPr>
        <p:blipFill>
          <a:blip r:embed="rId1"/>
          <a:stretch>
            <a:fillRect/>
          </a:stretch>
        </p:blipFill>
        <p:spPr>
          <a:xfrm>
            <a:off x="514985" y="2858770"/>
            <a:ext cx="10552430" cy="3792855"/>
          </a:xfrm>
          <a:prstGeom prst="rect">
            <a:avLst/>
          </a:prstGeom>
          <a:noFill/>
          <a:ln>
            <a:noFill/>
          </a:ln>
        </p:spPr>
      </p:pic>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3012">
        <p:random/>
      </p:transition>
    </mc:Choice>
    <mc:Fallback>
      <p:transition spd="slow" advTm="3012">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系统设计及其</a:t>
                </a:r>
                <a:r>
                  <a:rPr lang="zh-CN" altLang="en-US" sz="3200" dirty="0">
                    <a:solidFill>
                      <a:schemeClr val="tx1">
                        <a:lumMod val="75000"/>
                        <a:lumOff val="25000"/>
                      </a:schemeClr>
                    </a:solidFill>
                    <a:cs typeface="+mn-ea"/>
                    <a:sym typeface="+mn-lt"/>
                  </a:rPr>
                  <a:t>实现</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03.</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 name="矩形 2"/>
          <p:cNvSpPr/>
          <p:nvPr/>
        </p:nvSpPr>
        <p:spPr>
          <a:xfrm>
            <a:off x="976630" y="1092200"/>
            <a:ext cx="3387090" cy="43688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2400"/>
              <a:t>营销机会管理</a:t>
            </a:r>
            <a:endParaRPr lang="zh-CN" altLang="en-US" sz="2400"/>
          </a:p>
        </p:txBody>
      </p:sp>
      <p:sp>
        <p:nvSpPr>
          <p:cNvPr id="2" name="矩形 1"/>
          <p:cNvSpPr/>
          <p:nvPr/>
        </p:nvSpPr>
        <p:spPr>
          <a:xfrm>
            <a:off x="244475" y="1529080"/>
            <a:ext cx="11947525" cy="132969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zh-CN" altLang="en-US" sz="2000"/>
              <a:t>点击主界面中左侧“营销管理”进入此模块。点击营销机会管理，可以进入营销机会管理页面，增加、删除、更改、查询营销机会。</a:t>
            </a:r>
            <a:endParaRPr lang="zh-CN" altLang="en-US" sz="2000"/>
          </a:p>
        </p:txBody>
      </p:sp>
      <p:pic>
        <p:nvPicPr>
          <p:cNvPr id="6" name="图片 2"/>
          <p:cNvPicPr>
            <a:picLocks noChangeAspect="1"/>
          </p:cNvPicPr>
          <p:nvPr/>
        </p:nvPicPr>
        <p:blipFill>
          <a:blip r:embed="rId1"/>
          <a:stretch>
            <a:fillRect/>
          </a:stretch>
        </p:blipFill>
        <p:spPr>
          <a:xfrm>
            <a:off x="683260" y="2601595"/>
            <a:ext cx="11009630" cy="3849370"/>
          </a:xfrm>
          <a:prstGeom prst="rect">
            <a:avLst/>
          </a:prstGeom>
          <a:noFill/>
          <a:ln>
            <a:noFill/>
          </a:ln>
        </p:spPr>
      </p:pic>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3012">
        <p:random/>
      </p:transition>
    </mc:Choice>
    <mc:Fallback>
      <p:transition spd="slow" advTm="3012">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系统设计及其</a:t>
                </a:r>
                <a:r>
                  <a:rPr lang="zh-CN" altLang="en-US" sz="3200" dirty="0">
                    <a:solidFill>
                      <a:schemeClr val="tx1">
                        <a:lumMod val="75000"/>
                        <a:lumOff val="25000"/>
                      </a:schemeClr>
                    </a:solidFill>
                    <a:cs typeface="+mn-ea"/>
                    <a:sym typeface="+mn-lt"/>
                  </a:rPr>
                  <a:t>实现</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03.</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 name="矩形 2"/>
          <p:cNvSpPr/>
          <p:nvPr/>
        </p:nvSpPr>
        <p:spPr>
          <a:xfrm>
            <a:off x="976630" y="1092200"/>
            <a:ext cx="3387090" cy="43688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2400"/>
              <a:t>开发计划管理</a:t>
            </a:r>
            <a:endParaRPr lang="zh-CN" altLang="en-US" sz="2400"/>
          </a:p>
        </p:txBody>
      </p:sp>
      <p:sp>
        <p:nvSpPr>
          <p:cNvPr id="2" name="矩形 1"/>
          <p:cNvSpPr/>
          <p:nvPr/>
        </p:nvSpPr>
        <p:spPr>
          <a:xfrm>
            <a:off x="244475" y="1529080"/>
            <a:ext cx="11947525" cy="132969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zh-CN" altLang="en-US" sz="2000"/>
              <a:t>点击主界面中左侧“营销管理”进入此模块。点击客户开发计划，可以进入客户开发计划页面，增加、删除、更改、查询客户开发计划。</a:t>
            </a:r>
            <a:endParaRPr lang="zh-CN" altLang="en-US" sz="2000"/>
          </a:p>
        </p:txBody>
      </p:sp>
      <p:pic>
        <p:nvPicPr>
          <p:cNvPr id="41" name="图片 1"/>
          <p:cNvPicPr>
            <a:picLocks noChangeAspect="1"/>
          </p:cNvPicPr>
          <p:nvPr/>
        </p:nvPicPr>
        <p:blipFill>
          <a:blip r:embed="rId1"/>
          <a:stretch>
            <a:fillRect/>
          </a:stretch>
        </p:blipFill>
        <p:spPr>
          <a:xfrm>
            <a:off x="553085" y="2707005"/>
            <a:ext cx="10584815" cy="3592830"/>
          </a:xfrm>
          <a:prstGeom prst="rect">
            <a:avLst/>
          </a:prstGeom>
          <a:noFill/>
          <a:ln>
            <a:noFill/>
          </a:ln>
        </p:spPr>
      </p:pic>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3012">
        <p:random/>
      </p:transition>
    </mc:Choice>
    <mc:Fallback>
      <p:transition spd="slow" advTm="3012">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系统设计及其</a:t>
                </a:r>
                <a:r>
                  <a:rPr lang="zh-CN" altLang="en-US" sz="3200" dirty="0">
                    <a:solidFill>
                      <a:schemeClr val="tx1">
                        <a:lumMod val="75000"/>
                        <a:lumOff val="25000"/>
                      </a:schemeClr>
                    </a:solidFill>
                    <a:cs typeface="+mn-ea"/>
                    <a:sym typeface="+mn-lt"/>
                  </a:rPr>
                  <a:t>实现</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03.</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 name="矩形 2"/>
          <p:cNvSpPr/>
          <p:nvPr/>
        </p:nvSpPr>
        <p:spPr>
          <a:xfrm>
            <a:off x="976630" y="1092200"/>
            <a:ext cx="3387090" cy="43688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ctr"/>
            <a:r>
              <a:rPr lang="zh-CN" altLang="en-US" sz="2400"/>
              <a:t>服务</a:t>
            </a:r>
            <a:r>
              <a:rPr lang="zh-CN" altLang="en-US" sz="2400"/>
              <a:t>创建</a:t>
            </a:r>
            <a:endParaRPr lang="zh-CN" altLang="en-US" sz="2400"/>
          </a:p>
        </p:txBody>
      </p:sp>
      <p:sp>
        <p:nvSpPr>
          <p:cNvPr id="2" name="矩形 1"/>
          <p:cNvSpPr/>
          <p:nvPr/>
        </p:nvSpPr>
        <p:spPr>
          <a:xfrm>
            <a:off x="244475" y="1529080"/>
            <a:ext cx="11947525" cy="132969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p>
            <a:pPr algn="l" fontAlgn="auto"/>
            <a:r>
              <a:rPr lang="zh-CN" altLang="en-US" sz="2000"/>
              <a:t>点击主界面中左侧“服务管理”进入此模块。本系统中分为售前服务，售中服务，售后服务，根据不同客户的需求创建不同的服务，点击服务创建，可以进入服务创建页面，增加、删除、更改、查询服务。</a:t>
            </a:r>
            <a:endParaRPr lang="zh-CN" altLang="en-US" sz="2000"/>
          </a:p>
        </p:txBody>
      </p:sp>
      <p:pic>
        <p:nvPicPr>
          <p:cNvPr id="7" name="图片 1"/>
          <p:cNvPicPr>
            <a:picLocks noChangeAspect="1"/>
          </p:cNvPicPr>
          <p:nvPr/>
        </p:nvPicPr>
        <p:blipFill>
          <a:blip r:embed="rId1"/>
          <a:stretch>
            <a:fillRect/>
          </a:stretch>
        </p:blipFill>
        <p:spPr>
          <a:xfrm>
            <a:off x="781685" y="2858770"/>
            <a:ext cx="10356850" cy="3312795"/>
          </a:xfrm>
          <a:prstGeom prst="rect">
            <a:avLst/>
          </a:prstGeom>
          <a:noFill/>
          <a:ln>
            <a:noFill/>
          </a:ln>
        </p:spPr>
      </p:pic>
    </p:spTree>
    <p:custDataLst>
      <p:tags r:id="rId2"/>
    </p:custDataLst>
  </p:cSld>
  <p:clrMapOvr>
    <a:masterClrMapping/>
  </p:clrMapOvr>
  <mc:AlternateContent xmlns:mc="http://schemas.openxmlformats.org/markup-compatibility/2006">
    <mc:Choice xmlns:p14="http://schemas.microsoft.com/office/powerpoint/2010/main" Requires="p14">
      <p:transition spd="slow" p14:dur="1500" advTm="3012">
        <p:random/>
      </p:transition>
    </mc:Choice>
    <mc:Fallback>
      <p:transition spd="slow" advTm="3012">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ldLvl="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a:xfrm>
            <a:off x="5803900" y="395605"/>
            <a:ext cx="45720" cy="45720"/>
          </a:xfrm>
          <a:prstGeom prst="ellipse">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21" name="组合 20"/>
          <p:cNvGrpSpPr/>
          <p:nvPr/>
        </p:nvGrpSpPr>
        <p:grpSpPr>
          <a:xfrm>
            <a:off x="-2846530" y="-1770744"/>
            <a:ext cx="8399978" cy="7688943"/>
            <a:chOff x="-2846530" y="-1770744"/>
            <a:chExt cx="8399978" cy="7688943"/>
          </a:xfrm>
        </p:grpSpPr>
        <p:sp>
          <p:nvSpPr>
            <p:cNvPr id="2" name="椭圆 1"/>
            <p:cNvSpPr/>
            <p:nvPr/>
          </p:nvSpPr>
          <p:spPr>
            <a:xfrm>
              <a:off x="-2846530" y="-1770744"/>
              <a:ext cx="7688943" cy="7688943"/>
            </a:xfrm>
            <a:prstGeom prst="ellipse">
              <a:avLst/>
            </a:prstGeom>
            <a:solidFill>
              <a:srgbClr val="D8EFFD"/>
            </a:solidFill>
            <a:ln>
              <a:noFill/>
            </a:ln>
            <a:effectLst>
              <a:outerShdw blurRad="279400" dist="38100" dir="2700000" sx="101000" sy="101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5" name="文本框 14"/>
            <p:cNvSpPr txBox="1"/>
            <p:nvPr/>
          </p:nvSpPr>
          <p:spPr>
            <a:xfrm>
              <a:off x="-1214742" y="1161142"/>
              <a:ext cx="6768190" cy="3770263"/>
            </a:xfrm>
            <a:prstGeom prst="rect">
              <a:avLst/>
            </a:prstGeom>
            <a:noFill/>
          </p:spPr>
          <p:txBody>
            <a:bodyPr wrap="square" rtlCol="0">
              <a:spAutoFit/>
            </a:bodyPr>
            <a:lstStyle/>
            <a:p>
              <a:pPr algn="ctr"/>
              <a:r>
                <a:rPr lang="en-US" altLang="zh-CN" sz="23900" dirty="0">
                  <a:solidFill>
                    <a:srgbClr val="10507E"/>
                  </a:solidFill>
                  <a:effectLst>
                    <a:outerShdw blurRad="63500" sx="101000" sy="101000" algn="ctr" rotWithShape="0">
                      <a:prstClr val="black">
                        <a:alpha val="40000"/>
                      </a:prstClr>
                    </a:outerShdw>
                  </a:effectLst>
                  <a:cs typeface="+mn-ea"/>
                  <a:sym typeface="+mn-lt"/>
                </a:rPr>
                <a:t>04</a:t>
              </a:r>
              <a:endParaRPr lang="zh-CN" altLang="en-US" sz="23900" dirty="0">
                <a:solidFill>
                  <a:srgbClr val="10507E"/>
                </a:solidFill>
                <a:effectLst>
                  <a:outerShdw blurRad="63500" sx="101000" sy="101000" algn="ctr" rotWithShape="0">
                    <a:prstClr val="black">
                      <a:alpha val="40000"/>
                    </a:prstClr>
                  </a:outerShdw>
                </a:effectLst>
                <a:cs typeface="+mn-ea"/>
                <a:sym typeface="+mn-lt"/>
              </a:endParaRPr>
            </a:p>
          </p:txBody>
        </p:sp>
      </p:grpSp>
      <p:grpSp>
        <p:nvGrpSpPr>
          <p:cNvPr id="18" name="组合 17"/>
          <p:cNvGrpSpPr/>
          <p:nvPr/>
        </p:nvGrpSpPr>
        <p:grpSpPr>
          <a:xfrm>
            <a:off x="5140956" y="2474962"/>
            <a:ext cx="6477909" cy="1142621"/>
            <a:chOff x="5862081" y="2617371"/>
            <a:chExt cx="6477909" cy="1142621"/>
          </a:xfrm>
        </p:grpSpPr>
        <p:sp>
          <p:nvSpPr>
            <p:cNvPr id="16" name="文本框 15"/>
            <p:cNvSpPr txBox="1"/>
            <p:nvPr/>
          </p:nvSpPr>
          <p:spPr>
            <a:xfrm>
              <a:off x="5862082" y="2617371"/>
              <a:ext cx="6006236" cy="1014730"/>
            </a:xfrm>
            <a:prstGeom prst="rect">
              <a:avLst/>
            </a:prstGeom>
            <a:noFill/>
          </p:spPr>
          <p:txBody>
            <a:bodyPr wrap="square" rtlCol="0">
              <a:spAutoFit/>
            </a:bodyPr>
            <a:lstStyle/>
            <a:p>
              <a:pPr algn="dist"/>
              <a:r>
                <a:rPr lang="zh-CN" altLang="en-US" sz="6000" dirty="0">
                  <a:solidFill>
                    <a:schemeClr val="tx1">
                      <a:lumMod val="75000"/>
                      <a:lumOff val="25000"/>
                    </a:schemeClr>
                  </a:solidFill>
                  <a:cs typeface="+mn-ea"/>
                  <a:sym typeface="+mn-lt"/>
                </a:rPr>
                <a:t>论文</a:t>
              </a:r>
              <a:r>
                <a:rPr lang="zh-CN" altLang="en-US" sz="6000" dirty="0">
                  <a:solidFill>
                    <a:schemeClr val="tx1">
                      <a:lumMod val="75000"/>
                      <a:lumOff val="25000"/>
                    </a:schemeClr>
                  </a:solidFill>
                  <a:cs typeface="+mn-ea"/>
                  <a:sym typeface="+mn-lt"/>
                </a:rPr>
                <a:t>小结</a:t>
              </a:r>
              <a:endParaRPr lang="zh-CN" altLang="en-US" sz="6000" dirty="0">
                <a:solidFill>
                  <a:schemeClr val="tx1">
                    <a:lumMod val="75000"/>
                    <a:lumOff val="25000"/>
                  </a:schemeClr>
                </a:solidFill>
                <a:cs typeface="+mn-ea"/>
                <a:sym typeface="+mn-lt"/>
              </a:endParaRPr>
            </a:p>
          </p:txBody>
        </p:sp>
        <p:sp>
          <p:nvSpPr>
            <p:cNvPr id="17" name="文本框 16"/>
            <p:cNvSpPr txBox="1"/>
            <p:nvPr/>
          </p:nvSpPr>
          <p:spPr>
            <a:xfrm>
              <a:off x="5862081" y="3506076"/>
              <a:ext cx="6477909" cy="253916"/>
            </a:xfrm>
            <a:prstGeom prst="rect">
              <a:avLst/>
            </a:prstGeom>
            <a:noFill/>
          </p:spPr>
          <p:txBody>
            <a:bodyPr wrap="square" rtlCol="0">
              <a:spAutoFit/>
            </a:bodyPr>
            <a:lstStyle/>
            <a:p>
              <a:pPr algn="dist"/>
              <a:r>
                <a:rPr lang="en-US" altLang="zh-CN" sz="1050" dirty="0">
                  <a:cs typeface="+mn-ea"/>
                  <a:sym typeface="+mn-lt"/>
                </a:rPr>
                <a:t>RESEARCH BACKGROUND AND CURRENT SITUATION</a:t>
              </a:r>
              <a:endParaRPr lang="zh-CN" altLang="en-US" sz="1050" dirty="0">
                <a:cs typeface="+mn-ea"/>
                <a:sym typeface="+mn-lt"/>
              </a:endParaRPr>
            </a:p>
          </p:txBody>
        </p:sp>
      </p:grpSp>
      <p:sp>
        <p:nvSpPr>
          <p:cNvPr id="19" name="圆: 空心 18"/>
          <p:cNvSpPr/>
          <p:nvPr/>
        </p:nvSpPr>
        <p:spPr>
          <a:xfrm>
            <a:off x="10808543" y="5670073"/>
            <a:ext cx="2766913" cy="2766913"/>
          </a:xfrm>
          <a:prstGeom prst="donut">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cs typeface="+mn-ea"/>
              <a:sym typeface="+mn-lt"/>
            </a:endParaRPr>
          </a:p>
        </p:txBody>
      </p:sp>
    </p:spTree>
    <p:custDataLst>
      <p:tags r:id="rId1"/>
    </p:custDataLst>
  </p:cSld>
  <p:clrMapOvr>
    <a:masterClrMapping/>
  </p:clrMapOvr>
  <mc:AlternateContent xmlns:mc="http://schemas.openxmlformats.org/markup-compatibility/2006">
    <mc:Choice xmlns:p14="http://schemas.microsoft.com/office/powerpoint/2010/main" Requires="p14">
      <p:transition spd="slow" p14:dur="1500" advTm="2135">
        <p:random/>
      </p:transition>
    </mc:Choice>
    <mc:Fallback>
      <p:transition spd="slow" advTm="2135">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1000"/>
                                        <p:tgtEl>
                                          <p:spTgt spid="21"/>
                                        </p:tgtEl>
                                      </p:cBhvr>
                                    </p:animEffect>
                                    <p:anim calcmode="lin" valueType="num">
                                      <p:cBhvr>
                                        <p:cTn id="8" dur="1000" fill="hold"/>
                                        <p:tgtEl>
                                          <p:spTgt spid="21"/>
                                        </p:tgtEl>
                                        <p:attrNameLst>
                                          <p:attrName>ppt_x</p:attrName>
                                        </p:attrNameLst>
                                      </p:cBhvr>
                                      <p:tavLst>
                                        <p:tav tm="0">
                                          <p:val>
                                            <p:strVal val="#ppt_x"/>
                                          </p:val>
                                        </p:tav>
                                        <p:tav tm="100000">
                                          <p:val>
                                            <p:strVal val="#ppt_x"/>
                                          </p:val>
                                        </p:tav>
                                      </p:tavLst>
                                    </p:anim>
                                    <p:anim calcmode="lin" valueType="num">
                                      <p:cBhvr>
                                        <p:cTn id="9" dur="10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0"/>
                                  </p:stCondLst>
                                  <p:childTnLst>
                                    <p:set>
                                      <p:cBhvr>
                                        <p:cTn id="13" dur="1" fill="hold">
                                          <p:stCondLst>
                                            <p:cond delay="0"/>
                                          </p:stCondLst>
                                        </p:cTn>
                                        <p:tgtEl>
                                          <p:spTgt spid="18"/>
                                        </p:tgtEl>
                                        <p:attrNameLst>
                                          <p:attrName>style.visibility</p:attrName>
                                        </p:attrNameLst>
                                      </p:cBhvr>
                                      <p:to>
                                        <p:strVal val="visible"/>
                                      </p:to>
                                    </p:set>
                                    <p:animEffect transition="in" filter="wipe(left)">
                                      <p:cBhvr>
                                        <p:cTn id="14" dur="500"/>
                                        <p:tgtEl>
                                          <p:spTgt spid="18"/>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1000"/>
                                        <p:tgtEl>
                                          <p:spTgt spid="19"/>
                                        </p:tgtEl>
                                      </p:cBhvr>
                                    </p:animEffect>
                                    <p:anim calcmode="lin" valueType="num">
                                      <p:cBhvr>
                                        <p:cTn id="20" dur="1000" fill="hold"/>
                                        <p:tgtEl>
                                          <p:spTgt spid="19"/>
                                        </p:tgtEl>
                                        <p:attrNameLst>
                                          <p:attrName>ppt_x</p:attrName>
                                        </p:attrNameLst>
                                      </p:cBhvr>
                                      <p:tavLst>
                                        <p:tav tm="0">
                                          <p:val>
                                            <p:strVal val="#ppt_x"/>
                                          </p:val>
                                        </p:tav>
                                        <p:tav tm="100000">
                                          <p:val>
                                            <p:strVal val="#ppt_x"/>
                                          </p:val>
                                        </p:tav>
                                      </p:tavLst>
                                    </p:anim>
                                    <p:anim calcmode="lin" valueType="num">
                                      <p:cBhvr>
                                        <p:cTn id="21"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9441"/>
            <a:chOff x="145646" y="165322"/>
            <a:chExt cx="4862917" cy="769441"/>
          </a:xfrm>
        </p:grpSpPr>
        <p:grpSp>
          <p:nvGrpSpPr>
            <p:cNvPr id="17" name="组合 16"/>
            <p:cNvGrpSpPr/>
            <p:nvPr/>
          </p:nvGrpSpPr>
          <p:grpSpPr>
            <a:xfrm>
              <a:off x="145646" y="165322"/>
              <a:ext cx="4521604" cy="769441"/>
              <a:chOff x="107546" y="317722"/>
              <a:chExt cx="4521604" cy="769441"/>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论文小结</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9441"/>
              </a:xfrm>
              <a:prstGeom prst="rect">
                <a:avLst/>
              </a:prstGeom>
              <a:noFill/>
            </p:spPr>
            <p:txBody>
              <a:bodyPr wrap="square" rtlCol="0">
                <a:spAutoFit/>
              </a:bodyPr>
              <a:lstStyle/>
              <a:p>
                <a:r>
                  <a:rPr lang="en-US" altLang="zh-CN" sz="4400" dirty="0">
                    <a:solidFill>
                      <a:srgbClr val="69C0E1"/>
                    </a:solidFill>
                    <a:cs typeface="+mn-ea"/>
                    <a:sym typeface="+mn-lt"/>
                  </a:rPr>
                  <a:t>04.</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9" name="í$lïdé"/>
          <p:cNvSpPr/>
          <p:nvPr/>
        </p:nvSpPr>
        <p:spPr bwMode="auto">
          <a:xfrm>
            <a:off x="1496825" y="2003684"/>
            <a:ext cx="1231094" cy="1231094"/>
          </a:xfrm>
          <a:custGeom>
            <a:avLst/>
            <a:gdLst>
              <a:gd name="T0" fmla="*/ 7569 w 16599"/>
              <a:gd name="T1" fmla="*/ 403 h 16599"/>
              <a:gd name="T2" fmla="*/ 9030 w 16599"/>
              <a:gd name="T3" fmla="*/ 403 h 16599"/>
              <a:gd name="T4" fmla="*/ 16195 w 16599"/>
              <a:gd name="T5" fmla="*/ 7569 h 16599"/>
              <a:gd name="T6" fmla="*/ 16195 w 16599"/>
              <a:gd name="T7" fmla="*/ 9030 h 16599"/>
              <a:gd name="T8" fmla="*/ 9030 w 16599"/>
              <a:gd name="T9" fmla="*/ 16195 h 16599"/>
              <a:gd name="T10" fmla="*/ 7569 w 16599"/>
              <a:gd name="T11" fmla="*/ 16195 h 16599"/>
              <a:gd name="T12" fmla="*/ 403 w 16599"/>
              <a:gd name="T13" fmla="*/ 9030 h 16599"/>
              <a:gd name="T14" fmla="*/ 403 w 16599"/>
              <a:gd name="T15" fmla="*/ 7569 h 16599"/>
              <a:gd name="T16" fmla="*/ 7569 w 16599"/>
              <a:gd name="T17" fmla="*/ 403 h 165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599" h="16599">
                <a:moveTo>
                  <a:pt x="7569" y="403"/>
                </a:moveTo>
                <a:cubicBezTo>
                  <a:pt x="7972" y="0"/>
                  <a:pt x="8627" y="0"/>
                  <a:pt x="9030" y="403"/>
                </a:cubicBezTo>
                <a:lnTo>
                  <a:pt x="16195" y="7569"/>
                </a:lnTo>
                <a:cubicBezTo>
                  <a:pt x="16599" y="7972"/>
                  <a:pt x="16599" y="8627"/>
                  <a:pt x="16195" y="9030"/>
                </a:cubicBezTo>
                <a:lnTo>
                  <a:pt x="9030" y="16195"/>
                </a:lnTo>
                <a:cubicBezTo>
                  <a:pt x="8627" y="16599"/>
                  <a:pt x="7972" y="16599"/>
                  <a:pt x="7569" y="16195"/>
                </a:cubicBezTo>
                <a:lnTo>
                  <a:pt x="403" y="9030"/>
                </a:lnTo>
                <a:cubicBezTo>
                  <a:pt x="0" y="8627"/>
                  <a:pt x="0" y="7972"/>
                  <a:pt x="403" y="7569"/>
                </a:cubicBezTo>
                <a:lnTo>
                  <a:pt x="7569" y="403"/>
                </a:lnTo>
                <a:close/>
              </a:path>
            </a:pathLst>
          </a:custGeom>
          <a:solidFill>
            <a:srgbClr val="69C0E1"/>
          </a:solidFill>
          <a:ln>
            <a:noFill/>
          </a:ln>
          <a:effectLst>
            <a:outerShdw blurRad="177800" dist="1524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2800" dirty="0">
                <a:effectLst>
                  <a:outerShdw blurRad="38100" dist="38100" dir="2700000" algn="tl">
                    <a:srgbClr val="000000">
                      <a:alpha val="43137"/>
                    </a:srgbClr>
                  </a:outerShdw>
                </a:effectLst>
                <a:cs typeface="+mn-ea"/>
                <a:sym typeface="+mn-lt"/>
              </a:rPr>
              <a:t>0 1</a:t>
            </a:r>
            <a:endParaRPr lang="zh-CN" altLang="en-US" sz="2800" dirty="0">
              <a:effectLst>
                <a:outerShdw blurRad="38100" dist="38100" dir="2700000" algn="tl">
                  <a:srgbClr val="000000">
                    <a:alpha val="43137"/>
                  </a:srgbClr>
                </a:outerShdw>
              </a:effectLst>
              <a:cs typeface="+mn-ea"/>
              <a:sym typeface="+mn-lt"/>
            </a:endParaRPr>
          </a:p>
        </p:txBody>
      </p:sp>
      <p:sp>
        <p:nvSpPr>
          <p:cNvPr id="10" name="íŝḻîďé"/>
          <p:cNvSpPr/>
          <p:nvPr/>
        </p:nvSpPr>
        <p:spPr bwMode="auto">
          <a:xfrm>
            <a:off x="4181780" y="2003684"/>
            <a:ext cx="1231094" cy="1231094"/>
          </a:xfrm>
          <a:custGeom>
            <a:avLst/>
            <a:gdLst>
              <a:gd name="T0" fmla="*/ 7569 w 16599"/>
              <a:gd name="T1" fmla="*/ 403 h 16599"/>
              <a:gd name="T2" fmla="*/ 9030 w 16599"/>
              <a:gd name="T3" fmla="*/ 403 h 16599"/>
              <a:gd name="T4" fmla="*/ 16195 w 16599"/>
              <a:gd name="T5" fmla="*/ 7569 h 16599"/>
              <a:gd name="T6" fmla="*/ 16195 w 16599"/>
              <a:gd name="T7" fmla="*/ 9030 h 16599"/>
              <a:gd name="T8" fmla="*/ 9030 w 16599"/>
              <a:gd name="T9" fmla="*/ 16195 h 16599"/>
              <a:gd name="T10" fmla="*/ 7569 w 16599"/>
              <a:gd name="T11" fmla="*/ 16195 h 16599"/>
              <a:gd name="T12" fmla="*/ 403 w 16599"/>
              <a:gd name="T13" fmla="*/ 9030 h 16599"/>
              <a:gd name="T14" fmla="*/ 403 w 16599"/>
              <a:gd name="T15" fmla="*/ 7569 h 16599"/>
              <a:gd name="T16" fmla="*/ 7569 w 16599"/>
              <a:gd name="T17" fmla="*/ 403 h 165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599" h="16599">
                <a:moveTo>
                  <a:pt x="7569" y="403"/>
                </a:moveTo>
                <a:cubicBezTo>
                  <a:pt x="7972" y="0"/>
                  <a:pt x="8627" y="0"/>
                  <a:pt x="9030" y="403"/>
                </a:cubicBezTo>
                <a:lnTo>
                  <a:pt x="16195" y="7569"/>
                </a:lnTo>
                <a:cubicBezTo>
                  <a:pt x="16599" y="7972"/>
                  <a:pt x="16599" y="8627"/>
                  <a:pt x="16195" y="9030"/>
                </a:cubicBezTo>
                <a:lnTo>
                  <a:pt x="9030" y="16195"/>
                </a:lnTo>
                <a:cubicBezTo>
                  <a:pt x="8627" y="16599"/>
                  <a:pt x="7972" y="16599"/>
                  <a:pt x="7569" y="16195"/>
                </a:cubicBezTo>
                <a:lnTo>
                  <a:pt x="403" y="9030"/>
                </a:lnTo>
                <a:cubicBezTo>
                  <a:pt x="0" y="8627"/>
                  <a:pt x="0" y="7972"/>
                  <a:pt x="403" y="7569"/>
                </a:cubicBezTo>
                <a:lnTo>
                  <a:pt x="7569" y="403"/>
                </a:lnTo>
                <a:close/>
              </a:path>
            </a:pathLst>
          </a:custGeom>
          <a:solidFill>
            <a:srgbClr val="69C0E1"/>
          </a:solidFill>
          <a:ln>
            <a:noFill/>
          </a:ln>
          <a:effectLst>
            <a:outerShdw blurRad="177800" dist="1524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2800" dirty="0">
                <a:effectLst>
                  <a:outerShdw blurRad="38100" dist="38100" dir="2700000" algn="tl">
                    <a:srgbClr val="000000">
                      <a:alpha val="43137"/>
                    </a:srgbClr>
                  </a:outerShdw>
                </a:effectLst>
                <a:cs typeface="+mn-ea"/>
                <a:sym typeface="+mn-lt"/>
              </a:rPr>
              <a:t>0 2</a:t>
            </a:r>
            <a:endParaRPr lang="zh-CN" altLang="en-US" sz="2800" dirty="0">
              <a:effectLst>
                <a:outerShdw blurRad="38100" dist="38100" dir="2700000" algn="tl">
                  <a:srgbClr val="000000">
                    <a:alpha val="43137"/>
                  </a:srgbClr>
                </a:outerShdw>
              </a:effectLst>
              <a:cs typeface="+mn-ea"/>
              <a:sym typeface="+mn-lt"/>
            </a:endParaRPr>
          </a:p>
        </p:txBody>
      </p:sp>
      <p:sp>
        <p:nvSpPr>
          <p:cNvPr id="11" name="íšlîḑé"/>
          <p:cNvSpPr/>
          <p:nvPr/>
        </p:nvSpPr>
        <p:spPr bwMode="auto">
          <a:xfrm>
            <a:off x="6866735" y="2003684"/>
            <a:ext cx="1231094" cy="1231094"/>
          </a:xfrm>
          <a:custGeom>
            <a:avLst/>
            <a:gdLst>
              <a:gd name="T0" fmla="*/ 7569 w 16599"/>
              <a:gd name="T1" fmla="*/ 403 h 16599"/>
              <a:gd name="T2" fmla="*/ 9030 w 16599"/>
              <a:gd name="T3" fmla="*/ 403 h 16599"/>
              <a:gd name="T4" fmla="*/ 16195 w 16599"/>
              <a:gd name="T5" fmla="*/ 7569 h 16599"/>
              <a:gd name="T6" fmla="*/ 16195 w 16599"/>
              <a:gd name="T7" fmla="*/ 9030 h 16599"/>
              <a:gd name="T8" fmla="*/ 9030 w 16599"/>
              <a:gd name="T9" fmla="*/ 16195 h 16599"/>
              <a:gd name="T10" fmla="*/ 7569 w 16599"/>
              <a:gd name="T11" fmla="*/ 16195 h 16599"/>
              <a:gd name="T12" fmla="*/ 403 w 16599"/>
              <a:gd name="T13" fmla="*/ 9030 h 16599"/>
              <a:gd name="T14" fmla="*/ 403 w 16599"/>
              <a:gd name="T15" fmla="*/ 7569 h 16599"/>
              <a:gd name="T16" fmla="*/ 7569 w 16599"/>
              <a:gd name="T17" fmla="*/ 403 h 165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599" h="16599">
                <a:moveTo>
                  <a:pt x="7569" y="403"/>
                </a:moveTo>
                <a:cubicBezTo>
                  <a:pt x="7972" y="0"/>
                  <a:pt x="8627" y="0"/>
                  <a:pt x="9030" y="403"/>
                </a:cubicBezTo>
                <a:lnTo>
                  <a:pt x="16195" y="7569"/>
                </a:lnTo>
                <a:cubicBezTo>
                  <a:pt x="16599" y="7972"/>
                  <a:pt x="16599" y="8627"/>
                  <a:pt x="16195" y="9030"/>
                </a:cubicBezTo>
                <a:lnTo>
                  <a:pt x="9030" y="16195"/>
                </a:lnTo>
                <a:cubicBezTo>
                  <a:pt x="8627" y="16599"/>
                  <a:pt x="7972" y="16599"/>
                  <a:pt x="7569" y="16195"/>
                </a:cubicBezTo>
                <a:lnTo>
                  <a:pt x="403" y="9030"/>
                </a:lnTo>
                <a:cubicBezTo>
                  <a:pt x="0" y="8627"/>
                  <a:pt x="0" y="7972"/>
                  <a:pt x="403" y="7569"/>
                </a:cubicBezTo>
                <a:lnTo>
                  <a:pt x="7569" y="403"/>
                </a:lnTo>
                <a:close/>
              </a:path>
            </a:pathLst>
          </a:custGeom>
          <a:solidFill>
            <a:srgbClr val="69C0E1"/>
          </a:solidFill>
          <a:ln>
            <a:noFill/>
          </a:ln>
          <a:effectLst>
            <a:outerShdw blurRad="177800" dist="1524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2800" dirty="0">
                <a:effectLst>
                  <a:outerShdw blurRad="38100" dist="38100" dir="2700000" algn="tl">
                    <a:srgbClr val="000000">
                      <a:alpha val="43137"/>
                    </a:srgbClr>
                  </a:outerShdw>
                </a:effectLst>
                <a:cs typeface="+mn-ea"/>
                <a:sym typeface="+mn-lt"/>
              </a:rPr>
              <a:t>0 3</a:t>
            </a:r>
            <a:endParaRPr lang="zh-CN" altLang="en-US" sz="2800" dirty="0">
              <a:effectLst>
                <a:outerShdw blurRad="38100" dist="38100" dir="2700000" algn="tl">
                  <a:srgbClr val="000000">
                    <a:alpha val="43137"/>
                  </a:srgbClr>
                </a:outerShdw>
              </a:effectLst>
              <a:cs typeface="+mn-ea"/>
              <a:sym typeface="+mn-lt"/>
            </a:endParaRPr>
          </a:p>
        </p:txBody>
      </p:sp>
      <p:sp>
        <p:nvSpPr>
          <p:cNvPr id="12" name="ïŝlîḓè"/>
          <p:cNvSpPr/>
          <p:nvPr/>
        </p:nvSpPr>
        <p:spPr bwMode="auto">
          <a:xfrm>
            <a:off x="9551690" y="2003684"/>
            <a:ext cx="1231094" cy="1231094"/>
          </a:xfrm>
          <a:custGeom>
            <a:avLst/>
            <a:gdLst>
              <a:gd name="T0" fmla="*/ 7569 w 16599"/>
              <a:gd name="T1" fmla="*/ 403 h 16599"/>
              <a:gd name="T2" fmla="*/ 9030 w 16599"/>
              <a:gd name="T3" fmla="*/ 403 h 16599"/>
              <a:gd name="T4" fmla="*/ 16195 w 16599"/>
              <a:gd name="T5" fmla="*/ 7569 h 16599"/>
              <a:gd name="T6" fmla="*/ 16195 w 16599"/>
              <a:gd name="T7" fmla="*/ 9030 h 16599"/>
              <a:gd name="T8" fmla="*/ 9030 w 16599"/>
              <a:gd name="T9" fmla="*/ 16195 h 16599"/>
              <a:gd name="T10" fmla="*/ 7569 w 16599"/>
              <a:gd name="T11" fmla="*/ 16195 h 16599"/>
              <a:gd name="T12" fmla="*/ 403 w 16599"/>
              <a:gd name="T13" fmla="*/ 9030 h 16599"/>
              <a:gd name="T14" fmla="*/ 403 w 16599"/>
              <a:gd name="T15" fmla="*/ 7569 h 16599"/>
              <a:gd name="T16" fmla="*/ 7569 w 16599"/>
              <a:gd name="T17" fmla="*/ 403 h 165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599" h="16599">
                <a:moveTo>
                  <a:pt x="7569" y="403"/>
                </a:moveTo>
                <a:cubicBezTo>
                  <a:pt x="7972" y="0"/>
                  <a:pt x="8627" y="0"/>
                  <a:pt x="9030" y="403"/>
                </a:cubicBezTo>
                <a:lnTo>
                  <a:pt x="16195" y="7569"/>
                </a:lnTo>
                <a:cubicBezTo>
                  <a:pt x="16599" y="7972"/>
                  <a:pt x="16599" y="8627"/>
                  <a:pt x="16195" y="9030"/>
                </a:cubicBezTo>
                <a:lnTo>
                  <a:pt x="9030" y="16195"/>
                </a:lnTo>
                <a:cubicBezTo>
                  <a:pt x="8627" y="16599"/>
                  <a:pt x="7972" y="16599"/>
                  <a:pt x="7569" y="16195"/>
                </a:cubicBezTo>
                <a:lnTo>
                  <a:pt x="403" y="9030"/>
                </a:lnTo>
                <a:cubicBezTo>
                  <a:pt x="0" y="8627"/>
                  <a:pt x="0" y="7972"/>
                  <a:pt x="403" y="7569"/>
                </a:cubicBezTo>
                <a:lnTo>
                  <a:pt x="7569" y="403"/>
                </a:lnTo>
                <a:close/>
              </a:path>
            </a:pathLst>
          </a:custGeom>
          <a:solidFill>
            <a:srgbClr val="69C0E1"/>
          </a:solidFill>
          <a:ln>
            <a:noFill/>
          </a:ln>
          <a:effectLst>
            <a:outerShdw blurRad="177800" dist="1524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r>
              <a:rPr lang="en-US" altLang="zh-CN" sz="2800" dirty="0">
                <a:effectLst>
                  <a:outerShdw blurRad="38100" dist="38100" dir="2700000" algn="tl">
                    <a:srgbClr val="000000">
                      <a:alpha val="43137"/>
                    </a:srgbClr>
                  </a:outerShdw>
                </a:effectLst>
                <a:cs typeface="+mn-ea"/>
                <a:sym typeface="+mn-lt"/>
              </a:rPr>
              <a:t>0 4</a:t>
            </a:r>
            <a:endParaRPr lang="zh-CN" altLang="en-US" sz="2800" dirty="0">
              <a:effectLst>
                <a:outerShdw blurRad="38100" dist="38100" dir="2700000" algn="tl">
                  <a:srgbClr val="000000">
                    <a:alpha val="43137"/>
                  </a:srgbClr>
                </a:outerShdw>
              </a:effectLst>
              <a:cs typeface="+mn-ea"/>
              <a:sym typeface="+mn-lt"/>
            </a:endParaRPr>
          </a:p>
        </p:txBody>
      </p:sp>
      <p:cxnSp>
        <p:nvCxnSpPr>
          <p:cNvPr id="13" name="直接箭头连接符 12"/>
          <p:cNvCxnSpPr/>
          <p:nvPr/>
        </p:nvCxnSpPr>
        <p:spPr>
          <a:xfrm>
            <a:off x="3051124" y="2619231"/>
            <a:ext cx="864000" cy="0"/>
          </a:xfrm>
          <a:prstGeom prst="straightConnector1">
            <a:avLst/>
          </a:prstGeom>
          <a:ln w="3175" cap="rnd">
            <a:solidFill>
              <a:schemeClr val="bg1">
                <a:lumMod val="85000"/>
              </a:schemeClr>
            </a:solidFill>
            <a:prstDash val="dash"/>
            <a:round/>
            <a:headEnd type="oval"/>
            <a:tailEnd type="oval"/>
          </a:ln>
        </p:spPr>
        <p:style>
          <a:lnRef idx="1">
            <a:schemeClr val="accent1"/>
          </a:lnRef>
          <a:fillRef idx="0">
            <a:schemeClr val="accent1"/>
          </a:fillRef>
          <a:effectRef idx="0">
            <a:schemeClr val="accent1"/>
          </a:effectRef>
          <a:fontRef idx="minor">
            <a:schemeClr val="tx1"/>
          </a:fontRef>
        </p:style>
      </p:cxnSp>
      <p:cxnSp>
        <p:nvCxnSpPr>
          <p:cNvPr id="14" name="直接箭头连接符 13"/>
          <p:cNvCxnSpPr/>
          <p:nvPr/>
        </p:nvCxnSpPr>
        <p:spPr>
          <a:xfrm>
            <a:off x="5743546" y="2619231"/>
            <a:ext cx="864000" cy="0"/>
          </a:xfrm>
          <a:prstGeom prst="straightConnector1">
            <a:avLst/>
          </a:prstGeom>
          <a:ln w="3175" cap="rnd">
            <a:solidFill>
              <a:schemeClr val="bg1">
                <a:lumMod val="85000"/>
              </a:schemeClr>
            </a:solidFill>
            <a:prstDash val="dash"/>
            <a:round/>
            <a:headEnd type="oval"/>
            <a:tailEnd type="oval"/>
          </a:ln>
        </p:spPr>
        <p:style>
          <a:lnRef idx="1">
            <a:schemeClr val="accent1"/>
          </a:lnRef>
          <a:fillRef idx="0">
            <a:schemeClr val="accent1"/>
          </a:fillRef>
          <a:effectRef idx="0">
            <a:schemeClr val="accent1"/>
          </a:effectRef>
          <a:fontRef idx="minor">
            <a:schemeClr val="tx1"/>
          </a:fontRef>
        </p:style>
      </p:cxnSp>
      <p:cxnSp>
        <p:nvCxnSpPr>
          <p:cNvPr id="15" name="直接箭头连接符 14"/>
          <p:cNvCxnSpPr/>
          <p:nvPr/>
        </p:nvCxnSpPr>
        <p:spPr>
          <a:xfrm>
            <a:off x="8435967" y="2619231"/>
            <a:ext cx="864000" cy="0"/>
          </a:xfrm>
          <a:prstGeom prst="straightConnector1">
            <a:avLst/>
          </a:prstGeom>
          <a:ln w="3175" cap="rnd">
            <a:solidFill>
              <a:schemeClr val="bg1">
                <a:lumMod val="85000"/>
              </a:schemeClr>
            </a:solidFill>
            <a:prstDash val="dash"/>
            <a:round/>
            <a:headEnd type="oval"/>
            <a:tailEnd type="oval"/>
          </a:ln>
        </p:spPr>
        <p:style>
          <a:lnRef idx="1">
            <a:schemeClr val="accent1"/>
          </a:lnRef>
          <a:fillRef idx="0">
            <a:schemeClr val="accent1"/>
          </a:fillRef>
          <a:effectRef idx="0">
            <a:schemeClr val="accent1"/>
          </a:effectRef>
          <a:fontRef idx="minor">
            <a:schemeClr val="tx1"/>
          </a:fontRef>
        </p:style>
      </p:cxnSp>
      <p:sp>
        <p:nvSpPr>
          <p:cNvPr id="22" name="文本框 21"/>
          <p:cNvSpPr txBox="1"/>
          <p:nvPr/>
        </p:nvSpPr>
        <p:spPr>
          <a:xfrm>
            <a:off x="857885" y="3353435"/>
            <a:ext cx="2509520" cy="2030095"/>
          </a:xfrm>
          <a:prstGeom prst="rect">
            <a:avLst/>
          </a:prstGeom>
          <a:noFill/>
        </p:spPr>
        <p:txBody>
          <a:bodyPr wrap="square" rtlCol="0">
            <a:spAutoFit/>
          </a:bodyPr>
          <a:lstStyle/>
          <a:p>
            <a:pPr algn="l" fontAlgn="auto">
              <a:lnSpc>
                <a:spcPct val="150000"/>
              </a:lnSpc>
            </a:pPr>
            <a:r>
              <a:rPr lang="zh-CN" altLang="en-US" sz="1400" spc="400" dirty="0">
                <a:solidFill>
                  <a:schemeClr val="tx1">
                    <a:lumMod val="85000"/>
                    <a:lumOff val="15000"/>
                  </a:schemeClr>
                </a:solidFill>
                <a:cs typeface="+mn-ea"/>
                <a:sym typeface="+mn-lt"/>
              </a:rPr>
              <a:t>由于当今中国各类公司兴起，很难有一款适应所有行业的客户关系管理系统面世，且各个公司发展模式不同，企业对于系统的要求也不同。</a:t>
            </a:r>
            <a:endParaRPr lang="zh-CN" altLang="en-US" sz="1400" spc="400" dirty="0">
              <a:solidFill>
                <a:schemeClr val="tx1">
                  <a:lumMod val="85000"/>
                  <a:lumOff val="15000"/>
                </a:schemeClr>
              </a:solidFill>
              <a:cs typeface="+mn-ea"/>
              <a:sym typeface="+mn-lt"/>
            </a:endParaRPr>
          </a:p>
        </p:txBody>
      </p:sp>
      <p:sp>
        <p:nvSpPr>
          <p:cNvPr id="25" name="文本框 24"/>
          <p:cNvSpPr txBox="1"/>
          <p:nvPr/>
        </p:nvSpPr>
        <p:spPr>
          <a:xfrm>
            <a:off x="3547745" y="3472180"/>
            <a:ext cx="2509520" cy="1383665"/>
          </a:xfrm>
          <a:prstGeom prst="rect">
            <a:avLst/>
          </a:prstGeom>
          <a:noFill/>
        </p:spPr>
        <p:txBody>
          <a:bodyPr wrap="square" rtlCol="0">
            <a:spAutoFit/>
          </a:bodyPr>
          <a:lstStyle/>
          <a:p>
            <a:pPr algn="l" fontAlgn="auto">
              <a:lnSpc>
                <a:spcPct val="150000"/>
              </a:lnSpc>
            </a:pPr>
            <a:r>
              <a:rPr lang="zh-CN" altLang="en-US" sz="1400" spc="400" dirty="0">
                <a:solidFill>
                  <a:schemeClr val="tx1">
                    <a:lumMod val="85000"/>
                    <a:lumOff val="15000"/>
                  </a:schemeClr>
                </a:solidFill>
                <a:cs typeface="+mn-ea"/>
                <a:sym typeface="+mn-lt"/>
              </a:rPr>
              <a:t>本系统功能还比较简单，在以后的工作生活中，可以继续对本系统进行完善。</a:t>
            </a:r>
            <a:endParaRPr lang="zh-CN" altLang="en-US" sz="1400" spc="400" dirty="0">
              <a:solidFill>
                <a:schemeClr val="tx1">
                  <a:lumMod val="85000"/>
                  <a:lumOff val="15000"/>
                </a:schemeClr>
              </a:solidFill>
              <a:cs typeface="+mn-ea"/>
              <a:sym typeface="+mn-lt"/>
            </a:endParaRPr>
          </a:p>
        </p:txBody>
      </p:sp>
      <p:sp>
        <p:nvSpPr>
          <p:cNvPr id="28" name="文本框 27"/>
          <p:cNvSpPr txBox="1"/>
          <p:nvPr/>
        </p:nvSpPr>
        <p:spPr>
          <a:xfrm>
            <a:off x="6351905" y="3470910"/>
            <a:ext cx="2509520" cy="1706880"/>
          </a:xfrm>
          <a:prstGeom prst="rect">
            <a:avLst/>
          </a:prstGeom>
          <a:noFill/>
        </p:spPr>
        <p:txBody>
          <a:bodyPr wrap="square" rtlCol="0">
            <a:spAutoFit/>
          </a:bodyPr>
          <a:lstStyle/>
          <a:p>
            <a:pPr algn="l" fontAlgn="auto">
              <a:lnSpc>
                <a:spcPct val="150000"/>
              </a:lnSpc>
            </a:pPr>
            <a:r>
              <a:rPr lang="zh-CN" altLang="en-US" sz="1400" spc="400" dirty="0">
                <a:solidFill>
                  <a:schemeClr val="tx1">
                    <a:lumMod val="85000"/>
                    <a:lumOff val="15000"/>
                  </a:schemeClr>
                </a:solidFill>
                <a:cs typeface="+mn-ea"/>
                <a:sym typeface="+mn-lt"/>
              </a:rPr>
              <a:t>Java语言经过多年的发展，已经相当成熟，未来的发展相当不错，可以将Java作为主学语言。</a:t>
            </a:r>
            <a:endParaRPr lang="zh-CN" altLang="en-US" sz="1400" spc="400" dirty="0">
              <a:solidFill>
                <a:schemeClr val="tx1">
                  <a:lumMod val="85000"/>
                  <a:lumOff val="15000"/>
                </a:schemeClr>
              </a:solidFill>
              <a:cs typeface="+mn-ea"/>
              <a:sym typeface="+mn-lt"/>
            </a:endParaRPr>
          </a:p>
        </p:txBody>
      </p:sp>
      <p:sp>
        <p:nvSpPr>
          <p:cNvPr id="31" name="文本框 30"/>
          <p:cNvSpPr txBox="1"/>
          <p:nvPr/>
        </p:nvSpPr>
        <p:spPr>
          <a:xfrm>
            <a:off x="9021445" y="3470910"/>
            <a:ext cx="2509520" cy="2999740"/>
          </a:xfrm>
          <a:prstGeom prst="rect">
            <a:avLst/>
          </a:prstGeom>
          <a:noFill/>
        </p:spPr>
        <p:txBody>
          <a:bodyPr wrap="square" rtlCol="0">
            <a:spAutoFit/>
          </a:bodyPr>
          <a:lstStyle/>
          <a:p>
            <a:pPr algn="l" fontAlgn="auto">
              <a:lnSpc>
                <a:spcPct val="150000"/>
              </a:lnSpc>
            </a:pPr>
            <a:r>
              <a:rPr lang="zh-CN" altLang="en-US" sz="1400" spc="400" dirty="0">
                <a:solidFill>
                  <a:schemeClr val="tx1">
                    <a:lumMod val="85000"/>
                    <a:lumOff val="15000"/>
                  </a:schemeClr>
                </a:solidFill>
                <a:cs typeface="+mn-ea"/>
                <a:sym typeface="+mn-lt"/>
              </a:rPr>
              <a:t>本系统使用的是MySQL数据库，MySQL数据库使用简单，SQL语句对于一名Java开发工程师来说也是相当重要的，必须要把数据库学好，这样在未来的开发工作中才能事半功倍</a:t>
            </a:r>
            <a:endParaRPr lang="zh-CN" altLang="en-US" sz="1400" spc="400" dirty="0">
              <a:solidFill>
                <a:schemeClr val="tx1">
                  <a:lumMod val="85000"/>
                  <a:lumOff val="15000"/>
                </a:schemeClr>
              </a:solidFill>
              <a:cs typeface="+mn-ea"/>
              <a:sym typeface="+mn-lt"/>
            </a:endParaRPr>
          </a:p>
        </p:txBody>
      </p:sp>
    </p:spTree>
    <p:custDataLst>
      <p:tags r:id="rId1"/>
    </p:custDataLst>
  </p:cSld>
  <p:clrMapOvr>
    <a:masterClrMapping/>
  </p:clrMapOvr>
  <mc:AlternateContent xmlns:mc="http://schemas.openxmlformats.org/markup-compatibility/2006">
    <mc:Choice xmlns:p14="http://schemas.microsoft.com/office/powerpoint/2010/main" Requires="p14">
      <p:transition spd="slow" p14:dur="1500" advTm="4019">
        <p:random/>
      </p:transition>
    </mc:Choice>
    <mc:Fallback>
      <p:transition spd="slow" advTm="4019">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53" presetClass="entr" presetSubtype="16"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p:cTn id="17" dur="500" fill="hold"/>
                                        <p:tgtEl>
                                          <p:spTgt spid="9"/>
                                        </p:tgtEl>
                                        <p:attrNameLst>
                                          <p:attrName>ppt_w</p:attrName>
                                        </p:attrNameLst>
                                      </p:cBhvr>
                                      <p:tavLst>
                                        <p:tav tm="0">
                                          <p:val>
                                            <p:fltVal val="0"/>
                                          </p:val>
                                        </p:tav>
                                        <p:tav tm="100000">
                                          <p:val>
                                            <p:strVal val="#ppt_w"/>
                                          </p:val>
                                        </p:tav>
                                      </p:tavLst>
                                    </p:anim>
                                    <p:anim calcmode="lin" valueType="num">
                                      <p:cBhvr>
                                        <p:cTn id="18" dur="500" fill="hold"/>
                                        <p:tgtEl>
                                          <p:spTgt spid="9"/>
                                        </p:tgtEl>
                                        <p:attrNameLst>
                                          <p:attrName>ppt_h</p:attrName>
                                        </p:attrNameLst>
                                      </p:cBhvr>
                                      <p:tavLst>
                                        <p:tav tm="0">
                                          <p:val>
                                            <p:fltVal val="0"/>
                                          </p:val>
                                        </p:tav>
                                        <p:tav tm="100000">
                                          <p:val>
                                            <p:strVal val="#ppt_h"/>
                                          </p:val>
                                        </p:tav>
                                      </p:tavLst>
                                    </p:anim>
                                    <p:animEffect transition="in" filter="fade">
                                      <p:cBhvr>
                                        <p:cTn id="19" dur="5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6" presetClass="entr" presetSubtype="37" fill="hold" nodeType="click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barn(outVertical)">
                                      <p:cBhvr>
                                        <p:cTn id="24" dur="500"/>
                                        <p:tgtEl>
                                          <p:spTgt spid="13"/>
                                        </p:tgtEl>
                                      </p:cBhvr>
                                    </p:animEffect>
                                  </p:childTnLst>
                                </p:cTn>
                              </p:par>
                            </p:childTnLst>
                          </p:cTn>
                        </p:par>
                      </p:childTnLst>
                    </p:cTn>
                  </p:par>
                  <p:par>
                    <p:cTn id="25" fill="hold">
                      <p:stCondLst>
                        <p:cond delay="indefinite"/>
                      </p:stCondLst>
                      <p:childTnLst>
                        <p:par>
                          <p:cTn id="26" fill="hold">
                            <p:stCondLst>
                              <p:cond delay="0"/>
                            </p:stCondLst>
                            <p:childTnLst>
                              <p:par>
                                <p:cTn id="27" presetID="53" presetClass="entr" presetSubtype="16"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 calcmode="lin" valueType="num">
                                      <p:cBhvr>
                                        <p:cTn id="29" dur="500" fill="hold"/>
                                        <p:tgtEl>
                                          <p:spTgt spid="10"/>
                                        </p:tgtEl>
                                        <p:attrNameLst>
                                          <p:attrName>ppt_w</p:attrName>
                                        </p:attrNameLst>
                                      </p:cBhvr>
                                      <p:tavLst>
                                        <p:tav tm="0">
                                          <p:val>
                                            <p:fltVal val="0"/>
                                          </p:val>
                                        </p:tav>
                                        <p:tav tm="100000">
                                          <p:val>
                                            <p:strVal val="#ppt_w"/>
                                          </p:val>
                                        </p:tav>
                                      </p:tavLst>
                                    </p:anim>
                                    <p:anim calcmode="lin" valueType="num">
                                      <p:cBhvr>
                                        <p:cTn id="30" dur="500" fill="hold"/>
                                        <p:tgtEl>
                                          <p:spTgt spid="10"/>
                                        </p:tgtEl>
                                        <p:attrNameLst>
                                          <p:attrName>ppt_h</p:attrName>
                                        </p:attrNameLst>
                                      </p:cBhvr>
                                      <p:tavLst>
                                        <p:tav tm="0">
                                          <p:val>
                                            <p:fltVal val="0"/>
                                          </p:val>
                                        </p:tav>
                                        <p:tav tm="100000">
                                          <p:val>
                                            <p:strVal val="#ppt_h"/>
                                          </p:val>
                                        </p:tav>
                                      </p:tavLst>
                                    </p:anim>
                                    <p:animEffect transition="in" filter="fade">
                                      <p:cBhvr>
                                        <p:cTn id="31" dur="5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barn(outVertical)">
                                      <p:cBhvr>
                                        <p:cTn id="36" dur="5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53" presetClass="entr" presetSubtype="16"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animEffect transition="in" filter="fade">
                                      <p:cBhvr>
                                        <p:cTn id="43" dur="500"/>
                                        <p:tgtEl>
                                          <p:spTgt spid="11"/>
                                        </p:tgtEl>
                                      </p:cBhvr>
                                    </p:animEffect>
                                  </p:childTnLst>
                                </p:cTn>
                              </p:par>
                            </p:childTnLst>
                          </p:cTn>
                        </p:par>
                      </p:childTnLst>
                    </p:cTn>
                  </p:par>
                  <p:par>
                    <p:cTn id="44" fill="hold">
                      <p:stCondLst>
                        <p:cond delay="indefinite"/>
                      </p:stCondLst>
                      <p:childTnLst>
                        <p:par>
                          <p:cTn id="45" fill="hold">
                            <p:stCondLst>
                              <p:cond delay="0"/>
                            </p:stCondLst>
                            <p:childTnLst>
                              <p:par>
                                <p:cTn id="46" presetID="16" presetClass="entr" presetSubtype="37"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barn(outVertical)">
                                      <p:cBhvr>
                                        <p:cTn id="48" dur="500"/>
                                        <p:tgtEl>
                                          <p:spTgt spid="15"/>
                                        </p:tgtEl>
                                      </p:cBhvr>
                                    </p:animEffect>
                                  </p:childTnLst>
                                </p:cTn>
                              </p:par>
                            </p:childTnLst>
                          </p:cTn>
                        </p:par>
                      </p:childTnLst>
                    </p:cTn>
                  </p:par>
                  <p:par>
                    <p:cTn id="49" fill="hold">
                      <p:stCondLst>
                        <p:cond delay="indefinite"/>
                      </p:stCondLst>
                      <p:childTnLst>
                        <p:par>
                          <p:cTn id="50" fill="hold">
                            <p:stCondLst>
                              <p:cond delay="0"/>
                            </p:stCondLst>
                            <p:childTnLst>
                              <p:par>
                                <p:cTn id="51" presetID="53" presetClass="entr" presetSubtype="16" fill="hold" grpId="0" nodeType="clickEffect">
                                  <p:stCondLst>
                                    <p:cond delay="0"/>
                                  </p:stCondLst>
                                  <p:childTnLst>
                                    <p:set>
                                      <p:cBhvr>
                                        <p:cTn id="52" dur="1" fill="hold">
                                          <p:stCondLst>
                                            <p:cond delay="0"/>
                                          </p:stCondLst>
                                        </p:cTn>
                                        <p:tgtEl>
                                          <p:spTgt spid="12"/>
                                        </p:tgtEl>
                                        <p:attrNameLst>
                                          <p:attrName>style.visibility</p:attrName>
                                        </p:attrNameLst>
                                      </p:cBhvr>
                                      <p:to>
                                        <p:strVal val="visible"/>
                                      </p:to>
                                    </p:set>
                                    <p:anim calcmode="lin" valueType="num">
                                      <p:cBhvr>
                                        <p:cTn id="53" dur="500" fill="hold"/>
                                        <p:tgtEl>
                                          <p:spTgt spid="12"/>
                                        </p:tgtEl>
                                        <p:attrNameLst>
                                          <p:attrName>ppt_w</p:attrName>
                                        </p:attrNameLst>
                                      </p:cBhvr>
                                      <p:tavLst>
                                        <p:tav tm="0">
                                          <p:val>
                                            <p:fltVal val="0"/>
                                          </p:val>
                                        </p:tav>
                                        <p:tav tm="100000">
                                          <p:val>
                                            <p:strVal val="#ppt_w"/>
                                          </p:val>
                                        </p:tav>
                                      </p:tavLst>
                                    </p:anim>
                                    <p:anim calcmode="lin" valueType="num">
                                      <p:cBhvr>
                                        <p:cTn id="54" dur="500" fill="hold"/>
                                        <p:tgtEl>
                                          <p:spTgt spid="12"/>
                                        </p:tgtEl>
                                        <p:attrNameLst>
                                          <p:attrName>ppt_h</p:attrName>
                                        </p:attrNameLst>
                                      </p:cBhvr>
                                      <p:tavLst>
                                        <p:tav tm="0">
                                          <p:val>
                                            <p:fltVal val="0"/>
                                          </p:val>
                                        </p:tav>
                                        <p:tav tm="100000">
                                          <p:val>
                                            <p:strVal val="#ppt_h"/>
                                          </p:val>
                                        </p:tav>
                                      </p:tavLst>
                                    </p:anim>
                                    <p:animEffect transition="in" filter="fade">
                                      <p:cBhvr>
                                        <p:cTn id="55"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9" grpId="0" animBg="1"/>
      <p:bldP spid="10" grpId="0" animBg="1"/>
      <p:bldP spid="11" grpId="0" animBg="1"/>
      <p:bldP spid="12"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椭圆 12"/>
          <p:cNvSpPr/>
          <p:nvPr/>
        </p:nvSpPr>
        <p:spPr>
          <a:xfrm>
            <a:off x="11036300" y="395605"/>
            <a:ext cx="45720" cy="45720"/>
          </a:xfrm>
          <a:prstGeom prst="ellipse">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nvGrpSpPr>
          <p:cNvPr id="21" name="组合 20"/>
          <p:cNvGrpSpPr/>
          <p:nvPr/>
        </p:nvGrpSpPr>
        <p:grpSpPr>
          <a:xfrm>
            <a:off x="-2846530" y="-1770744"/>
            <a:ext cx="8399978" cy="7688943"/>
            <a:chOff x="-2846530" y="-1770744"/>
            <a:chExt cx="8399978" cy="7688943"/>
          </a:xfrm>
        </p:grpSpPr>
        <p:sp>
          <p:nvSpPr>
            <p:cNvPr id="2" name="椭圆 1"/>
            <p:cNvSpPr/>
            <p:nvPr/>
          </p:nvSpPr>
          <p:spPr>
            <a:xfrm>
              <a:off x="-2846530" y="-1770744"/>
              <a:ext cx="7688943" cy="7688943"/>
            </a:xfrm>
            <a:prstGeom prst="ellipse">
              <a:avLst/>
            </a:prstGeom>
            <a:solidFill>
              <a:srgbClr val="D8EFFD"/>
            </a:solidFill>
            <a:ln>
              <a:noFill/>
            </a:ln>
            <a:effectLst>
              <a:outerShdw blurRad="279400" dist="38100" dir="2700000" sx="101000" sy="101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5" name="文本框 14"/>
            <p:cNvSpPr txBox="1"/>
            <p:nvPr/>
          </p:nvSpPr>
          <p:spPr>
            <a:xfrm>
              <a:off x="-1214742" y="1161142"/>
              <a:ext cx="6768190" cy="3769360"/>
            </a:xfrm>
            <a:prstGeom prst="rect">
              <a:avLst/>
            </a:prstGeom>
            <a:noFill/>
          </p:spPr>
          <p:txBody>
            <a:bodyPr wrap="square" rtlCol="0">
              <a:spAutoFit/>
            </a:bodyPr>
            <a:lstStyle/>
            <a:p>
              <a:pPr algn="ctr"/>
              <a:r>
                <a:rPr lang="en-US" altLang="zh-CN" sz="23900" dirty="0">
                  <a:solidFill>
                    <a:srgbClr val="10507E"/>
                  </a:solidFill>
                  <a:effectLst>
                    <a:outerShdw blurRad="63500" sx="101000" sy="101000" algn="ctr" rotWithShape="0">
                      <a:prstClr val="black">
                        <a:alpha val="40000"/>
                      </a:prstClr>
                    </a:outerShdw>
                  </a:effectLst>
                  <a:cs typeface="+mn-ea"/>
                  <a:sym typeface="+mn-lt"/>
                </a:rPr>
                <a:t>05</a:t>
              </a:r>
              <a:endParaRPr lang="zh-CN" altLang="en-US" sz="23900" dirty="0">
                <a:solidFill>
                  <a:srgbClr val="10507E"/>
                </a:solidFill>
                <a:effectLst>
                  <a:outerShdw blurRad="63500" sx="101000" sy="101000" algn="ctr" rotWithShape="0">
                    <a:prstClr val="black">
                      <a:alpha val="40000"/>
                    </a:prstClr>
                  </a:outerShdw>
                </a:effectLst>
                <a:cs typeface="+mn-ea"/>
                <a:sym typeface="+mn-lt"/>
              </a:endParaRPr>
            </a:p>
          </p:txBody>
        </p:sp>
      </p:grpSp>
      <p:grpSp>
        <p:nvGrpSpPr>
          <p:cNvPr id="18" name="组合 17"/>
          <p:cNvGrpSpPr/>
          <p:nvPr/>
        </p:nvGrpSpPr>
        <p:grpSpPr>
          <a:xfrm>
            <a:off x="5140956" y="2474962"/>
            <a:ext cx="6477909" cy="1142621"/>
            <a:chOff x="5862081" y="2617371"/>
            <a:chExt cx="6477909" cy="1142621"/>
          </a:xfrm>
        </p:grpSpPr>
        <p:sp>
          <p:nvSpPr>
            <p:cNvPr id="16" name="文本框 15"/>
            <p:cNvSpPr txBox="1"/>
            <p:nvPr/>
          </p:nvSpPr>
          <p:spPr>
            <a:xfrm>
              <a:off x="5862082" y="2617371"/>
              <a:ext cx="6006236" cy="1014730"/>
            </a:xfrm>
            <a:prstGeom prst="rect">
              <a:avLst/>
            </a:prstGeom>
            <a:noFill/>
          </p:spPr>
          <p:txBody>
            <a:bodyPr wrap="square" rtlCol="0">
              <a:spAutoFit/>
            </a:bodyPr>
            <a:lstStyle/>
            <a:p>
              <a:pPr algn="dist"/>
              <a:r>
                <a:rPr lang="zh-CN" altLang="en-US" sz="6000" dirty="0">
                  <a:solidFill>
                    <a:schemeClr val="tx1">
                      <a:lumMod val="75000"/>
                      <a:lumOff val="25000"/>
                    </a:schemeClr>
                  </a:solidFill>
                  <a:cs typeface="+mn-ea"/>
                  <a:sym typeface="+mn-lt"/>
                </a:rPr>
                <a:t>致谢</a:t>
              </a:r>
              <a:endParaRPr lang="zh-CN" altLang="en-US" sz="6000" dirty="0">
                <a:solidFill>
                  <a:schemeClr val="tx1">
                    <a:lumMod val="75000"/>
                    <a:lumOff val="25000"/>
                  </a:schemeClr>
                </a:solidFill>
                <a:cs typeface="+mn-ea"/>
                <a:sym typeface="+mn-lt"/>
              </a:endParaRPr>
            </a:p>
          </p:txBody>
        </p:sp>
        <p:sp>
          <p:nvSpPr>
            <p:cNvPr id="17" name="文本框 16"/>
            <p:cNvSpPr txBox="1"/>
            <p:nvPr/>
          </p:nvSpPr>
          <p:spPr>
            <a:xfrm>
              <a:off x="5862081" y="3506076"/>
              <a:ext cx="6477909" cy="253916"/>
            </a:xfrm>
            <a:prstGeom prst="rect">
              <a:avLst/>
            </a:prstGeom>
            <a:noFill/>
          </p:spPr>
          <p:txBody>
            <a:bodyPr wrap="square" rtlCol="0">
              <a:spAutoFit/>
            </a:bodyPr>
            <a:lstStyle/>
            <a:p>
              <a:pPr algn="dist"/>
              <a:r>
                <a:rPr lang="en-US" altLang="zh-CN" sz="1050" dirty="0">
                  <a:cs typeface="+mn-ea"/>
                  <a:sym typeface="+mn-lt"/>
                </a:rPr>
                <a:t>RESEARCH BACKGROUND AND CURRENT SITUATION</a:t>
              </a:r>
              <a:endParaRPr lang="zh-CN" altLang="en-US" sz="1050" dirty="0">
                <a:cs typeface="+mn-ea"/>
                <a:sym typeface="+mn-lt"/>
              </a:endParaRPr>
            </a:p>
          </p:txBody>
        </p:sp>
      </p:grpSp>
      <p:sp>
        <p:nvSpPr>
          <p:cNvPr id="19" name="圆: 空心 18"/>
          <p:cNvSpPr/>
          <p:nvPr/>
        </p:nvSpPr>
        <p:spPr>
          <a:xfrm>
            <a:off x="10808543" y="5670073"/>
            <a:ext cx="2766913" cy="2766913"/>
          </a:xfrm>
          <a:prstGeom prst="donut">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cs typeface="+mn-ea"/>
              <a:sym typeface="+mn-lt"/>
            </a:endParaRPr>
          </a:p>
        </p:txBody>
      </p:sp>
    </p:spTree>
    <p:custDataLst>
      <p:tags r:id="rId1"/>
    </p:custDataLst>
  </p:cSld>
  <p:clrMapOvr>
    <a:masterClrMapping/>
  </p:clrMapOvr>
  <mc:AlternateContent xmlns:mc="http://schemas.openxmlformats.org/markup-compatibility/2006">
    <mc:Choice xmlns:p14="http://schemas.microsoft.com/office/powerpoint/2010/main" Requires="p14">
      <p:transition spd="slow" p14:dur="1500" advTm="2135">
        <p:random/>
      </p:transition>
    </mc:Choice>
    <mc:Fallback>
      <p:transition spd="slow" advTm="2135">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1000"/>
                                        <p:tgtEl>
                                          <p:spTgt spid="21"/>
                                        </p:tgtEl>
                                      </p:cBhvr>
                                    </p:animEffect>
                                    <p:anim calcmode="lin" valueType="num">
                                      <p:cBhvr>
                                        <p:cTn id="8" dur="1000" fill="hold"/>
                                        <p:tgtEl>
                                          <p:spTgt spid="21"/>
                                        </p:tgtEl>
                                        <p:attrNameLst>
                                          <p:attrName>ppt_x</p:attrName>
                                        </p:attrNameLst>
                                      </p:cBhvr>
                                      <p:tavLst>
                                        <p:tav tm="0">
                                          <p:val>
                                            <p:strVal val="#ppt_x"/>
                                          </p:val>
                                        </p:tav>
                                        <p:tav tm="100000">
                                          <p:val>
                                            <p:strVal val="#ppt_x"/>
                                          </p:val>
                                        </p:tav>
                                      </p:tavLst>
                                    </p:anim>
                                    <p:anim calcmode="lin" valueType="num">
                                      <p:cBhvr>
                                        <p:cTn id="9" dur="10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0"/>
                                  </p:stCondLst>
                                  <p:childTnLst>
                                    <p:set>
                                      <p:cBhvr>
                                        <p:cTn id="13" dur="1" fill="hold">
                                          <p:stCondLst>
                                            <p:cond delay="0"/>
                                          </p:stCondLst>
                                        </p:cTn>
                                        <p:tgtEl>
                                          <p:spTgt spid="18"/>
                                        </p:tgtEl>
                                        <p:attrNameLst>
                                          <p:attrName>style.visibility</p:attrName>
                                        </p:attrNameLst>
                                      </p:cBhvr>
                                      <p:to>
                                        <p:strVal val="visible"/>
                                      </p:to>
                                    </p:set>
                                    <p:animEffect transition="in" filter="wipe(left)">
                                      <p:cBhvr>
                                        <p:cTn id="14" dur="500"/>
                                        <p:tgtEl>
                                          <p:spTgt spid="18"/>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1000"/>
                                        <p:tgtEl>
                                          <p:spTgt spid="19"/>
                                        </p:tgtEl>
                                      </p:cBhvr>
                                    </p:animEffect>
                                    <p:anim calcmode="lin" valueType="num">
                                      <p:cBhvr>
                                        <p:cTn id="20" dur="1000" fill="hold"/>
                                        <p:tgtEl>
                                          <p:spTgt spid="19"/>
                                        </p:tgtEl>
                                        <p:attrNameLst>
                                          <p:attrName>ppt_x</p:attrName>
                                        </p:attrNameLst>
                                      </p:cBhvr>
                                      <p:tavLst>
                                        <p:tav tm="0">
                                          <p:val>
                                            <p:strVal val="#ppt_x"/>
                                          </p:val>
                                        </p:tav>
                                        <p:tav tm="100000">
                                          <p:val>
                                            <p:strVal val="#ppt_x"/>
                                          </p:val>
                                        </p:tav>
                                      </p:tavLst>
                                    </p:anim>
                                    <p:anim calcmode="lin" valueType="num">
                                      <p:cBhvr>
                                        <p:cTn id="21"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bldLvl="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244706" y="165322"/>
            <a:ext cx="4862917" cy="768350"/>
            <a:chOff x="145646" y="165322"/>
            <a:chExt cx="4862917" cy="768350"/>
          </a:xfrm>
        </p:grpSpPr>
        <p:grpSp>
          <p:nvGrpSpPr>
            <p:cNvPr id="17" name="组合 16"/>
            <p:cNvGrpSpPr/>
            <p:nvPr/>
          </p:nvGrpSpPr>
          <p:grpSpPr>
            <a:xfrm>
              <a:off x="145646" y="165322"/>
              <a:ext cx="4521604" cy="768350"/>
              <a:chOff x="107546" y="317722"/>
              <a:chExt cx="4521604" cy="768350"/>
            </a:xfrm>
          </p:grpSpPr>
          <p:sp>
            <p:nvSpPr>
              <p:cNvPr id="8" name="文本框 7"/>
              <p:cNvSpPr txBox="1"/>
              <p:nvPr/>
            </p:nvSpPr>
            <p:spPr>
              <a:xfrm>
                <a:off x="996748" y="317722"/>
                <a:ext cx="3632402" cy="583565"/>
              </a:xfrm>
              <a:prstGeom prst="rect">
                <a:avLst/>
              </a:prstGeom>
              <a:noFill/>
            </p:spPr>
            <p:txBody>
              <a:bodyPr wrap="square" rtlCol="0">
                <a:spAutoFit/>
              </a:bodyPr>
              <a:lstStyle/>
              <a:p>
                <a:pPr algn="dist"/>
                <a:r>
                  <a:rPr lang="zh-CN" altLang="en-US" sz="3200" dirty="0">
                    <a:solidFill>
                      <a:schemeClr val="tx1">
                        <a:lumMod val="75000"/>
                        <a:lumOff val="25000"/>
                      </a:schemeClr>
                    </a:solidFill>
                    <a:cs typeface="+mn-ea"/>
                    <a:sym typeface="+mn-lt"/>
                  </a:rPr>
                  <a:t>致谢</a:t>
                </a:r>
                <a:endParaRPr lang="zh-CN" altLang="en-US" sz="3200" dirty="0">
                  <a:solidFill>
                    <a:schemeClr val="tx1">
                      <a:lumMod val="75000"/>
                      <a:lumOff val="25000"/>
                    </a:schemeClr>
                  </a:solidFill>
                  <a:cs typeface="+mn-ea"/>
                  <a:sym typeface="+mn-lt"/>
                </a:endParaRPr>
              </a:p>
            </p:txBody>
          </p:sp>
          <p:sp>
            <p:nvSpPr>
              <p:cNvPr id="16" name="文本框 15"/>
              <p:cNvSpPr txBox="1"/>
              <p:nvPr/>
            </p:nvSpPr>
            <p:spPr>
              <a:xfrm>
                <a:off x="107546" y="317722"/>
                <a:ext cx="1003704" cy="768350"/>
              </a:xfrm>
              <a:prstGeom prst="rect">
                <a:avLst/>
              </a:prstGeom>
              <a:noFill/>
            </p:spPr>
            <p:txBody>
              <a:bodyPr wrap="square" rtlCol="0">
                <a:spAutoFit/>
              </a:bodyPr>
              <a:lstStyle/>
              <a:p>
                <a:r>
                  <a:rPr lang="en-US" altLang="zh-CN" sz="4400" dirty="0">
                    <a:solidFill>
                      <a:srgbClr val="69C0E1"/>
                    </a:solidFill>
                    <a:cs typeface="+mn-ea"/>
                    <a:sym typeface="+mn-lt"/>
                  </a:rPr>
                  <a:t>05.</a:t>
                </a:r>
                <a:endParaRPr lang="zh-CN" altLang="en-US" sz="4400" dirty="0">
                  <a:solidFill>
                    <a:srgbClr val="69C0E1"/>
                  </a:solidFill>
                  <a:cs typeface="+mn-ea"/>
                  <a:sym typeface="+mn-lt"/>
                </a:endParaRPr>
              </a:p>
            </p:txBody>
          </p:sp>
        </p:grpSp>
        <p:sp>
          <p:nvSpPr>
            <p:cNvPr id="18" name="文本框 17"/>
            <p:cNvSpPr txBox="1"/>
            <p:nvPr/>
          </p:nvSpPr>
          <p:spPr>
            <a:xfrm>
              <a:off x="1077711" y="640874"/>
              <a:ext cx="3930852" cy="218445"/>
            </a:xfrm>
            <a:prstGeom prst="rect">
              <a:avLst/>
            </a:prstGeom>
            <a:noFill/>
          </p:spPr>
          <p:txBody>
            <a:bodyPr wrap="square" rtlCol="0">
              <a:spAutoFit/>
            </a:bodyPr>
            <a:lstStyle/>
            <a:p>
              <a:pPr algn="dist"/>
              <a:r>
                <a:rPr lang="en-US" altLang="zh-CN" sz="800" dirty="0">
                  <a:solidFill>
                    <a:srgbClr val="10507E"/>
                  </a:solidFill>
                  <a:cs typeface="+mn-ea"/>
                  <a:sym typeface="+mn-lt"/>
                </a:rPr>
                <a:t>RESEARCH BACKGROUND AND CURRENT SITUATION</a:t>
              </a:r>
              <a:endParaRPr lang="zh-CN" altLang="en-US" sz="800" dirty="0">
                <a:solidFill>
                  <a:srgbClr val="10507E"/>
                </a:solidFill>
                <a:cs typeface="+mn-ea"/>
                <a:sym typeface="+mn-lt"/>
              </a:endParaRPr>
            </a:p>
          </p:txBody>
        </p:sp>
      </p:grpSp>
      <p:sp>
        <p:nvSpPr>
          <p:cNvPr id="20" name="矩形 19"/>
          <p:cNvSpPr/>
          <p:nvPr/>
        </p:nvSpPr>
        <p:spPr>
          <a:xfrm>
            <a:off x="381000" y="859320"/>
            <a:ext cx="10756900" cy="45719"/>
          </a:xfrm>
          <a:prstGeom prst="rect">
            <a:avLst/>
          </a:prstGeom>
          <a:gradFill flip="none" rotWithShape="1">
            <a:gsLst>
              <a:gs pos="37000">
                <a:srgbClr val="69C0E1">
                  <a:alpha val="30000"/>
                </a:srgbClr>
              </a:gs>
              <a:gs pos="1000">
                <a:srgbClr val="69C0E1">
                  <a:alpha val="0"/>
                </a:srgbClr>
              </a:gs>
              <a:gs pos="74000">
                <a:srgbClr val="69C0E1">
                  <a:alpha val="52000"/>
                </a:srgbClr>
              </a:gs>
              <a:gs pos="83000">
                <a:srgbClr val="69C0E1"/>
              </a:gs>
              <a:gs pos="100000">
                <a:srgbClr val="69C0E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 name="矩形 1"/>
          <p:cNvSpPr/>
          <p:nvPr/>
        </p:nvSpPr>
        <p:spPr>
          <a:xfrm>
            <a:off x="520700" y="1337310"/>
            <a:ext cx="10617200" cy="5037455"/>
          </a:xfrm>
          <a:prstGeom prst="rect">
            <a:avLst/>
          </a:prstGeom>
        </p:spPr>
        <p:style>
          <a:lnRef idx="2">
            <a:schemeClr val="dk1"/>
          </a:lnRef>
          <a:fillRef idx="1">
            <a:schemeClr val="lt1"/>
          </a:fillRef>
          <a:effectRef idx="0">
            <a:schemeClr val="dk1"/>
          </a:effectRef>
          <a:fontRef idx="minor">
            <a:schemeClr val="dk1"/>
          </a:fontRef>
        </p:style>
        <p:txBody>
          <a:bodyPr rtlCol="0" anchor="ctr"/>
          <a:p>
            <a:pPr algn="l" fontAlgn="auto"/>
            <a:r>
              <a:rPr lang="zh-CN" altLang="en-US"/>
              <a:t>大学四年时光飞逝，转眼已经到了要出社会的时候，对未来充满期待。</a:t>
            </a:r>
            <a:endParaRPr lang="zh-CN" altLang="en-US"/>
          </a:p>
          <a:p>
            <a:pPr algn="l" fontAlgn="auto"/>
            <a:r>
              <a:rPr lang="zh-CN" altLang="en-US"/>
              <a:t>在这里，我要感谢指导老师朱老师，在我做毕业设计的过程中，老师一直给予我无私的帮助，经常牺牲自己的休息时间来帮我解答问题，特别感谢老师对于我的帮助！</a:t>
            </a:r>
            <a:endParaRPr lang="zh-CN" altLang="en-US"/>
          </a:p>
          <a:p>
            <a:pPr algn="l" fontAlgn="auto"/>
            <a:r>
              <a:rPr lang="zh-CN" altLang="en-US"/>
              <a:t>感谢我的父母，把我抚养成人，供我学习，感谢父母的养育之恩。</a:t>
            </a:r>
            <a:endParaRPr lang="zh-CN" altLang="en-US"/>
          </a:p>
          <a:p>
            <a:pPr algn="l" fontAlgn="auto"/>
            <a:r>
              <a:rPr lang="zh-CN" altLang="en-US"/>
              <a:t>感谢生命中遇到的所有老师，是你们的淳淳教诲让我完成学业，谢谢所有老师们。</a:t>
            </a:r>
            <a:endParaRPr lang="zh-CN" altLang="en-US"/>
          </a:p>
          <a:p>
            <a:pPr algn="l" fontAlgn="auto"/>
            <a:r>
              <a:rPr lang="zh-CN" altLang="en-US"/>
              <a:t>感谢室友们四年来的朝夕相伴。</a:t>
            </a:r>
            <a:endParaRPr lang="zh-CN" altLang="en-US"/>
          </a:p>
          <a:p>
            <a:pPr algn="l" fontAlgn="auto"/>
            <a:r>
              <a:rPr lang="zh-CN" altLang="en-US"/>
              <a:t>感谢生命中遇到的所有人。</a:t>
            </a:r>
            <a:endParaRPr lang="zh-CN" altLang="en-US"/>
          </a:p>
          <a:p>
            <a:pPr algn="l" fontAlgn="auto"/>
            <a:r>
              <a:rPr lang="zh-CN" altLang="en-US"/>
              <a:t>感谢母校。</a:t>
            </a:r>
            <a:endParaRPr lang="zh-CN" altLang="en-US"/>
          </a:p>
          <a:p>
            <a:pPr algn="l" fontAlgn="auto"/>
            <a:r>
              <a:rPr lang="zh-CN" altLang="en-US"/>
              <a:t>感谢祖国。</a:t>
            </a:r>
            <a:endParaRPr lang="zh-CN" altLang="en-US"/>
          </a:p>
        </p:txBody>
      </p:sp>
      <p:grpSp>
        <p:nvGrpSpPr>
          <p:cNvPr id="22" name="组合 21"/>
          <p:cNvGrpSpPr/>
          <p:nvPr/>
        </p:nvGrpSpPr>
        <p:grpSpPr>
          <a:xfrm>
            <a:off x="9199880" y="694639"/>
            <a:ext cx="1504033" cy="1158528"/>
            <a:chOff x="2498090" y="1943411"/>
            <a:chExt cx="1504033" cy="1158528"/>
          </a:xfrm>
        </p:grpSpPr>
        <p:grpSp>
          <p:nvGrpSpPr>
            <p:cNvPr id="23" name="组合 22"/>
            <p:cNvGrpSpPr/>
            <p:nvPr/>
          </p:nvGrpSpPr>
          <p:grpSpPr>
            <a:xfrm>
              <a:off x="2847021" y="1946837"/>
              <a:ext cx="1155102" cy="1155102"/>
              <a:chOff x="928913" y="3135085"/>
              <a:chExt cx="2032000" cy="2032000"/>
            </a:xfrm>
          </p:grpSpPr>
          <p:sp>
            <p:nvSpPr>
              <p:cNvPr id="28" name="泪滴形 27"/>
              <p:cNvSpPr/>
              <p:nvPr/>
            </p:nvSpPr>
            <p:spPr>
              <a:xfrm rot="8255537">
                <a:off x="928913" y="3135085"/>
                <a:ext cx="2032000" cy="2032000"/>
              </a:xfrm>
              <a:prstGeom prst="teardrop">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9" name="椭圆 28"/>
              <p:cNvSpPr/>
              <p:nvPr/>
            </p:nvSpPr>
            <p:spPr>
              <a:xfrm>
                <a:off x="1210490" y="3416662"/>
                <a:ext cx="1468847" cy="146884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grpSp>
        <p:grpSp>
          <p:nvGrpSpPr>
            <p:cNvPr id="25" name="组合 24"/>
            <p:cNvGrpSpPr/>
            <p:nvPr/>
          </p:nvGrpSpPr>
          <p:grpSpPr>
            <a:xfrm>
              <a:off x="2498090" y="1943411"/>
              <a:ext cx="709714" cy="483375"/>
              <a:chOff x="2498090" y="1943411"/>
              <a:chExt cx="709714" cy="483375"/>
            </a:xfrm>
          </p:grpSpPr>
          <p:sp>
            <p:nvSpPr>
              <p:cNvPr id="26" name="椭圆 25"/>
              <p:cNvSpPr/>
              <p:nvPr/>
            </p:nvSpPr>
            <p:spPr>
              <a:xfrm>
                <a:off x="2608627" y="1943411"/>
                <a:ext cx="483375" cy="483375"/>
              </a:xfrm>
              <a:prstGeom prst="ellipse">
                <a:avLst/>
              </a:prstGeom>
              <a:solidFill>
                <a:srgbClr val="69C0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7" name="文本框 26"/>
              <p:cNvSpPr txBox="1"/>
              <p:nvPr/>
            </p:nvSpPr>
            <p:spPr>
              <a:xfrm>
                <a:off x="2498090" y="1989641"/>
                <a:ext cx="709714" cy="398780"/>
              </a:xfrm>
              <a:prstGeom prst="rect">
                <a:avLst/>
              </a:prstGeom>
              <a:noFill/>
            </p:spPr>
            <p:txBody>
              <a:bodyPr wrap="square" rtlCol="0">
                <a:spAutoFit/>
              </a:bodyPr>
              <a:lstStyle/>
              <a:p>
                <a:pPr algn="ctr"/>
                <a:endParaRPr lang="zh-CN" altLang="en-US" sz="2000" dirty="0">
                  <a:solidFill>
                    <a:schemeClr val="bg1"/>
                  </a:solidFill>
                  <a:effectLst>
                    <a:outerShdw blurRad="38100" dist="38100" dir="2700000" algn="tl">
                      <a:srgbClr val="000000">
                        <a:alpha val="43137"/>
                      </a:srgbClr>
                    </a:outerShdw>
                  </a:effectLst>
                  <a:cs typeface="+mn-ea"/>
                  <a:sym typeface="+mn-lt"/>
                </a:endParaRPr>
              </a:p>
            </p:txBody>
          </p:sp>
        </p:grpSp>
      </p:grpSp>
    </p:spTree>
    <p:custDataLst>
      <p:tags r:id="rId1"/>
    </p:custDataLst>
  </p:cSld>
  <p:clrMapOvr>
    <a:masterClrMapping/>
  </p:clrMapOvr>
  <mc:AlternateContent xmlns:mc="http://schemas.openxmlformats.org/markup-compatibility/2006">
    <mc:Choice xmlns:p14="http://schemas.microsoft.com/office/powerpoint/2010/main" Requires="p14">
      <p:transition spd="slow" p14:dur="1500" advTm="2478">
        <p:random/>
      </p:transition>
    </mc:Choice>
    <mc:Fallback>
      <p:transition spd="slow" advTm="2478">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anim calcmode="lin" valueType="num">
                                      <p:cBhvr>
                                        <p:cTn id="8" dur="750" fill="hold"/>
                                        <p:tgtEl>
                                          <p:spTgt spid="19"/>
                                        </p:tgtEl>
                                        <p:attrNameLst>
                                          <p:attrName>ppt_x</p:attrName>
                                        </p:attrNameLst>
                                      </p:cBhvr>
                                      <p:tavLst>
                                        <p:tav tm="0">
                                          <p:val>
                                            <p:strVal val="#ppt_x"/>
                                          </p:val>
                                        </p:tav>
                                        <p:tav tm="100000">
                                          <p:val>
                                            <p:strVal val="#ppt_x"/>
                                          </p:val>
                                        </p:tav>
                                      </p:tavLst>
                                    </p:anim>
                                    <p:anim calcmode="lin" valueType="num">
                                      <p:cBhvr>
                                        <p:cTn id="9" dur="750" fill="hold"/>
                                        <p:tgtEl>
                                          <p:spTgt spid="19"/>
                                        </p:tgtEl>
                                        <p:attrNameLst>
                                          <p:attrName>ppt_y</p:attrName>
                                        </p:attrNameLst>
                                      </p:cBhvr>
                                      <p:tavLst>
                                        <p:tav tm="0">
                                          <p:val>
                                            <p:strVal val="#ppt_y+.1"/>
                                          </p:val>
                                        </p:tav>
                                        <p:tav tm="100000">
                                          <p:val>
                                            <p:strVal val="#ppt_y"/>
                                          </p:val>
                                        </p:tav>
                                      </p:tavLst>
                                    </p:anim>
                                  </p:childTnLst>
                                </p:cTn>
                              </p:par>
                              <p:par>
                                <p:cTn id="10" presetID="22" presetClass="entr" presetSubtype="8" fill="hold" grpId="0" nodeType="with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750"/>
                                        <p:tgtEl>
                                          <p:spTgt spid="20"/>
                                        </p:tgtEl>
                                      </p:cBhvr>
                                    </p:animEffect>
                                  </p:childTnLst>
                                </p:cTn>
                              </p:par>
                              <p:par>
                                <p:cTn id="13" presetID="37" presetClass="entr" presetSubtype="0" fill="hold" nodeType="with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1000"/>
                                        <p:tgtEl>
                                          <p:spTgt spid="22"/>
                                        </p:tgtEl>
                                      </p:cBhvr>
                                    </p:animEffect>
                                    <p:anim calcmode="lin" valueType="num">
                                      <p:cBhvr>
                                        <p:cTn id="16" dur="1000" fill="hold"/>
                                        <p:tgtEl>
                                          <p:spTgt spid="22"/>
                                        </p:tgtEl>
                                        <p:attrNameLst>
                                          <p:attrName>ppt_x</p:attrName>
                                        </p:attrNameLst>
                                      </p:cBhvr>
                                      <p:tavLst>
                                        <p:tav tm="0">
                                          <p:val>
                                            <p:strVal val="#ppt_x"/>
                                          </p:val>
                                        </p:tav>
                                        <p:tav tm="100000">
                                          <p:val>
                                            <p:strVal val="#ppt_x"/>
                                          </p:val>
                                        </p:tav>
                                      </p:tavLst>
                                    </p:anim>
                                    <p:anim calcmode="lin" valueType="num">
                                      <p:cBhvr>
                                        <p:cTn id="17" dur="900" decel="100000" fill="hold"/>
                                        <p:tgtEl>
                                          <p:spTgt spid="22"/>
                                        </p:tgtEl>
                                        <p:attrNameLst>
                                          <p:attrName>ppt_y</p:attrName>
                                        </p:attrNameLst>
                                      </p:cBhvr>
                                      <p:tavLst>
                                        <p:tav tm="0">
                                          <p:val>
                                            <p:strVal val="#ppt_y+1"/>
                                          </p:val>
                                        </p:tav>
                                        <p:tav tm="100000">
                                          <p:val>
                                            <p:strVal val="#ppt_y-.03"/>
                                          </p:val>
                                        </p:tav>
                                      </p:tavLst>
                                    </p:anim>
                                    <p:anim calcmode="lin" valueType="num">
                                      <p:cBhvr>
                                        <p:cTn id="18" dur="100" accel="100000" fill="hold">
                                          <p:stCondLst>
                                            <p:cond delay="900"/>
                                          </p:stCondLst>
                                        </p:cTn>
                                        <p:tgtEl>
                                          <p:spTgt spid="22"/>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8" name="组合 57"/>
          <p:cNvGrpSpPr/>
          <p:nvPr/>
        </p:nvGrpSpPr>
        <p:grpSpPr>
          <a:xfrm>
            <a:off x="-1" y="-1"/>
            <a:ext cx="12192001" cy="5928853"/>
            <a:chOff x="-1" y="-1"/>
            <a:chExt cx="12192001" cy="5928853"/>
          </a:xfrm>
        </p:grpSpPr>
        <p:pic>
          <p:nvPicPr>
            <p:cNvPr id="56" name="图片 55"/>
            <p:cNvPicPr>
              <a:picLocks noChangeAspect="1"/>
            </p:cNvPicPr>
            <p:nvPr/>
          </p:nvPicPr>
          <p:blipFill rotWithShape="1">
            <a:blip r:embed="rId1" cstate="print">
              <a:extLst>
                <a:ext uri="{28A0092B-C50C-407E-A947-70E740481C1C}">
                  <a14:useLocalDpi xmlns:a14="http://schemas.microsoft.com/office/drawing/2010/main" val="0"/>
                </a:ext>
              </a:extLst>
            </a:blip>
            <a:srcRect t="33832" r="9949" b="533"/>
            <a:stretch>
              <a:fillRect/>
            </a:stretch>
          </p:blipFill>
          <p:spPr>
            <a:xfrm>
              <a:off x="1" y="-1"/>
              <a:ext cx="12191999" cy="5928853"/>
            </a:xfrm>
            <a:prstGeom prst="rect">
              <a:avLst/>
            </a:prstGeom>
          </p:spPr>
        </p:pic>
        <p:sp>
          <p:nvSpPr>
            <p:cNvPr id="57" name="矩形 56"/>
            <p:cNvSpPr/>
            <p:nvPr/>
          </p:nvSpPr>
          <p:spPr>
            <a:xfrm>
              <a:off x="-1" y="-1"/>
              <a:ext cx="12192000" cy="5928852"/>
            </a:xfrm>
            <a:prstGeom prst="rect">
              <a:avLst/>
            </a:prstGeom>
            <a:solidFill>
              <a:schemeClr val="bg1">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mn-ea"/>
                <a:sym typeface="+mn-lt"/>
              </a:endParaRPr>
            </a:p>
          </p:txBody>
        </p:sp>
      </p:grpSp>
      <p:sp>
        <p:nvSpPr>
          <p:cNvPr id="16" name="任意多边形: 形状 15"/>
          <p:cNvSpPr/>
          <p:nvPr/>
        </p:nvSpPr>
        <p:spPr>
          <a:xfrm>
            <a:off x="-3788173" y="4952991"/>
            <a:ext cx="16805241" cy="3532144"/>
          </a:xfrm>
          <a:custGeom>
            <a:avLst/>
            <a:gdLst>
              <a:gd name="connsiteX0" fmla="*/ 206773 w 16805241"/>
              <a:gd name="connsiteY0" fmla="*/ 914409 h 3532144"/>
              <a:gd name="connsiteX1" fmla="*/ 2949973 w 16805241"/>
              <a:gd name="connsiteY1" fmla="*/ 9 h 3532144"/>
              <a:gd name="connsiteX2" fmla="*/ 6569473 w 16805241"/>
              <a:gd name="connsiteY2" fmla="*/ 933459 h 3532144"/>
              <a:gd name="connsiteX3" fmla="*/ 9655573 w 16805241"/>
              <a:gd name="connsiteY3" fmla="*/ 95259 h 3532144"/>
              <a:gd name="connsiteX4" fmla="*/ 12627373 w 16805241"/>
              <a:gd name="connsiteY4" fmla="*/ 819159 h 3532144"/>
              <a:gd name="connsiteX5" fmla="*/ 15065773 w 16805241"/>
              <a:gd name="connsiteY5" fmla="*/ 228609 h 3532144"/>
              <a:gd name="connsiteX6" fmla="*/ 16799323 w 16805241"/>
              <a:gd name="connsiteY6" fmla="*/ 571509 h 3532144"/>
              <a:gd name="connsiteX7" fmla="*/ 15218173 w 16805241"/>
              <a:gd name="connsiteY7" fmla="*/ 3467109 h 3532144"/>
              <a:gd name="connsiteX8" fmla="*/ 7064773 w 16805241"/>
              <a:gd name="connsiteY8" fmla="*/ 2571759 h 3532144"/>
              <a:gd name="connsiteX9" fmla="*/ 987823 w 16805241"/>
              <a:gd name="connsiteY9" fmla="*/ 2381259 h 3532144"/>
              <a:gd name="connsiteX10" fmla="*/ 263923 w 16805241"/>
              <a:gd name="connsiteY10" fmla="*/ 895359 h 3532144"/>
              <a:gd name="connsiteX11" fmla="*/ 206773 w 16805241"/>
              <a:gd name="connsiteY11" fmla="*/ 819159 h 3532144"/>
              <a:gd name="connsiteX12" fmla="*/ 206773 w 16805241"/>
              <a:gd name="connsiteY12" fmla="*/ 914409 h 3532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805241" h="3532144">
                <a:moveTo>
                  <a:pt x="206773" y="914409"/>
                </a:moveTo>
                <a:cubicBezTo>
                  <a:pt x="663973" y="777884"/>
                  <a:pt x="1889523" y="-3166"/>
                  <a:pt x="2949973" y="9"/>
                </a:cubicBezTo>
                <a:cubicBezTo>
                  <a:pt x="4010423" y="3184"/>
                  <a:pt x="5451873" y="917584"/>
                  <a:pt x="6569473" y="933459"/>
                </a:cubicBezTo>
                <a:cubicBezTo>
                  <a:pt x="7687073" y="949334"/>
                  <a:pt x="8645923" y="114309"/>
                  <a:pt x="9655573" y="95259"/>
                </a:cubicBezTo>
                <a:cubicBezTo>
                  <a:pt x="10665223" y="76209"/>
                  <a:pt x="11725673" y="796934"/>
                  <a:pt x="12627373" y="819159"/>
                </a:cubicBezTo>
                <a:cubicBezTo>
                  <a:pt x="13529073" y="841384"/>
                  <a:pt x="14370448" y="269884"/>
                  <a:pt x="15065773" y="228609"/>
                </a:cubicBezTo>
                <a:cubicBezTo>
                  <a:pt x="15761098" y="187334"/>
                  <a:pt x="16773923" y="31759"/>
                  <a:pt x="16799323" y="571509"/>
                </a:cubicBezTo>
                <a:cubicBezTo>
                  <a:pt x="16824723" y="1111259"/>
                  <a:pt x="16840598" y="3133734"/>
                  <a:pt x="15218173" y="3467109"/>
                </a:cubicBezTo>
                <a:cubicBezTo>
                  <a:pt x="13595748" y="3800484"/>
                  <a:pt x="9436498" y="2752734"/>
                  <a:pt x="7064773" y="2571759"/>
                </a:cubicBezTo>
                <a:cubicBezTo>
                  <a:pt x="4693048" y="2390784"/>
                  <a:pt x="2121298" y="2660659"/>
                  <a:pt x="987823" y="2381259"/>
                </a:cubicBezTo>
                <a:cubicBezTo>
                  <a:pt x="-145652" y="2101859"/>
                  <a:pt x="394098" y="1155709"/>
                  <a:pt x="263923" y="895359"/>
                </a:cubicBezTo>
                <a:cubicBezTo>
                  <a:pt x="133748" y="635009"/>
                  <a:pt x="222648" y="815984"/>
                  <a:pt x="206773" y="819159"/>
                </a:cubicBezTo>
                <a:cubicBezTo>
                  <a:pt x="190898" y="822334"/>
                  <a:pt x="-250427" y="1050934"/>
                  <a:pt x="206773" y="914409"/>
                </a:cubicBezTo>
                <a:close/>
              </a:path>
            </a:pathLst>
          </a:cu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5" name="任意多边形: 形状 14"/>
          <p:cNvSpPr/>
          <p:nvPr/>
        </p:nvSpPr>
        <p:spPr>
          <a:xfrm>
            <a:off x="-1997473" y="5505441"/>
            <a:ext cx="16805241" cy="3532144"/>
          </a:xfrm>
          <a:custGeom>
            <a:avLst/>
            <a:gdLst>
              <a:gd name="connsiteX0" fmla="*/ 206773 w 16805241"/>
              <a:gd name="connsiteY0" fmla="*/ 914409 h 3532144"/>
              <a:gd name="connsiteX1" fmla="*/ 2949973 w 16805241"/>
              <a:gd name="connsiteY1" fmla="*/ 9 h 3532144"/>
              <a:gd name="connsiteX2" fmla="*/ 6569473 w 16805241"/>
              <a:gd name="connsiteY2" fmla="*/ 933459 h 3532144"/>
              <a:gd name="connsiteX3" fmla="*/ 9655573 w 16805241"/>
              <a:gd name="connsiteY3" fmla="*/ 95259 h 3532144"/>
              <a:gd name="connsiteX4" fmla="*/ 12627373 w 16805241"/>
              <a:gd name="connsiteY4" fmla="*/ 819159 h 3532144"/>
              <a:gd name="connsiteX5" fmla="*/ 15065773 w 16805241"/>
              <a:gd name="connsiteY5" fmla="*/ 228609 h 3532144"/>
              <a:gd name="connsiteX6" fmla="*/ 16799323 w 16805241"/>
              <a:gd name="connsiteY6" fmla="*/ 571509 h 3532144"/>
              <a:gd name="connsiteX7" fmla="*/ 15218173 w 16805241"/>
              <a:gd name="connsiteY7" fmla="*/ 3467109 h 3532144"/>
              <a:gd name="connsiteX8" fmla="*/ 7064773 w 16805241"/>
              <a:gd name="connsiteY8" fmla="*/ 2571759 h 3532144"/>
              <a:gd name="connsiteX9" fmla="*/ 987823 w 16805241"/>
              <a:gd name="connsiteY9" fmla="*/ 2381259 h 3532144"/>
              <a:gd name="connsiteX10" fmla="*/ 263923 w 16805241"/>
              <a:gd name="connsiteY10" fmla="*/ 895359 h 3532144"/>
              <a:gd name="connsiteX11" fmla="*/ 206773 w 16805241"/>
              <a:gd name="connsiteY11" fmla="*/ 819159 h 3532144"/>
              <a:gd name="connsiteX12" fmla="*/ 206773 w 16805241"/>
              <a:gd name="connsiteY12" fmla="*/ 914409 h 3532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805241" h="3532144">
                <a:moveTo>
                  <a:pt x="206773" y="914409"/>
                </a:moveTo>
                <a:cubicBezTo>
                  <a:pt x="663973" y="777884"/>
                  <a:pt x="1889523" y="-3166"/>
                  <a:pt x="2949973" y="9"/>
                </a:cubicBezTo>
                <a:cubicBezTo>
                  <a:pt x="4010423" y="3184"/>
                  <a:pt x="5451873" y="917584"/>
                  <a:pt x="6569473" y="933459"/>
                </a:cubicBezTo>
                <a:cubicBezTo>
                  <a:pt x="7687073" y="949334"/>
                  <a:pt x="8645923" y="114309"/>
                  <a:pt x="9655573" y="95259"/>
                </a:cubicBezTo>
                <a:cubicBezTo>
                  <a:pt x="10665223" y="76209"/>
                  <a:pt x="11725673" y="796934"/>
                  <a:pt x="12627373" y="819159"/>
                </a:cubicBezTo>
                <a:cubicBezTo>
                  <a:pt x="13529073" y="841384"/>
                  <a:pt x="14370448" y="269884"/>
                  <a:pt x="15065773" y="228609"/>
                </a:cubicBezTo>
                <a:cubicBezTo>
                  <a:pt x="15761098" y="187334"/>
                  <a:pt x="16773923" y="31759"/>
                  <a:pt x="16799323" y="571509"/>
                </a:cubicBezTo>
                <a:cubicBezTo>
                  <a:pt x="16824723" y="1111259"/>
                  <a:pt x="16840598" y="3133734"/>
                  <a:pt x="15218173" y="3467109"/>
                </a:cubicBezTo>
                <a:cubicBezTo>
                  <a:pt x="13595748" y="3800484"/>
                  <a:pt x="9436498" y="2752734"/>
                  <a:pt x="7064773" y="2571759"/>
                </a:cubicBezTo>
                <a:cubicBezTo>
                  <a:pt x="4693048" y="2390784"/>
                  <a:pt x="2121298" y="2660659"/>
                  <a:pt x="987823" y="2381259"/>
                </a:cubicBezTo>
                <a:cubicBezTo>
                  <a:pt x="-145652" y="2101859"/>
                  <a:pt x="394098" y="1155709"/>
                  <a:pt x="263923" y="895359"/>
                </a:cubicBezTo>
                <a:cubicBezTo>
                  <a:pt x="133748" y="635009"/>
                  <a:pt x="222648" y="815984"/>
                  <a:pt x="206773" y="819159"/>
                </a:cubicBezTo>
                <a:cubicBezTo>
                  <a:pt x="190898" y="822334"/>
                  <a:pt x="-250427" y="1050934"/>
                  <a:pt x="206773" y="914409"/>
                </a:cubicBezTo>
                <a:close/>
              </a:path>
            </a:pathLst>
          </a:custGeom>
          <a:solidFill>
            <a:srgbClr val="69C0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7" name="任意多边形: 形状 16"/>
          <p:cNvSpPr/>
          <p:nvPr/>
        </p:nvSpPr>
        <p:spPr>
          <a:xfrm>
            <a:off x="-9315449" y="5505441"/>
            <a:ext cx="24898350" cy="5233163"/>
          </a:xfrm>
          <a:custGeom>
            <a:avLst/>
            <a:gdLst>
              <a:gd name="connsiteX0" fmla="*/ 206773 w 16805241"/>
              <a:gd name="connsiteY0" fmla="*/ 914409 h 3532144"/>
              <a:gd name="connsiteX1" fmla="*/ 2949973 w 16805241"/>
              <a:gd name="connsiteY1" fmla="*/ 9 h 3532144"/>
              <a:gd name="connsiteX2" fmla="*/ 6569473 w 16805241"/>
              <a:gd name="connsiteY2" fmla="*/ 933459 h 3532144"/>
              <a:gd name="connsiteX3" fmla="*/ 9655573 w 16805241"/>
              <a:gd name="connsiteY3" fmla="*/ 95259 h 3532144"/>
              <a:gd name="connsiteX4" fmla="*/ 12627373 w 16805241"/>
              <a:gd name="connsiteY4" fmla="*/ 819159 h 3532144"/>
              <a:gd name="connsiteX5" fmla="*/ 15065773 w 16805241"/>
              <a:gd name="connsiteY5" fmla="*/ 228609 h 3532144"/>
              <a:gd name="connsiteX6" fmla="*/ 16799323 w 16805241"/>
              <a:gd name="connsiteY6" fmla="*/ 571509 h 3532144"/>
              <a:gd name="connsiteX7" fmla="*/ 15218173 w 16805241"/>
              <a:gd name="connsiteY7" fmla="*/ 3467109 h 3532144"/>
              <a:gd name="connsiteX8" fmla="*/ 7064773 w 16805241"/>
              <a:gd name="connsiteY8" fmla="*/ 2571759 h 3532144"/>
              <a:gd name="connsiteX9" fmla="*/ 987823 w 16805241"/>
              <a:gd name="connsiteY9" fmla="*/ 2381259 h 3532144"/>
              <a:gd name="connsiteX10" fmla="*/ 263923 w 16805241"/>
              <a:gd name="connsiteY10" fmla="*/ 895359 h 3532144"/>
              <a:gd name="connsiteX11" fmla="*/ 206773 w 16805241"/>
              <a:gd name="connsiteY11" fmla="*/ 819159 h 3532144"/>
              <a:gd name="connsiteX12" fmla="*/ 206773 w 16805241"/>
              <a:gd name="connsiteY12" fmla="*/ 914409 h 3532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805241" h="3532144">
                <a:moveTo>
                  <a:pt x="206773" y="914409"/>
                </a:moveTo>
                <a:cubicBezTo>
                  <a:pt x="663973" y="777884"/>
                  <a:pt x="1889523" y="-3166"/>
                  <a:pt x="2949973" y="9"/>
                </a:cubicBezTo>
                <a:cubicBezTo>
                  <a:pt x="4010423" y="3184"/>
                  <a:pt x="5451873" y="917584"/>
                  <a:pt x="6569473" y="933459"/>
                </a:cubicBezTo>
                <a:cubicBezTo>
                  <a:pt x="7687073" y="949334"/>
                  <a:pt x="8645923" y="114309"/>
                  <a:pt x="9655573" y="95259"/>
                </a:cubicBezTo>
                <a:cubicBezTo>
                  <a:pt x="10665223" y="76209"/>
                  <a:pt x="11725673" y="796934"/>
                  <a:pt x="12627373" y="819159"/>
                </a:cubicBezTo>
                <a:cubicBezTo>
                  <a:pt x="13529073" y="841384"/>
                  <a:pt x="14370448" y="269884"/>
                  <a:pt x="15065773" y="228609"/>
                </a:cubicBezTo>
                <a:cubicBezTo>
                  <a:pt x="15761098" y="187334"/>
                  <a:pt x="16773923" y="31759"/>
                  <a:pt x="16799323" y="571509"/>
                </a:cubicBezTo>
                <a:cubicBezTo>
                  <a:pt x="16824723" y="1111259"/>
                  <a:pt x="16840598" y="3133734"/>
                  <a:pt x="15218173" y="3467109"/>
                </a:cubicBezTo>
                <a:cubicBezTo>
                  <a:pt x="13595748" y="3800484"/>
                  <a:pt x="9436498" y="2752734"/>
                  <a:pt x="7064773" y="2571759"/>
                </a:cubicBezTo>
                <a:cubicBezTo>
                  <a:pt x="4693048" y="2390784"/>
                  <a:pt x="2121298" y="2660659"/>
                  <a:pt x="987823" y="2381259"/>
                </a:cubicBezTo>
                <a:cubicBezTo>
                  <a:pt x="-145652" y="2101859"/>
                  <a:pt x="394098" y="1155709"/>
                  <a:pt x="263923" y="895359"/>
                </a:cubicBezTo>
                <a:cubicBezTo>
                  <a:pt x="133748" y="635009"/>
                  <a:pt x="222648" y="815984"/>
                  <a:pt x="206773" y="819159"/>
                </a:cubicBezTo>
                <a:cubicBezTo>
                  <a:pt x="190898" y="822334"/>
                  <a:pt x="-250427" y="1050934"/>
                  <a:pt x="206773" y="914409"/>
                </a:cubicBezTo>
                <a:close/>
              </a:path>
            </a:pathLst>
          </a:cu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cxnSp>
        <p:nvCxnSpPr>
          <p:cNvPr id="19" name="直接连接符 18"/>
          <p:cNvCxnSpPr/>
          <p:nvPr/>
        </p:nvCxnSpPr>
        <p:spPr>
          <a:xfrm>
            <a:off x="1495425" y="1771650"/>
            <a:ext cx="1943100" cy="0"/>
          </a:xfrm>
          <a:prstGeom prst="line">
            <a:avLst/>
          </a:prstGeom>
          <a:ln w="34925">
            <a:solidFill>
              <a:srgbClr val="10507E"/>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8753475" y="1771650"/>
            <a:ext cx="1943100" cy="0"/>
          </a:xfrm>
          <a:prstGeom prst="line">
            <a:avLst/>
          </a:prstGeom>
          <a:ln w="34925">
            <a:solidFill>
              <a:srgbClr val="10507E"/>
            </a:solidFill>
          </a:ln>
        </p:spPr>
        <p:style>
          <a:lnRef idx="1">
            <a:schemeClr val="accent1"/>
          </a:lnRef>
          <a:fillRef idx="0">
            <a:schemeClr val="accent1"/>
          </a:fillRef>
          <a:effectRef idx="0">
            <a:schemeClr val="accent1"/>
          </a:effectRef>
          <a:fontRef idx="minor">
            <a:schemeClr val="tx1"/>
          </a:fontRef>
        </p:style>
      </p:cxnSp>
      <p:sp>
        <p:nvSpPr>
          <p:cNvPr id="23" name="文本框 22"/>
          <p:cNvSpPr txBox="1"/>
          <p:nvPr/>
        </p:nvSpPr>
        <p:spPr>
          <a:xfrm>
            <a:off x="3100137" y="1417707"/>
            <a:ext cx="5991727" cy="707886"/>
          </a:xfrm>
          <a:prstGeom prst="rect">
            <a:avLst/>
          </a:prstGeom>
          <a:noFill/>
        </p:spPr>
        <p:txBody>
          <a:bodyPr wrap="square" rtlCol="0">
            <a:spAutoFit/>
          </a:bodyPr>
          <a:lstStyle/>
          <a:p>
            <a:pPr algn="ctr"/>
            <a:r>
              <a:rPr lang="en-US" altLang="zh-CN" sz="4000" dirty="0">
                <a:solidFill>
                  <a:srgbClr val="69C0E1"/>
                </a:solidFill>
                <a:cs typeface="+mn-ea"/>
                <a:sym typeface="+mn-lt"/>
              </a:rPr>
              <a:t>GRADUATION REPLY</a:t>
            </a:r>
            <a:endParaRPr lang="zh-CN" altLang="en-US" sz="4000" dirty="0">
              <a:solidFill>
                <a:srgbClr val="69C0E1"/>
              </a:solidFill>
              <a:cs typeface="+mn-ea"/>
              <a:sym typeface="+mn-lt"/>
            </a:endParaRPr>
          </a:p>
        </p:txBody>
      </p:sp>
      <p:grpSp>
        <p:nvGrpSpPr>
          <p:cNvPr id="54" name="组合 53"/>
          <p:cNvGrpSpPr/>
          <p:nvPr/>
        </p:nvGrpSpPr>
        <p:grpSpPr>
          <a:xfrm>
            <a:off x="1886854" y="2130842"/>
            <a:ext cx="8495705" cy="1577355"/>
            <a:chOff x="1886854" y="2092742"/>
            <a:chExt cx="8495705" cy="1577355"/>
          </a:xfrm>
        </p:grpSpPr>
        <p:sp>
          <p:nvSpPr>
            <p:cNvPr id="37" name="文本框 36"/>
            <p:cNvSpPr txBox="1"/>
            <p:nvPr/>
          </p:nvSpPr>
          <p:spPr>
            <a:xfrm>
              <a:off x="1886854" y="2092742"/>
              <a:ext cx="8495705" cy="1445260"/>
            </a:xfrm>
            <a:prstGeom prst="rect">
              <a:avLst/>
            </a:prstGeom>
            <a:noFill/>
          </p:spPr>
          <p:txBody>
            <a:bodyPr wrap="square" rtlCol="0">
              <a:spAutoFit/>
            </a:bodyPr>
            <a:lstStyle/>
            <a:p>
              <a:pPr algn="dist"/>
              <a:r>
                <a:rPr lang="zh-CN" altLang="en-US" sz="8800" spc="300" dirty="0">
                  <a:solidFill>
                    <a:schemeClr val="tx1">
                      <a:lumMod val="75000"/>
                      <a:lumOff val="25000"/>
                    </a:schemeClr>
                  </a:solidFill>
                  <a:latin typeface="方正正黑简体" panose="02000000000000000000" pitchFamily="2" charset="-122"/>
                  <a:ea typeface="方正正黑简体" panose="02000000000000000000" pitchFamily="2" charset="-122"/>
                  <a:cs typeface="+mn-ea"/>
                  <a:sym typeface="+mn-lt"/>
                </a:rPr>
                <a:t>谢谢</a:t>
              </a:r>
              <a:r>
                <a:rPr lang="zh-CN" altLang="en-US" sz="8800" spc="300" dirty="0">
                  <a:solidFill>
                    <a:schemeClr val="tx1">
                      <a:lumMod val="75000"/>
                      <a:lumOff val="25000"/>
                    </a:schemeClr>
                  </a:solidFill>
                  <a:latin typeface="方正正黑简体" panose="02000000000000000000" pitchFamily="2" charset="-122"/>
                  <a:ea typeface="方正正黑简体" panose="02000000000000000000" pitchFamily="2" charset="-122"/>
                  <a:cs typeface="+mn-ea"/>
                  <a:sym typeface="+mn-lt"/>
                </a:rPr>
                <a:t>大家</a:t>
              </a:r>
              <a:endParaRPr lang="zh-CN" altLang="en-US" sz="8800" spc="300" dirty="0">
                <a:solidFill>
                  <a:schemeClr val="tx1">
                    <a:lumMod val="75000"/>
                    <a:lumOff val="25000"/>
                  </a:schemeClr>
                </a:solidFill>
                <a:latin typeface="方正正黑简体" panose="02000000000000000000" pitchFamily="2" charset="-122"/>
                <a:ea typeface="方正正黑简体" panose="02000000000000000000" pitchFamily="2" charset="-122"/>
                <a:cs typeface="+mn-ea"/>
                <a:sym typeface="+mn-lt"/>
              </a:endParaRPr>
            </a:p>
          </p:txBody>
        </p:sp>
        <p:sp>
          <p:nvSpPr>
            <p:cNvPr id="38" name="文本框 37"/>
            <p:cNvSpPr txBox="1"/>
            <p:nvPr/>
          </p:nvSpPr>
          <p:spPr>
            <a:xfrm>
              <a:off x="2312591" y="3408487"/>
              <a:ext cx="7566818" cy="261610"/>
            </a:xfrm>
            <a:prstGeom prst="rect">
              <a:avLst/>
            </a:prstGeom>
            <a:noFill/>
          </p:spPr>
          <p:txBody>
            <a:bodyPr wrap="square" rtlCol="0">
              <a:spAutoFit/>
            </a:bodyPr>
            <a:lstStyle/>
            <a:p>
              <a:pPr algn="dist"/>
              <a:r>
                <a:rPr lang="en-US" altLang="zh-CN" sz="1100" dirty="0">
                  <a:cs typeface="+mn-ea"/>
                  <a:sym typeface="+mn-lt"/>
                </a:rPr>
                <a:t>SIMPLE GRADUATION DEFENSE</a:t>
              </a:r>
              <a:endParaRPr lang="zh-CN" altLang="en-US" sz="1100" dirty="0">
                <a:cs typeface="+mn-ea"/>
                <a:sym typeface="+mn-lt"/>
              </a:endParaRPr>
            </a:p>
          </p:txBody>
        </p:sp>
      </p:grpSp>
      <p:grpSp>
        <p:nvGrpSpPr>
          <p:cNvPr id="44" name="组合 43"/>
          <p:cNvGrpSpPr/>
          <p:nvPr/>
        </p:nvGrpSpPr>
        <p:grpSpPr>
          <a:xfrm>
            <a:off x="4134888" y="4059851"/>
            <a:ext cx="2189998" cy="337185"/>
            <a:chOff x="4408975" y="3969165"/>
            <a:chExt cx="2189998" cy="337185"/>
          </a:xfrm>
        </p:grpSpPr>
        <p:grpSp>
          <p:nvGrpSpPr>
            <p:cNvPr id="42" name="组合 41"/>
            <p:cNvGrpSpPr/>
            <p:nvPr/>
          </p:nvGrpSpPr>
          <p:grpSpPr>
            <a:xfrm>
              <a:off x="4408975" y="3971205"/>
              <a:ext cx="334475" cy="334475"/>
              <a:chOff x="4408975" y="3968750"/>
              <a:chExt cx="334475" cy="334475"/>
            </a:xfrm>
          </p:grpSpPr>
          <p:sp>
            <p:nvSpPr>
              <p:cNvPr id="39" name="椭圆 38"/>
              <p:cNvSpPr/>
              <p:nvPr/>
            </p:nvSpPr>
            <p:spPr>
              <a:xfrm>
                <a:off x="4408975" y="3968750"/>
                <a:ext cx="334475" cy="334475"/>
              </a:xfrm>
              <a:prstGeom prst="ellipse">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pic>
            <p:nvPicPr>
              <p:cNvPr id="41" name="图片 40"/>
              <p:cNvPicPr>
                <a:picLocks noChangeAspect="1"/>
              </p:cNvPicPr>
              <p:nvPr/>
            </p:nvPicPr>
            <p:blipFill>
              <a:blip r:embed="rId2"/>
              <a:stretch>
                <a:fillRect/>
              </a:stretch>
            </p:blipFill>
            <p:spPr>
              <a:xfrm>
                <a:off x="4488687" y="4048462"/>
                <a:ext cx="175050" cy="175050"/>
              </a:xfrm>
              <a:prstGeom prst="rect">
                <a:avLst/>
              </a:prstGeom>
            </p:spPr>
          </p:pic>
        </p:grpSp>
        <p:sp>
          <p:nvSpPr>
            <p:cNvPr id="43" name="文本框 42"/>
            <p:cNvSpPr txBox="1"/>
            <p:nvPr/>
          </p:nvSpPr>
          <p:spPr>
            <a:xfrm>
              <a:off x="4743448" y="3969165"/>
              <a:ext cx="1855525" cy="337185"/>
            </a:xfrm>
            <a:prstGeom prst="rect">
              <a:avLst/>
            </a:prstGeom>
            <a:noFill/>
          </p:spPr>
          <p:txBody>
            <a:bodyPr wrap="square" rtlCol="0">
              <a:spAutoFit/>
            </a:bodyPr>
            <a:lstStyle/>
            <a:p>
              <a:pPr algn="dist"/>
              <a:r>
                <a:rPr lang="zh-CN" altLang="en-US" sz="1600" dirty="0">
                  <a:cs typeface="+mn-ea"/>
                  <a:sym typeface="+mn-lt"/>
                </a:rPr>
                <a:t>答辩人</a:t>
              </a:r>
              <a:r>
                <a:rPr lang="zh-CN" altLang="en-US" sz="1600" dirty="0" smtClean="0">
                  <a:cs typeface="+mn-ea"/>
                  <a:sym typeface="+mn-lt"/>
                </a:rPr>
                <a:t>：</a:t>
              </a:r>
              <a:r>
                <a:rPr lang="zh-CN" altLang="en-US" sz="1600" dirty="0" smtClean="0">
                  <a:cs typeface="+mn-ea"/>
                  <a:sym typeface="+mn-lt"/>
                </a:rPr>
                <a:t>肖志伟</a:t>
              </a:r>
              <a:endParaRPr lang="zh-CN" altLang="en-US" sz="1600" dirty="0" smtClean="0">
                <a:cs typeface="+mn-ea"/>
                <a:sym typeface="+mn-lt"/>
              </a:endParaRPr>
            </a:p>
          </p:txBody>
        </p:sp>
      </p:grpSp>
      <p:grpSp>
        <p:nvGrpSpPr>
          <p:cNvPr id="53" name="组合 52"/>
          <p:cNvGrpSpPr/>
          <p:nvPr/>
        </p:nvGrpSpPr>
        <p:grpSpPr>
          <a:xfrm>
            <a:off x="6423607" y="4059851"/>
            <a:ext cx="2212393" cy="337185"/>
            <a:chOff x="6249439" y="3970951"/>
            <a:chExt cx="2212393" cy="337185"/>
          </a:xfrm>
        </p:grpSpPr>
        <p:grpSp>
          <p:nvGrpSpPr>
            <p:cNvPr id="45" name="组合 44"/>
            <p:cNvGrpSpPr/>
            <p:nvPr/>
          </p:nvGrpSpPr>
          <p:grpSpPr>
            <a:xfrm>
              <a:off x="6249439" y="3970951"/>
              <a:ext cx="2212393" cy="337185"/>
              <a:chOff x="4408975" y="3969165"/>
              <a:chExt cx="2212393" cy="337185"/>
            </a:xfrm>
          </p:grpSpPr>
          <p:sp>
            <p:nvSpPr>
              <p:cNvPr id="48" name="椭圆 47"/>
              <p:cNvSpPr/>
              <p:nvPr/>
            </p:nvSpPr>
            <p:spPr>
              <a:xfrm>
                <a:off x="4408975" y="3971205"/>
                <a:ext cx="334475" cy="334475"/>
              </a:xfrm>
              <a:prstGeom prst="ellipse">
                <a:avLst/>
              </a:prstGeom>
              <a:solidFill>
                <a:srgbClr val="1050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mn-ea"/>
                  <a:sym typeface="+mn-lt"/>
                </a:endParaRPr>
              </a:p>
            </p:txBody>
          </p:sp>
          <p:sp>
            <p:nvSpPr>
              <p:cNvPr id="47" name="文本框 46"/>
              <p:cNvSpPr txBox="1"/>
              <p:nvPr/>
            </p:nvSpPr>
            <p:spPr>
              <a:xfrm>
                <a:off x="4743449" y="3969165"/>
                <a:ext cx="1877919" cy="337185"/>
              </a:xfrm>
              <a:prstGeom prst="rect">
                <a:avLst/>
              </a:prstGeom>
              <a:noFill/>
            </p:spPr>
            <p:txBody>
              <a:bodyPr wrap="square" rtlCol="0">
                <a:spAutoFit/>
              </a:bodyPr>
              <a:lstStyle/>
              <a:p>
                <a:pPr algn="dist"/>
                <a:r>
                  <a:rPr lang="zh-CN" altLang="en-US" sz="1600" dirty="0">
                    <a:cs typeface="+mn-ea"/>
                    <a:sym typeface="+mn-lt"/>
                  </a:rPr>
                  <a:t>指导教师</a:t>
                </a:r>
                <a:r>
                  <a:rPr lang="zh-CN" altLang="en-US" sz="1600" dirty="0" smtClean="0">
                    <a:cs typeface="+mn-ea"/>
                    <a:sym typeface="+mn-lt"/>
                  </a:rPr>
                  <a:t>：朱</a:t>
                </a:r>
                <a:r>
                  <a:rPr lang="zh-CN" altLang="en-US" sz="1600" dirty="0" smtClean="0">
                    <a:cs typeface="+mn-ea"/>
                    <a:sym typeface="+mn-lt"/>
                  </a:rPr>
                  <a:t>素英</a:t>
                </a:r>
                <a:endParaRPr lang="zh-CN" altLang="en-US" sz="1600" dirty="0" smtClean="0">
                  <a:cs typeface="+mn-ea"/>
                  <a:sym typeface="+mn-lt"/>
                </a:endParaRPr>
              </a:p>
            </p:txBody>
          </p:sp>
        </p:grpSp>
        <p:pic>
          <p:nvPicPr>
            <p:cNvPr id="52" name="图片 51"/>
            <p:cNvPicPr>
              <a:picLocks noChangeAspect="1"/>
            </p:cNvPicPr>
            <p:nvPr/>
          </p:nvPicPr>
          <p:blipFill>
            <a:blip r:embed="rId3"/>
            <a:stretch>
              <a:fillRect/>
            </a:stretch>
          </p:blipFill>
          <p:spPr>
            <a:xfrm>
              <a:off x="6324887" y="4052703"/>
              <a:ext cx="178791" cy="178791"/>
            </a:xfrm>
            <a:prstGeom prst="rect">
              <a:avLst/>
            </a:prstGeom>
          </p:spPr>
        </p:pic>
      </p:grpSp>
      <p:pic>
        <p:nvPicPr>
          <p:cNvPr id="2" name="图片 1"/>
          <p:cNvPicPr>
            <a:picLocks noChangeAspect="1"/>
          </p:cNvPicPr>
          <p:nvPr/>
        </p:nvPicPr>
        <p:blipFill>
          <a:blip r:embed="rId4"/>
          <a:stretch>
            <a:fillRect/>
          </a:stretch>
        </p:blipFill>
        <p:spPr>
          <a:xfrm>
            <a:off x="244475" y="264795"/>
            <a:ext cx="2964180" cy="594360"/>
          </a:xfrm>
          <a:prstGeom prst="rect">
            <a:avLst/>
          </a:prstGeom>
        </p:spPr>
      </p:pic>
      <p:pic>
        <p:nvPicPr>
          <p:cNvPr id="4" name="图片 3"/>
          <p:cNvPicPr>
            <a:picLocks noChangeAspect="1"/>
          </p:cNvPicPr>
          <p:nvPr/>
        </p:nvPicPr>
        <p:blipFill>
          <a:blip r:embed="rId5"/>
          <a:stretch>
            <a:fillRect/>
          </a:stretch>
        </p:blipFill>
        <p:spPr>
          <a:xfrm>
            <a:off x="10960100" y="0"/>
            <a:ext cx="1136650" cy="1123950"/>
          </a:xfrm>
          <a:prstGeom prst="rect">
            <a:avLst/>
          </a:prstGeom>
        </p:spPr>
      </p:pic>
    </p:spTree>
    <p:custDataLst>
      <p:tags r:id="rId6"/>
    </p:custDataLst>
  </p:cSld>
  <p:clrMapOvr>
    <a:masterClrMapping/>
  </p:clrMapOvr>
  <mc:AlternateContent xmlns:mc="http://schemas.openxmlformats.org/markup-compatibility/2006">
    <mc:Choice xmlns:p14="http://schemas.microsoft.com/office/powerpoint/2010/main" Requires="p14">
      <p:transition spd="slow" p14:dur="1500" advTm="1651">
        <p:random/>
      </p:transition>
    </mc:Choice>
    <mc:Fallback>
      <p:transition spd="slow" advTm="1651">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anim calcmode="lin" valueType="num">
                                      <p:cBhvr>
                                        <p:cTn id="8" dur="500" fill="hold"/>
                                        <p:tgtEl>
                                          <p:spTgt spid="23"/>
                                        </p:tgtEl>
                                        <p:attrNameLst>
                                          <p:attrName>ppt_x</p:attrName>
                                        </p:attrNameLst>
                                      </p:cBhvr>
                                      <p:tavLst>
                                        <p:tav tm="0">
                                          <p:val>
                                            <p:strVal val="#ppt_x"/>
                                          </p:val>
                                        </p:tav>
                                        <p:tav tm="100000">
                                          <p:val>
                                            <p:strVal val="#ppt_x"/>
                                          </p:val>
                                        </p:tav>
                                      </p:tavLst>
                                    </p:anim>
                                    <p:anim calcmode="lin" valueType="num">
                                      <p:cBhvr>
                                        <p:cTn id="9" dur="500" fill="hold"/>
                                        <p:tgtEl>
                                          <p:spTgt spid="23"/>
                                        </p:tgtEl>
                                        <p:attrNameLst>
                                          <p:attrName>ppt_y</p:attrName>
                                        </p:attrNameLst>
                                      </p:cBhvr>
                                      <p:tavLst>
                                        <p:tav tm="0">
                                          <p:val>
                                            <p:strVal val="#ppt_y-.1"/>
                                          </p:val>
                                        </p:tav>
                                        <p:tav tm="100000">
                                          <p:val>
                                            <p:strVal val="#ppt_y"/>
                                          </p:val>
                                        </p:tav>
                                      </p:tavLst>
                                    </p:anim>
                                  </p:childTnLst>
                                </p:cTn>
                              </p:par>
                              <p:par>
                                <p:cTn id="10" presetID="2" presetClass="entr" presetSubtype="8" fill="hold" nodeType="withEffect">
                                  <p:stCondLst>
                                    <p:cond delay="0"/>
                                  </p:stCondLst>
                                  <p:childTnLst>
                                    <p:set>
                                      <p:cBhvr>
                                        <p:cTn id="11" dur="1" fill="hold">
                                          <p:stCondLst>
                                            <p:cond delay="0"/>
                                          </p:stCondLst>
                                        </p:cTn>
                                        <p:tgtEl>
                                          <p:spTgt spid="19"/>
                                        </p:tgtEl>
                                        <p:attrNameLst>
                                          <p:attrName>style.visibility</p:attrName>
                                        </p:attrNameLst>
                                      </p:cBhvr>
                                      <p:to>
                                        <p:strVal val="visible"/>
                                      </p:to>
                                    </p:set>
                                    <p:anim calcmode="lin" valueType="num">
                                      <p:cBhvr additive="base">
                                        <p:cTn id="12" dur="500" fill="hold"/>
                                        <p:tgtEl>
                                          <p:spTgt spid="19"/>
                                        </p:tgtEl>
                                        <p:attrNameLst>
                                          <p:attrName>ppt_x</p:attrName>
                                        </p:attrNameLst>
                                      </p:cBhvr>
                                      <p:tavLst>
                                        <p:tav tm="0">
                                          <p:val>
                                            <p:strVal val="0-#ppt_w/2"/>
                                          </p:val>
                                        </p:tav>
                                        <p:tav tm="100000">
                                          <p:val>
                                            <p:strVal val="#ppt_x"/>
                                          </p:val>
                                        </p:tav>
                                      </p:tavLst>
                                    </p:anim>
                                    <p:anim calcmode="lin" valueType="num">
                                      <p:cBhvr additive="base">
                                        <p:cTn id="13" dur="500" fill="hold"/>
                                        <p:tgtEl>
                                          <p:spTgt spid="19"/>
                                        </p:tgtEl>
                                        <p:attrNameLst>
                                          <p:attrName>ppt_y</p:attrName>
                                        </p:attrNameLst>
                                      </p:cBhvr>
                                      <p:tavLst>
                                        <p:tav tm="0">
                                          <p:val>
                                            <p:strVal val="#ppt_y"/>
                                          </p:val>
                                        </p:tav>
                                        <p:tav tm="100000">
                                          <p:val>
                                            <p:strVal val="#ppt_y"/>
                                          </p:val>
                                        </p:tav>
                                      </p:tavLst>
                                    </p:anim>
                                  </p:childTnLst>
                                </p:cTn>
                              </p:par>
                              <p:par>
                                <p:cTn id="14" presetID="2" presetClass="entr" presetSubtype="2"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anim calcmode="lin" valueType="num">
                                      <p:cBhvr additive="base">
                                        <p:cTn id="16" dur="500" fill="hold"/>
                                        <p:tgtEl>
                                          <p:spTgt spid="20"/>
                                        </p:tgtEl>
                                        <p:attrNameLst>
                                          <p:attrName>ppt_x</p:attrName>
                                        </p:attrNameLst>
                                      </p:cBhvr>
                                      <p:tavLst>
                                        <p:tav tm="0">
                                          <p:val>
                                            <p:strVal val="1+#ppt_w/2"/>
                                          </p:val>
                                        </p:tav>
                                        <p:tav tm="100000">
                                          <p:val>
                                            <p:strVal val="#ppt_x"/>
                                          </p:val>
                                        </p:tav>
                                      </p:tavLst>
                                    </p:anim>
                                    <p:anim calcmode="lin" valueType="num">
                                      <p:cBhvr additive="base">
                                        <p:cTn id="17" dur="500" fill="hold"/>
                                        <p:tgtEl>
                                          <p:spTgt spid="20"/>
                                        </p:tgtEl>
                                        <p:attrNameLst>
                                          <p:attrName>ppt_y</p:attrName>
                                        </p:attrNameLst>
                                      </p:cBhvr>
                                      <p:tavLst>
                                        <p:tav tm="0">
                                          <p:val>
                                            <p:strVal val="#ppt_y"/>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42"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1000"/>
                                        <p:tgtEl>
                                          <p:spTgt spid="54"/>
                                        </p:tgtEl>
                                      </p:cBhvr>
                                    </p:animEffect>
                                    <p:anim calcmode="lin" valueType="num">
                                      <p:cBhvr>
                                        <p:cTn id="23" dur="1000" fill="hold"/>
                                        <p:tgtEl>
                                          <p:spTgt spid="54"/>
                                        </p:tgtEl>
                                        <p:attrNameLst>
                                          <p:attrName>ppt_x</p:attrName>
                                        </p:attrNameLst>
                                      </p:cBhvr>
                                      <p:tavLst>
                                        <p:tav tm="0">
                                          <p:val>
                                            <p:strVal val="#ppt_x"/>
                                          </p:val>
                                        </p:tav>
                                        <p:tav tm="100000">
                                          <p:val>
                                            <p:strVal val="#ppt_x"/>
                                          </p:val>
                                        </p:tav>
                                      </p:tavLst>
                                    </p:anim>
                                    <p:anim calcmode="lin" valueType="num">
                                      <p:cBhvr>
                                        <p:cTn id="24" dur="1000" fill="hold"/>
                                        <p:tgtEl>
                                          <p:spTgt spid="54"/>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1000"/>
                                        <p:tgtEl>
                                          <p:spTgt spid="44"/>
                                        </p:tgtEl>
                                      </p:cBhvr>
                                    </p:animEffect>
                                    <p:anim calcmode="lin" valueType="num">
                                      <p:cBhvr>
                                        <p:cTn id="30" dur="1000" fill="hold"/>
                                        <p:tgtEl>
                                          <p:spTgt spid="44"/>
                                        </p:tgtEl>
                                        <p:attrNameLst>
                                          <p:attrName>ppt_x</p:attrName>
                                        </p:attrNameLst>
                                      </p:cBhvr>
                                      <p:tavLst>
                                        <p:tav tm="0">
                                          <p:val>
                                            <p:strVal val="#ppt_x"/>
                                          </p:val>
                                        </p:tav>
                                        <p:tav tm="100000">
                                          <p:val>
                                            <p:strVal val="#ppt_x"/>
                                          </p:val>
                                        </p:tav>
                                      </p:tavLst>
                                    </p:anim>
                                    <p:anim calcmode="lin" valueType="num">
                                      <p:cBhvr>
                                        <p:cTn id="31" dur="1000" fill="hold"/>
                                        <p:tgtEl>
                                          <p:spTgt spid="44"/>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53"/>
                                        </p:tgtEl>
                                        <p:attrNameLst>
                                          <p:attrName>style.visibility</p:attrName>
                                        </p:attrNameLst>
                                      </p:cBhvr>
                                      <p:to>
                                        <p:strVal val="visible"/>
                                      </p:to>
                                    </p:set>
                                    <p:animEffect transition="in" filter="fade">
                                      <p:cBhvr>
                                        <p:cTn id="34" dur="1000"/>
                                        <p:tgtEl>
                                          <p:spTgt spid="53"/>
                                        </p:tgtEl>
                                      </p:cBhvr>
                                    </p:animEffect>
                                    <p:anim calcmode="lin" valueType="num">
                                      <p:cBhvr>
                                        <p:cTn id="35" dur="1000" fill="hold"/>
                                        <p:tgtEl>
                                          <p:spTgt spid="53"/>
                                        </p:tgtEl>
                                        <p:attrNameLst>
                                          <p:attrName>ppt_x</p:attrName>
                                        </p:attrNameLst>
                                      </p:cBhvr>
                                      <p:tavLst>
                                        <p:tav tm="0">
                                          <p:val>
                                            <p:strVal val="#ppt_x"/>
                                          </p:val>
                                        </p:tav>
                                        <p:tav tm="100000">
                                          <p:val>
                                            <p:strVal val="#ppt_x"/>
                                          </p:val>
                                        </p:tav>
                                      </p:tavLst>
                                    </p:anim>
                                    <p:anim calcmode="lin" valueType="num">
                                      <p:cBhvr>
                                        <p:cTn id="36" dur="1000" fill="hold"/>
                                        <p:tgtEl>
                                          <p:spTgt spid="5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tags/tag1.xml><?xml version="1.0" encoding="utf-8"?>
<p:tagLst xmlns:p="http://schemas.openxmlformats.org/presentationml/2006/main">
  <p:tag name="TIMING" val="|0.7|0.6|0.5|1"/>
</p:tagLst>
</file>

<file path=ppt/tags/tag2.xml><?xml version="1.0" encoding="utf-8"?>
<p:tagLst xmlns:p="http://schemas.openxmlformats.org/presentationml/2006/main">
  <p:tag name="TIMING" val="|0.5|0.5|0.4"/>
</p:tagLst>
</file>

<file path=ppt/tags/tag3.xml><?xml version="1.0" encoding="utf-8"?>
<p:tagLst xmlns:p="http://schemas.openxmlformats.org/presentationml/2006/main">
  <p:tag name="TIMING" val="|0.4|0.3|0.3|0.4"/>
</p:tagLst>
</file>

<file path=ppt/tags/tag4.xml><?xml version="1.0" encoding="utf-8"?>
<p:tagLst xmlns:p="http://schemas.openxmlformats.org/presentationml/2006/main">
  <p:tag name="TIMING" val="|0.4|0.4|0.4"/>
</p:tagLst>
</file>

<file path=ppt/tags/tag5.xml><?xml version="1.0" encoding="utf-8"?>
<p:tagLst xmlns:p="http://schemas.openxmlformats.org/presentationml/2006/main">
  <p:tag name="TIMING" val="|0.4|0.4|0.4"/>
</p:tagLst>
</file>

<file path=ppt/tags/tag6.xml><?xml version="1.0" encoding="utf-8"?>
<p:tagLst xmlns:p="http://schemas.openxmlformats.org/presentationml/2006/main">
  <p:tag name="TIMING" val="|0.4|0.4|0.4"/>
</p:tagLst>
</file>

<file path=ppt/tags/tag7.xml><?xml version="1.0" encoding="utf-8"?>
<p:tagLst xmlns:p="http://schemas.openxmlformats.org/presentationml/2006/main">
  <p:tag name="TIMING" val="|0.4|0.4|0.4"/>
</p:tagLst>
</file>

<file path=ppt/tags/tag8.xml><?xml version="1.0" encoding="utf-8"?>
<p:tagLst xmlns:p="http://schemas.openxmlformats.org/presentationml/2006/main">
  <p:tag name="TIMING" val="|0.3|0.3|0.3|0.4"/>
</p:tagLst>
</file>

<file path=ppt/tags/tag9.xml><?xml version="1.0" encoding="utf-8"?>
<p:tagLst xmlns:p="http://schemas.openxmlformats.org/presentationml/2006/main">
  <p:tag name="TIMING" val="|0.3|0.3"/>
</p:tagLst>
</file>

<file path=ppt/tags/tag10.xml><?xml version="1.0" encoding="utf-8"?>
<p:tagLst xmlns:p="http://schemas.openxmlformats.org/presentationml/2006/main">
  <p:tag name="TIMING" val="|0.3|0.3|0.3"/>
</p:tagLst>
</file>

<file path=ppt/tags/tag11.xml><?xml version="1.0" encoding="utf-8"?>
<p:tagLst xmlns:p="http://schemas.openxmlformats.org/presentationml/2006/main">
  <p:tag name="TIMING" val="|0.3"/>
</p:tagLst>
</file>

<file path=ppt/tags/tag12.xml><?xml version="1.0" encoding="utf-8"?>
<p:tagLst xmlns:p="http://schemas.openxmlformats.org/presentationml/2006/main">
  <p:tag name="TIMING" val="|0.3|0.3|0.4"/>
</p:tagLst>
</file>

<file path=ppt/tags/tag13.xml><?xml version="1.0" encoding="utf-8"?>
<p:tagLst xmlns:p="http://schemas.openxmlformats.org/presentationml/2006/main">
  <p:tag name="TIMING" val="|0.3|0.4|0.3|0.3"/>
</p:tagLst>
</file>

<file path=ppt/tags/tag14.xml><?xml version="1.0" encoding="utf-8"?>
<p:tagLst xmlns:p="http://schemas.openxmlformats.org/presentationml/2006/main">
  <p:tag name="TIMING" val="|0.3"/>
</p:tagLst>
</file>

<file path=ppt/tags/tag15.xml><?xml version="1.0" encoding="utf-8"?>
<p:tagLst xmlns:p="http://schemas.openxmlformats.org/presentationml/2006/main">
  <p:tag name="KSO_WM_UNIT_PLACING_PICTURE_USER_VIEWPORT" val="{&quot;height&quot;:5349,&quot;width&quot;:7369}"/>
</p:tagLst>
</file>

<file path=ppt/tags/tag16.xml><?xml version="1.0" encoding="utf-8"?>
<p:tagLst xmlns:p="http://schemas.openxmlformats.org/presentationml/2006/main">
  <p:tag name="TIMING" val="|0.3|0.4|0.4|0.4|0.3|0.2|0.2"/>
</p:tagLst>
</file>

<file path=ppt/tags/tag17.xml><?xml version="1.0" encoding="utf-8"?>
<p:tagLst xmlns:p="http://schemas.openxmlformats.org/presentationml/2006/main">
  <p:tag name="TIMING" val="|0.3|0.4|0.4|0.4|0.3|0.2|0.2"/>
</p:tagLst>
</file>

<file path=ppt/tags/tag18.xml><?xml version="1.0" encoding="utf-8"?>
<p:tagLst xmlns:p="http://schemas.openxmlformats.org/presentationml/2006/main">
  <p:tag name="TIMING" val="|0.3|0.4|0.4|0.4|0.3|0.2|0.2"/>
</p:tagLst>
</file>

<file path=ppt/tags/tag19.xml><?xml version="1.0" encoding="utf-8"?>
<p:tagLst xmlns:p="http://schemas.openxmlformats.org/presentationml/2006/main">
  <p:tag name="TIMING" val="|0.3|0.4|0.4|0.4|0.3|0.2|0.2"/>
</p:tagLst>
</file>

<file path=ppt/tags/tag20.xml><?xml version="1.0" encoding="utf-8"?>
<p:tagLst xmlns:p="http://schemas.openxmlformats.org/presentationml/2006/main">
  <p:tag name="TIMING" val="|0.3|0.4|0.4|0.4|0.3|0.2|0.2"/>
</p:tagLst>
</file>

<file path=ppt/tags/tag21.xml><?xml version="1.0" encoding="utf-8"?>
<p:tagLst xmlns:p="http://schemas.openxmlformats.org/presentationml/2006/main">
  <p:tag name="TIMING" val="|0.3|0.4|0.4|0.4|0.3|0.2|0.2"/>
</p:tagLst>
</file>

<file path=ppt/tags/tag22.xml><?xml version="1.0" encoding="utf-8"?>
<p:tagLst xmlns:p="http://schemas.openxmlformats.org/presentationml/2006/main">
  <p:tag name="TIMING" val="|0.3|0.4|0.4|0.4|0.3|0.2|0.2"/>
</p:tagLst>
</file>

<file path=ppt/tags/tag23.xml><?xml version="1.0" encoding="utf-8"?>
<p:tagLst xmlns:p="http://schemas.openxmlformats.org/presentationml/2006/main">
  <p:tag name="TIMING" val="|0.3|0.4|0.4|0.4|0.3|0.2|0.2"/>
</p:tagLst>
</file>

<file path=ppt/tags/tag24.xml><?xml version="1.0" encoding="utf-8"?>
<p:tagLst xmlns:p="http://schemas.openxmlformats.org/presentationml/2006/main">
  <p:tag name="TIMING" val="|0.3|0.4|0.4|0.4|0.3|0.2|0.2"/>
</p:tagLst>
</file>

<file path=ppt/tags/tag25.xml><?xml version="1.0" encoding="utf-8"?>
<p:tagLst xmlns:p="http://schemas.openxmlformats.org/presentationml/2006/main">
  <p:tag name="TIMING" val="|0.3|0.4|0.4|0.4|0.3|0.2|0.2"/>
</p:tagLst>
</file>

<file path=ppt/tags/tag26.xml><?xml version="1.0" encoding="utf-8"?>
<p:tagLst xmlns:p="http://schemas.openxmlformats.org/presentationml/2006/main">
  <p:tag name="TIMING" val="|0.3|0.4|0.4|0.4|0.3|0.2|0.2"/>
</p:tagLst>
</file>

<file path=ppt/tags/tag27.xml><?xml version="1.0" encoding="utf-8"?>
<p:tagLst xmlns:p="http://schemas.openxmlformats.org/presentationml/2006/main">
  <p:tag name="TIMING" val="|0.3|0.4|0.4|0.4|0.3|0.2|0.2"/>
</p:tagLst>
</file>

<file path=ppt/tags/tag28.xml><?xml version="1.0" encoding="utf-8"?>
<p:tagLst xmlns:p="http://schemas.openxmlformats.org/presentationml/2006/main">
  <p:tag name="TIMING" val="|0.3|0.4|0.4|0.4|0.3|0.2|0.2"/>
</p:tagLst>
</file>

<file path=ppt/tags/tag29.xml><?xml version="1.0" encoding="utf-8"?>
<p:tagLst xmlns:p="http://schemas.openxmlformats.org/presentationml/2006/main">
  <p:tag name="TIMING" val="|0.3|0.4|0.4|0.4|0.3|0.2|0.2"/>
</p:tagLst>
</file>

<file path=ppt/tags/tag30.xml><?xml version="1.0" encoding="utf-8"?>
<p:tagLst xmlns:p="http://schemas.openxmlformats.org/presentationml/2006/main">
  <p:tag name="TIMING" val="|0.3|0.4|0.4|0.4|0.3|0.2|0.2"/>
</p:tagLst>
</file>

<file path=ppt/tags/tag31.xml><?xml version="1.0" encoding="utf-8"?>
<p:tagLst xmlns:p="http://schemas.openxmlformats.org/presentationml/2006/main">
  <p:tag name="TIMING" val="|0.3|0.3|0.3|0.4"/>
</p:tagLst>
</file>

<file path=ppt/tags/tag32.xml><?xml version="1.0" encoding="utf-8"?>
<p:tagLst xmlns:p="http://schemas.openxmlformats.org/presentationml/2006/main">
  <p:tag name="TIMING" val="|0.3|0.2|0.1|0.2|0.3|0.2|0.3|0.3|0.3|0.3|0.3|0.3"/>
</p:tagLst>
</file>

<file path=ppt/tags/tag33.xml><?xml version="1.0" encoding="utf-8"?>
<p:tagLst xmlns:p="http://schemas.openxmlformats.org/presentationml/2006/main">
  <p:tag name="TIMING" val="|0.3|0.3|0.3|0.4"/>
</p:tagLst>
</file>

<file path=ppt/tags/tag34.xml><?xml version="1.0" encoding="utf-8"?>
<p:tagLst xmlns:p="http://schemas.openxmlformats.org/presentationml/2006/main">
  <p:tag name="TIMING" val="|0.3|0.3|0.3|0.3|0.3"/>
</p:tagLst>
</file>

<file path=ppt/tags/tag35.xml><?xml version="1.0" encoding="utf-8"?>
<p:tagLst xmlns:p="http://schemas.openxmlformats.org/presentationml/2006/main">
  <p:tag name="TIMING" val="|0.3|0.2|0.2|0.2"/>
</p:tagLst>
</file>

<file path=ppt/tags/tag36.xml><?xml version="1.0" encoding="utf-8"?>
<p:tagLst xmlns:p="http://schemas.openxmlformats.org/presentationml/2006/main">
  <p:tag name="COMMONDATA" val="eyJoZGlkIjoiN2E1NmRjNzhlMjE3N2Q3ZjMyMTFkMWQ1ZmM5MTFhNjYifQ=="/>
  <p:tag name="KSO_WPP_MARK_KEY" val="67848404-78da-4217-895d-bac7dbbd95fd"/>
</p:tagLst>
</file>

<file path=ppt/theme/theme1.xml><?xml version="1.0" encoding="utf-8"?>
<a:theme xmlns:a="http://schemas.openxmlformats.org/drawingml/2006/main" name="第一PPT，www.1ppt.com">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hyqzmw0s">
      <a:majorFont>
        <a:latin typeface="微软雅黑"/>
        <a:ea typeface="微软雅黑"/>
        <a:cs typeface=""/>
      </a:majorFont>
      <a:minorFont>
        <a:latin typeface="微软雅黑"/>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6103</Words>
  <Application>WPS 演示</Application>
  <PresentationFormat>自定义</PresentationFormat>
  <Paragraphs>454</Paragraphs>
  <Slides>34</Slides>
  <Notes>0</Notes>
  <HiddenSlides>0</HiddenSlides>
  <MMClips>0</MMClips>
  <ScaleCrop>false</ScaleCrop>
  <HeadingPairs>
    <vt:vector size="6" baseType="variant">
      <vt:variant>
        <vt:lpstr>已用的字体</vt:lpstr>
      </vt:variant>
      <vt:variant>
        <vt:i4>8</vt:i4>
      </vt:variant>
      <vt:variant>
        <vt:lpstr>主题</vt:lpstr>
      </vt:variant>
      <vt:variant>
        <vt:i4>2</vt:i4>
      </vt:variant>
      <vt:variant>
        <vt:lpstr>幻灯片标题</vt:lpstr>
      </vt:variant>
      <vt:variant>
        <vt:i4>34</vt:i4>
      </vt:variant>
    </vt:vector>
  </HeadingPairs>
  <TitlesOfParts>
    <vt:vector size="44" baseType="lpstr">
      <vt:lpstr>Arial</vt:lpstr>
      <vt:lpstr>宋体</vt:lpstr>
      <vt:lpstr>Wingdings</vt:lpstr>
      <vt:lpstr>方正正黑简体</vt:lpstr>
      <vt:lpstr>黑体</vt:lpstr>
      <vt:lpstr>微软雅黑</vt:lpstr>
      <vt:lpstr>Arial Unicode MS</vt:lpstr>
      <vt:lpstr>Calibri</vt:lpstr>
      <vt:lpstr>第一PPT，www.1ppt.com</vt:lpstr>
      <vt:lpstr>自定义设计方案</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第一PPT，www.1ppt.com</Company>
  <LinksUpToDate>false</LinksUpToDate>
  <SharedDoc>false</SharedDoc>
  <HyperlinksChanged>false</HyperlinksChanged>
  <AppVersion>14.0000</AppVersion>
  <Manager>第一PPT</Manager>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毕业答辩</dc:title>
  <dc:creator>第一PPT</dc:creator>
  <cp:keywords>www.1ppt.com</cp:keywords>
  <dc:description>www.1ppt.com</dc:description>
  <cp:lastModifiedBy>刘哲</cp:lastModifiedBy>
  <cp:revision>209</cp:revision>
  <dcterms:created xsi:type="dcterms:W3CDTF">2021-05-17T01:01:00Z</dcterms:created>
  <dcterms:modified xsi:type="dcterms:W3CDTF">2025-05-10T01:45:17Z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49EE6D884B1F481DB210A0B3FEF2E640_12</vt:lpwstr>
  </property>
  <property fmtid="{D5CDD505-2E9C-101B-9397-08002B2CF9AE}" pid="3" name="KSOProductBuildVer">
    <vt:lpwstr>2052-12.1.0.20305</vt:lpwstr>
  </property>
</Properties>
</file>