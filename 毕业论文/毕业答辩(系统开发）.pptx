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sldIdLst>
    <p:sldId id="256" r:id="rId4"/>
    <p:sldId id="257" r:id="rId5"/>
    <p:sldId id="258" r:id="rId6"/>
    <p:sldId id="259" r:id="rId7"/>
    <p:sldId id="285" r:id="rId8"/>
    <p:sldId id="283" r:id="rId9"/>
    <p:sldId id="308" r:id="rId10"/>
    <p:sldId id="265" r:id="rId11"/>
    <p:sldId id="264" r:id="rId12"/>
    <p:sldId id="268" r:id="rId13"/>
    <p:sldId id="266" r:id="rId14"/>
    <p:sldId id="269" r:id="rId15"/>
    <p:sldId id="271" r:id="rId16"/>
    <p:sldId id="270" r:id="rId17"/>
    <p:sldId id="273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30" r:id="rId27"/>
    <p:sldId id="331" r:id="rId28"/>
    <p:sldId id="332" r:id="rId29"/>
    <p:sldId id="333" r:id="rId30"/>
    <p:sldId id="334" r:id="rId31"/>
    <p:sldId id="276" r:id="rId32"/>
    <p:sldId id="278" r:id="rId33"/>
    <p:sldId id="317" r:id="rId34"/>
    <p:sldId id="279" r:id="rId35"/>
    <p:sldId id="280" r:id="rId36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3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</p:showPr>
  <p:clrMru>
    <a:srgbClr val="69C0E1"/>
    <a:srgbClr val="10507E"/>
    <a:srgbClr val="0A314E"/>
    <a:srgbClr val="D8E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-2256" y="-1146"/>
      </p:cViewPr>
      <p:guideLst>
        <p:guide orient="horz" pos="2186"/>
        <p:guide pos="38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97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907704" y="6739570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.xml"/><Relationship Id="rId4" Type="http://schemas.openxmlformats.org/officeDocument/2006/relationships/image" Target="../media/image4.png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5.xm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6.xml"/><Relationship Id="rId1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7.xml"/><Relationship Id="rId1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image" Target="../media/image7.emf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2" Type="http://schemas.openxmlformats.org/officeDocument/2006/relationships/slideLayout" Target="../slideLayouts/slideLayout8.xml"/><Relationship Id="rId41" Type="http://schemas.openxmlformats.org/officeDocument/2006/relationships/tags" Target="../tags/tag45.xml"/><Relationship Id="rId40" Type="http://schemas.openxmlformats.org/officeDocument/2006/relationships/tags" Target="../tags/tag44.xml"/><Relationship Id="rId4" Type="http://schemas.openxmlformats.org/officeDocument/2006/relationships/tags" Target="../tags/tag12.xml"/><Relationship Id="rId39" Type="http://schemas.openxmlformats.org/officeDocument/2006/relationships/tags" Target="../tags/tag43.xml"/><Relationship Id="rId38" Type="http://schemas.openxmlformats.org/officeDocument/2006/relationships/tags" Target="../tags/tag42.xml"/><Relationship Id="rId37" Type="http://schemas.openxmlformats.org/officeDocument/2006/relationships/image" Target="../media/image10.emf"/><Relationship Id="rId36" Type="http://schemas.openxmlformats.org/officeDocument/2006/relationships/tags" Target="../tags/tag41.xml"/><Relationship Id="rId35" Type="http://schemas.openxmlformats.org/officeDocument/2006/relationships/tags" Target="../tags/tag40.xml"/><Relationship Id="rId34" Type="http://schemas.openxmlformats.org/officeDocument/2006/relationships/tags" Target="../tags/tag39.xml"/><Relationship Id="rId33" Type="http://schemas.openxmlformats.org/officeDocument/2006/relationships/tags" Target="../tags/tag38.xml"/><Relationship Id="rId32" Type="http://schemas.openxmlformats.org/officeDocument/2006/relationships/tags" Target="../tags/tag37.xml"/><Relationship Id="rId31" Type="http://schemas.openxmlformats.org/officeDocument/2006/relationships/tags" Target="../tags/tag36.xml"/><Relationship Id="rId30" Type="http://schemas.openxmlformats.org/officeDocument/2006/relationships/tags" Target="../tags/tag35.xml"/><Relationship Id="rId3" Type="http://schemas.openxmlformats.org/officeDocument/2006/relationships/tags" Target="../tags/tag11.xml"/><Relationship Id="rId29" Type="http://schemas.openxmlformats.org/officeDocument/2006/relationships/tags" Target="../tags/tag34.xml"/><Relationship Id="rId28" Type="http://schemas.openxmlformats.org/officeDocument/2006/relationships/tags" Target="../tags/tag33.xml"/><Relationship Id="rId27" Type="http://schemas.openxmlformats.org/officeDocument/2006/relationships/image" Target="../media/image9.emf"/><Relationship Id="rId26" Type="http://schemas.openxmlformats.org/officeDocument/2006/relationships/tags" Target="../tags/tag32.xml"/><Relationship Id="rId25" Type="http://schemas.openxmlformats.org/officeDocument/2006/relationships/tags" Target="../tags/tag31.xml"/><Relationship Id="rId24" Type="http://schemas.openxmlformats.org/officeDocument/2006/relationships/tags" Target="../tags/tag30.xml"/><Relationship Id="rId23" Type="http://schemas.openxmlformats.org/officeDocument/2006/relationships/tags" Target="../tags/tag29.xml"/><Relationship Id="rId22" Type="http://schemas.openxmlformats.org/officeDocument/2006/relationships/tags" Target="../tags/tag28.xml"/><Relationship Id="rId21" Type="http://schemas.openxmlformats.org/officeDocument/2006/relationships/tags" Target="../tags/tag27.xml"/><Relationship Id="rId20" Type="http://schemas.openxmlformats.org/officeDocument/2006/relationships/tags" Target="../tags/tag26.xml"/><Relationship Id="rId2" Type="http://schemas.openxmlformats.org/officeDocument/2006/relationships/tags" Target="../tags/tag10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image" Target="../media/image8.emf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46.xml"/><Relationship Id="rId4" Type="http://schemas.openxmlformats.org/officeDocument/2006/relationships/image" Target="../media/image5.emf"/><Relationship Id="rId3" Type="http://schemas.openxmlformats.org/officeDocument/2006/relationships/image" Target="../media/image12.emf"/><Relationship Id="rId2" Type="http://schemas.openxmlformats.org/officeDocument/2006/relationships/image" Target="../media/image6.emf"/><Relationship Id="rId1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image" Target="../media/image9.emf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6" Type="http://schemas.openxmlformats.org/officeDocument/2006/relationships/slideLayout" Target="../slideLayouts/slideLayout8.xml"/><Relationship Id="rId25" Type="http://schemas.openxmlformats.org/officeDocument/2006/relationships/tags" Target="../tags/tag68.xml"/><Relationship Id="rId24" Type="http://schemas.openxmlformats.org/officeDocument/2006/relationships/tags" Target="../tags/tag67.xml"/><Relationship Id="rId23" Type="http://schemas.openxmlformats.org/officeDocument/2006/relationships/tags" Target="../tags/tag66.xml"/><Relationship Id="rId22" Type="http://schemas.openxmlformats.org/officeDocument/2006/relationships/image" Target="../media/image8.emf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tags" Target="../tags/tag48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image" Target="../media/image7.emf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6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77.xml"/><Relationship Id="rId4" Type="http://schemas.openxmlformats.org/officeDocument/2006/relationships/image" Target="../media/image5.emf"/><Relationship Id="rId3" Type="http://schemas.openxmlformats.org/officeDocument/2006/relationships/image" Target="../media/image12.emf"/><Relationship Id="rId2" Type="http://schemas.openxmlformats.org/officeDocument/2006/relationships/image" Target="../media/image6.emf"/><Relationship Id="rId1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78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0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8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8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3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4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85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86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8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88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9.xml"/><Relationship Id="rId1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0.xml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1.xml"/><Relationship Id="rId1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5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96.xml"/><Relationship Id="rId5" Type="http://schemas.openxmlformats.org/officeDocument/2006/relationships/image" Target="../media/image34.png"/><Relationship Id="rId4" Type="http://schemas.openxmlformats.org/officeDocument/2006/relationships/image" Target="../media/image4.png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/>
        </p:nvGrpSpPr>
        <p:grpSpPr>
          <a:xfrm>
            <a:off x="-1" y="-1"/>
            <a:ext cx="12192001" cy="5928853"/>
            <a:chOff x="-1" y="-1"/>
            <a:chExt cx="12192001" cy="5928853"/>
          </a:xfrm>
        </p:grpSpPr>
        <p:pic>
          <p:nvPicPr>
            <p:cNvPr id="56" name="图片 55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832" r="9949" b="533"/>
            <a:stretch>
              <a:fillRect/>
            </a:stretch>
          </p:blipFill>
          <p:spPr>
            <a:xfrm>
              <a:off x="1" y="-1"/>
              <a:ext cx="12191999" cy="5928853"/>
            </a:xfrm>
            <a:prstGeom prst="rect">
              <a:avLst/>
            </a:prstGeom>
          </p:spPr>
        </p:pic>
        <p:sp>
          <p:nvSpPr>
            <p:cNvPr id="57" name="矩形 56"/>
            <p:cNvSpPr/>
            <p:nvPr/>
          </p:nvSpPr>
          <p:spPr>
            <a:xfrm>
              <a:off x="-1" y="-1"/>
              <a:ext cx="12192000" cy="5928852"/>
            </a:xfrm>
            <a:prstGeom prst="rect">
              <a:avLst/>
            </a:prstGeom>
            <a:solidFill>
              <a:schemeClr val="bg1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6" name="任意多边形: 形状 15"/>
          <p:cNvSpPr/>
          <p:nvPr/>
        </p:nvSpPr>
        <p:spPr>
          <a:xfrm>
            <a:off x="-3788173" y="4952991"/>
            <a:ext cx="16805241" cy="3532144"/>
          </a:xfrm>
          <a:custGeom>
            <a:avLst/>
            <a:gdLst>
              <a:gd name="connsiteX0" fmla="*/ 206773 w 16805241"/>
              <a:gd name="connsiteY0" fmla="*/ 914409 h 3532144"/>
              <a:gd name="connsiteX1" fmla="*/ 2949973 w 16805241"/>
              <a:gd name="connsiteY1" fmla="*/ 9 h 3532144"/>
              <a:gd name="connsiteX2" fmla="*/ 6569473 w 16805241"/>
              <a:gd name="connsiteY2" fmla="*/ 933459 h 3532144"/>
              <a:gd name="connsiteX3" fmla="*/ 9655573 w 16805241"/>
              <a:gd name="connsiteY3" fmla="*/ 95259 h 3532144"/>
              <a:gd name="connsiteX4" fmla="*/ 12627373 w 16805241"/>
              <a:gd name="connsiteY4" fmla="*/ 819159 h 3532144"/>
              <a:gd name="connsiteX5" fmla="*/ 15065773 w 16805241"/>
              <a:gd name="connsiteY5" fmla="*/ 228609 h 3532144"/>
              <a:gd name="connsiteX6" fmla="*/ 16799323 w 16805241"/>
              <a:gd name="connsiteY6" fmla="*/ 571509 h 3532144"/>
              <a:gd name="connsiteX7" fmla="*/ 15218173 w 16805241"/>
              <a:gd name="connsiteY7" fmla="*/ 3467109 h 3532144"/>
              <a:gd name="connsiteX8" fmla="*/ 7064773 w 16805241"/>
              <a:gd name="connsiteY8" fmla="*/ 2571759 h 3532144"/>
              <a:gd name="connsiteX9" fmla="*/ 987823 w 16805241"/>
              <a:gd name="connsiteY9" fmla="*/ 2381259 h 3532144"/>
              <a:gd name="connsiteX10" fmla="*/ 263923 w 16805241"/>
              <a:gd name="connsiteY10" fmla="*/ 895359 h 3532144"/>
              <a:gd name="connsiteX11" fmla="*/ 206773 w 16805241"/>
              <a:gd name="connsiteY11" fmla="*/ 819159 h 3532144"/>
              <a:gd name="connsiteX12" fmla="*/ 206773 w 16805241"/>
              <a:gd name="connsiteY12" fmla="*/ 914409 h 3532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805241" h="3532144">
                <a:moveTo>
                  <a:pt x="206773" y="914409"/>
                </a:moveTo>
                <a:cubicBezTo>
                  <a:pt x="663973" y="777884"/>
                  <a:pt x="1889523" y="-3166"/>
                  <a:pt x="2949973" y="9"/>
                </a:cubicBezTo>
                <a:cubicBezTo>
                  <a:pt x="4010423" y="3184"/>
                  <a:pt x="5451873" y="917584"/>
                  <a:pt x="6569473" y="933459"/>
                </a:cubicBezTo>
                <a:cubicBezTo>
                  <a:pt x="7687073" y="949334"/>
                  <a:pt x="8645923" y="114309"/>
                  <a:pt x="9655573" y="95259"/>
                </a:cubicBezTo>
                <a:cubicBezTo>
                  <a:pt x="10665223" y="76209"/>
                  <a:pt x="11725673" y="796934"/>
                  <a:pt x="12627373" y="819159"/>
                </a:cubicBezTo>
                <a:cubicBezTo>
                  <a:pt x="13529073" y="841384"/>
                  <a:pt x="14370448" y="269884"/>
                  <a:pt x="15065773" y="228609"/>
                </a:cubicBezTo>
                <a:cubicBezTo>
                  <a:pt x="15761098" y="187334"/>
                  <a:pt x="16773923" y="31759"/>
                  <a:pt x="16799323" y="571509"/>
                </a:cubicBezTo>
                <a:cubicBezTo>
                  <a:pt x="16824723" y="1111259"/>
                  <a:pt x="16840598" y="3133734"/>
                  <a:pt x="15218173" y="3467109"/>
                </a:cubicBezTo>
                <a:cubicBezTo>
                  <a:pt x="13595748" y="3800484"/>
                  <a:pt x="9436498" y="2752734"/>
                  <a:pt x="7064773" y="2571759"/>
                </a:cubicBezTo>
                <a:cubicBezTo>
                  <a:pt x="4693048" y="2390784"/>
                  <a:pt x="2121298" y="2660659"/>
                  <a:pt x="987823" y="2381259"/>
                </a:cubicBezTo>
                <a:cubicBezTo>
                  <a:pt x="-145652" y="2101859"/>
                  <a:pt x="394098" y="1155709"/>
                  <a:pt x="263923" y="895359"/>
                </a:cubicBezTo>
                <a:cubicBezTo>
                  <a:pt x="133748" y="635009"/>
                  <a:pt x="222648" y="815984"/>
                  <a:pt x="206773" y="819159"/>
                </a:cubicBezTo>
                <a:cubicBezTo>
                  <a:pt x="190898" y="822334"/>
                  <a:pt x="-250427" y="1050934"/>
                  <a:pt x="206773" y="91440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-1997473" y="5505441"/>
            <a:ext cx="16805241" cy="3532144"/>
          </a:xfrm>
          <a:custGeom>
            <a:avLst/>
            <a:gdLst>
              <a:gd name="connsiteX0" fmla="*/ 206773 w 16805241"/>
              <a:gd name="connsiteY0" fmla="*/ 914409 h 3532144"/>
              <a:gd name="connsiteX1" fmla="*/ 2949973 w 16805241"/>
              <a:gd name="connsiteY1" fmla="*/ 9 h 3532144"/>
              <a:gd name="connsiteX2" fmla="*/ 6569473 w 16805241"/>
              <a:gd name="connsiteY2" fmla="*/ 933459 h 3532144"/>
              <a:gd name="connsiteX3" fmla="*/ 9655573 w 16805241"/>
              <a:gd name="connsiteY3" fmla="*/ 95259 h 3532144"/>
              <a:gd name="connsiteX4" fmla="*/ 12627373 w 16805241"/>
              <a:gd name="connsiteY4" fmla="*/ 819159 h 3532144"/>
              <a:gd name="connsiteX5" fmla="*/ 15065773 w 16805241"/>
              <a:gd name="connsiteY5" fmla="*/ 228609 h 3532144"/>
              <a:gd name="connsiteX6" fmla="*/ 16799323 w 16805241"/>
              <a:gd name="connsiteY6" fmla="*/ 571509 h 3532144"/>
              <a:gd name="connsiteX7" fmla="*/ 15218173 w 16805241"/>
              <a:gd name="connsiteY7" fmla="*/ 3467109 h 3532144"/>
              <a:gd name="connsiteX8" fmla="*/ 7064773 w 16805241"/>
              <a:gd name="connsiteY8" fmla="*/ 2571759 h 3532144"/>
              <a:gd name="connsiteX9" fmla="*/ 987823 w 16805241"/>
              <a:gd name="connsiteY9" fmla="*/ 2381259 h 3532144"/>
              <a:gd name="connsiteX10" fmla="*/ 263923 w 16805241"/>
              <a:gd name="connsiteY10" fmla="*/ 895359 h 3532144"/>
              <a:gd name="connsiteX11" fmla="*/ 206773 w 16805241"/>
              <a:gd name="connsiteY11" fmla="*/ 819159 h 3532144"/>
              <a:gd name="connsiteX12" fmla="*/ 206773 w 16805241"/>
              <a:gd name="connsiteY12" fmla="*/ 914409 h 3532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805241" h="3532144">
                <a:moveTo>
                  <a:pt x="206773" y="914409"/>
                </a:moveTo>
                <a:cubicBezTo>
                  <a:pt x="663973" y="777884"/>
                  <a:pt x="1889523" y="-3166"/>
                  <a:pt x="2949973" y="9"/>
                </a:cubicBezTo>
                <a:cubicBezTo>
                  <a:pt x="4010423" y="3184"/>
                  <a:pt x="5451873" y="917584"/>
                  <a:pt x="6569473" y="933459"/>
                </a:cubicBezTo>
                <a:cubicBezTo>
                  <a:pt x="7687073" y="949334"/>
                  <a:pt x="8645923" y="114309"/>
                  <a:pt x="9655573" y="95259"/>
                </a:cubicBezTo>
                <a:cubicBezTo>
                  <a:pt x="10665223" y="76209"/>
                  <a:pt x="11725673" y="796934"/>
                  <a:pt x="12627373" y="819159"/>
                </a:cubicBezTo>
                <a:cubicBezTo>
                  <a:pt x="13529073" y="841384"/>
                  <a:pt x="14370448" y="269884"/>
                  <a:pt x="15065773" y="228609"/>
                </a:cubicBezTo>
                <a:cubicBezTo>
                  <a:pt x="15761098" y="187334"/>
                  <a:pt x="16773923" y="31759"/>
                  <a:pt x="16799323" y="571509"/>
                </a:cubicBezTo>
                <a:cubicBezTo>
                  <a:pt x="16824723" y="1111259"/>
                  <a:pt x="16840598" y="3133734"/>
                  <a:pt x="15218173" y="3467109"/>
                </a:cubicBezTo>
                <a:cubicBezTo>
                  <a:pt x="13595748" y="3800484"/>
                  <a:pt x="9436498" y="2752734"/>
                  <a:pt x="7064773" y="2571759"/>
                </a:cubicBezTo>
                <a:cubicBezTo>
                  <a:pt x="4693048" y="2390784"/>
                  <a:pt x="2121298" y="2660659"/>
                  <a:pt x="987823" y="2381259"/>
                </a:cubicBezTo>
                <a:cubicBezTo>
                  <a:pt x="-145652" y="2101859"/>
                  <a:pt x="394098" y="1155709"/>
                  <a:pt x="263923" y="895359"/>
                </a:cubicBezTo>
                <a:cubicBezTo>
                  <a:pt x="133748" y="635009"/>
                  <a:pt x="222648" y="815984"/>
                  <a:pt x="206773" y="819159"/>
                </a:cubicBezTo>
                <a:cubicBezTo>
                  <a:pt x="190898" y="822334"/>
                  <a:pt x="-250427" y="1050934"/>
                  <a:pt x="206773" y="914409"/>
                </a:cubicBezTo>
                <a:close/>
              </a:path>
            </a:pathLst>
          </a:custGeom>
          <a:solidFill>
            <a:srgbClr val="69C0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任意多边形: 形状 16"/>
          <p:cNvSpPr/>
          <p:nvPr/>
        </p:nvSpPr>
        <p:spPr>
          <a:xfrm>
            <a:off x="-9315449" y="5505441"/>
            <a:ext cx="24898350" cy="5233163"/>
          </a:xfrm>
          <a:custGeom>
            <a:avLst/>
            <a:gdLst>
              <a:gd name="connsiteX0" fmla="*/ 206773 w 16805241"/>
              <a:gd name="connsiteY0" fmla="*/ 914409 h 3532144"/>
              <a:gd name="connsiteX1" fmla="*/ 2949973 w 16805241"/>
              <a:gd name="connsiteY1" fmla="*/ 9 h 3532144"/>
              <a:gd name="connsiteX2" fmla="*/ 6569473 w 16805241"/>
              <a:gd name="connsiteY2" fmla="*/ 933459 h 3532144"/>
              <a:gd name="connsiteX3" fmla="*/ 9655573 w 16805241"/>
              <a:gd name="connsiteY3" fmla="*/ 95259 h 3532144"/>
              <a:gd name="connsiteX4" fmla="*/ 12627373 w 16805241"/>
              <a:gd name="connsiteY4" fmla="*/ 819159 h 3532144"/>
              <a:gd name="connsiteX5" fmla="*/ 15065773 w 16805241"/>
              <a:gd name="connsiteY5" fmla="*/ 228609 h 3532144"/>
              <a:gd name="connsiteX6" fmla="*/ 16799323 w 16805241"/>
              <a:gd name="connsiteY6" fmla="*/ 571509 h 3532144"/>
              <a:gd name="connsiteX7" fmla="*/ 15218173 w 16805241"/>
              <a:gd name="connsiteY7" fmla="*/ 3467109 h 3532144"/>
              <a:gd name="connsiteX8" fmla="*/ 7064773 w 16805241"/>
              <a:gd name="connsiteY8" fmla="*/ 2571759 h 3532144"/>
              <a:gd name="connsiteX9" fmla="*/ 987823 w 16805241"/>
              <a:gd name="connsiteY9" fmla="*/ 2381259 h 3532144"/>
              <a:gd name="connsiteX10" fmla="*/ 263923 w 16805241"/>
              <a:gd name="connsiteY10" fmla="*/ 895359 h 3532144"/>
              <a:gd name="connsiteX11" fmla="*/ 206773 w 16805241"/>
              <a:gd name="connsiteY11" fmla="*/ 819159 h 3532144"/>
              <a:gd name="connsiteX12" fmla="*/ 206773 w 16805241"/>
              <a:gd name="connsiteY12" fmla="*/ 914409 h 3532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805241" h="3532144">
                <a:moveTo>
                  <a:pt x="206773" y="914409"/>
                </a:moveTo>
                <a:cubicBezTo>
                  <a:pt x="663973" y="777884"/>
                  <a:pt x="1889523" y="-3166"/>
                  <a:pt x="2949973" y="9"/>
                </a:cubicBezTo>
                <a:cubicBezTo>
                  <a:pt x="4010423" y="3184"/>
                  <a:pt x="5451873" y="917584"/>
                  <a:pt x="6569473" y="933459"/>
                </a:cubicBezTo>
                <a:cubicBezTo>
                  <a:pt x="7687073" y="949334"/>
                  <a:pt x="8645923" y="114309"/>
                  <a:pt x="9655573" y="95259"/>
                </a:cubicBezTo>
                <a:cubicBezTo>
                  <a:pt x="10665223" y="76209"/>
                  <a:pt x="11725673" y="796934"/>
                  <a:pt x="12627373" y="819159"/>
                </a:cubicBezTo>
                <a:cubicBezTo>
                  <a:pt x="13529073" y="841384"/>
                  <a:pt x="14370448" y="269884"/>
                  <a:pt x="15065773" y="228609"/>
                </a:cubicBezTo>
                <a:cubicBezTo>
                  <a:pt x="15761098" y="187334"/>
                  <a:pt x="16773923" y="31759"/>
                  <a:pt x="16799323" y="571509"/>
                </a:cubicBezTo>
                <a:cubicBezTo>
                  <a:pt x="16824723" y="1111259"/>
                  <a:pt x="16840598" y="3133734"/>
                  <a:pt x="15218173" y="3467109"/>
                </a:cubicBezTo>
                <a:cubicBezTo>
                  <a:pt x="13595748" y="3800484"/>
                  <a:pt x="9436498" y="2752734"/>
                  <a:pt x="7064773" y="2571759"/>
                </a:cubicBezTo>
                <a:cubicBezTo>
                  <a:pt x="4693048" y="2390784"/>
                  <a:pt x="2121298" y="2660659"/>
                  <a:pt x="987823" y="2381259"/>
                </a:cubicBezTo>
                <a:cubicBezTo>
                  <a:pt x="-145652" y="2101859"/>
                  <a:pt x="394098" y="1155709"/>
                  <a:pt x="263923" y="895359"/>
                </a:cubicBezTo>
                <a:cubicBezTo>
                  <a:pt x="133748" y="635009"/>
                  <a:pt x="222648" y="815984"/>
                  <a:pt x="206773" y="819159"/>
                </a:cubicBezTo>
                <a:cubicBezTo>
                  <a:pt x="190898" y="822334"/>
                  <a:pt x="-250427" y="1050934"/>
                  <a:pt x="206773" y="914409"/>
                </a:cubicBezTo>
                <a:close/>
              </a:path>
            </a:pathLst>
          </a:custGeom>
          <a:solidFill>
            <a:srgbClr val="105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495425" y="1771650"/>
            <a:ext cx="1943100" cy="0"/>
          </a:xfrm>
          <a:prstGeom prst="line">
            <a:avLst/>
          </a:prstGeom>
          <a:ln w="34925">
            <a:solidFill>
              <a:srgbClr val="105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753475" y="1771650"/>
            <a:ext cx="1943100" cy="0"/>
          </a:xfrm>
          <a:prstGeom prst="line">
            <a:avLst/>
          </a:prstGeom>
          <a:ln w="34925">
            <a:solidFill>
              <a:srgbClr val="105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100137" y="1417707"/>
            <a:ext cx="59917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69C0E1"/>
                </a:solidFill>
                <a:cs typeface="+mn-ea"/>
                <a:sym typeface="+mn-lt"/>
              </a:rPr>
              <a:t>GRADUATION REPLY</a:t>
            </a:r>
            <a:endParaRPr lang="zh-CN" altLang="en-US" sz="4000" dirty="0">
              <a:solidFill>
                <a:srgbClr val="69C0E1"/>
              </a:solidFill>
              <a:cs typeface="+mn-ea"/>
              <a:sym typeface="+mn-lt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312591" y="2130842"/>
            <a:ext cx="7566818" cy="1577355"/>
            <a:chOff x="2312591" y="2092742"/>
            <a:chExt cx="7566818" cy="1577355"/>
          </a:xfrm>
        </p:grpSpPr>
        <p:sp>
          <p:nvSpPr>
            <p:cNvPr id="37" name="文本框 36"/>
            <p:cNvSpPr txBox="1"/>
            <p:nvPr/>
          </p:nvSpPr>
          <p:spPr>
            <a:xfrm>
              <a:off x="2312591" y="2092742"/>
              <a:ext cx="7566818" cy="1445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8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  <a:cs typeface="+mn-ea"/>
                  <a:sym typeface="+mn-lt"/>
                </a:rPr>
                <a:t>毕业答辩</a:t>
              </a:r>
              <a:endParaRPr lang="zh-CN" altLang="en-US" sz="88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312591" y="3408487"/>
              <a:ext cx="7566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100" dirty="0">
                  <a:cs typeface="+mn-ea"/>
                  <a:sym typeface="+mn-lt"/>
                </a:rPr>
                <a:t>SIMPLE GRADUATION DEFENSE</a:t>
              </a:r>
              <a:endParaRPr lang="zh-CN" altLang="en-US" sz="1100" dirty="0">
                <a:cs typeface="+mn-ea"/>
                <a:sym typeface="+mn-lt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134888" y="4059851"/>
            <a:ext cx="2114550" cy="337185"/>
            <a:chOff x="4408975" y="3969165"/>
            <a:chExt cx="2114550" cy="337185"/>
          </a:xfrm>
        </p:grpSpPr>
        <p:grpSp>
          <p:nvGrpSpPr>
            <p:cNvPr id="42" name="组合 41"/>
            <p:cNvGrpSpPr/>
            <p:nvPr/>
          </p:nvGrpSpPr>
          <p:grpSpPr>
            <a:xfrm>
              <a:off x="4408975" y="3971205"/>
              <a:ext cx="334475" cy="334475"/>
              <a:chOff x="4408975" y="3968750"/>
              <a:chExt cx="334475" cy="334475"/>
            </a:xfrm>
          </p:grpSpPr>
          <p:sp>
            <p:nvSpPr>
              <p:cNvPr id="39" name="椭圆 38"/>
              <p:cNvSpPr/>
              <p:nvPr/>
            </p:nvSpPr>
            <p:spPr>
              <a:xfrm>
                <a:off x="4408975" y="3968750"/>
                <a:ext cx="334475" cy="334475"/>
              </a:xfrm>
              <a:prstGeom prst="ellipse">
                <a:avLst/>
              </a:prstGeom>
              <a:solidFill>
                <a:srgbClr val="1050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41" name="图片 4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88687" y="4048462"/>
                <a:ext cx="175050" cy="175050"/>
              </a:xfrm>
              <a:prstGeom prst="rect">
                <a:avLst/>
              </a:prstGeom>
            </p:spPr>
          </p:pic>
        </p:grpSp>
        <p:sp>
          <p:nvSpPr>
            <p:cNvPr id="43" name="文本框 42"/>
            <p:cNvSpPr txBox="1"/>
            <p:nvPr/>
          </p:nvSpPr>
          <p:spPr>
            <a:xfrm>
              <a:off x="4743448" y="3969165"/>
              <a:ext cx="1780077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cs typeface="+mn-ea"/>
                  <a:sym typeface="+mn-lt"/>
                </a:rPr>
                <a:t>答辩人</a:t>
              </a:r>
              <a:r>
                <a:rPr lang="zh-CN" altLang="en-US" sz="1600" dirty="0" smtClean="0">
                  <a:cs typeface="+mn-ea"/>
                  <a:sym typeface="+mn-lt"/>
                </a:rPr>
                <a:t>：</a:t>
              </a:r>
              <a:r>
                <a:rPr lang="zh-CN" altLang="en-US" sz="1600" dirty="0" smtClean="0">
                  <a:cs typeface="+mn-ea"/>
                  <a:sym typeface="+mn-lt"/>
                </a:rPr>
                <a:t>刘哲</a:t>
              </a:r>
              <a:endParaRPr lang="zh-CN" altLang="en-US" sz="1600" dirty="0" smtClean="0">
                <a:cs typeface="+mn-ea"/>
                <a:sym typeface="+mn-lt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307495" y="4059851"/>
            <a:ext cx="2255932" cy="337185"/>
            <a:chOff x="6249439" y="3970951"/>
            <a:chExt cx="2255932" cy="337185"/>
          </a:xfrm>
        </p:grpSpPr>
        <p:grpSp>
          <p:nvGrpSpPr>
            <p:cNvPr id="45" name="组合 44"/>
            <p:cNvGrpSpPr/>
            <p:nvPr/>
          </p:nvGrpSpPr>
          <p:grpSpPr>
            <a:xfrm>
              <a:off x="6249439" y="3970951"/>
              <a:ext cx="2255932" cy="337185"/>
              <a:chOff x="4408975" y="3969165"/>
              <a:chExt cx="2255932" cy="337185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4408975" y="3971205"/>
                <a:ext cx="334475" cy="334475"/>
              </a:xfrm>
              <a:prstGeom prst="ellipse">
                <a:avLst/>
              </a:prstGeom>
              <a:solidFill>
                <a:srgbClr val="1050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4743449" y="3969165"/>
                <a:ext cx="1921458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cs typeface="+mn-ea"/>
                    <a:sym typeface="+mn-lt"/>
                  </a:rPr>
                  <a:t>指导教师</a:t>
                </a:r>
                <a:r>
                  <a:rPr lang="zh-CN" altLang="en-US" sz="1600" dirty="0" smtClean="0">
                    <a:cs typeface="+mn-ea"/>
                    <a:sym typeface="+mn-lt"/>
                  </a:rPr>
                  <a:t>：朱素</a:t>
                </a:r>
                <a:r>
                  <a:rPr lang="zh-CN" altLang="en-US" sz="1600" dirty="0" smtClean="0">
                    <a:cs typeface="+mn-ea"/>
                    <a:sym typeface="+mn-lt"/>
                  </a:rPr>
                  <a:t>英</a:t>
                </a:r>
                <a:endParaRPr lang="zh-CN" altLang="en-US" sz="1600" dirty="0" smtClean="0">
                  <a:cs typeface="+mn-ea"/>
                  <a:sym typeface="+mn-lt"/>
                </a:endParaRPr>
              </a:p>
            </p:txBody>
          </p:sp>
        </p:grp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4887" y="4052703"/>
              <a:ext cx="178791" cy="178791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35" y="384810"/>
            <a:ext cx="2964180" cy="5943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344">
        <p:random/>
      </p:transition>
    </mc:Choice>
    <mc:Fallback>
      <p:transition spd="slow" advTm="4344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: 空心 1"/>
          <p:cNvSpPr/>
          <p:nvPr/>
        </p:nvSpPr>
        <p:spPr>
          <a:xfrm>
            <a:off x="10134600" y="342900"/>
            <a:ext cx="704850" cy="704850"/>
          </a:xfrm>
          <a:prstGeom prst="donut">
            <a:avLst/>
          </a:prstGeom>
          <a:solidFill>
            <a:srgbClr val="105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352550" y="779502"/>
            <a:ext cx="2656640" cy="1107996"/>
            <a:chOff x="1352550" y="779502"/>
            <a:chExt cx="2656640" cy="1107996"/>
          </a:xfrm>
        </p:grpSpPr>
        <p:sp>
          <p:nvSpPr>
            <p:cNvPr id="4" name="文本框 3"/>
            <p:cNvSpPr txBox="1"/>
            <p:nvPr/>
          </p:nvSpPr>
          <p:spPr>
            <a:xfrm>
              <a:off x="1352550" y="779502"/>
              <a:ext cx="70485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600" dirty="0">
                  <a:solidFill>
                    <a:srgbClr val="69C0E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cs typeface="+mn-ea"/>
                  <a:sym typeface="+mn-lt"/>
                </a:rPr>
                <a:t>C</a:t>
              </a:r>
              <a:endParaRPr lang="zh-CN" altLang="en-US" sz="6600" dirty="0">
                <a:solidFill>
                  <a:srgbClr val="69C0E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057400" y="1249276"/>
              <a:ext cx="19517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rgbClr val="10507E"/>
                  </a:solidFill>
                  <a:cs typeface="+mn-ea"/>
                  <a:sym typeface="+mn-lt"/>
                </a:rPr>
                <a:t>ONTENTES</a:t>
              </a:r>
              <a:endParaRPr lang="zh-CN" altLang="en-US" sz="24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095500" y="1047750"/>
              <a:ext cx="9739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目录内容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7" name="矩形: 圆角 6"/>
          <p:cNvSpPr/>
          <p:nvPr/>
        </p:nvSpPr>
        <p:spPr>
          <a:xfrm>
            <a:off x="1220561" y="1747115"/>
            <a:ext cx="9750879" cy="929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圆: 空心 12"/>
          <p:cNvSpPr/>
          <p:nvPr/>
        </p:nvSpPr>
        <p:spPr>
          <a:xfrm>
            <a:off x="-2188765" y="4734917"/>
            <a:ext cx="4246165" cy="4246165"/>
          </a:xfrm>
          <a:prstGeom prst="donut">
            <a:avLst/>
          </a:prstGeom>
          <a:solidFill>
            <a:srgbClr val="69C0E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057400" y="2742054"/>
            <a:ext cx="4398725" cy="553998"/>
            <a:chOff x="1922065" y="2510352"/>
            <a:chExt cx="4398725" cy="553998"/>
          </a:xfrm>
        </p:grpSpPr>
        <p:grpSp>
          <p:nvGrpSpPr>
            <p:cNvPr id="11" name="组合 10"/>
            <p:cNvGrpSpPr/>
            <p:nvPr/>
          </p:nvGrpSpPr>
          <p:grpSpPr>
            <a:xfrm>
              <a:off x="1922065" y="2526002"/>
              <a:ext cx="660400" cy="522698"/>
              <a:chOff x="1730792" y="2452119"/>
              <a:chExt cx="660400" cy="522698"/>
            </a:xfrm>
          </p:grpSpPr>
          <p:sp>
            <p:nvSpPr>
              <p:cNvPr id="9" name="矩形 8"/>
              <p:cNvSpPr/>
              <p:nvPr/>
            </p:nvSpPr>
            <p:spPr>
              <a:xfrm rot="2693629">
                <a:off x="1799643" y="2452119"/>
                <a:ext cx="522698" cy="522698"/>
              </a:xfrm>
              <a:prstGeom prst="rect">
                <a:avLst/>
              </a:prstGeom>
              <a:solidFill>
                <a:srgbClr val="69C0E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730792" y="2482636"/>
                <a:ext cx="660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731770" y="2510352"/>
              <a:ext cx="3589020" cy="553998"/>
              <a:chOff x="2762250" y="2604356"/>
              <a:chExt cx="3589020" cy="553998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2762250" y="2604356"/>
                <a:ext cx="358902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课题背景及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研究意义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2762250" y="2958299"/>
                <a:ext cx="289242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700" dirty="0">
                    <a:cs typeface="+mn-ea"/>
                    <a:sym typeface="+mn-lt"/>
                  </a:rPr>
                  <a:t>RESEARCH BACKGROUND AND CURRENT SITUATION</a:t>
                </a:r>
                <a:endParaRPr lang="zh-CN" altLang="en-US" sz="700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2057400" y="4085669"/>
            <a:ext cx="3702130" cy="553998"/>
            <a:chOff x="1922065" y="2510352"/>
            <a:chExt cx="3702130" cy="553998"/>
          </a:xfrm>
        </p:grpSpPr>
        <p:grpSp>
          <p:nvGrpSpPr>
            <p:cNvPr id="18" name="组合 17"/>
            <p:cNvGrpSpPr/>
            <p:nvPr/>
          </p:nvGrpSpPr>
          <p:grpSpPr>
            <a:xfrm>
              <a:off x="1922065" y="2526002"/>
              <a:ext cx="660400" cy="522698"/>
              <a:chOff x="1730792" y="2452119"/>
              <a:chExt cx="660400" cy="522698"/>
            </a:xfrm>
          </p:grpSpPr>
          <p:sp>
            <p:nvSpPr>
              <p:cNvPr id="22" name="矩形 21"/>
              <p:cNvSpPr/>
              <p:nvPr/>
            </p:nvSpPr>
            <p:spPr>
              <a:xfrm rot="2693629">
                <a:off x="1799643" y="2452119"/>
                <a:ext cx="522698" cy="522698"/>
              </a:xfrm>
              <a:prstGeom prst="rect">
                <a:avLst/>
              </a:prstGeom>
              <a:solidFill>
                <a:srgbClr val="69C0E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cs typeface="+mn-ea"/>
                  <a:sym typeface="+mn-lt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1730792" y="2482636"/>
                <a:ext cx="660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rPr>
                  <a:t>03</a:t>
                </a:r>
                <a:endParaRPr lang="zh-CN" alt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2731770" y="2510352"/>
              <a:ext cx="2892425" cy="553998"/>
              <a:chOff x="2762250" y="2604356"/>
              <a:chExt cx="2892425" cy="553998"/>
            </a:xfrm>
          </p:grpSpPr>
          <p:sp>
            <p:nvSpPr>
              <p:cNvPr id="20" name="文本框 19"/>
              <p:cNvSpPr txBox="1"/>
              <p:nvPr/>
            </p:nvSpPr>
            <p:spPr>
              <a:xfrm>
                <a:off x="2762250" y="2604356"/>
                <a:ext cx="277177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2762250" y="2958299"/>
                <a:ext cx="289242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700" dirty="0">
                    <a:cs typeface="+mn-ea"/>
                    <a:sym typeface="+mn-lt"/>
                  </a:rPr>
                  <a:t>RESEARCH BACKGROUND AND CURRENT SITUATION</a:t>
                </a:r>
                <a:endParaRPr lang="zh-CN" altLang="en-US" sz="700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6456045" y="2731894"/>
            <a:ext cx="3702130" cy="553998"/>
            <a:chOff x="1922065" y="2510352"/>
            <a:chExt cx="3702130" cy="553998"/>
          </a:xfrm>
        </p:grpSpPr>
        <p:grpSp>
          <p:nvGrpSpPr>
            <p:cNvPr id="25" name="组合 24"/>
            <p:cNvGrpSpPr/>
            <p:nvPr/>
          </p:nvGrpSpPr>
          <p:grpSpPr>
            <a:xfrm>
              <a:off x="1922065" y="2526002"/>
              <a:ext cx="660400" cy="522698"/>
              <a:chOff x="1730792" y="2452119"/>
              <a:chExt cx="660400" cy="522698"/>
            </a:xfrm>
          </p:grpSpPr>
          <p:sp>
            <p:nvSpPr>
              <p:cNvPr id="29" name="矩形 28"/>
              <p:cNvSpPr/>
              <p:nvPr/>
            </p:nvSpPr>
            <p:spPr>
              <a:xfrm rot="2693629">
                <a:off x="1799643" y="2452119"/>
                <a:ext cx="522698" cy="522698"/>
              </a:xfrm>
              <a:prstGeom prst="rect">
                <a:avLst/>
              </a:prstGeom>
              <a:solidFill>
                <a:srgbClr val="69C0E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cs typeface="+mn-ea"/>
                  <a:sym typeface="+mn-lt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730792" y="2482636"/>
                <a:ext cx="660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2731770" y="2510352"/>
              <a:ext cx="2892425" cy="553998"/>
              <a:chOff x="2762250" y="2604356"/>
              <a:chExt cx="2892425" cy="553998"/>
            </a:xfrm>
          </p:grpSpPr>
          <p:sp>
            <p:nvSpPr>
              <p:cNvPr id="27" name="文本框 26"/>
              <p:cNvSpPr txBox="1"/>
              <p:nvPr/>
            </p:nvSpPr>
            <p:spPr>
              <a:xfrm>
                <a:off x="2762250" y="2604356"/>
                <a:ext cx="260985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系统功能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2762250" y="2958299"/>
                <a:ext cx="289242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700" dirty="0">
                    <a:cs typeface="+mn-ea"/>
                    <a:sym typeface="+mn-lt"/>
                  </a:rPr>
                  <a:t>RESEARCH BACKGROUND AND CURRENT SITUATION</a:t>
                </a:r>
                <a:endParaRPr lang="zh-CN" altLang="en-US" sz="700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6565900" y="4085669"/>
            <a:ext cx="3702130" cy="553998"/>
            <a:chOff x="1922065" y="2510352"/>
            <a:chExt cx="3702130" cy="553998"/>
          </a:xfrm>
        </p:grpSpPr>
        <p:grpSp>
          <p:nvGrpSpPr>
            <p:cNvPr id="32" name="组合 31"/>
            <p:cNvGrpSpPr/>
            <p:nvPr/>
          </p:nvGrpSpPr>
          <p:grpSpPr>
            <a:xfrm>
              <a:off x="1922065" y="2526002"/>
              <a:ext cx="660400" cy="522698"/>
              <a:chOff x="1730792" y="2452119"/>
              <a:chExt cx="660400" cy="522698"/>
            </a:xfrm>
          </p:grpSpPr>
          <p:sp>
            <p:nvSpPr>
              <p:cNvPr id="36" name="矩形 35"/>
              <p:cNvSpPr/>
              <p:nvPr/>
            </p:nvSpPr>
            <p:spPr>
              <a:xfrm rot="2693629">
                <a:off x="1799643" y="2452119"/>
                <a:ext cx="522698" cy="522698"/>
              </a:xfrm>
              <a:prstGeom prst="rect">
                <a:avLst/>
              </a:prstGeom>
              <a:solidFill>
                <a:srgbClr val="69C0E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cs typeface="+mn-ea"/>
                  <a:sym typeface="+mn-lt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1730792" y="2482636"/>
                <a:ext cx="660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rPr>
                  <a:t>04</a:t>
                </a:r>
                <a:endParaRPr lang="zh-CN" alt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2731770" y="2510352"/>
              <a:ext cx="2892425" cy="553998"/>
              <a:chOff x="2762250" y="2604356"/>
              <a:chExt cx="2892425" cy="553998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2762250" y="2604356"/>
                <a:ext cx="260985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论文小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结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2762250" y="2958299"/>
                <a:ext cx="289242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700" dirty="0">
                    <a:cs typeface="+mn-ea"/>
                    <a:sym typeface="+mn-lt"/>
                  </a:rPr>
                  <a:t>RESEARCH BACKGROUND AND CURRENT SITUATION</a:t>
                </a:r>
                <a:endParaRPr lang="zh-CN" altLang="en-US" sz="700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38" name="椭圆 37"/>
          <p:cNvSpPr/>
          <p:nvPr/>
        </p:nvSpPr>
        <p:spPr>
          <a:xfrm>
            <a:off x="9782629" y="5544457"/>
            <a:ext cx="351971" cy="351971"/>
          </a:xfrm>
          <a:prstGeom prst="ellipse">
            <a:avLst/>
          </a:prstGeom>
          <a:solidFill>
            <a:srgbClr val="105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126230" y="5068014"/>
            <a:ext cx="3702130" cy="553998"/>
            <a:chOff x="1922065" y="2510352"/>
            <a:chExt cx="3702130" cy="553998"/>
          </a:xfrm>
        </p:grpSpPr>
        <p:grpSp>
          <p:nvGrpSpPr>
            <p:cNvPr id="8" name="组合 7"/>
            <p:cNvGrpSpPr/>
            <p:nvPr/>
          </p:nvGrpSpPr>
          <p:grpSpPr>
            <a:xfrm>
              <a:off x="1922065" y="2526002"/>
              <a:ext cx="660400" cy="522698"/>
              <a:chOff x="1730792" y="2452119"/>
              <a:chExt cx="660400" cy="522698"/>
            </a:xfrm>
          </p:grpSpPr>
          <p:sp>
            <p:nvSpPr>
              <p:cNvPr id="40" name="矩形 39"/>
              <p:cNvSpPr/>
              <p:nvPr/>
            </p:nvSpPr>
            <p:spPr>
              <a:xfrm rot="2693629">
                <a:off x="1799643" y="2452119"/>
                <a:ext cx="522698" cy="522698"/>
              </a:xfrm>
              <a:prstGeom prst="rect">
                <a:avLst/>
              </a:prstGeom>
              <a:solidFill>
                <a:srgbClr val="69C0E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000">
                  <a:cs typeface="+mn-ea"/>
                  <a:sym typeface="+mn-lt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1730792" y="2482636"/>
                <a:ext cx="66040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rPr>
                  <a:t>05</a:t>
                </a:r>
                <a:endParaRPr lang="zh-CN" alt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2731770" y="2510352"/>
              <a:ext cx="2892425" cy="553998"/>
              <a:chOff x="2762250" y="2604356"/>
              <a:chExt cx="2892425" cy="553998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762250" y="2604356"/>
                <a:ext cx="260985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dist"/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致谢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762250" y="2958299"/>
                <a:ext cx="289242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dist"/>
                <a:r>
                  <a:rPr lang="en-US" altLang="zh-CN" sz="700" dirty="0">
                    <a:cs typeface="+mn-ea"/>
                    <a:sym typeface="+mn-lt"/>
                  </a:rPr>
                  <a:t>RESEARCH BACKGROUND AND CURRENT SITUATION</a:t>
                </a:r>
                <a:endParaRPr lang="zh-CN" altLang="en-US" sz="700" dirty="0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" y="281940"/>
            <a:ext cx="2964180" cy="5943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589">
        <p:random/>
      </p:transition>
    </mc:Choice>
    <mc:Fallback>
      <p:transition spd="slow" advTm="2589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-2846530" y="-1770744"/>
            <a:ext cx="8399978" cy="7688943"/>
            <a:chOff x="-2846530" y="-1770744"/>
            <a:chExt cx="8399978" cy="7688943"/>
          </a:xfrm>
        </p:grpSpPr>
        <p:sp>
          <p:nvSpPr>
            <p:cNvPr id="2" name="椭圆 1"/>
            <p:cNvSpPr/>
            <p:nvPr/>
          </p:nvSpPr>
          <p:spPr>
            <a:xfrm>
              <a:off x="-2846530" y="-1770744"/>
              <a:ext cx="7688943" cy="7688943"/>
            </a:xfrm>
            <a:prstGeom prst="ellipse">
              <a:avLst/>
            </a:prstGeom>
            <a:solidFill>
              <a:srgbClr val="D8EFFD"/>
            </a:solidFill>
            <a:ln>
              <a:noFill/>
            </a:ln>
            <a:effectLst>
              <a:outerShdw blurRad="2794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-1214742" y="1161142"/>
              <a:ext cx="6768190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3900" dirty="0">
                  <a:solidFill>
                    <a:srgbClr val="10507E"/>
                  </a:solidFill>
                  <a:effectLst>
                    <a:outerShdw blurRad="63500" sx="101000" sy="101000" algn="ctr" rotWithShape="0">
                      <a:prstClr val="black">
                        <a:alpha val="40000"/>
                      </a:prstClr>
                    </a:outerShdw>
                  </a:effectLst>
                  <a:cs typeface="+mn-ea"/>
                  <a:sym typeface="+mn-lt"/>
                </a:rPr>
                <a:t>01</a:t>
              </a:r>
              <a:endParaRPr lang="zh-CN" altLang="en-US" sz="23900" dirty="0">
                <a:solidFill>
                  <a:srgbClr val="10507E"/>
                </a:solidFill>
                <a:effectLst>
                  <a:outerShdw blurRad="63500" sx="101000" sy="101000" algn="ctr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42506" y="2474962"/>
            <a:ext cx="7196455" cy="1142621"/>
            <a:chOff x="5563631" y="2617371"/>
            <a:chExt cx="7196455" cy="1142621"/>
          </a:xfrm>
        </p:grpSpPr>
        <p:sp>
          <p:nvSpPr>
            <p:cNvPr id="16" name="文本框 15"/>
            <p:cNvSpPr txBox="1"/>
            <p:nvPr/>
          </p:nvSpPr>
          <p:spPr>
            <a:xfrm>
              <a:off x="5563631" y="2617371"/>
              <a:ext cx="719645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课题背景及研究</a:t>
              </a:r>
              <a:r>
                <a:rPr lang="zh-CN" altLang="en-US" sz="6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意义</a:t>
              </a:r>
              <a:endPara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862081" y="3506076"/>
              <a:ext cx="64779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 dirty="0">
                  <a:cs typeface="+mn-ea"/>
                  <a:sym typeface="+mn-lt"/>
                </a:rPr>
                <a:t>RESEARCH BACKGROUND AND CURRENT SITUATION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</p:grpSp>
      <p:sp>
        <p:nvSpPr>
          <p:cNvPr id="19" name="圆: 空心 18"/>
          <p:cNvSpPr/>
          <p:nvPr/>
        </p:nvSpPr>
        <p:spPr>
          <a:xfrm>
            <a:off x="10808543" y="5670073"/>
            <a:ext cx="2766913" cy="2766913"/>
          </a:xfrm>
          <a:prstGeom prst="donut">
            <a:avLst/>
          </a:prstGeom>
          <a:solidFill>
            <a:srgbClr val="105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420">
        <p:random/>
      </p:transition>
    </mc:Choice>
    <mc:Fallback>
      <p:transition spd="slow" advTm="242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3465" cy="769441"/>
            <a:chOff x="145646" y="165322"/>
            <a:chExt cx="4863465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863465" cy="769441"/>
              <a:chOff x="107546" y="317722"/>
              <a:chExt cx="4863465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546" y="317722"/>
                <a:ext cx="3974465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cs typeface="+mn-ea"/>
                    <a:sym typeface="+mn-lt"/>
                  </a:rPr>
                  <a:t>课题背景及</a:t>
                </a:r>
                <a:r>
                  <a:rPr lang="zh-CN" altLang="en-US" sz="3200" dirty="0">
                    <a:cs typeface="+mn-ea"/>
                    <a:sym typeface="+mn-lt"/>
                  </a:rPr>
                  <a:t>研究意义</a:t>
                </a:r>
                <a:endParaRPr lang="zh-CN" alt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01.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1000" y="1232535"/>
            <a:ext cx="2626995" cy="9029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4000"/>
              <a:t>课题背景</a:t>
            </a:r>
            <a:endParaRPr lang="zh-CN" altLang="en-US" sz="4000"/>
          </a:p>
        </p:txBody>
      </p:sp>
      <p:sp>
        <p:nvSpPr>
          <p:cNvPr id="3" name="流程图: 过程 2"/>
          <p:cNvSpPr/>
          <p:nvPr/>
        </p:nvSpPr>
        <p:spPr>
          <a:xfrm>
            <a:off x="381000" y="2619375"/>
            <a:ext cx="11218545" cy="2710180"/>
          </a:xfrm>
          <a:prstGeom prst="flowChartProcess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en-US" altLang="zh-CN" sz="2800"/>
              <a:t>     </a:t>
            </a:r>
            <a:r>
              <a:rPr lang="zh-CN" altLang="en-US" sz="2000"/>
              <a:t>近年来，移动互联网技术飞速发展，智能手机的普及使得人们的生活和工作方式发生了巨大变化。即时通讯应用作为人们日常沟通交流的重要工具，在社交、工作、学习等各个领域都发挥着至关重要的作用。人们对于即时通讯的需求也日益多样化和个性化，不仅要求能够实现文字、语音、图片等多种形式的信息交流，还希望具备高效稳定的性能、丰富的社交互动功能以及良好的跨平台使用体验。</a:t>
            </a:r>
            <a:endParaRPr lang="zh-CN" altLang="en-US" sz="2000"/>
          </a:p>
          <a:p>
            <a:pPr indent="457200" algn="l" fontAlgn="auto"/>
            <a:r>
              <a:rPr lang="zh-CN" altLang="en-US" sz="2000"/>
              <a:t>随着移动应用市场的不断扩大，企业和开发者面临着在多个平台（如</a:t>
            </a:r>
            <a:r>
              <a:rPr lang="en-US" altLang="zh-CN" sz="2000"/>
              <a:t> iOS</a:t>
            </a:r>
            <a:r>
              <a:rPr lang="zh-CN" altLang="en-US" sz="2000"/>
              <a:t>、</a:t>
            </a:r>
            <a:r>
              <a:rPr lang="en-US" altLang="zh-CN" sz="2000"/>
              <a:t>Android</a:t>
            </a:r>
            <a:r>
              <a:rPr lang="zh-CN" altLang="en-US" sz="2000"/>
              <a:t>、</a:t>
            </a:r>
            <a:r>
              <a:rPr lang="en-US" altLang="zh-CN" sz="2000"/>
              <a:t>Web </a:t>
            </a:r>
            <a:r>
              <a:rPr lang="zh-CN" altLang="en-US" sz="2000"/>
              <a:t>等）上开发和维护应用的挑战。传统的开发方式需要针对不同平台分别进行开发，这不仅增加了开发成本和时间，还难以保证各平台之间的用户体验一致性。因此，跨平台开发技术成为了一种趋势，能够帮助开发者更高效地开发出多平台兼容的应用程序。</a:t>
            </a:r>
            <a:endParaRPr lang="zh-CN" altLang="en-US" sz="2000"/>
          </a:p>
          <a:p>
            <a:pPr indent="457200" algn="l" fontAlgn="auto"/>
            <a:r>
              <a:rPr lang="zh-CN" altLang="en-US" sz="2000"/>
              <a:t>虽然市场上已经存在许多知名的即时通讯应用，但仍然存在一些不足之处。例如，部分应用在功能上过于复杂，导致操作不够简洁；一些应用在跨平台使用时存在兼容性问题，影响用户体验；还有一些应用在安全性和隐私保护方面存在隐患。因此，开发一款功能实用、操作便捷、跨平台性能良好且安全可靠的即时通讯应用具有重要的现实意义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270">
        <p:random/>
      </p:transition>
    </mc:Choice>
    <mc:Fallback>
      <p:transition spd="slow" advTm="227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9470838" y="1407828"/>
            <a:ext cx="2123638" cy="2181984"/>
            <a:chOff x="8329108" y="1359568"/>
            <a:chExt cx="2123638" cy="2181984"/>
          </a:xfrm>
        </p:grpSpPr>
        <p:grpSp>
          <p:nvGrpSpPr>
            <p:cNvPr id="26" name="组合 25"/>
            <p:cNvGrpSpPr/>
            <p:nvPr/>
          </p:nvGrpSpPr>
          <p:grpSpPr>
            <a:xfrm>
              <a:off x="8329108" y="1359568"/>
              <a:ext cx="2123638" cy="2181984"/>
              <a:chOff x="8329108" y="1359568"/>
              <a:chExt cx="2123638" cy="2181984"/>
            </a:xfrm>
          </p:grpSpPr>
          <p:sp>
            <p:nvSpPr>
              <p:cNvPr id="21" name="泪滴形 20"/>
              <p:cNvSpPr/>
              <p:nvPr/>
            </p:nvSpPr>
            <p:spPr>
              <a:xfrm rot="13113405">
                <a:off x="8329108" y="1440101"/>
                <a:ext cx="2101451" cy="2101451"/>
              </a:xfrm>
              <a:prstGeom prst="teardrop">
                <a:avLst/>
              </a:prstGeom>
              <a:solidFill>
                <a:srgbClr val="69C0E1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9423422" y="1359568"/>
                <a:ext cx="1029324" cy="721895"/>
                <a:chOff x="9423422" y="1359568"/>
                <a:chExt cx="1029324" cy="721895"/>
              </a:xfrm>
            </p:grpSpPr>
            <p:sp>
              <p:nvSpPr>
                <p:cNvPr id="22" name="椭圆 21"/>
                <p:cNvSpPr/>
                <p:nvPr/>
              </p:nvSpPr>
              <p:spPr>
                <a:xfrm>
                  <a:off x="9577137" y="1359568"/>
                  <a:ext cx="721895" cy="721895"/>
                </a:xfrm>
                <a:prstGeom prst="ellipse">
                  <a:avLst/>
                </a:prstGeom>
                <a:solidFill>
                  <a:srgbClr val="10507E"/>
                </a:solidFill>
                <a:ln w="349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9423422" y="1458905"/>
                  <a:ext cx="102932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01</a:t>
                  </a:r>
                  <a:endParaRPr lang="zh-CN" altLang="en-US" sz="28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751157" y="1928979"/>
              <a:ext cx="1186927" cy="1194253"/>
            </a:xfrm>
            <a:prstGeom prst="rect">
              <a:avLst/>
            </a:prstGeom>
          </p:spPr>
        </p:pic>
      </p:grpSp>
      <p:sp>
        <p:nvSpPr>
          <p:cNvPr id="2" name="矩形 1"/>
          <p:cNvSpPr/>
          <p:nvPr/>
        </p:nvSpPr>
        <p:spPr>
          <a:xfrm>
            <a:off x="608965" y="1977390"/>
            <a:ext cx="8368030" cy="3661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indent="457200" algn="l" fontAlgn="auto"/>
            <a:r>
              <a:rPr lang="en-US" altLang="zh-CN" sz="2400"/>
              <a:t>WhatsApp</a:t>
            </a:r>
            <a:r>
              <a:rPr lang="zh-CN" altLang="en-US" sz="2400"/>
              <a:t>、</a:t>
            </a:r>
            <a:r>
              <a:rPr lang="en-US" altLang="zh-CN" sz="2400"/>
              <a:t>Facebook Messenger</a:t>
            </a:r>
            <a:r>
              <a:rPr lang="zh-CN" altLang="en-US" sz="2400"/>
              <a:t>、</a:t>
            </a:r>
            <a:r>
              <a:rPr lang="en-US" altLang="zh-CN" sz="2400"/>
              <a:t>Telegram </a:t>
            </a:r>
            <a:r>
              <a:rPr lang="zh-CN" altLang="en-US" sz="2400"/>
              <a:t>和</a:t>
            </a:r>
            <a:r>
              <a:rPr lang="en-US" altLang="zh-CN" sz="2400"/>
              <a:t> LINE </a:t>
            </a:r>
            <a:r>
              <a:rPr lang="zh-CN" altLang="en-US" sz="2400"/>
              <a:t>等在国际市场上拥有庞大用户群体。</a:t>
            </a:r>
            <a:r>
              <a:rPr lang="en-US" altLang="zh-CN" sz="2400"/>
              <a:t>WhatsApp </a:t>
            </a:r>
            <a:r>
              <a:rPr lang="zh-CN" altLang="en-US" sz="2400"/>
              <a:t>凭借</a:t>
            </a:r>
            <a:r>
              <a:rPr lang="en-US" altLang="zh-CN" sz="2400"/>
              <a:t> Facebook </a:t>
            </a:r>
            <a:r>
              <a:rPr lang="zh-CN" altLang="en-US" sz="2400"/>
              <a:t>的推广和自身简洁易用的特点，在欧美、南美、非洲等地区广泛使用，拥有数十亿用户。</a:t>
            </a:r>
            <a:r>
              <a:rPr lang="en-US" altLang="zh-CN" sz="2400"/>
              <a:t>Facebook Messenger </a:t>
            </a:r>
            <a:r>
              <a:rPr lang="zh-CN" altLang="en-US" sz="2400"/>
              <a:t>与社交平台</a:t>
            </a:r>
            <a:r>
              <a:rPr lang="en-US" altLang="zh-CN" sz="2400"/>
              <a:t> Facebook </a:t>
            </a:r>
            <a:r>
              <a:rPr lang="zh-CN" altLang="en-US" sz="2400"/>
              <a:t>深度整合，方便用户在社交网络基础上进行即时通讯。</a:t>
            </a:r>
            <a:r>
              <a:rPr lang="en-US" altLang="zh-CN" sz="2400"/>
              <a:t>Telegram </a:t>
            </a:r>
            <a:r>
              <a:rPr lang="zh-CN" altLang="en-US" sz="2400"/>
              <a:t>以注重隐私保护和强大的群组功能吸引了大量用户，尤其在一些对隐私较为敏感的地区和特定社群中很受欢迎。</a:t>
            </a:r>
            <a:r>
              <a:rPr lang="en-US" altLang="zh-CN" sz="2400"/>
              <a:t>LINE </a:t>
            </a:r>
            <a:r>
              <a:rPr lang="zh-CN" altLang="en-US" sz="2400"/>
              <a:t>则在日本、韩国等亚洲国家占据重要市场份额，除通讯外，还提供丰富的内容服务，如游戏、表情商店等。</a:t>
            </a:r>
            <a:endParaRPr lang="zh-CN" altLang="en-US" sz="2400"/>
          </a:p>
          <a:p>
            <a:pPr algn="l" fontAlgn="auto"/>
            <a:endParaRPr lang="zh-CN" altLang="en-US" sz="2400"/>
          </a:p>
        </p:txBody>
      </p:sp>
      <p:grpSp>
        <p:nvGrpSpPr>
          <p:cNvPr id="19" name="组合 18"/>
          <p:cNvGrpSpPr/>
          <p:nvPr/>
        </p:nvGrpSpPr>
        <p:grpSpPr>
          <a:xfrm>
            <a:off x="244706" y="165322"/>
            <a:ext cx="5231765" cy="769441"/>
            <a:chOff x="145646" y="165322"/>
            <a:chExt cx="5231765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5231765" cy="769441"/>
              <a:chOff x="107546" y="317722"/>
              <a:chExt cx="5231765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546" y="317722"/>
                <a:ext cx="4342765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cs typeface="+mn-ea"/>
                    <a:sym typeface="+mn-lt"/>
                  </a:rPr>
                  <a:t>课题背景及研究意义</a:t>
                </a:r>
                <a:endParaRPr lang="zh-CN" alt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01.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17525" y="1014095"/>
            <a:ext cx="32823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国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外研究现状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270">
        <p:random/>
      </p:transition>
    </mc:Choice>
    <mc:Fallback>
      <p:transition spd="slow" advTm="227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3465" cy="769441"/>
            <a:chOff x="145646" y="165322"/>
            <a:chExt cx="4863465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863465" cy="769441"/>
              <a:chOff x="107546" y="317722"/>
              <a:chExt cx="4863465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546" y="317722"/>
                <a:ext cx="3974465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cs typeface="+mn-ea"/>
                    <a:sym typeface="+mn-lt"/>
                  </a:rPr>
                  <a:t>课题背景及研究意义</a:t>
                </a:r>
                <a:endParaRPr lang="zh-CN" alt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01.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 rot="0">
            <a:off x="244703" y="2278005"/>
            <a:ext cx="2305418" cy="2101451"/>
            <a:chOff x="1340078" y="3969010"/>
            <a:chExt cx="2305418" cy="2101451"/>
          </a:xfrm>
        </p:grpSpPr>
        <p:sp>
          <p:nvSpPr>
            <p:cNvPr id="38" name="泪滴形 37"/>
            <p:cNvSpPr/>
            <p:nvPr/>
          </p:nvSpPr>
          <p:spPr>
            <a:xfrm rot="2660510">
              <a:off x="1544045" y="3969010"/>
              <a:ext cx="2101451" cy="2101451"/>
            </a:xfrm>
            <a:prstGeom prst="teardrop">
              <a:avLst/>
            </a:prstGeom>
            <a:solidFill>
              <a:srgbClr val="69C0E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340078" y="3990338"/>
              <a:ext cx="1029324" cy="721895"/>
              <a:chOff x="1340078" y="3990338"/>
              <a:chExt cx="1029324" cy="721895"/>
            </a:xfrm>
          </p:grpSpPr>
          <p:sp>
            <p:nvSpPr>
              <p:cNvPr id="40" name="椭圆 39"/>
              <p:cNvSpPr/>
              <p:nvPr/>
            </p:nvSpPr>
            <p:spPr>
              <a:xfrm rot="11026152">
                <a:off x="1493793" y="3990338"/>
                <a:ext cx="721895" cy="721895"/>
              </a:xfrm>
              <a:prstGeom prst="ellipse">
                <a:avLst/>
              </a:prstGeom>
              <a:solidFill>
                <a:srgbClr val="10507E"/>
              </a:solidFill>
              <a:ln w="349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340078" y="4089675"/>
                <a:ext cx="10293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cs typeface="+mn-ea"/>
                    <a:sym typeface="+mn-lt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38636" y="4656973"/>
              <a:ext cx="968539" cy="827549"/>
            </a:xfrm>
            <a:prstGeom prst="rect">
              <a:avLst/>
            </a:prstGeom>
          </p:spPr>
        </p:pic>
      </p:grpSp>
      <p:sp>
        <p:nvSpPr>
          <p:cNvPr id="2" name="矩形 1"/>
          <p:cNvSpPr/>
          <p:nvPr/>
        </p:nvSpPr>
        <p:spPr>
          <a:xfrm>
            <a:off x="872490" y="1014095"/>
            <a:ext cx="3428365" cy="91249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/>
              <a:t>国内研究现状</a:t>
            </a:r>
            <a:endParaRPr lang="zh-CN" altLang="en-US" sz="3200"/>
          </a:p>
        </p:txBody>
      </p:sp>
      <p:sp>
        <p:nvSpPr>
          <p:cNvPr id="3" name="矩形 2"/>
          <p:cNvSpPr/>
          <p:nvPr/>
        </p:nvSpPr>
        <p:spPr>
          <a:xfrm>
            <a:off x="3143885" y="1842770"/>
            <a:ext cx="8590915" cy="35293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zh-CN" altLang="en-US" sz="2800"/>
              <a:t>国内即时通讯市场呈现出寡头垄断的局面，微信和</a:t>
            </a:r>
            <a:r>
              <a:rPr lang="en-US" altLang="zh-CN" sz="2800"/>
              <a:t> QQ </a:t>
            </a:r>
            <a:r>
              <a:rPr lang="zh-CN" altLang="en-US" sz="2800"/>
              <a:t>凭借庞大的用户基础和丰富的功能生态占据主导地位。微信作为国民级社交应用，不仅满足了人们日常的通讯需求，还集成了支付、购物、生活服务等多种功能，成为了一个综合性的生活平台。</a:t>
            </a:r>
            <a:r>
              <a:rPr lang="en-US" altLang="zh-CN" sz="2800"/>
              <a:t>QQ </a:t>
            </a:r>
            <a:r>
              <a:rPr lang="zh-CN" altLang="en-US" sz="2800"/>
              <a:t>则在年轻用户群体中拥有较高的人气，其丰富的个性化功能和社交玩法深受年轻人喜爱。</a:t>
            </a:r>
            <a:endParaRPr lang="zh-CN" altLang="en-US" sz="28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270">
        <p:random/>
      </p:transition>
    </mc:Choice>
    <mc:Fallback>
      <p:transition spd="slow" advTm="227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1076325"/>
            <a:chOff x="145646" y="165322"/>
            <a:chExt cx="4862917" cy="1076325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795520" cy="1076325"/>
              <a:chOff x="107546" y="317722"/>
              <a:chExt cx="4795520" cy="1076325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546" y="317722"/>
                <a:ext cx="3906520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cs typeface="+mn-ea"/>
                    <a:sym typeface="+mn-lt"/>
                  </a:rPr>
                  <a:t>课题背景及研究意义</a:t>
                </a:r>
                <a:endParaRPr lang="zh-CN" alt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01.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 rot="0">
            <a:off x="244703" y="2278005"/>
            <a:ext cx="2305418" cy="2101451"/>
            <a:chOff x="1340078" y="3969010"/>
            <a:chExt cx="2305418" cy="2101451"/>
          </a:xfrm>
        </p:grpSpPr>
        <p:sp>
          <p:nvSpPr>
            <p:cNvPr id="38" name="泪滴形 37"/>
            <p:cNvSpPr/>
            <p:nvPr/>
          </p:nvSpPr>
          <p:spPr>
            <a:xfrm rot="2660510">
              <a:off x="1544045" y="3969010"/>
              <a:ext cx="2101451" cy="2101451"/>
            </a:xfrm>
            <a:prstGeom prst="teardrop">
              <a:avLst/>
            </a:prstGeom>
            <a:solidFill>
              <a:srgbClr val="69C0E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340078" y="3990338"/>
              <a:ext cx="1029324" cy="721895"/>
              <a:chOff x="1340078" y="3990338"/>
              <a:chExt cx="1029324" cy="721895"/>
            </a:xfrm>
          </p:grpSpPr>
          <p:sp>
            <p:nvSpPr>
              <p:cNvPr id="40" name="椭圆 39"/>
              <p:cNvSpPr/>
              <p:nvPr/>
            </p:nvSpPr>
            <p:spPr>
              <a:xfrm rot="11026152">
                <a:off x="1493793" y="3990338"/>
                <a:ext cx="721895" cy="721895"/>
              </a:xfrm>
              <a:prstGeom prst="ellipse">
                <a:avLst/>
              </a:prstGeom>
              <a:solidFill>
                <a:srgbClr val="10507E"/>
              </a:solidFill>
              <a:ln w="349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340078" y="4089675"/>
                <a:ext cx="1029324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cs typeface="+mn-ea"/>
                    <a:sym typeface="+mn-lt"/>
                  </a:rPr>
                  <a:t>03</a:t>
                </a:r>
                <a:endParaRPr lang="zh-CN" altLang="en-US" sz="28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38636" y="4656973"/>
              <a:ext cx="968539" cy="827549"/>
            </a:xfrm>
            <a:prstGeom prst="rect">
              <a:avLst/>
            </a:prstGeom>
          </p:spPr>
        </p:pic>
      </p:grpSp>
      <p:sp>
        <p:nvSpPr>
          <p:cNvPr id="2" name="矩形 1"/>
          <p:cNvSpPr/>
          <p:nvPr/>
        </p:nvSpPr>
        <p:spPr>
          <a:xfrm>
            <a:off x="872490" y="1014095"/>
            <a:ext cx="3428365" cy="91249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/>
              <a:t>研究</a:t>
            </a:r>
            <a:r>
              <a:rPr lang="zh-CN" altLang="en-US" sz="3200"/>
              <a:t>意义</a:t>
            </a:r>
            <a:endParaRPr lang="zh-CN" altLang="en-US" sz="3200"/>
          </a:p>
        </p:txBody>
      </p:sp>
      <p:sp>
        <p:nvSpPr>
          <p:cNvPr id="3" name="矩形 2"/>
          <p:cNvSpPr/>
          <p:nvPr/>
        </p:nvSpPr>
        <p:spPr>
          <a:xfrm>
            <a:off x="3143885" y="2276475"/>
            <a:ext cx="8590915" cy="35293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indent="457200" algn="l" fontAlgn="auto"/>
            <a:r>
              <a:rPr lang="zh-CN" altLang="en-US" sz="2400"/>
              <a:t>基于</a:t>
            </a:r>
            <a:r>
              <a:rPr lang="en-US" altLang="zh-CN" sz="2400"/>
              <a:t> uni - app </a:t>
            </a:r>
            <a:r>
              <a:rPr lang="zh-CN" altLang="en-US" sz="2400"/>
              <a:t>框架开发即时通讯项目，能够为跨平台开发领域提供新的实践案例和理论参考。探索在不同平台上实现即时通讯功能的最佳实践，有助于完善跨平台开发的技术体系和方法论。</a:t>
            </a:r>
            <a:endParaRPr lang="zh-CN" altLang="en-US" sz="2400"/>
          </a:p>
          <a:p>
            <a:pPr indent="457200" algn="l" fontAlgn="auto"/>
            <a:r>
              <a:rPr lang="zh-CN" altLang="en-US" sz="2400"/>
              <a:t>深入研究即时通讯的核心技术，如实时消息传输、消息存储与管理、用户身份认证等，为该领域的学术研究提供新的思路和方向。通过项目实践，验证和改进现有即时通讯技术的理论模型，推动即时通讯技术的发展。</a:t>
            </a:r>
            <a:endParaRPr lang="zh-CN" altLang="en-US" sz="2400"/>
          </a:p>
          <a:p>
            <a:pPr indent="457200" algn="l" fontAlgn="auto"/>
            <a:r>
              <a:rPr lang="zh-CN" altLang="en-US" sz="2400"/>
              <a:t>实现跨平台的即时通讯应用，用户可以在不同的设备和操作系统上无缝使用，获得一致的用户体验。同时，简洁易用的界面设计和丰富的功能模块，能够满足用户多样化的沟通需求，提升用户的满意度和忠诚度。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270">
        <p:random/>
      </p:transition>
    </mc:Choice>
    <mc:Fallback>
      <p:transition spd="slow" advTm="227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-2846530" y="-1770744"/>
            <a:ext cx="8399978" cy="7688943"/>
            <a:chOff x="-2846530" y="-1770744"/>
            <a:chExt cx="8399978" cy="7688943"/>
          </a:xfrm>
        </p:grpSpPr>
        <p:sp>
          <p:nvSpPr>
            <p:cNvPr id="2" name="椭圆 1"/>
            <p:cNvSpPr/>
            <p:nvPr/>
          </p:nvSpPr>
          <p:spPr>
            <a:xfrm>
              <a:off x="-2846530" y="-1770744"/>
              <a:ext cx="7688943" cy="7688943"/>
            </a:xfrm>
            <a:prstGeom prst="ellipse">
              <a:avLst/>
            </a:prstGeom>
            <a:solidFill>
              <a:srgbClr val="D8EFFD"/>
            </a:solidFill>
            <a:ln>
              <a:noFill/>
            </a:ln>
            <a:effectLst>
              <a:outerShdw blurRad="2794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-1214742" y="1161142"/>
              <a:ext cx="6768190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3900" dirty="0">
                  <a:solidFill>
                    <a:srgbClr val="10507E"/>
                  </a:solidFill>
                  <a:effectLst>
                    <a:outerShdw blurRad="63500" sx="101000" sy="101000" algn="ctr" rotWithShape="0">
                      <a:prstClr val="black">
                        <a:alpha val="40000"/>
                      </a:prstClr>
                    </a:outerShdw>
                  </a:effectLst>
                  <a:cs typeface="+mn-ea"/>
                  <a:sym typeface="+mn-lt"/>
                </a:rPr>
                <a:t>02</a:t>
              </a:r>
              <a:endParaRPr lang="zh-CN" altLang="en-US" sz="23900" dirty="0">
                <a:solidFill>
                  <a:srgbClr val="10507E"/>
                </a:solidFill>
                <a:effectLst>
                  <a:outerShdw blurRad="63500" sx="101000" sy="101000" algn="ctr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140956" y="2474962"/>
            <a:ext cx="6477909" cy="1142621"/>
            <a:chOff x="5862081" y="2617371"/>
            <a:chExt cx="6477909" cy="1142621"/>
          </a:xfrm>
        </p:grpSpPr>
        <p:sp>
          <p:nvSpPr>
            <p:cNvPr id="16" name="文本框 15"/>
            <p:cNvSpPr txBox="1"/>
            <p:nvPr/>
          </p:nvSpPr>
          <p:spPr>
            <a:xfrm>
              <a:off x="5862082" y="2617371"/>
              <a:ext cx="6006236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系统功能</a:t>
              </a:r>
              <a:endPara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862081" y="3506076"/>
              <a:ext cx="64779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 dirty="0">
                  <a:cs typeface="+mn-ea"/>
                  <a:sym typeface="+mn-lt"/>
                </a:rPr>
                <a:t>RESEARCH BACKGROUND AND CURRENT SITUATION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</p:grpSp>
      <p:sp>
        <p:nvSpPr>
          <p:cNvPr id="19" name="圆: 空心 18"/>
          <p:cNvSpPr/>
          <p:nvPr/>
        </p:nvSpPr>
        <p:spPr>
          <a:xfrm>
            <a:off x="10808543" y="5670073"/>
            <a:ext cx="2766913" cy="2766913"/>
          </a:xfrm>
          <a:prstGeom prst="donut">
            <a:avLst/>
          </a:prstGeom>
          <a:solidFill>
            <a:srgbClr val="105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094">
        <p:random/>
      </p:transition>
    </mc:Choice>
    <mc:Fallback>
      <p:transition spd="slow" advTm="2094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系统功能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02.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6" name="组合 65"/>
          <p:cNvGrpSpPr/>
          <p:nvPr>
            <p:custDataLst>
              <p:tags r:id="rId1"/>
            </p:custDataLst>
          </p:nvPr>
        </p:nvGrpSpPr>
        <p:grpSpPr>
          <a:xfrm>
            <a:off x="285723" y="1915838"/>
            <a:ext cx="2765606" cy="3656725"/>
            <a:chOff x="285723" y="1915838"/>
            <a:chExt cx="2765606" cy="3656725"/>
          </a:xfrm>
        </p:grpSpPr>
        <p:grpSp>
          <p:nvGrpSpPr>
            <p:cNvPr id="12" name="组合 11"/>
            <p:cNvGrpSpPr/>
            <p:nvPr/>
          </p:nvGrpSpPr>
          <p:grpSpPr>
            <a:xfrm>
              <a:off x="285723" y="1915838"/>
              <a:ext cx="2765606" cy="3656725"/>
              <a:chOff x="291057" y="1924050"/>
              <a:chExt cx="2765606" cy="3656725"/>
            </a:xfrm>
          </p:grpSpPr>
          <p:sp>
            <p:nvSpPr>
              <p:cNvPr id="2" name="矩形 1"/>
              <p:cNvSpPr/>
              <p:nvPr>
                <p:custDataLst>
                  <p:tags r:id="rId2"/>
                </p:custDataLst>
              </p:nvPr>
            </p:nvSpPr>
            <p:spPr>
              <a:xfrm>
                <a:off x="547485" y="1985585"/>
                <a:ext cx="2509178" cy="3595190"/>
              </a:xfrm>
              <a:prstGeom prst="rect">
                <a:avLst/>
              </a:prstGeom>
              <a:noFill/>
              <a:ln>
                <a:solidFill>
                  <a:srgbClr val="1050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291057" y="1924050"/>
                <a:ext cx="801939" cy="595936"/>
                <a:chOff x="291057" y="1924050"/>
                <a:chExt cx="801939" cy="595936"/>
              </a:xfrm>
            </p:grpSpPr>
            <p:sp>
              <p:nvSpPr>
                <p:cNvPr id="4" name="梯形 3"/>
                <p:cNvSpPr/>
                <p:nvPr>
                  <p:custDataLst>
                    <p:tags r:id="rId3"/>
                  </p:custDataLst>
                </p:nvPr>
              </p:nvSpPr>
              <p:spPr>
                <a:xfrm rot="18953237">
                  <a:off x="291057" y="1990695"/>
                  <a:ext cx="769390" cy="232809"/>
                </a:xfrm>
                <a:prstGeom prst="trapezoid">
                  <a:avLst>
                    <a:gd name="adj" fmla="val 106174"/>
                  </a:avLst>
                </a:prstGeom>
                <a:solidFill>
                  <a:srgbClr val="1050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" name="等腰三角形 4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964445" y="1924050"/>
                  <a:ext cx="128551" cy="61535"/>
                </a:xfrm>
                <a:prstGeom prst="triangle">
                  <a:avLst/>
                </a:prstGeom>
                <a:solidFill>
                  <a:srgbClr val="0A314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等腰三角形 20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450081" y="2424943"/>
                  <a:ext cx="128551" cy="61535"/>
                </a:xfrm>
                <a:prstGeom prst="triangle">
                  <a:avLst/>
                </a:prstGeom>
                <a:solidFill>
                  <a:srgbClr val="0A314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15" name="图片 1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439513" y="2223250"/>
              <a:ext cx="714454" cy="726496"/>
            </a:xfrm>
            <a:prstGeom prst="rect">
              <a:avLst/>
            </a:prstGeom>
          </p:spPr>
        </p:pic>
        <p:sp>
          <p:nvSpPr>
            <p:cNvPr id="51" name="文本框 50"/>
            <p:cNvSpPr txBox="1"/>
            <p:nvPr>
              <p:custDataLst>
                <p:tags r:id="rId8"/>
              </p:custDataLst>
            </p:nvPr>
          </p:nvSpPr>
          <p:spPr>
            <a:xfrm>
              <a:off x="670418" y="3116273"/>
              <a:ext cx="2056702" cy="1116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用户注册与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登录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用户信息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修改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好友添加和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删除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好友设置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843526" y="4996439"/>
              <a:ext cx="1876225" cy="310310"/>
              <a:chOff x="843526" y="4996439"/>
              <a:chExt cx="1876225" cy="310310"/>
            </a:xfrm>
          </p:grpSpPr>
          <p:sp>
            <p:nvSpPr>
              <p:cNvPr id="53" name="矩形: 圆角 52"/>
              <p:cNvSpPr/>
              <p:nvPr>
                <p:custDataLst>
                  <p:tags r:id="rId9"/>
                </p:custDataLst>
              </p:nvPr>
            </p:nvSpPr>
            <p:spPr>
              <a:xfrm>
                <a:off x="1007552" y="4996439"/>
                <a:ext cx="1567521" cy="310310"/>
              </a:xfrm>
              <a:prstGeom prst="roundRect">
                <a:avLst>
                  <a:gd name="adj" fmla="val 50000"/>
                </a:avLst>
              </a:prstGeom>
              <a:solidFill>
                <a:srgbClr val="1050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文本框 5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43526" y="4996439"/>
                <a:ext cx="187622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cs typeface="+mn-ea"/>
                    <a:sym typeface="+mn-lt"/>
                  </a:rPr>
                  <a:t>用户</a:t>
                </a:r>
                <a:r>
                  <a:rPr lang="zh-CN" altLang="en-US" sz="1400" dirty="0">
                    <a:solidFill>
                      <a:schemeClr val="bg1"/>
                    </a:solidFill>
                    <a:cs typeface="+mn-ea"/>
                    <a:sym typeface="+mn-lt"/>
                  </a:rPr>
                  <a:t>管理</a:t>
                </a:r>
                <a:endParaRPr lang="zh-CN" altLang="en-US" sz="1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7" name="组合 66"/>
          <p:cNvGrpSpPr/>
          <p:nvPr>
            <p:custDataLst>
              <p:tags r:id="rId11"/>
            </p:custDataLst>
          </p:nvPr>
        </p:nvGrpSpPr>
        <p:grpSpPr>
          <a:xfrm>
            <a:off x="3169639" y="1915838"/>
            <a:ext cx="2765606" cy="3656725"/>
            <a:chOff x="3169639" y="1915838"/>
            <a:chExt cx="2765606" cy="3656725"/>
          </a:xfrm>
        </p:grpSpPr>
        <p:grpSp>
          <p:nvGrpSpPr>
            <p:cNvPr id="22" name="组合 21"/>
            <p:cNvGrpSpPr/>
            <p:nvPr/>
          </p:nvGrpSpPr>
          <p:grpSpPr>
            <a:xfrm>
              <a:off x="3169639" y="1915838"/>
              <a:ext cx="2765606" cy="3656725"/>
              <a:chOff x="291057" y="1924050"/>
              <a:chExt cx="2765606" cy="3656725"/>
            </a:xfrm>
          </p:grpSpPr>
          <p:sp>
            <p:nvSpPr>
              <p:cNvPr id="23" name="矩形 22"/>
              <p:cNvSpPr/>
              <p:nvPr>
                <p:custDataLst>
                  <p:tags r:id="rId12"/>
                </p:custDataLst>
              </p:nvPr>
            </p:nvSpPr>
            <p:spPr>
              <a:xfrm>
                <a:off x="547485" y="1985585"/>
                <a:ext cx="2509178" cy="3595190"/>
              </a:xfrm>
              <a:prstGeom prst="rect">
                <a:avLst/>
              </a:prstGeom>
              <a:noFill/>
              <a:ln>
                <a:solidFill>
                  <a:srgbClr val="1050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291057" y="1924050"/>
                <a:ext cx="801939" cy="595936"/>
                <a:chOff x="291057" y="1924050"/>
                <a:chExt cx="801939" cy="595936"/>
              </a:xfrm>
            </p:grpSpPr>
            <p:sp>
              <p:nvSpPr>
                <p:cNvPr id="25" name="梯形 24"/>
                <p:cNvSpPr/>
                <p:nvPr>
                  <p:custDataLst>
                    <p:tags r:id="rId13"/>
                  </p:custDataLst>
                </p:nvPr>
              </p:nvSpPr>
              <p:spPr>
                <a:xfrm rot="18953237">
                  <a:off x="291057" y="1990695"/>
                  <a:ext cx="769390" cy="232809"/>
                </a:xfrm>
                <a:prstGeom prst="trapezoid">
                  <a:avLst>
                    <a:gd name="adj" fmla="val 106174"/>
                  </a:avLst>
                </a:prstGeom>
                <a:solidFill>
                  <a:srgbClr val="1050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等腰三角形 25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964445" y="1924050"/>
                  <a:ext cx="128551" cy="61535"/>
                </a:xfrm>
                <a:prstGeom prst="triangle">
                  <a:avLst/>
                </a:prstGeom>
                <a:solidFill>
                  <a:srgbClr val="0A314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等腰三角形 26"/>
                <p:cNvSpPr/>
                <p:nvPr>
                  <p:custDataLst>
                    <p:tags r:id="rId15"/>
                  </p:custDataLst>
                </p:nvPr>
              </p:nvSpPr>
              <p:spPr>
                <a:xfrm rot="16200000">
                  <a:off x="450081" y="2424943"/>
                  <a:ext cx="128551" cy="61535"/>
                </a:xfrm>
                <a:prstGeom prst="triangle">
                  <a:avLst/>
                </a:prstGeom>
                <a:solidFill>
                  <a:srgbClr val="0A314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41" name="图片 40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4352310" y="2296499"/>
              <a:ext cx="827999" cy="579999"/>
            </a:xfrm>
            <a:prstGeom prst="rect">
              <a:avLst/>
            </a:prstGeom>
          </p:spPr>
        </p:pic>
        <p:sp>
          <p:nvSpPr>
            <p:cNvPr id="50" name="文本框 49"/>
            <p:cNvSpPr txBox="1"/>
            <p:nvPr>
              <p:custDataLst>
                <p:tags r:id="rId18"/>
              </p:custDataLst>
            </p:nvPr>
          </p:nvSpPr>
          <p:spPr>
            <a:xfrm>
              <a:off x="3652305" y="3116273"/>
              <a:ext cx="2056702" cy="603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单聊和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群聊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聊天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方式多样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3777296" y="4996439"/>
              <a:ext cx="1876225" cy="312044"/>
              <a:chOff x="3777296" y="4996439"/>
              <a:chExt cx="1876225" cy="312044"/>
            </a:xfrm>
          </p:grpSpPr>
          <p:sp>
            <p:nvSpPr>
              <p:cNvPr id="54" name="矩形: 圆角 53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93277" y="4996439"/>
                <a:ext cx="1567521" cy="310310"/>
              </a:xfrm>
              <a:prstGeom prst="roundRect">
                <a:avLst>
                  <a:gd name="adj" fmla="val 50000"/>
                </a:avLst>
              </a:prstGeom>
              <a:solidFill>
                <a:srgbClr val="1050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文本框 57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3777296" y="5001778"/>
                <a:ext cx="187622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cs typeface="+mn-ea"/>
                    <a:sym typeface="+mn-lt"/>
                  </a:rPr>
                  <a:t>即时</a:t>
                </a:r>
                <a:r>
                  <a:rPr lang="zh-CN" altLang="en-US" sz="1400" dirty="0">
                    <a:solidFill>
                      <a:schemeClr val="bg1"/>
                    </a:solidFill>
                    <a:cs typeface="+mn-ea"/>
                    <a:sym typeface="+mn-lt"/>
                  </a:rPr>
                  <a:t>通讯</a:t>
                </a:r>
                <a:endParaRPr lang="zh-CN" altLang="en-US" sz="1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8" name="组合 67"/>
          <p:cNvGrpSpPr/>
          <p:nvPr>
            <p:custDataLst>
              <p:tags r:id="rId21"/>
            </p:custDataLst>
          </p:nvPr>
        </p:nvGrpSpPr>
        <p:grpSpPr>
          <a:xfrm>
            <a:off x="6053555" y="1915838"/>
            <a:ext cx="2765606" cy="3656725"/>
            <a:chOff x="6053555" y="1915838"/>
            <a:chExt cx="2765606" cy="3656725"/>
          </a:xfrm>
        </p:grpSpPr>
        <p:grpSp>
          <p:nvGrpSpPr>
            <p:cNvPr id="28" name="组合 27"/>
            <p:cNvGrpSpPr/>
            <p:nvPr/>
          </p:nvGrpSpPr>
          <p:grpSpPr>
            <a:xfrm>
              <a:off x="6053555" y="1915838"/>
              <a:ext cx="2765606" cy="3656725"/>
              <a:chOff x="291057" y="1924050"/>
              <a:chExt cx="2765606" cy="3656725"/>
            </a:xfrm>
          </p:grpSpPr>
          <p:sp>
            <p:nvSpPr>
              <p:cNvPr id="29" name="矩形 28"/>
              <p:cNvSpPr/>
              <p:nvPr>
                <p:custDataLst>
                  <p:tags r:id="rId22"/>
                </p:custDataLst>
              </p:nvPr>
            </p:nvSpPr>
            <p:spPr>
              <a:xfrm>
                <a:off x="547485" y="1985585"/>
                <a:ext cx="2509178" cy="3595190"/>
              </a:xfrm>
              <a:prstGeom prst="rect">
                <a:avLst/>
              </a:prstGeom>
              <a:noFill/>
              <a:ln>
                <a:solidFill>
                  <a:srgbClr val="1050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291057" y="1924050"/>
                <a:ext cx="801939" cy="595936"/>
                <a:chOff x="291057" y="1924050"/>
                <a:chExt cx="801939" cy="595936"/>
              </a:xfrm>
            </p:grpSpPr>
            <p:sp>
              <p:nvSpPr>
                <p:cNvPr id="31" name="梯形 30"/>
                <p:cNvSpPr/>
                <p:nvPr>
                  <p:custDataLst>
                    <p:tags r:id="rId23"/>
                  </p:custDataLst>
                </p:nvPr>
              </p:nvSpPr>
              <p:spPr>
                <a:xfrm rot="18953237">
                  <a:off x="291057" y="1990695"/>
                  <a:ext cx="769390" cy="232809"/>
                </a:xfrm>
                <a:prstGeom prst="trapezoid">
                  <a:avLst>
                    <a:gd name="adj" fmla="val 106174"/>
                  </a:avLst>
                </a:prstGeom>
                <a:solidFill>
                  <a:srgbClr val="1050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等腰三角形 3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964445" y="1924050"/>
                  <a:ext cx="128551" cy="61535"/>
                </a:xfrm>
                <a:prstGeom prst="triangle">
                  <a:avLst/>
                </a:prstGeom>
                <a:solidFill>
                  <a:srgbClr val="0A314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等腰三角形 32"/>
                <p:cNvSpPr/>
                <p:nvPr>
                  <p:custDataLst>
                    <p:tags r:id="rId25"/>
                  </p:custDataLst>
                </p:nvPr>
              </p:nvSpPr>
              <p:spPr>
                <a:xfrm rot="16200000">
                  <a:off x="450081" y="2424943"/>
                  <a:ext cx="128551" cy="61535"/>
                </a:xfrm>
                <a:prstGeom prst="triangle">
                  <a:avLst/>
                </a:prstGeom>
                <a:solidFill>
                  <a:srgbClr val="0A314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43" name="图片 42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7398377" y="2196361"/>
              <a:ext cx="511839" cy="654755"/>
            </a:xfrm>
            <a:prstGeom prst="rect">
              <a:avLst/>
            </a:prstGeom>
          </p:spPr>
        </p:pic>
        <p:sp>
          <p:nvSpPr>
            <p:cNvPr id="49" name="文本框 48"/>
            <p:cNvSpPr txBox="1"/>
            <p:nvPr>
              <p:custDataLst>
                <p:tags r:id="rId28"/>
              </p:custDataLst>
            </p:nvPr>
          </p:nvSpPr>
          <p:spPr>
            <a:xfrm>
              <a:off x="6536221" y="3116273"/>
              <a:ext cx="2056702" cy="1116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创建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群聊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群聊信息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设置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群主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踢人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退出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群聊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6624649" y="4996439"/>
              <a:ext cx="1876225" cy="310310"/>
              <a:chOff x="6624649" y="4996439"/>
              <a:chExt cx="1876225" cy="310310"/>
            </a:xfrm>
          </p:grpSpPr>
          <p:sp>
            <p:nvSpPr>
              <p:cNvPr id="55" name="矩形: 圆角 54"/>
              <p:cNvSpPr/>
              <p:nvPr>
                <p:custDataLst>
                  <p:tags r:id="rId29"/>
                </p:custDataLst>
              </p:nvPr>
            </p:nvSpPr>
            <p:spPr>
              <a:xfrm>
                <a:off x="6779002" y="4996439"/>
                <a:ext cx="1567521" cy="310310"/>
              </a:xfrm>
              <a:prstGeom prst="roundRect">
                <a:avLst>
                  <a:gd name="adj" fmla="val 50000"/>
                </a:avLst>
              </a:prstGeom>
              <a:solidFill>
                <a:srgbClr val="1050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文本框 58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6624649" y="4996439"/>
                <a:ext cx="187622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cs typeface="+mn-ea"/>
                    <a:sym typeface="+mn-lt"/>
                  </a:rPr>
                  <a:t>群组管理模块</a:t>
                </a:r>
                <a:endParaRPr lang="zh-CN" altLang="en-US" sz="1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9" name="组合 68"/>
          <p:cNvGrpSpPr/>
          <p:nvPr>
            <p:custDataLst>
              <p:tags r:id="rId31"/>
            </p:custDataLst>
          </p:nvPr>
        </p:nvGrpSpPr>
        <p:grpSpPr>
          <a:xfrm>
            <a:off x="8937471" y="1915838"/>
            <a:ext cx="2765606" cy="3656725"/>
            <a:chOff x="8937471" y="1915838"/>
            <a:chExt cx="2765606" cy="3656725"/>
          </a:xfrm>
        </p:grpSpPr>
        <p:grpSp>
          <p:nvGrpSpPr>
            <p:cNvPr id="34" name="组合 33"/>
            <p:cNvGrpSpPr/>
            <p:nvPr/>
          </p:nvGrpSpPr>
          <p:grpSpPr>
            <a:xfrm>
              <a:off x="8937471" y="1915838"/>
              <a:ext cx="2765606" cy="3656725"/>
              <a:chOff x="291057" y="1924050"/>
              <a:chExt cx="2765606" cy="3656725"/>
            </a:xfrm>
          </p:grpSpPr>
          <p:sp>
            <p:nvSpPr>
              <p:cNvPr id="35" name="矩形 34"/>
              <p:cNvSpPr/>
              <p:nvPr>
                <p:custDataLst>
                  <p:tags r:id="rId32"/>
                </p:custDataLst>
              </p:nvPr>
            </p:nvSpPr>
            <p:spPr>
              <a:xfrm>
                <a:off x="547485" y="1985585"/>
                <a:ext cx="2509178" cy="3595190"/>
              </a:xfrm>
              <a:prstGeom prst="rect">
                <a:avLst/>
              </a:prstGeom>
              <a:noFill/>
              <a:ln>
                <a:solidFill>
                  <a:srgbClr val="1050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36" name="组合 35"/>
              <p:cNvGrpSpPr/>
              <p:nvPr/>
            </p:nvGrpSpPr>
            <p:grpSpPr>
              <a:xfrm>
                <a:off x="291057" y="1924050"/>
                <a:ext cx="801939" cy="595936"/>
                <a:chOff x="291057" y="1924050"/>
                <a:chExt cx="801939" cy="595936"/>
              </a:xfrm>
            </p:grpSpPr>
            <p:sp>
              <p:nvSpPr>
                <p:cNvPr id="37" name="梯形 36"/>
                <p:cNvSpPr/>
                <p:nvPr>
                  <p:custDataLst>
                    <p:tags r:id="rId33"/>
                  </p:custDataLst>
                </p:nvPr>
              </p:nvSpPr>
              <p:spPr>
                <a:xfrm rot="18953237">
                  <a:off x="291057" y="1990695"/>
                  <a:ext cx="769390" cy="232809"/>
                </a:xfrm>
                <a:prstGeom prst="trapezoid">
                  <a:avLst>
                    <a:gd name="adj" fmla="val 106174"/>
                  </a:avLst>
                </a:prstGeom>
                <a:solidFill>
                  <a:srgbClr val="1050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等腰三角形 37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964445" y="1924050"/>
                  <a:ext cx="128551" cy="61535"/>
                </a:xfrm>
                <a:prstGeom prst="triangle">
                  <a:avLst/>
                </a:prstGeom>
                <a:solidFill>
                  <a:srgbClr val="0A314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等腰三角形 38"/>
                <p:cNvSpPr/>
                <p:nvPr>
                  <p:custDataLst>
                    <p:tags r:id="rId35"/>
                  </p:custDataLst>
                </p:nvPr>
              </p:nvSpPr>
              <p:spPr>
                <a:xfrm rot="16200000">
                  <a:off x="450081" y="2424943"/>
                  <a:ext cx="128551" cy="61535"/>
                </a:xfrm>
                <a:prstGeom prst="triangle">
                  <a:avLst/>
                </a:prstGeom>
                <a:solidFill>
                  <a:srgbClr val="0A314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45" name="图片 44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10159579" y="2222865"/>
              <a:ext cx="577817" cy="577817"/>
            </a:xfrm>
            <a:prstGeom prst="rect">
              <a:avLst/>
            </a:prstGeom>
          </p:spPr>
        </p:pic>
        <p:sp>
          <p:nvSpPr>
            <p:cNvPr id="52" name="文本框 51"/>
            <p:cNvSpPr txBox="1"/>
            <p:nvPr>
              <p:custDataLst>
                <p:tags r:id="rId38"/>
              </p:custDataLst>
            </p:nvPr>
          </p:nvSpPr>
          <p:spPr>
            <a:xfrm>
              <a:off x="9420136" y="3116273"/>
              <a:ext cx="2056702" cy="86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发布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朋友圈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点赞和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评论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朋友圈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列表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9510373" y="4996439"/>
              <a:ext cx="1876225" cy="329061"/>
              <a:chOff x="9510373" y="4996439"/>
              <a:chExt cx="1876225" cy="329061"/>
            </a:xfrm>
          </p:grpSpPr>
          <p:sp>
            <p:nvSpPr>
              <p:cNvPr id="56" name="矩形: 圆角 55"/>
              <p:cNvSpPr/>
              <p:nvPr>
                <p:custDataLst>
                  <p:tags r:id="rId39"/>
                </p:custDataLst>
              </p:nvPr>
            </p:nvSpPr>
            <p:spPr>
              <a:xfrm>
                <a:off x="9664726" y="4996439"/>
                <a:ext cx="1567521" cy="310310"/>
              </a:xfrm>
              <a:prstGeom prst="roundRect">
                <a:avLst>
                  <a:gd name="adj" fmla="val 50000"/>
                </a:avLst>
              </a:prstGeom>
              <a:solidFill>
                <a:srgbClr val="1050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文本框 59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9510373" y="5018795"/>
                <a:ext cx="187622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cs typeface="+mn-ea"/>
                    <a:sym typeface="+mn-lt"/>
                  </a:rPr>
                  <a:t>朋友圈模块</a:t>
                </a:r>
                <a:endParaRPr lang="zh-CN" altLang="en-US" sz="1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custDataLst>
      <p:tags r:id="rId4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352">
        <p:random/>
      </p:transition>
    </mc:Choice>
    <mc:Fallback>
      <p:transition spd="slow" advTm="135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系统功能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02.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141799" y="1988932"/>
            <a:ext cx="1727824" cy="1599722"/>
            <a:chOff x="4141799" y="1829278"/>
            <a:chExt cx="1727824" cy="1599722"/>
          </a:xfrm>
        </p:grpSpPr>
        <p:sp>
          <p:nvSpPr>
            <p:cNvPr id="2" name="矩形: 圆角 1"/>
            <p:cNvSpPr/>
            <p:nvPr/>
          </p:nvSpPr>
          <p:spPr>
            <a:xfrm>
              <a:off x="4345623" y="1905000"/>
              <a:ext cx="1524000" cy="1524000"/>
            </a:xfrm>
            <a:prstGeom prst="roundRect">
              <a:avLst/>
            </a:prstGeom>
            <a:solidFill>
              <a:srgbClr val="69C0E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141799" y="1829278"/>
              <a:ext cx="688011" cy="482522"/>
              <a:chOff x="1340078" y="3990338"/>
              <a:chExt cx="1029324" cy="721895"/>
            </a:xfrm>
          </p:grpSpPr>
          <p:sp>
            <p:nvSpPr>
              <p:cNvPr id="12" name="椭圆 11"/>
              <p:cNvSpPr/>
              <p:nvPr/>
            </p:nvSpPr>
            <p:spPr>
              <a:xfrm rot="11026152">
                <a:off x="1493793" y="3990338"/>
                <a:ext cx="721895" cy="721895"/>
              </a:xfrm>
              <a:prstGeom prst="ellipse">
                <a:avLst/>
              </a:prstGeom>
              <a:solidFill>
                <a:srgbClr val="10507E"/>
              </a:solidFill>
              <a:ln w="349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340078" y="4079729"/>
                <a:ext cx="1029324" cy="598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chemeClr val="bg1"/>
                    </a:solidFill>
                    <a:cs typeface="+mn-ea"/>
                    <a:sym typeface="+mn-lt"/>
                  </a:rPr>
                  <a:t>01</a:t>
                </a:r>
                <a:endParaRPr lang="zh-CN" altLang="en-US" sz="2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05107" y="2334858"/>
              <a:ext cx="805479" cy="805479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/>
        </p:nvGrpSpPr>
        <p:grpSpPr>
          <a:xfrm>
            <a:off x="6341110" y="2034652"/>
            <a:ext cx="1679575" cy="1554002"/>
            <a:chOff x="6341110" y="1874998"/>
            <a:chExt cx="1679575" cy="1554002"/>
          </a:xfrm>
        </p:grpSpPr>
        <p:sp>
          <p:nvSpPr>
            <p:cNvPr id="9" name="矩形: 圆角 8"/>
            <p:cNvSpPr/>
            <p:nvPr/>
          </p:nvSpPr>
          <p:spPr>
            <a:xfrm>
              <a:off x="6341110" y="1905000"/>
              <a:ext cx="1524000" cy="1524000"/>
            </a:xfrm>
            <a:prstGeom prst="roundRect">
              <a:avLst/>
            </a:prstGeom>
            <a:solidFill>
              <a:srgbClr val="69C0E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7332674" y="1874998"/>
              <a:ext cx="688011" cy="482522"/>
              <a:chOff x="1340078" y="3990338"/>
              <a:chExt cx="1029324" cy="721895"/>
            </a:xfrm>
          </p:grpSpPr>
          <p:sp>
            <p:nvSpPr>
              <p:cNvPr id="21" name="椭圆 20"/>
              <p:cNvSpPr/>
              <p:nvPr/>
            </p:nvSpPr>
            <p:spPr>
              <a:xfrm rot="11026152">
                <a:off x="1493793" y="3990338"/>
                <a:ext cx="721895" cy="721895"/>
              </a:xfrm>
              <a:prstGeom prst="ellipse">
                <a:avLst/>
              </a:prstGeom>
              <a:solidFill>
                <a:srgbClr val="10507E"/>
              </a:solidFill>
              <a:ln w="349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340078" y="4079729"/>
                <a:ext cx="1029324" cy="598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chemeClr val="bg1"/>
                    </a:solidFill>
                    <a:cs typeface="+mn-ea"/>
                    <a:sym typeface="+mn-lt"/>
                  </a:rPr>
                  <a:t>02</a:t>
                </a:r>
                <a:endParaRPr lang="zh-CN" altLang="en-US" sz="2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57199" y="2350197"/>
              <a:ext cx="891822" cy="762000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4141799" y="3969655"/>
            <a:ext cx="1727824" cy="1524000"/>
            <a:chOff x="4141799" y="3810001"/>
            <a:chExt cx="1727824" cy="1524000"/>
          </a:xfrm>
        </p:grpSpPr>
        <p:sp>
          <p:nvSpPr>
            <p:cNvPr id="10" name="矩形: 圆角 9"/>
            <p:cNvSpPr/>
            <p:nvPr/>
          </p:nvSpPr>
          <p:spPr>
            <a:xfrm>
              <a:off x="4345623" y="3810001"/>
              <a:ext cx="1524000" cy="1524000"/>
            </a:xfrm>
            <a:prstGeom prst="roundRect">
              <a:avLst/>
            </a:prstGeom>
            <a:solidFill>
              <a:srgbClr val="69C0E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4141799" y="3810001"/>
              <a:ext cx="688011" cy="482522"/>
              <a:chOff x="1340078" y="3990338"/>
              <a:chExt cx="1029324" cy="721895"/>
            </a:xfrm>
          </p:grpSpPr>
          <p:sp>
            <p:nvSpPr>
              <p:cNvPr id="24" name="椭圆 23"/>
              <p:cNvSpPr/>
              <p:nvPr/>
            </p:nvSpPr>
            <p:spPr>
              <a:xfrm rot="11026152">
                <a:off x="1493793" y="3990338"/>
                <a:ext cx="721895" cy="721895"/>
              </a:xfrm>
              <a:prstGeom prst="ellipse">
                <a:avLst/>
              </a:prstGeom>
              <a:solidFill>
                <a:srgbClr val="10507E"/>
              </a:solidFill>
              <a:ln w="349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340078" y="4079729"/>
                <a:ext cx="1029324" cy="598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chemeClr val="bg1"/>
                    </a:solidFill>
                    <a:cs typeface="+mn-ea"/>
                    <a:sym typeface="+mn-lt"/>
                  </a:rPr>
                  <a:t>03</a:t>
                </a:r>
                <a:endParaRPr lang="zh-CN" altLang="en-US" sz="2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7769" y="4259471"/>
              <a:ext cx="732817" cy="782782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/>
        </p:nvGrpSpPr>
        <p:grpSpPr>
          <a:xfrm>
            <a:off x="6341110" y="3969655"/>
            <a:ext cx="1679574" cy="1524000"/>
            <a:chOff x="6341110" y="3810001"/>
            <a:chExt cx="1679574" cy="1524000"/>
          </a:xfrm>
        </p:grpSpPr>
        <p:sp>
          <p:nvSpPr>
            <p:cNvPr id="11" name="矩形: 圆角 10"/>
            <p:cNvSpPr/>
            <p:nvPr/>
          </p:nvSpPr>
          <p:spPr>
            <a:xfrm>
              <a:off x="6341110" y="3810001"/>
              <a:ext cx="1524000" cy="1524000"/>
            </a:xfrm>
            <a:prstGeom prst="roundRect">
              <a:avLst/>
            </a:prstGeom>
            <a:solidFill>
              <a:srgbClr val="69C0E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7332673" y="3810001"/>
              <a:ext cx="688011" cy="482522"/>
              <a:chOff x="1340078" y="3990338"/>
              <a:chExt cx="1029324" cy="721895"/>
            </a:xfrm>
          </p:grpSpPr>
          <p:sp>
            <p:nvSpPr>
              <p:cNvPr id="27" name="椭圆 26"/>
              <p:cNvSpPr/>
              <p:nvPr/>
            </p:nvSpPr>
            <p:spPr>
              <a:xfrm rot="11026152">
                <a:off x="1493793" y="3990338"/>
                <a:ext cx="721895" cy="721895"/>
              </a:xfrm>
              <a:prstGeom prst="ellipse">
                <a:avLst/>
              </a:prstGeom>
              <a:solidFill>
                <a:srgbClr val="10507E"/>
              </a:solidFill>
              <a:ln w="349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1340078" y="4079729"/>
                <a:ext cx="1029324" cy="598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chemeClr val="bg1"/>
                    </a:solidFill>
                    <a:cs typeface="+mn-ea"/>
                    <a:sym typeface="+mn-lt"/>
                  </a:rPr>
                  <a:t>04</a:t>
                </a:r>
                <a:endParaRPr lang="zh-CN" altLang="en-US" sz="2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15395" y="4256982"/>
              <a:ext cx="775429" cy="780216"/>
            </a:xfrm>
            <a:prstGeom prst="rect">
              <a:avLst/>
            </a:prstGeom>
          </p:spPr>
        </p:pic>
      </p:grpSp>
      <p:grpSp>
        <p:nvGrpSpPr>
          <p:cNvPr id="38" name="组合 37"/>
          <p:cNvGrpSpPr/>
          <p:nvPr/>
        </p:nvGrpSpPr>
        <p:grpSpPr>
          <a:xfrm>
            <a:off x="1017256" y="1593863"/>
            <a:ext cx="2956185" cy="1592607"/>
            <a:chOff x="595045" y="2045185"/>
            <a:chExt cx="2956185" cy="1592607"/>
          </a:xfrm>
        </p:grpSpPr>
        <p:sp>
          <p:nvSpPr>
            <p:cNvPr id="36" name="文本框 35"/>
            <p:cNvSpPr txBox="1"/>
            <p:nvPr/>
          </p:nvSpPr>
          <p:spPr>
            <a:xfrm>
              <a:off x="1026210" y="2045185"/>
              <a:ext cx="252476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用户信息</a:t>
              </a: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修改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95045" y="2520827"/>
              <a:ext cx="2956185" cy="1116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fontAlgn="auto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系统支持对已经注册的用户，提供基本的信息修改，包括用户的名称、用户头像、个性签名等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信息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56931" y="4146467"/>
            <a:ext cx="2956185" cy="1079527"/>
            <a:chOff x="595045" y="2045185"/>
            <a:chExt cx="2956185" cy="1079527"/>
          </a:xfrm>
        </p:grpSpPr>
        <p:sp>
          <p:nvSpPr>
            <p:cNvPr id="40" name="文本框 39"/>
            <p:cNvSpPr txBox="1"/>
            <p:nvPr/>
          </p:nvSpPr>
          <p:spPr>
            <a:xfrm>
              <a:off x="1404670" y="2045185"/>
              <a:ext cx="21463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单聊和</a:t>
              </a: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群聊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95045" y="2520827"/>
              <a:ext cx="2956185" cy="603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fontAlgn="auto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单聊：一对一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聊天，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 algn="l" fontAlgn="auto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群聊：多对多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聊天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8245179" y="1632574"/>
            <a:ext cx="2956185" cy="2105687"/>
            <a:chOff x="595045" y="2045185"/>
            <a:chExt cx="2956185" cy="2105687"/>
          </a:xfrm>
        </p:grpSpPr>
        <p:sp>
          <p:nvSpPr>
            <p:cNvPr id="43" name="文本框 42"/>
            <p:cNvSpPr txBox="1"/>
            <p:nvPr/>
          </p:nvSpPr>
          <p:spPr>
            <a:xfrm>
              <a:off x="595045" y="2045185"/>
              <a:ext cx="295529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好友添加和删除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95045" y="2520827"/>
              <a:ext cx="2956185" cy="1630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用户可以搜索系统中已经注册的用户昵称或者</a:t>
              </a:r>
              <a:r>
                <a:rPr lang="en-US" altLang="zh-CN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ID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号进行检索，如果存在该用户，则可以发送申请，等待对方同意，同意后即添加成功，并且可以删除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好友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8245814" y="4093103"/>
            <a:ext cx="2956185" cy="2105687"/>
            <a:chOff x="595045" y="2045185"/>
            <a:chExt cx="2956185" cy="2105687"/>
          </a:xfrm>
        </p:grpSpPr>
        <p:sp>
          <p:nvSpPr>
            <p:cNvPr id="46" name="文本框 45"/>
            <p:cNvSpPr txBox="1"/>
            <p:nvPr/>
          </p:nvSpPr>
          <p:spPr>
            <a:xfrm>
              <a:off x="595045" y="2045185"/>
              <a:ext cx="205803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聊天</a:t>
              </a: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方式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95045" y="2520827"/>
              <a:ext cx="2956185" cy="1630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目前系统支持多种聊天方式内置了几十个常用</a:t>
              </a:r>
              <a:r>
                <a:rPr lang="en-US" altLang="zh-CN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Emoji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表情，支持各种网络表情包的添加，完全自定义自己的表情包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库，支持本地相册直接</a:t>
              </a: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发送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78">
        <p:random/>
      </p:transition>
    </mc:Choice>
    <mc:Fallback>
      <p:transition spd="slow" advTm="1878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系统功能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02.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55" name="组合 54"/>
          <p:cNvGrpSpPr/>
          <p:nvPr>
            <p:custDataLst>
              <p:tags r:id="rId1"/>
            </p:custDataLst>
          </p:nvPr>
        </p:nvGrpSpPr>
        <p:grpSpPr>
          <a:xfrm>
            <a:off x="1133908" y="1129393"/>
            <a:ext cx="2745333" cy="4214082"/>
            <a:chOff x="1133908" y="1129393"/>
            <a:chExt cx="2745333" cy="4214082"/>
          </a:xfrm>
        </p:grpSpPr>
        <p:grpSp>
          <p:nvGrpSpPr>
            <p:cNvPr id="11" name="组合 10"/>
            <p:cNvGrpSpPr/>
            <p:nvPr/>
          </p:nvGrpSpPr>
          <p:grpSpPr>
            <a:xfrm>
              <a:off x="1133908" y="1129393"/>
              <a:ext cx="2745333" cy="3526270"/>
              <a:chOff x="1133908" y="1225649"/>
              <a:chExt cx="2745333" cy="352627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1133908" y="1225649"/>
                <a:ext cx="2745333" cy="3526270"/>
                <a:chOff x="1661567" y="1158772"/>
                <a:chExt cx="2114828" cy="2716412"/>
              </a:xfrm>
            </p:grpSpPr>
            <p:sp>
              <p:nvSpPr>
                <p:cNvPr id="12" name="任意多边形: 形状 11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661567" y="1759746"/>
                  <a:ext cx="2114828" cy="2115438"/>
                </a:xfrm>
                <a:custGeom>
                  <a:avLst/>
                  <a:gdLst>
                    <a:gd name="connsiteX0" fmla="*/ 1021346 w 2114828"/>
                    <a:gd name="connsiteY0" fmla="*/ 0 h 2115438"/>
                    <a:gd name="connsiteX1" fmla="*/ 2114828 w 2114828"/>
                    <a:gd name="connsiteY1" fmla="*/ 1013603 h 2115438"/>
                    <a:gd name="connsiteX2" fmla="*/ 1093482 w 2114828"/>
                    <a:gd name="connsiteY2" fmla="*/ 2115438 h 2115438"/>
                    <a:gd name="connsiteX3" fmla="*/ 0 w 2114828"/>
                    <a:gd name="connsiteY3" fmla="*/ 1101835 h 21154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4828" h="2115438">
                      <a:moveTo>
                        <a:pt x="1021346" y="0"/>
                      </a:moveTo>
                      <a:lnTo>
                        <a:pt x="2114828" y="1013603"/>
                      </a:lnTo>
                      <a:lnTo>
                        <a:pt x="1093482" y="2115438"/>
                      </a:lnTo>
                      <a:lnTo>
                        <a:pt x="0" y="1101835"/>
                      </a:lnTo>
                      <a:close/>
                    </a:path>
                  </a:pathLst>
                </a:custGeom>
                <a:noFill/>
                <a:ln>
                  <a:solidFill>
                    <a:srgbClr val="10507E"/>
                  </a:solidFill>
                </a:ln>
                <a:scene3d>
                  <a:camera prst="perspectiveRelaxedModerately">
                    <a:rot lat="17090574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任意多边形: 形状 13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661567" y="1658146"/>
                  <a:ext cx="2114828" cy="2115438"/>
                </a:xfrm>
                <a:custGeom>
                  <a:avLst/>
                  <a:gdLst>
                    <a:gd name="connsiteX0" fmla="*/ 1021346 w 2114828"/>
                    <a:gd name="connsiteY0" fmla="*/ 0 h 2115438"/>
                    <a:gd name="connsiteX1" fmla="*/ 2114828 w 2114828"/>
                    <a:gd name="connsiteY1" fmla="*/ 1013603 h 2115438"/>
                    <a:gd name="connsiteX2" fmla="*/ 1093482 w 2114828"/>
                    <a:gd name="connsiteY2" fmla="*/ 2115438 h 2115438"/>
                    <a:gd name="connsiteX3" fmla="*/ 0 w 2114828"/>
                    <a:gd name="connsiteY3" fmla="*/ 1101835 h 21154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4828" h="2115438">
                      <a:moveTo>
                        <a:pt x="1021346" y="0"/>
                      </a:moveTo>
                      <a:lnTo>
                        <a:pt x="2114828" y="1013603"/>
                      </a:lnTo>
                      <a:lnTo>
                        <a:pt x="1093482" y="2115438"/>
                      </a:lnTo>
                      <a:lnTo>
                        <a:pt x="0" y="1101835"/>
                      </a:lnTo>
                      <a:close/>
                    </a:path>
                  </a:pathLst>
                </a:custGeom>
                <a:gradFill flip="none" rotWithShape="1">
                  <a:gsLst>
                    <a:gs pos="37000">
                      <a:srgbClr val="10507E">
                        <a:alpha val="31000"/>
                      </a:srgbClr>
                    </a:gs>
                    <a:gs pos="1000">
                      <a:srgbClr val="10507E">
                        <a:alpha val="15000"/>
                      </a:srgbClr>
                    </a:gs>
                    <a:gs pos="61000">
                      <a:srgbClr val="10507E">
                        <a:alpha val="58000"/>
                      </a:srgbClr>
                    </a:gs>
                    <a:gs pos="83000">
                      <a:srgbClr val="10507E">
                        <a:alpha val="73000"/>
                      </a:srgbClr>
                    </a:gs>
                    <a:gs pos="100000">
                      <a:srgbClr val="10507E">
                        <a:alpha val="79000"/>
                      </a:srgbClr>
                    </a:gs>
                  </a:gsLst>
                  <a:lin ang="5400000" scaled="1"/>
                  <a:tileRect/>
                </a:gradFill>
                <a:ln>
                  <a:noFill/>
                </a:ln>
                <a:scene3d>
                  <a:camera prst="perspectiveRelaxedModerately">
                    <a:rot lat="17090576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任意多边形: 形状 14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661567" y="1158772"/>
                  <a:ext cx="2114828" cy="2115438"/>
                </a:xfrm>
                <a:custGeom>
                  <a:avLst/>
                  <a:gdLst>
                    <a:gd name="connsiteX0" fmla="*/ 1021346 w 2114828"/>
                    <a:gd name="connsiteY0" fmla="*/ 0 h 2115438"/>
                    <a:gd name="connsiteX1" fmla="*/ 2114828 w 2114828"/>
                    <a:gd name="connsiteY1" fmla="*/ 1013603 h 2115438"/>
                    <a:gd name="connsiteX2" fmla="*/ 1093482 w 2114828"/>
                    <a:gd name="connsiteY2" fmla="*/ 2115438 h 2115438"/>
                    <a:gd name="connsiteX3" fmla="*/ 0 w 2114828"/>
                    <a:gd name="connsiteY3" fmla="*/ 1101835 h 21154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4828" h="2115438">
                      <a:moveTo>
                        <a:pt x="1021346" y="0"/>
                      </a:moveTo>
                      <a:lnTo>
                        <a:pt x="2114828" y="1013603"/>
                      </a:lnTo>
                      <a:lnTo>
                        <a:pt x="1093482" y="2115438"/>
                      </a:lnTo>
                      <a:lnTo>
                        <a:pt x="0" y="1101835"/>
                      </a:lnTo>
                      <a:close/>
                    </a:path>
                  </a:pathLst>
                </a:custGeom>
                <a:gradFill>
                  <a:gsLst>
                    <a:gs pos="37000">
                      <a:schemeClr val="bg1"/>
                    </a:gs>
                    <a:gs pos="0">
                      <a:schemeClr val="bg1">
                        <a:alpha val="55000"/>
                      </a:schemeClr>
                    </a:gs>
                    <a:gs pos="61000">
                      <a:schemeClr val="bg1"/>
                    </a:gs>
                    <a:gs pos="8300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25400"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48000">
                        <a:srgbClr val="10507E"/>
                      </a:gs>
                      <a:gs pos="78000">
                        <a:srgbClr val="10507E"/>
                      </a:gs>
                      <a:gs pos="100000">
                        <a:srgbClr val="10507E"/>
                      </a:gs>
                    </a:gsLst>
                    <a:lin ang="5400000" scaled="1"/>
                    <a:tileRect/>
                  </a:gradFill>
                </a:ln>
                <a:scene3d>
                  <a:camera prst="perspectiveRelaxedModerately">
                    <a:rot lat="18290558" lon="2196" rev="21599983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9" name="图片 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2271389" y="2283891"/>
                <a:ext cx="611511" cy="782258"/>
              </a:xfrm>
              <a:prstGeom prst="rect">
                <a:avLst/>
              </a:prstGeom>
            </p:spPr>
          </p:pic>
        </p:grpSp>
        <p:grpSp>
          <p:nvGrpSpPr>
            <p:cNvPr id="48" name="组合 47"/>
            <p:cNvGrpSpPr/>
            <p:nvPr/>
          </p:nvGrpSpPr>
          <p:grpSpPr>
            <a:xfrm>
              <a:off x="1330234" y="4007408"/>
              <a:ext cx="2469755" cy="1336067"/>
              <a:chOff x="1548791" y="4065069"/>
              <a:chExt cx="2469755" cy="1336067"/>
            </a:xfrm>
          </p:grpSpPr>
          <p:sp>
            <p:nvSpPr>
              <p:cNvPr id="46" name="文本框 4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977553" y="4065069"/>
                <a:ext cx="1612231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创建</a:t>
                </a:r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群聊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548791" y="4540711"/>
                <a:ext cx="2469755" cy="860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auto">
                  <a:lnSpc>
                    <a:spcPts val="2000"/>
                  </a:lnSpc>
                </a:pP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用户可以选择好友进行创建群聊，至少选择</a:t>
                </a:r>
                <a:r>
                  <a:rPr lang="en-US" altLang="zh-CN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2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位好友才可以创建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群聊</a:t>
                </a:r>
                <a:endPara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6" name="组合 55"/>
          <p:cNvGrpSpPr/>
          <p:nvPr>
            <p:custDataLst>
              <p:tags r:id="rId9"/>
            </p:custDataLst>
          </p:nvPr>
        </p:nvGrpSpPr>
        <p:grpSpPr>
          <a:xfrm>
            <a:off x="4723335" y="1129393"/>
            <a:ext cx="2745333" cy="4470622"/>
            <a:chOff x="4723335" y="1129393"/>
            <a:chExt cx="2745333" cy="4470622"/>
          </a:xfrm>
        </p:grpSpPr>
        <p:grpSp>
          <p:nvGrpSpPr>
            <p:cNvPr id="42" name="组合 41"/>
            <p:cNvGrpSpPr/>
            <p:nvPr/>
          </p:nvGrpSpPr>
          <p:grpSpPr>
            <a:xfrm>
              <a:off x="4723335" y="1129393"/>
              <a:ext cx="2745333" cy="3526270"/>
              <a:chOff x="4723335" y="1225649"/>
              <a:chExt cx="2745333" cy="3526270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4723335" y="1225649"/>
                <a:ext cx="2745333" cy="3526270"/>
                <a:chOff x="1661567" y="1158772"/>
                <a:chExt cx="2114828" cy="2716412"/>
              </a:xfrm>
            </p:grpSpPr>
            <p:sp>
              <p:nvSpPr>
                <p:cNvPr id="32" name="任意多边形: 形状 31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661567" y="1759746"/>
                  <a:ext cx="2114828" cy="2115438"/>
                </a:xfrm>
                <a:custGeom>
                  <a:avLst/>
                  <a:gdLst>
                    <a:gd name="connsiteX0" fmla="*/ 1021346 w 2114828"/>
                    <a:gd name="connsiteY0" fmla="*/ 0 h 2115438"/>
                    <a:gd name="connsiteX1" fmla="*/ 2114828 w 2114828"/>
                    <a:gd name="connsiteY1" fmla="*/ 1013603 h 2115438"/>
                    <a:gd name="connsiteX2" fmla="*/ 1093482 w 2114828"/>
                    <a:gd name="connsiteY2" fmla="*/ 2115438 h 2115438"/>
                    <a:gd name="connsiteX3" fmla="*/ 0 w 2114828"/>
                    <a:gd name="connsiteY3" fmla="*/ 1101835 h 21154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4828" h="2115438">
                      <a:moveTo>
                        <a:pt x="1021346" y="0"/>
                      </a:moveTo>
                      <a:lnTo>
                        <a:pt x="2114828" y="1013603"/>
                      </a:lnTo>
                      <a:lnTo>
                        <a:pt x="1093482" y="2115438"/>
                      </a:lnTo>
                      <a:lnTo>
                        <a:pt x="0" y="1101835"/>
                      </a:lnTo>
                      <a:close/>
                    </a:path>
                  </a:pathLst>
                </a:custGeom>
                <a:noFill/>
                <a:ln>
                  <a:solidFill>
                    <a:srgbClr val="10507E"/>
                  </a:solidFill>
                </a:ln>
                <a:scene3d>
                  <a:camera prst="perspectiveRelaxedModerately">
                    <a:rot lat="17090574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任意多边形: 形状 32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1661567" y="1658146"/>
                  <a:ext cx="2114828" cy="2115438"/>
                </a:xfrm>
                <a:custGeom>
                  <a:avLst/>
                  <a:gdLst>
                    <a:gd name="connsiteX0" fmla="*/ 1021346 w 2114828"/>
                    <a:gd name="connsiteY0" fmla="*/ 0 h 2115438"/>
                    <a:gd name="connsiteX1" fmla="*/ 2114828 w 2114828"/>
                    <a:gd name="connsiteY1" fmla="*/ 1013603 h 2115438"/>
                    <a:gd name="connsiteX2" fmla="*/ 1093482 w 2114828"/>
                    <a:gd name="connsiteY2" fmla="*/ 2115438 h 2115438"/>
                    <a:gd name="connsiteX3" fmla="*/ 0 w 2114828"/>
                    <a:gd name="connsiteY3" fmla="*/ 1101835 h 21154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4828" h="2115438">
                      <a:moveTo>
                        <a:pt x="1021346" y="0"/>
                      </a:moveTo>
                      <a:lnTo>
                        <a:pt x="2114828" y="1013603"/>
                      </a:lnTo>
                      <a:lnTo>
                        <a:pt x="1093482" y="2115438"/>
                      </a:lnTo>
                      <a:lnTo>
                        <a:pt x="0" y="1101835"/>
                      </a:lnTo>
                      <a:close/>
                    </a:path>
                  </a:pathLst>
                </a:custGeom>
                <a:gradFill flip="none" rotWithShape="1">
                  <a:gsLst>
                    <a:gs pos="37000">
                      <a:srgbClr val="10507E">
                        <a:alpha val="31000"/>
                      </a:srgbClr>
                    </a:gs>
                    <a:gs pos="1000">
                      <a:srgbClr val="10507E">
                        <a:alpha val="15000"/>
                      </a:srgbClr>
                    </a:gs>
                    <a:gs pos="61000">
                      <a:srgbClr val="10507E">
                        <a:alpha val="58000"/>
                      </a:srgbClr>
                    </a:gs>
                    <a:gs pos="83000">
                      <a:srgbClr val="10507E">
                        <a:alpha val="73000"/>
                      </a:srgbClr>
                    </a:gs>
                    <a:gs pos="100000">
                      <a:srgbClr val="10507E">
                        <a:alpha val="79000"/>
                      </a:srgbClr>
                    </a:gs>
                  </a:gsLst>
                  <a:lin ang="5400000" scaled="1"/>
                  <a:tileRect/>
                </a:gradFill>
                <a:ln>
                  <a:noFill/>
                </a:ln>
                <a:scene3d>
                  <a:camera prst="perspectiveRelaxedModerately">
                    <a:rot lat="17090576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任意多边形: 形状 33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661567" y="1158772"/>
                  <a:ext cx="2114828" cy="2115438"/>
                </a:xfrm>
                <a:custGeom>
                  <a:avLst/>
                  <a:gdLst>
                    <a:gd name="connsiteX0" fmla="*/ 1021346 w 2114828"/>
                    <a:gd name="connsiteY0" fmla="*/ 0 h 2115438"/>
                    <a:gd name="connsiteX1" fmla="*/ 2114828 w 2114828"/>
                    <a:gd name="connsiteY1" fmla="*/ 1013603 h 2115438"/>
                    <a:gd name="connsiteX2" fmla="*/ 1093482 w 2114828"/>
                    <a:gd name="connsiteY2" fmla="*/ 2115438 h 2115438"/>
                    <a:gd name="connsiteX3" fmla="*/ 0 w 2114828"/>
                    <a:gd name="connsiteY3" fmla="*/ 1101835 h 21154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4828" h="2115438">
                      <a:moveTo>
                        <a:pt x="1021346" y="0"/>
                      </a:moveTo>
                      <a:lnTo>
                        <a:pt x="2114828" y="1013603"/>
                      </a:lnTo>
                      <a:lnTo>
                        <a:pt x="1093482" y="2115438"/>
                      </a:lnTo>
                      <a:lnTo>
                        <a:pt x="0" y="1101835"/>
                      </a:lnTo>
                      <a:close/>
                    </a:path>
                  </a:pathLst>
                </a:custGeom>
                <a:gradFill>
                  <a:gsLst>
                    <a:gs pos="37000">
                      <a:schemeClr val="bg1"/>
                    </a:gs>
                    <a:gs pos="0">
                      <a:schemeClr val="bg1">
                        <a:alpha val="55000"/>
                      </a:schemeClr>
                    </a:gs>
                    <a:gs pos="61000">
                      <a:schemeClr val="bg1"/>
                    </a:gs>
                    <a:gs pos="8300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25400"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48000">
                        <a:srgbClr val="10507E"/>
                      </a:gs>
                      <a:gs pos="78000">
                        <a:srgbClr val="10507E"/>
                      </a:gs>
                      <a:gs pos="100000">
                        <a:srgbClr val="10507E"/>
                      </a:gs>
                    </a:gsLst>
                    <a:lin ang="5400000" scaled="1"/>
                    <a:tileRect/>
                  </a:gradFill>
                </a:ln>
                <a:scene3d>
                  <a:camera prst="perspectiveRelaxedModerately">
                    <a:rot lat="18290558" lon="2196" rev="21599983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41" name="图片 40"/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5715550" y="2283891"/>
                <a:ext cx="760899" cy="773723"/>
              </a:xfrm>
              <a:prstGeom prst="rect">
                <a:avLst/>
              </a:prstGeom>
            </p:spPr>
          </p:pic>
        </p:grpSp>
        <p:grpSp>
          <p:nvGrpSpPr>
            <p:cNvPr id="49" name="组合 48"/>
            <p:cNvGrpSpPr/>
            <p:nvPr/>
          </p:nvGrpSpPr>
          <p:grpSpPr>
            <a:xfrm>
              <a:off x="4884376" y="4022648"/>
              <a:ext cx="2469755" cy="1577367"/>
              <a:chOff x="1548791" y="4080309"/>
              <a:chExt cx="2469755" cy="1577367"/>
            </a:xfrm>
          </p:grpSpPr>
          <p:sp>
            <p:nvSpPr>
              <p:cNvPr id="50" name="文本框 4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629436" y="4080309"/>
                <a:ext cx="233362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群聊信息</a:t>
                </a:r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设置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1" name="文本框 50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548791" y="4540711"/>
                <a:ext cx="2469755" cy="1116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auto">
                  <a:lnSpc>
                    <a:spcPts val="2000"/>
                  </a:lnSpc>
                </a:pP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只有群主具有群聊的设置权限，包括用户踢出权限，群主无法退出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群聊</a:t>
                </a:r>
                <a:endPara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7" name="组合 56"/>
          <p:cNvGrpSpPr/>
          <p:nvPr>
            <p:custDataLst>
              <p:tags r:id="rId17"/>
            </p:custDataLst>
          </p:nvPr>
        </p:nvGrpSpPr>
        <p:grpSpPr>
          <a:xfrm>
            <a:off x="8312761" y="1129393"/>
            <a:ext cx="2745333" cy="4214082"/>
            <a:chOff x="8312761" y="1129393"/>
            <a:chExt cx="2745333" cy="4214082"/>
          </a:xfrm>
        </p:grpSpPr>
        <p:grpSp>
          <p:nvGrpSpPr>
            <p:cNvPr id="45" name="组合 44"/>
            <p:cNvGrpSpPr/>
            <p:nvPr/>
          </p:nvGrpSpPr>
          <p:grpSpPr>
            <a:xfrm>
              <a:off x="8312761" y="1129393"/>
              <a:ext cx="2745333" cy="3526270"/>
              <a:chOff x="8312761" y="1225649"/>
              <a:chExt cx="2745333" cy="3526270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8312761" y="1225649"/>
                <a:ext cx="2745333" cy="3526270"/>
                <a:chOff x="1661567" y="1158772"/>
                <a:chExt cx="2114828" cy="2716412"/>
              </a:xfrm>
            </p:grpSpPr>
            <p:sp>
              <p:nvSpPr>
                <p:cNvPr id="38" name="任意多边形: 形状 37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661567" y="1759746"/>
                  <a:ext cx="2114828" cy="2115438"/>
                </a:xfrm>
                <a:custGeom>
                  <a:avLst/>
                  <a:gdLst>
                    <a:gd name="connsiteX0" fmla="*/ 1021346 w 2114828"/>
                    <a:gd name="connsiteY0" fmla="*/ 0 h 2115438"/>
                    <a:gd name="connsiteX1" fmla="*/ 2114828 w 2114828"/>
                    <a:gd name="connsiteY1" fmla="*/ 1013603 h 2115438"/>
                    <a:gd name="connsiteX2" fmla="*/ 1093482 w 2114828"/>
                    <a:gd name="connsiteY2" fmla="*/ 2115438 h 2115438"/>
                    <a:gd name="connsiteX3" fmla="*/ 0 w 2114828"/>
                    <a:gd name="connsiteY3" fmla="*/ 1101835 h 21154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4828" h="2115438">
                      <a:moveTo>
                        <a:pt x="1021346" y="0"/>
                      </a:moveTo>
                      <a:lnTo>
                        <a:pt x="2114828" y="1013603"/>
                      </a:lnTo>
                      <a:lnTo>
                        <a:pt x="1093482" y="2115438"/>
                      </a:lnTo>
                      <a:lnTo>
                        <a:pt x="0" y="1101835"/>
                      </a:lnTo>
                      <a:close/>
                    </a:path>
                  </a:pathLst>
                </a:custGeom>
                <a:noFill/>
                <a:ln>
                  <a:solidFill>
                    <a:srgbClr val="10507E"/>
                  </a:solidFill>
                </a:ln>
                <a:scene3d>
                  <a:camera prst="perspectiveRelaxedModerately">
                    <a:rot lat="17090574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任意多边形: 形状 38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1661567" y="1658146"/>
                  <a:ext cx="2114828" cy="2115438"/>
                </a:xfrm>
                <a:custGeom>
                  <a:avLst/>
                  <a:gdLst>
                    <a:gd name="connsiteX0" fmla="*/ 1021346 w 2114828"/>
                    <a:gd name="connsiteY0" fmla="*/ 0 h 2115438"/>
                    <a:gd name="connsiteX1" fmla="*/ 2114828 w 2114828"/>
                    <a:gd name="connsiteY1" fmla="*/ 1013603 h 2115438"/>
                    <a:gd name="connsiteX2" fmla="*/ 1093482 w 2114828"/>
                    <a:gd name="connsiteY2" fmla="*/ 2115438 h 2115438"/>
                    <a:gd name="connsiteX3" fmla="*/ 0 w 2114828"/>
                    <a:gd name="connsiteY3" fmla="*/ 1101835 h 21154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4828" h="2115438">
                      <a:moveTo>
                        <a:pt x="1021346" y="0"/>
                      </a:moveTo>
                      <a:lnTo>
                        <a:pt x="2114828" y="1013603"/>
                      </a:lnTo>
                      <a:lnTo>
                        <a:pt x="1093482" y="2115438"/>
                      </a:lnTo>
                      <a:lnTo>
                        <a:pt x="0" y="1101835"/>
                      </a:lnTo>
                      <a:close/>
                    </a:path>
                  </a:pathLst>
                </a:custGeom>
                <a:gradFill flip="none" rotWithShape="1">
                  <a:gsLst>
                    <a:gs pos="37000">
                      <a:srgbClr val="10507E">
                        <a:alpha val="31000"/>
                      </a:srgbClr>
                    </a:gs>
                    <a:gs pos="1000">
                      <a:srgbClr val="10507E">
                        <a:alpha val="15000"/>
                      </a:srgbClr>
                    </a:gs>
                    <a:gs pos="61000">
                      <a:srgbClr val="10507E">
                        <a:alpha val="58000"/>
                      </a:srgbClr>
                    </a:gs>
                    <a:gs pos="83000">
                      <a:srgbClr val="10507E">
                        <a:alpha val="73000"/>
                      </a:srgbClr>
                    </a:gs>
                    <a:gs pos="100000">
                      <a:srgbClr val="10507E">
                        <a:alpha val="79000"/>
                      </a:srgbClr>
                    </a:gs>
                  </a:gsLst>
                  <a:lin ang="5400000" scaled="1"/>
                  <a:tileRect/>
                </a:gradFill>
                <a:ln>
                  <a:noFill/>
                </a:ln>
                <a:scene3d>
                  <a:camera prst="perspectiveRelaxedModerately">
                    <a:rot lat="17090576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任意多边形: 形状 39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661567" y="1158772"/>
                  <a:ext cx="2114828" cy="2115438"/>
                </a:xfrm>
                <a:custGeom>
                  <a:avLst/>
                  <a:gdLst>
                    <a:gd name="connsiteX0" fmla="*/ 1021346 w 2114828"/>
                    <a:gd name="connsiteY0" fmla="*/ 0 h 2115438"/>
                    <a:gd name="connsiteX1" fmla="*/ 2114828 w 2114828"/>
                    <a:gd name="connsiteY1" fmla="*/ 1013603 h 2115438"/>
                    <a:gd name="connsiteX2" fmla="*/ 1093482 w 2114828"/>
                    <a:gd name="connsiteY2" fmla="*/ 2115438 h 2115438"/>
                    <a:gd name="connsiteX3" fmla="*/ 0 w 2114828"/>
                    <a:gd name="connsiteY3" fmla="*/ 1101835 h 21154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4828" h="2115438">
                      <a:moveTo>
                        <a:pt x="1021346" y="0"/>
                      </a:moveTo>
                      <a:lnTo>
                        <a:pt x="2114828" y="1013603"/>
                      </a:lnTo>
                      <a:lnTo>
                        <a:pt x="1093482" y="2115438"/>
                      </a:lnTo>
                      <a:lnTo>
                        <a:pt x="0" y="1101835"/>
                      </a:lnTo>
                      <a:close/>
                    </a:path>
                  </a:pathLst>
                </a:custGeom>
                <a:gradFill>
                  <a:gsLst>
                    <a:gs pos="37000">
                      <a:schemeClr val="bg1"/>
                    </a:gs>
                    <a:gs pos="0">
                      <a:schemeClr val="bg1">
                        <a:alpha val="55000"/>
                      </a:schemeClr>
                    </a:gs>
                    <a:gs pos="61000">
                      <a:schemeClr val="bg1"/>
                    </a:gs>
                    <a:gs pos="8300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25400"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48000">
                        <a:srgbClr val="10507E"/>
                      </a:gs>
                      <a:gs pos="78000">
                        <a:srgbClr val="10507E"/>
                      </a:gs>
                      <a:gs pos="100000">
                        <a:srgbClr val="10507E"/>
                      </a:gs>
                    </a:gsLst>
                    <a:lin ang="5400000" scaled="1"/>
                    <a:tileRect/>
                  </a:gradFill>
                </a:ln>
                <a:scene3d>
                  <a:camera prst="perspectiveRelaxedModerately">
                    <a:rot lat="18290558" lon="2196" rev="21599983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44" name="图片 43"/>
              <p:cNvPicPr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22"/>
              <a:stretch>
                <a:fillRect/>
              </a:stretch>
            </p:blipFill>
            <p:spPr>
              <a:xfrm>
                <a:off x="9225555" y="2247795"/>
                <a:ext cx="1016000" cy="711691"/>
              </a:xfrm>
              <a:prstGeom prst="rect">
                <a:avLst/>
              </a:prstGeom>
            </p:spPr>
          </p:pic>
        </p:grpSp>
        <p:grpSp>
          <p:nvGrpSpPr>
            <p:cNvPr id="52" name="组合 51"/>
            <p:cNvGrpSpPr/>
            <p:nvPr/>
          </p:nvGrpSpPr>
          <p:grpSpPr>
            <a:xfrm>
              <a:off x="8438517" y="4007408"/>
              <a:ext cx="2469755" cy="1336067"/>
              <a:chOff x="1548791" y="4065069"/>
              <a:chExt cx="2469755" cy="1336067"/>
            </a:xfrm>
          </p:grpSpPr>
          <p:sp>
            <p:nvSpPr>
              <p:cNvPr id="53" name="文本框 52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630071" y="4065069"/>
                <a:ext cx="224218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好友信息</a:t>
                </a:r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设置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4" name="文本框 53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548791" y="4540711"/>
                <a:ext cx="2469755" cy="860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auto">
                  <a:lnSpc>
                    <a:spcPts val="2000"/>
                  </a:lnSpc>
                </a:pP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对已经成为好友的联系人，可以对其设置备注和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分组</a:t>
                </a:r>
                <a:endPara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  <p:custDataLst>
      <p:tags r:id="rId2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9">
        <p:random/>
      </p:transition>
    </mc:Choice>
    <mc:Fallback>
      <p:transition spd="slow" advTm="1009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系统功能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02.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29123" y="1842493"/>
            <a:ext cx="3826147" cy="3826146"/>
            <a:chOff x="4182926" y="1515927"/>
            <a:chExt cx="3826147" cy="3826146"/>
          </a:xfrm>
        </p:grpSpPr>
        <p:sp>
          <p:nvSpPr>
            <p:cNvPr id="12" name="任意多边形: 形状 11"/>
            <p:cNvSpPr/>
            <p:nvPr/>
          </p:nvSpPr>
          <p:spPr>
            <a:xfrm>
              <a:off x="4419886" y="1752887"/>
              <a:ext cx="3352227" cy="3352226"/>
            </a:xfrm>
            <a:custGeom>
              <a:avLst/>
              <a:gdLst>
                <a:gd name="connsiteX0" fmla="*/ 1671896 w 3352227"/>
                <a:gd name="connsiteY0" fmla="*/ 0 h 3352226"/>
                <a:gd name="connsiteX1" fmla="*/ 3352227 w 3352227"/>
                <a:gd name="connsiteY1" fmla="*/ 1671896 h 3352226"/>
                <a:gd name="connsiteX2" fmla="*/ 1680331 w 3352227"/>
                <a:gd name="connsiteY2" fmla="*/ 3352226 h 3352226"/>
                <a:gd name="connsiteX3" fmla="*/ 0 w 3352227"/>
                <a:gd name="connsiteY3" fmla="*/ 1680330 h 335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227" h="3352226">
                  <a:moveTo>
                    <a:pt x="1671896" y="0"/>
                  </a:moveTo>
                  <a:lnTo>
                    <a:pt x="3352227" y="1671896"/>
                  </a:lnTo>
                  <a:lnTo>
                    <a:pt x="1680331" y="3352226"/>
                  </a:lnTo>
                  <a:lnTo>
                    <a:pt x="0" y="168033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4182926" y="1515927"/>
              <a:ext cx="3826147" cy="3826146"/>
            </a:xfrm>
            <a:custGeom>
              <a:avLst/>
              <a:gdLst>
                <a:gd name="connsiteX0" fmla="*/ 1671896 w 3352227"/>
                <a:gd name="connsiteY0" fmla="*/ 0 h 3352226"/>
                <a:gd name="connsiteX1" fmla="*/ 3352227 w 3352227"/>
                <a:gd name="connsiteY1" fmla="*/ 1671896 h 3352226"/>
                <a:gd name="connsiteX2" fmla="*/ 1680331 w 3352227"/>
                <a:gd name="connsiteY2" fmla="*/ 3352226 h 3352226"/>
                <a:gd name="connsiteX3" fmla="*/ 0 w 3352227"/>
                <a:gd name="connsiteY3" fmla="*/ 1680330 h 335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227" h="3352226">
                  <a:moveTo>
                    <a:pt x="1671896" y="0"/>
                  </a:moveTo>
                  <a:lnTo>
                    <a:pt x="3352227" y="1671896"/>
                  </a:lnTo>
                  <a:lnTo>
                    <a:pt x="1680331" y="3352226"/>
                  </a:lnTo>
                  <a:lnTo>
                    <a:pt x="0" y="1680330"/>
                  </a:lnTo>
                  <a:close/>
                </a:path>
              </a:pathLst>
            </a:custGeom>
            <a:noFill/>
            <a:ln>
              <a:solidFill>
                <a:srgbClr val="69C0E1"/>
              </a:solidFill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5759450" y="1744177"/>
            <a:ext cx="5546128" cy="1079527"/>
            <a:chOff x="595045" y="2045185"/>
            <a:chExt cx="5546128" cy="1079527"/>
          </a:xfrm>
        </p:grpSpPr>
        <p:sp>
          <p:nvSpPr>
            <p:cNvPr id="21" name="文本框 20"/>
            <p:cNvSpPr txBox="1"/>
            <p:nvPr>
              <p:custDataLst>
                <p:tags r:id="rId3"/>
              </p:custDataLst>
            </p:nvPr>
          </p:nvSpPr>
          <p:spPr>
            <a:xfrm>
              <a:off x="595045" y="2045185"/>
              <a:ext cx="213931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朋友圈发布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4"/>
              </p:custDataLst>
            </p:nvPr>
          </p:nvSpPr>
          <p:spPr>
            <a:xfrm>
              <a:off x="595045" y="2520827"/>
              <a:ext cx="5546128" cy="603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fontAlgn="auto"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用户可以发布自己的朋友圈，记录生活，支持发布图片，发布后自己的好友可见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5"/>
            </p:custDataLst>
          </p:nvPr>
        </p:nvGrpSpPr>
        <p:grpSpPr>
          <a:xfrm>
            <a:off x="5759450" y="3279924"/>
            <a:ext cx="5546128" cy="1079527"/>
            <a:chOff x="595045" y="2045185"/>
            <a:chExt cx="5546128" cy="1079527"/>
          </a:xfrm>
        </p:grpSpPr>
        <p:sp>
          <p:nvSpPr>
            <p:cNvPr id="24" name="文本框 23"/>
            <p:cNvSpPr txBox="1"/>
            <p:nvPr>
              <p:custDataLst>
                <p:tags r:id="rId6"/>
              </p:custDataLst>
            </p:nvPr>
          </p:nvSpPr>
          <p:spPr>
            <a:xfrm>
              <a:off x="595045" y="2045185"/>
              <a:ext cx="213931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点赞和评论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7"/>
              </p:custDataLst>
            </p:nvPr>
          </p:nvSpPr>
          <p:spPr>
            <a:xfrm>
              <a:off x="595045" y="2520827"/>
              <a:ext cx="5546128" cy="603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用户可以对自己或者好友发布的朋友圈进行点赞和评论，增加社交的趣味性</a:t>
              </a:r>
              <a:endPara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015">
        <p:random/>
      </p:transition>
    </mc:Choice>
    <mc:Fallback>
      <p:transition spd="slow" advTm="2015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-2846530" y="-1770744"/>
            <a:ext cx="8399978" cy="7688943"/>
            <a:chOff x="-2846530" y="-1770744"/>
            <a:chExt cx="8399978" cy="7688943"/>
          </a:xfrm>
        </p:grpSpPr>
        <p:sp>
          <p:nvSpPr>
            <p:cNvPr id="2" name="椭圆 1"/>
            <p:cNvSpPr/>
            <p:nvPr/>
          </p:nvSpPr>
          <p:spPr>
            <a:xfrm>
              <a:off x="-2846530" y="-1770744"/>
              <a:ext cx="7688943" cy="7688943"/>
            </a:xfrm>
            <a:prstGeom prst="ellipse">
              <a:avLst/>
            </a:prstGeom>
            <a:solidFill>
              <a:srgbClr val="D8EFFD"/>
            </a:solidFill>
            <a:ln>
              <a:noFill/>
            </a:ln>
            <a:effectLst>
              <a:outerShdw blurRad="2794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-1214742" y="1161142"/>
              <a:ext cx="6768190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3900" dirty="0">
                  <a:solidFill>
                    <a:srgbClr val="10507E"/>
                  </a:solidFill>
                  <a:effectLst>
                    <a:outerShdw blurRad="63500" sx="101000" sy="101000" algn="ctr" rotWithShape="0">
                      <a:prstClr val="black">
                        <a:alpha val="40000"/>
                      </a:prstClr>
                    </a:outerShdw>
                  </a:effectLst>
                  <a:cs typeface="+mn-ea"/>
                  <a:sym typeface="+mn-lt"/>
                </a:rPr>
                <a:t>03</a:t>
              </a:r>
              <a:endParaRPr lang="zh-CN" altLang="en-US" sz="23900" dirty="0">
                <a:solidFill>
                  <a:srgbClr val="10507E"/>
                </a:solidFill>
                <a:effectLst>
                  <a:outerShdw blurRad="63500" sx="101000" sy="101000" algn="ctr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140956" y="2474962"/>
            <a:ext cx="6584315" cy="1142621"/>
            <a:chOff x="5862081" y="2617371"/>
            <a:chExt cx="6584315" cy="1142621"/>
          </a:xfrm>
        </p:grpSpPr>
        <p:sp>
          <p:nvSpPr>
            <p:cNvPr id="16" name="文本框 15"/>
            <p:cNvSpPr txBox="1"/>
            <p:nvPr/>
          </p:nvSpPr>
          <p:spPr>
            <a:xfrm>
              <a:off x="5862081" y="2617371"/>
              <a:ext cx="658431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系统设计及其</a:t>
              </a:r>
              <a:r>
                <a:rPr lang="zh-CN" altLang="en-US" sz="6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实现</a:t>
              </a:r>
              <a:endPara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862081" y="3506076"/>
              <a:ext cx="64779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 dirty="0">
                  <a:cs typeface="+mn-ea"/>
                  <a:sym typeface="+mn-lt"/>
                </a:rPr>
                <a:t>RESEARCH BACKGROUND AND CURRENT SITUATION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</p:grpSp>
      <p:sp>
        <p:nvSpPr>
          <p:cNvPr id="19" name="圆: 空心 18"/>
          <p:cNvSpPr/>
          <p:nvPr/>
        </p:nvSpPr>
        <p:spPr>
          <a:xfrm>
            <a:off x="10808543" y="5670073"/>
            <a:ext cx="2766913" cy="2766913"/>
          </a:xfrm>
          <a:prstGeom prst="donut">
            <a:avLst/>
          </a:prstGeom>
          <a:solidFill>
            <a:srgbClr val="105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360">
        <p:random/>
      </p:transition>
    </mc:Choice>
    <mc:Fallback>
      <p:transition spd="slow" advTm="236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673100" y="1473723"/>
            <a:ext cx="10879992" cy="5242440"/>
            <a:chOff x="673100" y="1473723"/>
            <a:chExt cx="10879992" cy="5242440"/>
          </a:xfrm>
        </p:grpSpPr>
        <p:grpSp>
          <p:nvGrpSpPr>
            <p:cNvPr id="9" name="ïŝḻîḑé"/>
            <p:cNvGrpSpPr/>
            <p:nvPr/>
          </p:nvGrpSpPr>
          <p:grpSpPr>
            <a:xfrm>
              <a:off x="673100" y="2305176"/>
              <a:ext cx="10845800" cy="2146143"/>
              <a:chOff x="1267063" y="2254531"/>
              <a:chExt cx="9773218" cy="2609570"/>
            </a:xfrm>
          </p:grpSpPr>
          <p:sp>
            <p:nvSpPr>
              <p:cNvPr id="10" name="ïś1iḓê"/>
              <p:cNvSpPr/>
              <p:nvPr/>
            </p:nvSpPr>
            <p:spPr>
              <a:xfrm>
                <a:off x="1267063" y="4211672"/>
                <a:ext cx="2280103" cy="65235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" name="îṩḷíde"/>
              <p:cNvSpPr/>
              <p:nvPr/>
            </p:nvSpPr>
            <p:spPr>
              <a:xfrm>
                <a:off x="3857136" y="3559317"/>
                <a:ext cx="2019480" cy="6523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" name="ïṧ1iḑe"/>
              <p:cNvSpPr/>
              <p:nvPr/>
            </p:nvSpPr>
            <p:spPr>
              <a:xfrm>
                <a:off x="6301917" y="2907041"/>
                <a:ext cx="2019480" cy="6523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" name="ísḷîḑè"/>
              <p:cNvSpPr/>
              <p:nvPr/>
            </p:nvSpPr>
            <p:spPr>
              <a:xfrm>
                <a:off x="8760178" y="2254532"/>
                <a:ext cx="2280103" cy="65235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" name="îSḻíḑe"/>
              <p:cNvSpPr/>
              <p:nvPr/>
            </p:nvSpPr>
            <p:spPr>
              <a:xfrm flipV="1">
                <a:off x="8321397" y="2254531"/>
                <a:ext cx="438781" cy="1304862"/>
              </a:xfrm>
              <a:custGeom>
                <a:avLst/>
                <a:gdLst>
                  <a:gd name="connsiteX0" fmla="*/ 962026 w 962026"/>
                  <a:gd name="connsiteY0" fmla="*/ 1924050 h 1924050"/>
                  <a:gd name="connsiteX1" fmla="*/ 962026 w 962026"/>
                  <a:gd name="connsiteY1" fmla="*/ 962025 h 1924050"/>
                  <a:gd name="connsiteX2" fmla="*/ 962025 w 962026"/>
                  <a:gd name="connsiteY2" fmla="*/ 962025 h 1924050"/>
                  <a:gd name="connsiteX3" fmla="*/ 0 w 962026"/>
                  <a:gd name="connsiteY3" fmla="*/ 0 h 1924050"/>
                  <a:gd name="connsiteX4" fmla="*/ 0 w 962026"/>
                  <a:gd name="connsiteY4" fmla="*/ 962025 h 1924050"/>
                  <a:gd name="connsiteX5" fmla="*/ 1 w 962026"/>
                  <a:gd name="connsiteY5" fmla="*/ 962025 h 192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62026" h="1924050">
                    <a:moveTo>
                      <a:pt x="962026" y="1924050"/>
                    </a:moveTo>
                    <a:lnTo>
                      <a:pt x="962026" y="962025"/>
                    </a:lnTo>
                    <a:lnTo>
                      <a:pt x="962025" y="962025"/>
                    </a:lnTo>
                    <a:lnTo>
                      <a:pt x="0" y="0"/>
                    </a:lnTo>
                    <a:lnTo>
                      <a:pt x="0" y="962025"/>
                    </a:lnTo>
                    <a:lnTo>
                      <a:pt x="1" y="96202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" name="îṧ1íḍé"/>
              <p:cNvSpPr/>
              <p:nvPr/>
            </p:nvSpPr>
            <p:spPr>
              <a:xfrm flipV="1">
                <a:off x="5863136" y="2906884"/>
                <a:ext cx="438781" cy="1304862"/>
              </a:xfrm>
              <a:custGeom>
                <a:avLst/>
                <a:gdLst>
                  <a:gd name="connsiteX0" fmla="*/ 962026 w 962026"/>
                  <a:gd name="connsiteY0" fmla="*/ 1924050 h 1924050"/>
                  <a:gd name="connsiteX1" fmla="*/ 962026 w 962026"/>
                  <a:gd name="connsiteY1" fmla="*/ 962025 h 1924050"/>
                  <a:gd name="connsiteX2" fmla="*/ 962025 w 962026"/>
                  <a:gd name="connsiteY2" fmla="*/ 962025 h 1924050"/>
                  <a:gd name="connsiteX3" fmla="*/ 0 w 962026"/>
                  <a:gd name="connsiteY3" fmla="*/ 0 h 1924050"/>
                  <a:gd name="connsiteX4" fmla="*/ 0 w 962026"/>
                  <a:gd name="connsiteY4" fmla="*/ 962025 h 1924050"/>
                  <a:gd name="connsiteX5" fmla="*/ 1 w 962026"/>
                  <a:gd name="connsiteY5" fmla="*/ 962025 h 192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62026" h="1924050">
                    <a:moveTo>
                      <a:pt x="962026" y="1924050"/>
                    </a:moveTo>
                    <a:lnTo>
                      <a:pt x="962026" y="962025"/>
                    </a:lnTo>
                    <a:lnTo>
                      <a:pt x="962025" y="962025"/>
                    </a:lnTo>
                    <a:lnTo>
                      <a:pt x="0" y="0"/>
                    </a:lnTo>
                    <a:lnTo>
                      <a:pt x="0" y="962025"/>
                    </a:lnTo>
                    <a:lnTo>
                      <a:pt x="1" y="96202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" name="iṥľïďè"/>
              <p:cNvSpPr/>
              <p:nvPr/>
            </p:nvSpPr>
            <p:spPr>
              <a:xfrm flipV="1">
                <a:off x="3431835" y="3559239"/>
                <a:ext cx="438781" cy="1304862"/>
              </a:xfrm>
              <a:custGeom>
                <a:avLst/>
                <a:gdLst>
                  <a:gd name="connsiteX0" fmla="*/ 962026 w 962026"/>
                  <a:gd name="connsiteY0" fmla="*/ 1924050 h 1924050"/>
                  <a:gd name="connsiteX1" fmla="*/ 962026 w 962026"/>
                  <a:gd name="connsiteY1" fmla="*/ 962025 h 1924050"/>
                  <a:gd name="connsiteX2" fmla="*/ 962025 w 962026"/>
                  <a:gd name="connsiteY2" fmla="*/ 962025 h 1924050"/>
                  <a:gd name="connsiteX3" fmla="*/ 0 w 962026"/>
                  <a:gd name="connsiteY3" fmla="*/ 0 h 1924050"/>
                  <a:gd name="connsiteX4" fmla="*/ 0 w 962026"/>
                  <a:gd name="connsiteY4" fmla="*/ 962025 h 1924050"/>
                  <a:gd name="connsiteX5" fmla="*/ 1 w 962026"/>
                  <a:gd name="connsiteY5" fmla="*/ 962025 h 192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62026" h="1924050">
                    <a:moveTo>
                      <a:pt x="962026" y="1924050"/>
                    </a:moveTo>
                    <a:lnTo>
                      <a:pt x="962026" y="962025"/>
                    </a:lnTo>
                    <a:lnTo>
                      <a:pt x="962025" y="962025"/>
                    </a:lnTo>
                    <a:lnTo>
                      <a:pt x="0" y="0"/>
                    </a:lnTo>
                    <a:lnTo>
                      <a:pt x="0" y="962025"/>
                    </a:lnTo>
                    <a:lnTo>
                      <a:pt x="1" y="96202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" name="ïṥļiḍe"/>
              <p:cNvSpPr/>
              <p:nvPr/>
            </p:nvSpPr>
            <p:spPr>
              <a:xfrm>
                <a:off x="2147426" y="4211672"/>
                <a:ext cx="1283837" cy="652353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" name="îṥḷïďè"/>
              <p:cNvSpPr/>
              <p:nvPr/>
            </p:nvSpPr>
            <p:spPr>
              <a:xfrm>
                <a:off x="8760179" y="2254532"/>
                <a:ext cx="1071182" cy="652353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624257" y="3051612"/>
              <a:ext cx="653143" cy="653143"/>
              <a:chOff x="1624257" y="2964528"/>
              <a:chExt cx="653143" cy="653143"/>
            </a:xfrm>
          </p:grpSpPr>
          <p:sp>
            <p:nvSpPr>
              <p:cNvPr id="2" name="椭圆 1"/>
              <p:cNvSpPr/>
              <p:nvPr/>
            </p:nvSpPr>
            <p:spPr>
              <a:xfrm>
                <a:off x="1624257" y="2964528"/>
                <a:ext cx="653143" cy="653143"/>
              </a:xfrm>
              <a:prstGeom prst="ellipse">
                <a:avLst/>
              </a:prstGeom>
              <a:solidFill>
                <a:srgbClr val="69C0E1"/>
              </a:solidFill>
              <a:ln>
                <a:noFill/>
              </a:ln>
              <a:effectLst>
                <a:outerShdw blurRad="215900" dist="38100" dir="5400000" sx="116000" sy="116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798613" y="3140242"/>
                <a:ext cx="301715" cy="301715"/>
              </a:xfrm>
              <a:prstGeom prst="rect">
                <a:avLst/>
              </a:prstGeom>
            </p:spPr>
          </p:pic>
        </p:grpSp>
        <p:grpSp>
          <p:nvGrpSpPr>
            <p:cNvPr id="27" name="组合 26"/>
            <p:cNvGrpSpPr/>
            <p:nvPr/>
          </p:nvGrpSpPr>
          <p:grpSpPr>
            <a:xfrm>
              <a:off x="4439738" y="2515107"/>
              <a:ext cx="653143" cy="653143"/>
              <a:chOff x="4439738" y="2428023"/>
              <a:chExt cx="653143" cy="653143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4439738" y="2428023"/>
                <a:ext cx="653143" cy="653143"/>
              </a:xfrm>
              <a:prstGeom prst="ellipse">
                <a:avLst/>
              </a:prstGeom>
              <a:solidFill>
                <a:srgbClr val="69C0E1"/>
              </a:solidFill>
              <a:ln>
                <a:noFill/>
              </a:ln>
              <a:effectLst>
                <a:outerShdw blurRad="215900" dist="38100" dir="5400000" sx="116000" sy="116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87945" y="2607826"/>
                <a:ext cx="356728" cy="304799"/>
              </a:xfrm>
              <a:prstGeom prst="rect">
                <a:avLst/>
              </a:prstGeom>
            </p:spPr>
          </p:pic>
        </p:grpSp>
        <p:grpSp>
          <p:nvGrpSpPr>
            <p:cNvPr id="30" name="组合 29"/>
            <p:cNvGrpSpPr/>
            <p:nvPr/>
          </p:nvGrpSpPr>
          <p:grpSpPr>
            <a:xfrm>
              <a:off x="7054498" y="1978604"/>
              <a:ext cx="653143" cy="653143"/>
              <a:chOff x="7054498" y="1891520"/>
              <a:chExt cx="653143" cy="653143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7054498" y="1891520"/>
                <a:ext cx="653143" cy="653143"/>
              </a:xfrm>
              <a:prstGeom prst="ellipse">
                <a:avLst/>
              </a:prstGeom>
              <a:solidFill>
                <a:srgbClr val="69C0E1"/>
              </a:solidFill>
              <a:ln>
                <a:noFill/>
              </a:ln>
              <a:effectLst>
                <a:outerShdw blurRad="215900" dist="38100" dir="5400000" sx="116000" sy="116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29" name="图片 2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45074" y="2068821"/>
                <a:ext cx="279486" cy="298541"/>
              </a:xfrm>
              <a:prstGeom prst="rect">
                <a:avLst/>
              </a:prstGeom>
            </p:spPr>
          </p:pic>
        </p:grpSp>
        <p:grpSp>
          <p:nvGrpSpPr>
            <p:cNvPr id="33" name="组合 32"/>
            <p:cNvGrpSpPr/>
            <p:nvPr/>
          </p:nvGrpSpPr>
          <p:grpSpPr>
            <a:xfrm>
              <a:off x="9850732" y="1473723"/>
              <a:ext cx="653143" cy="653143"/>
              <a:chOff x="9850732" y="1386639"/>
              <a:chExt cx="653143" cy="653143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9850732" y="1386639"/>
                <a:ext cx="653143" cy="653143"/>
              </a:xfrm>
              <a:prstGeom prst="ellipse">
                <a:avLst/>
              </a:prstGeom>
              <a:solidFill>
                <a:srgbClr val="69C0E1"/>
              </a:solidFill>
              <a:ln>
                <a:noFill/>
              </a:ln>
              <a:effectLst>
                <a:outerShdw blurRad="215900" dist="38100" dir="5400000" sx="116000" sy="116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02685" y="1537515"/>
                <a:ext cx="349236" cy="351391"/>
              </a:xfrm>
              <a:prstGeom prst="rect">
                <a:avLst/>
              </a:prstGeom>
            </p:spPr>
          </p:pic>
        </p:grpSp>
        <p:grpSp>
          <p:nvGrpSpPr>
            <p:cNvPr id="36" name="组合 35"/>
            <p:cNvGrpSpPr/>
            <p:nvPr/>
          </p:nvGrpSpPr>
          <p:grpSpPr>
            <a:xfrm>
              <a:off x="747522" y="4547582"/>
              <a:ext cx="2558655" cy="1336067"/>
              <a:chOff x="776550" y="4750778"/>
              <a:chExt cx="2558655" cy="1336067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776550" y="4750778"/>
                <a:ext cx="245554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开发工具</a:t>
                </a:r>
                <a:r>
                  <a:rPr lang="en-US" altLang="zh-CN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vscode</a:t>
                </a:r>
                <a:endPara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865450" y="5226420"/>
                <a:ext cx="2469755" cy="860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ts val="2000"/>
                  </a:lnSpc>
                </a:pP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插件丰富，功能齐全，优秀的代码补全能力，主题丰富，生态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完善</a:t>
                </a:r>
                <a:endPara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3526842" y="4134633"/>
              <a:ext cx="2471660" cy="1849147"/>
              <a:chOff x="863545" y="4750778"/>
              <a:chExt cx="2471660" cy="1849147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863545" y="4750778"/>
                <a:ext cx="224599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MySQL</a:t>
                </a:r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数据库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865450" y="5226420"/>
                <a:ext cx="2469755" cy="1373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auto">
                  <a:lnSpc>
                    <a:spcPts val="2000"/>
                  </a:lnSpc>
                </a:pP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MySQL的运行速度快，且体积小，命令执行的速度快，MySQL是开源的，而且提供免费版本供开发人员使用。</a:t>
                </a:r>
                <a:endPara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6221072" y="3205688"/>
              <a:ext cx="2469755" cy="3229637"/>
              <a:chOff x="865450" y="4396448"/>
              <a:chExt cx="2469755" cy="3229637"/>
            </a:xfrm>
          </p:grpSpPr>
          <p:sp>
            <p:nvSpPr>
              <p:cNvPr id="41" name="文本框 40"/>
              <p:cNvSpPr txBox="1"/>
              <p:nvPr/>
            </p:nvSpPr>
            <p:spPr>
              <a:xfrm>
                <a:off x="905455" y="4396448"/>
                <a:ext cx="227393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开发语言</a:t>
                </a:r>
                <a:r>
                  <a:rPr lang="en-US" altLang="zh-CN" sz="2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JavaScript</a:t>
                </a:r>
                <a:endPara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865450" y="5226420"/>
                <a:ext cx="2469755" cy="2399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auto">
                  <a:lnSpc>
                    <a:spcPts val="2000"/>
                  </a:lnSpc>
                </a:pPr>
                <a:r>
                  <a:rPr lang="en-US" altLang="zh-CN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JavaScript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（简称</a:t>
                </a:r>
                <a:r>
                  <a:rPr lang="en-US" altLang="zh-CN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JS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）是一种广泛使用的编程语言，主要用于网页和网络应用的开发，使网页具有交互性。它通常用于实现客户端的网页脚本，但随着</a:t>
                </a:r>
                <a:r>
                  <a:rPr lang="en-US" altLang="zh-CN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Node.js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的发展，现在也可以用于服务器端的编程。</a:t>
                </a:r>
                <a:endPara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8501917" y="3071236"/>
              <a:ext cx="3051175" cy="3644927"/>
              <a:chOff x="453970" y="4750778"/>
              <a:chExt cx="3051175" cy="3644927"/>
            </a:xfrm>
          </p:grpSpPr>
          <p:sp>
            <p:nvSpPr>
              <p:cNvPr id="44" name="文本框 43"/>
              <p:cNvSpPr txBox="1"/>
              <p:nvPr/>
            </p:nvSpPr>
            <p:spPr>
              <a:xfrm>
                <a:off x="453970" y="4750778"/>
                <a:ext cx="305117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框架</a:t>
                </a:r>
                <a:r>
                  <a:rPr lang="en-US" altLang="zh-CN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uni-app</a:t>
                </a:r>
                <a:endPara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865450" y="5226420"/>
                <a:ext cx="2469755" cy="3169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auto">
                  <a:lnSpc>
                    <a:spcPts val="2000"/>
                  </a:lnSpc>
                </a:pPr>
                <a:r>
                  <a:rPr lang="en-US" altLang="zh-CN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uni-app 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是一个使用</a:t>
                </a:r>
                <a:r>
                  <a:rPr lang="en-US" altLang="zh-CN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 vue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开发所有前端应用的框架，开发者编写一套代码，可发布到</a:t>
                </a:r>
                <a:r>
                  <a:rPr lang="en-US" altLang="zh-CN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iOS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、</a:t>
                </a:r>
                <a:r>
                  <a:rPr lang="en-US" altLang="zh-CN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Android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、</a:t>
                </a:r>
                <a:r>
                  <a:rPr lang="en-US" altLang="zh-CN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Web</a:t>
                </a:r>
                <a:r>
                  <a:rPr lang="zh-CN" altLang="en-US" sz="14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（响应式）、以及各种小程序多个平台。它旨在解决传统单一平台开发工具链冗长、学习成本高和跨平台兼容性差的问题，极大地提高了开发效率和代码复用率。</a:t>
                </a:r>
                <a:endParaRPr lang="zh-CN" altLang="en-US" sz="14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83">
        <p:random/>
      </p:transition>
    </mc:Choice>
    <mc:Fallback>
      <p:transition spd="slow" advTm="1083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67105" y="1092200"/>
            <a:ext cx="1530350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概念设计</a:t>
            </a:r>
            <a:endParaRPr lang="zh-CN" altLang="en-US" sz="2400"/>
          </a:p>
        </p:txBody>
      </p:sp>
      <p:sp>
        <p:nvSpPr>
          <p:cNvPr id="4" name="矩形 3"/>
          <p:cNvSpPr/>
          <p:nvPr/>
        </p:nvSpPr>
        <p:spPr>
          <a:xfrm>
            <a:off x="439420" y="1686560"/>
            <a:ext cx="11403330" cy="15741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zh-CN" altLang="en-US" sz="2000"/>
              <a:t>每个实体都在数据库中有相应的表，实体的每一个属性与相应表内的每一列列名对应。经过系统的考虑和设计，本系统主要有如下实体：用户实体，联系人实体，群组实体，</a:t>
            </a:r>
            <a:r>
              <a:rPr lang="zh-CN" altLang="en-US" sz="2000"/>
              <a:t>朋友圈实体等等。</a:t>
            </a:r>
            <a:endParaRPr lang="zh-CN" altLang="en-US" sz="2000"/>
          </a:p>
        </p:txBody>
      </p:sp>
      <p:pic>
        <p:nvPicPr>
          <p:cNvPr id="7" name="ECB019B1-382A-4266-B25C-5B523AA43C14-1" descr="C:/Users/18043/AppData/Local/Temp/wps.wlcEAQwp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0" y="3082290"/>
            <a:ext cx="4342765" cy="3443605"/>
          </a:xfrm>
          <a:prstGeom prst="rect">
            <a:avLst/>
          </a:prstGeom>
        </p:spPr>
      </p:pic>
      <p:pic>
        <p:nvPicPr>
          <p:cNvPr id="9" name="图片 1"/>
          <p:cNvPicPr>
            <a:picLocks noChangeAspect="1"/>
          </p:cNvPicPr>
          <p:nvPr/>
        </p:nvPicPr>
        <p:blipFill>
          <a:blip r:embed="rId2"/>
          <a:srcRect l="5058" t="9328" r="5058" b="4958"/>
          <a:stretch>
            <a:fillRect/>
          </a:stretch>
        </p:blipFill>
        <p:spPr>
          <a:xfrm>
            <a:off x="6414135" y="3175635"/>
            <a:ext cx="4425315" cy="325691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67105" y="1092200"/>
            <a:ext cx="2030730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逻辑结构设计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329565" y="1603375"/>
            <a:ext cx="11688445" cy="2159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用户信息表（用户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，用户姓名，用户头像，账号，密码，个性签名，创建时间）</a:t>
            </a:r>
            <a:endParaRPr lang="zh-CN" altLang="en-US"/>
          </a:p>
          <a:p>
            <a:pPr algn="l" fontAlgn="auto"/>
            <a:r>
              <a:rPr lang="en-US" altLang="zh-CN">
                <a:sym typeface="+mn-ea"/>
              </a:rPr>
              <a:t>2. </a:t>
            </a:r>
            <a:r>
              <a:rPr lang="zh-CN" altLang="en-US">
                <a:sym typeface="+mn-ea"/>
              </a:rPr>
              <a:t>联系人信息表（唯一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，用户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，联系人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，联系人名称，联系人头像，联系人分组）</a:t>
            </a:r>
            <a:endParaRPr lang="zh-CN" altLang="en-US"/>
          </a:p>
          <a:p>
            <a:pPr algn="l" fontAlgn="auto"/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群组信息表（群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，群名称，群头像，禁言状态，创建时间）</a:t>
            </a:r>
            <a:endParaRPr lang="zh-CN" altLang="en-US"/>
          </a:p>
          <a:p>
            <a:pPr algn="l" fontAlgn="auto"/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群成员信息表（唯一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，群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，用户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，用户昵称，用户头像，角色，禁言状态，加入时间）</a:t>
            </a:r>
            <a:endParaRPr lang="zh-CN" altLang="en-US"/>
          </a:p>
          <a:p>
            <a:pPr algn="l" fontAlgn="auto"/>
            <a:r>
              <a:rPr lang="en-US" altLang="zh-CN">
                <a:sym typeface="+mn-ea"/>
              </a:rPr>
              <a:t>5. </a:t>
            </a:r>
            <a:r>
              <a:rPr lang="zh-CN" altLang="en-US">
                <a:sym typeface="+mn-ea"/>
              </a:rPr>
              <a:t>表情包信息表（唯一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，用户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，表情包链接）</a:t>
            </a:r>
            <a:endParaRPr lang="zh-CN" altLang="en-US"/>
          </a:p>
          <a:p>
            <a:pPr algn="l" fontAlgn="auto"/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朋友圈信息表（唯一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，用户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，内容，图片列表，点赞列表，评论列表，发布时间）</a:t>
            </a:r>
            <a:endParaRPr lang="zh-CN" altLang="en-US">
              <a:sym typeface="+mn-ea"/>
            </a:endParaRPr>
          </a:p>
          <a:p>
            <a:pPr algn="l" fontAlgn="auto"/>
            <a:r>
              <a:rPr lang="en-US" altLang="zh-CN"/>
              <a:t>7. </a:t>
            </a:r>
            <a:r>
              <a:rPr lang="zh-CN" altLang="en-US"/>
              <a:t>联系人申请表（唯一</a:t>
            </a:r>
            <a:r>
              <a:rPr lang="en-US" altLang="zh-CN"/>
              <a:t>ID</a:t>
            </a:r>
            <a:r>
              <a:rPr lang="zh-CN" altLang="en-US"/>
              <a:t>，用户</a:t>
            </a:r>
            <a:r>
              <a:rPr lang="en-US" altLang="zh-CN"/>
              <a:t>ID</a:t>
            </a:r>
            <a:r>
              <a:rPr lang="zh-CN" altLang="en-US"/>
              <a:t>，联系人</a:t>
            </a:r>
            <a:r>
              <a:rPr lang="en-US" altLang="zh-CN"/>
              <a:t>ID</a:t>
            </a:r>
            <a:r>
              <a:rPr lang="zh-CN" altLang="en-US"/>
              <a:t>，是否</a:t>
            </a:r>
            <a:r>
              <a:rPr lang="zh-CN" altLang="en-US"/>
              <a:t>同意）</a:t>
            </a:r>
            <a:endParaRPr lang="zh-CN" altLang="en-US"/>
          </a:p>
          <a:p>
            <a:pPr algn="l" fontAlgn="auto"/>
            <a:r>
              <a:rPr lang="en-US" altLang="zh-CN"/>
              <a:t>8. </a:t>
            </a:r>
            <a:r>
              <a:rPr lang="zh-CN" altLang="en-US"/>
              <a:t>群聊申请表（唯一</a:t>
            </a:r>
            <a:r>
              <a:rPr lang="en-US" altLang="zh-CN"/>
              <a:t>ID</a:t>
            </a:r>
            <a:r>
              <a:rPr lang="zh-CN" altLang="en-US"/>
              <a:t>，用户</a:t>
            </a:r>
            <a:r>
              <a:rPr lang="en-US" altLang="zh-CN"/>
              <a:t>ID</a:t>
            </a:r>
            <a:r>
              <a:rPr lang="zh-CN" altLang="en-US"/>
              <a:t>，群</a:t>
            </a:r>
            <a:r>
              <a:rPr lang="en-US" altLang="zh-CN"/>
              <a:t>ID</a:t>
            </a:r>
            <a:r>
              <a:rPr lang="zh-CN" altLang="en-US"/>
              <a:t>，创建者</a:t>
            </a:r>
            <a:r>
              <a:rPr lang="en-US" altLang="zh-CN"/>
              <a:t>ID</a:t>
            </a:r>
            <a:r>
              <a:rPr lang="zh-CN" altLang="en-US"/>
              <a:t>，是否</a:t>
            </a:r>
            <a:r>
              <a:rPr lang="zh-CN" altLang="en-US"/>
              <a:t>同意）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67105" y="1092200"/>
            <a:ext cx="2030730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物理结构设计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244475" y="1529080"/>
            <a:ext cx="11947525" cy="13296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en-US" altLang="zh-CN" sz="2000"/>
              <a:t>      </a:t>
            </a:r>
            <a:r>
              <a:rPr lang="zh-CN" altLang="en-US" sz="2000"/>
              <a:t>本系统采用的后台数据库是MySQL数据库系统，本数据库名称为“</a:t>
            </a:r>
            <a:r>
              <a:rPr lang="en-US" altLang="zh-CN" sz="2000"/>
              <a:t>chat-app</a:t>
            </a:r>
            <a:r>
              <a:rPr lang="zh-CN" altLang="en-US" sz="2000"/>
              <a:t>”，根据实体及其属性共设计出</a:t>
            </a:r>
            <a:r>
              <a:rPr lang="en-US" altLang="zh-CN" sz="2000"/>
              <a:t>8</a:t>
            </a:r>
            <a:r>
              <a:rPr lang="zh-CN" altLang="en-US" sz="2000"/>
              <a:t>张数据表。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705" y="2559685"/>
            <a:ext cx="7327265" cy="41973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015365"/>
            <a:ext cx="3331845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用户登录与</a:t>
            </a:r>
            <a:r>
              <a:rPr lang="zh-CN" altLang="en-US" sz="2400"/>
              <a:t>注册界</a:t>
            </a:r>
            <a:r>
              <a:rPr lang="zh-CN" altLang="en-US" sz="2400"/>
              <a:t>面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244475" y="1529080"/>
            <a:ext cx="11947525" cy="13296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en-US" altLang="zh-CN" sz="2000"/>
              <a:t>      </a:t>
            </a:r>
            <a:r>
              <a:rPr lang="zh-CN" altLang="en-US" sz="2000"/>
              <a:t>使用本应用前必须进行登录操作，暂不支持游客登录，登录后会在本地保存用户登录状态，下次进入应用时，不需要再次登录，直接读取本地</a:t>
            </a:r>
            <a:r>
              <a:rPr lang="en-US" altLang="zh-CN" sz="2000"/>
              <a:t>token</a:t>
            </a:r>
            <a:r>
              <a:rPr lang="zh-CN" altLang="en-US" sz="2000"/>
              <a:t>即可，对于第一次使用改应用的用户，需要先注册本平台</a:t>
            </a:r>
            <a:r>
              <a:rPr lang="zh-CN" altLang="en-US" sz="2000"/>
              <a:t>账号。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410" y="2666365"/>
            <a:ext cx="2300605" cy="4060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035" y="2667000"/>
            <a:ext cx="2310130" cy="40601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440" y="1092200"/>
            <a:ext cx="1675130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聊天</a:t>
            </a:r>
            <a:r>
              <a:rPr lang="zh-CN" altLang="en-US" sz="2400"/>
              <a:t>列表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244475" y="1529080"/>
            <a:ext cx="11947525" cy="13296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zh-CN" altLang="en-US" sz="2000"/>
              <a:t>用户登录后首先看到的就是聊天的列表页，这里可以看到最近的一些聊天消息，聊天消息保存在</a:t>
            </a:r>
            <a:r>
              <a:rPr lang="en-US" altLang="zh-CN" sz="2000"/>
              <a:t>redis</a:t>
            </a:r>
            <a:r>
              <a:rPr lang="zh-CN" altLang="en-US" sz="2000"/>
              <a:t>，并且对一些重要消息会进行加密处理，保护用户隐私。然后可以看到上方的导航栏，和下方的</a:t>
            </a:r>
            <a:r>
              <a:rPr lang="en-US" altLang="zh-CN" sz="2000"/>
              <a:t>tabbar</a:t>
            </a:r>
            <a:r>
              <a:rPr lang="zh-CN" altLang="en-US" sz="2000"/>
              <a:t>菜单，上方导航栏的加号包括好友搜索、群聊创建、动态发布的功能，下方的菜单可以切换到不同的页面，而上方导航栏的头像点击后即可弹出用户的信息查看和</a:t>
            </a:r>
            <a:r>
              <a:rPr lang="zh-CN" altLang="en-US" sz="2000"/>
              <a:t>设置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35" y="2771140"/>
            <a:ext cx="2301875" cy="40868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980" y="2782570"/>
            <a:ext cx="2296795" cy="40754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810" y="2782570"/>
            <a:ext cx="2308225" cy="39992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050290"/>
            <a:ext cx="2511425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个人信息</a:t>
            </a:r>
            <a:r>
              <a:rPr lang="zh-CN" altLang="en-US" sz="2400"/>
              <a:t>设置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244475" y="1529080"/>
            <a:ext cx="11947525" cy="11315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zh-CN" altLang="en-US" sz="2000"/>
              <a:t>点击导航栏的头像即可看到个人信息设置的入口，在这里可以进行一些个性化的设置，本应用后续会</a:t>
            </a:r>
            <a:r>
              <a:rPr lang="zh-CN" altLang="en-US" sz="2000"/>
              <a:t>增加</a:t>
            </a:r>
            <a:endParaRPr lang="zh-CN" altLang="en-US" sz="2000"/>
          </a:p>
          <a:p>
            <a:pPr algn="l" fontAlgn="auto"/>
            <a:r>
              <a:rPr lang="zh-CN" altLang="en-US" sz="2000"/>
              <a:t>更多的趣味性设置，尽情期待</a:t>
            </a:r>
            <a:r>
              <a:rPr lang="zh-CN" altLang="en-US" sz="2000"/>
              <a:t>哦！</a:t>
            </a:r>
            <a:endParaRPr lang="zh-CN" altLang="en-US" sz="2000"/>
          </a:p>
          <a:p>
            <a:pPr algn="l" fontAlgn="auto"/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320925"/>
            <a:ext cx="2632710" cy="44583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18110" y="1092200"/>
            <a:ext cx="2859405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表情包的</a:t>
            </a:r>
            <a:r>
              <a:rPr lang="zh-CN" altLang="en-US" sz="2400"/>
              <a:t>添加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244475" y="1529080"/>
            <a:ext cx="11947525" cy="13296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zh-CN" altLang="en-US" sz="2000"/>
              <a:t>点击我的表情包即可查看和添加表情包，添加后可以在聊天页面中直接进行发送自己添加好的表情包，支持</a:t>
            </a:r>
            <a:r>
              <a:rPr lang="en-US" altLang="zh-CN" sz="2000"/>
              <a:t>gif</a:t>
            </a:r>
            <a:r>
              <a:rPr lang="zh-CN" altLang="en-US" sz="2000"/>
              <a:t>动图的添加</a:t>
            </a:r>
            <a:r>
              <a:rPr lang="zh-CN" altLang="en-US" sz="2000"/>
              <a:t>哦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025" y="2580005"/>
            <a:ext cx="2414270" cy="41662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090" y="1092200"/>
            <a:ext cx="2638425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好友添加和</a:t>
            </a:r>
            <a:r>
              <a:rPr lang="zh-CN" altLang="en-US" sz="2400"/>
              <a:t>删除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244475" y="1529080"/>
            <a:ext cx="11947525" cy="13296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zh-CN" altLang="en-US" sz="2000"/>
              <a:t>如果要添加好友，首先需要进入搜索用户界面，输入用户昵称或者账号进行搜索，如果搜索到了，点击对应的添加即可发送好友申请，等待对方同意后，就会成为好友，并且可以在联系人详情页右上角进入联系人设置页，删除</a:t>
            </a:r>
            <a:r>
              <a:rPr lang="zh-CN" altLang="en-US" sz="2000"/>
              <a:t>好友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543810"/>
            <a:ext cx="2462530" cy="43141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552065"/>
            <a:ext cx="2503170" cy="43059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440" y="2552065"/>
            <a:ext cx="2443480" cy="42430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475" y="1092200"/>
            <a:ext cx="1851660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联系人</a:t>
            </a:r>
            <a:r>
              <a:rPr lang="zh-CN" altLang="en-US" sz="2400"/>
              <a:t>列表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244475" y="1529080"/>
            <a:ext cx="11947525" cy="68770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zh-CN" altLang="en-US" sz="2000"/>
              <a:t>点击底部菜单的联系人，即可查看目前添加的所有好友，点击头像还可以查看好友的具体</a:t>
            </a:r>
            <a:r>
              <a:rPr lang="zh-CN" altLang="en-US" sz="2000"/>
              <a:t>信息。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280285"/>
            <a:ext cx="2534285" cy="44335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195" y="2295525"/>
            <a:ext cx="2513330" cy="44183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6070" y="1092200"/>
            <a:ext cx="1454150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即时</a:t>
            </a:r>
            <a:r>
              <a:rPr lang="zh-CN" altLang="en-US" sz="2400"/>
              <a:t>通讯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244475" y="1529080"/>
            <a:ext cx="11947525" cy="48253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zh-CN" altLang="en-US" sz="2000"/>
              <a:t>即时通讯功能是本应用的核心功能，即时通讯的实现依赖于</a:t>
            </a:r>
            <a:r>
              <a:rPr lang="en-US" altLang="zh-CN" sz="2000"/>
              <a:t>WebSocket</a:t>
            </a:r>
            <a:r>
              <a:rPr lang="zh-CN" altLang="en-US" sz="2000"/>
              <a:t>技术，</a:t>
            </a:r>
            <a:r>
              <a:rPr lang="en-US" altLang="zh-CN" sz="2000"/>
              <a:t>WebSocket</a:t>
            </a:r>
            <a:r>
              <a:rPr lang="zh-CN" altLang="en-US" sz="2000"/>
              <a:t>是一种在单个</a:t>
            </a:r>
            <a:r>
              <a:rPr lang="en-US" altLang="zh-CN" sz="2000"/>
              <a:t>TCP</a:t>
            </a:r>
            <a:r>
              <a:rPr lang="zh-CN" altLang="en-US" sz="2000"/>
              <a:t>连接上提供全双工通信的网络协议，它使得客户端和服务器之间的数据交换更加简化且高效。与传统的</a:t>
            </a:r>
            <a:r>
              <a:rPr lang="en-US" altLang="zh-CN" sz="2000"/>
              <a:t>HTTP</a:t>
            </a:r>
            <a:r>
              <a:rPr lang="zh-CN" altLang="en-US" sz="2000"/>
              <a:t>请求</a:t>
            </a:r>
            <a:r>
              <a:rPr lang="en-US" altLang="zh-CN" sz="2000"/>
              <a:t>-</a:t>
            </a:r>
            <a:r>
              <a:rPr lang="zh-CN" altLang="en-US" sz="2000"/>
              <a:t>响应模式不同，</a:t>
            </a:r>
            <a:r>
              <a:rPr lang="en-US" altLang="zh-CN" sz="2000"/>
              <a:t>WebSocket</a:t>
            </a:r>
            <a:r>
              <a:rPr lang="zh-CN" altLang="en-US" sz="2000"/>
              <a:t>允许服务器主动向客户端推送数据，这消除了客户端需要频繁发起请求以检查更新的需求，从而大大降低了通信延迟，并提高了数据交换的效率。这种特性让</a:t>
            </a:r>
            <a:r>
              <a:rPr lang="en-US" altLang="zh-CN" sz="2000"/>
              <a:t>WebSocket</a:t>
            </a:r>
            <a:r>
              <a:rPr lang="zh-CN" altLang="en-US" sz="2000"/>
              <a:t>成为实时应用的理想选择，例如在线游戏、股票交易系统、即时通讯工具等场景，这些应用依赖于快速的信息交换来提供流畅的用户体验。</a:t>
            </a:r>
            <a:r>
              <a:rPr lang="en-US" altLang="zh-CN" sz="2000"/>
              <a:t>WebSocket</a:t>
            </a:r>
            <a:r>
              <a:rPr lang="zh-CN" altLang="en-US" sz="2000"/>
              <a:t>协议通过建立持久的连接并支持双向数据流，实现了比传统</a:t>
            </a:r>
            <a:r>
              <a:rPr lang="en-US" altLang="zh-CN" sz="2000"/>
              <a:t>HTTP</a:t>
            </a:r>
            <a:r>
              <a:rPr lang="zh-CN" altLang="en-US" sz="2000"/>
              <a:t>协议更高效的通信方式，特别是在需要持续更新信息的应用中表现尤为突出。</a:t>
            </a:r>
            <a:endParaRPr lang="zh-CN" altLang="en-US" sz="2000"/>
          </a:p>
          <a:p>
            <a:pPr algn="l" fontAlgn="auto"/>
            <a:r>
              <a:rPr lang="en-US" altLang="zh-CN" sz="2000"/>
              <a:t>WebSocket</a:t>
            </a:r>
            <a:r>
              <a:rPr lang="zh-CN" altLang="en-US" sz="2000"/>
              <a:t>适用于多种环境，不仅限于网页浏览器和服务器间的通信，还可以用于其他任何支持</a:t>
            </a:r>
            <a:r>
              <a:rPr lang="en-US" altLang="zh-CN" sz="2000"/>
              <a:t>TCP</a:t>
            </a:r>
            <a:r>
              <a:rPr lang="zh-CN" altLang="en-US" sz="2000"/>
              <a:t>协议的应用程序间进行通信。这意味着</a:t>
            </a:r>
            <a:r>
              <a:rPr lang="en-US" altLang="zh-CN" sz="2000"/>
              <a:t>WebSocket</a:t>
            </a:r>
            <a:r>
              <a:rPr lang="zh-CN" altLang="en-US" sz="2000"/>
              <a:t>可以在广泛的平台上实现，包括但不限于移动应用、桌面应用以及各种服务端技术。在具体实现方面，比如使用</a:t>
            </a:r>
            <a:r>
              <a:rPr lang="en-US" altLang="zh-CN" sz="2000"/>
              <a:t>Node.js</a:t>
            </a:r>
            <a:r>
              <a:rPr lang="zh-CN" altLang="en-US" sz="2000"/>
              <a:t>作为服务端时，开发者可能会选择</a:t>
            </a:r>
            <a:r>
              <a:rPr lang="en-US" altLang="zh-CN" sz="2000"/>
              <a:t>socket.io</a:t>
            </a:r>
            <a:r>
              <a:rPr lang="zh-CN" altLang="en-US" sz="2000"/>
              <a:t>这样的库来简化</a:t>
            </a:r>
            <a:r>
              <a:rPr lang="en-US" altLang="zh-CN" sz="2000"/>
              <a:t>WebSocket</a:t>
            </a:r>
            <a:r>
              <a:rPr lang="zh-CN" altLang="en-US" sz="2000"/>
              <a:t>的使用。当用户进入一个基于</a:t>
            </a:r>
            <a:r>
              <a:rPr lang="en-US" altLang="zh-CN" sz="2000"/>
              <a:t>WebSocket</a:t>
            </a:r>
            <a:r>
              <a:rPr lang="zh-CN" altLang="en-US" sz="2000"/>
              <a:t>的应用后，用户的设备会自动尝试与</a:t>
            </a:r>
            <a:r>
              <a:rPr lang="en-US" altLang="zh-CN" sz="2000"/>
              <a:t>WebSocket</a:t>
            </a:r>
            <a:r>
              <a:rPr lang="zh-CN" altLang="en-US" sz="2000"/>
              <a:t>服务器建立连接，并在这个过程中将用户的身份标识（如</a:t>
            </a:r>
            <a:r>
              <a:rPr lang="en-US" altLang="zh-CN" sz="2000"/>
              <a:t>userId</a:t>
            </a:r>
            <a:r>
              <a:rPr lang="zh-CN" altLang="en-US" sz="2000"/>
              <a:t>）传递给服务端。服务端接收这一信息后，会维护一个映射表，其中键为用户的身份标识</a:t>
            </a:r>
            <a:r>
              <a:rPr lang="en-US" altLang="zh-CN" sz="2000"/>
              <a:t>(userId)</a:t>
            </a:r>
            <a:r>
              <a:rPr lang="zh-CN" altLang="en-US" sz="2000"/>
              <a:t>，而值则是此次连接唯一的标识符。这种方式方便了服务端针对特定用户进行消息推送，提升了通信的针对性和个人化体验。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070" y="1092200"/>
            <a:ext cx="1699260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即时</a:t>
            </a:r>
            <a:r>
              <a:rPr lang="zh-CN" altLang="en-US" sz="2400"/>
              <a:t>通讯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244475" y="1529080"/>
            <a:ext cx="11947525" cy="10502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zh-CN" altLang="en-US" sz="2000"/>
              <a:t>即时通讯包括了单聊和群聊，实现思路：每次建立</a:t>
            </a:r>
            <a:r>
              <a:rPr lang="en-US" altLang="zh-CN" sz="2000"/>
              <a:t>socket</a:t>
            </a:r>
            <a:r>
              <a:rPr lang="zh-CN" altLang="en-US" sz="2000"/>
              <a:t>连接都会有一个连接</a:t>
            </a:r>
            <a:r>
              <a:rPr lang="en-US" altLang="zh-CN" sz="2000"/>
              <a:t>ID</a:t>
            </a:r>
            <a:r>
              <a:rPr lang="zh-CN" altLang="en-US" sz="2000"/>
              <a:t>，把用户</a:t>
            </a:r>
            <a:r>
              <a:rPr lang="en-US" altLang="zh-CN" sz="2000"/>
              <a:t>ID</a:t>
            </a:r>
            <a:r>
              <a:rPr lang="zh-CN" altLang="en-US" sz="2000"/>
              <a:t>作为参数传过来，然后再服务端做一个映射表，把用户</a:t>
            </a:r>
            <a:r>
              <a:rPr lang="en-US" altLang="zh-CN" sz="2000"/>
              <a:t>ID</a:t>
            </a:r>
            <a:r>
              <a:rPr lang="zh-CN" altLang="en-US" sz="2000"/>
              <a:t>作为</a:t>
            </a:r>
            <a:r>
              <a:rPr lang="en-US" altLang="zh-CN" sz="2000"/>
              <a:t>key</a:t>
            </a:r>
            <a:r>
              <a:rPr lang="zh-CN" altLang="en-US" sz="2000"/>
              <a:t>，而连接</a:t>
            </a:r>
            <a:r>
              <a:rPr lang="en-US" altLang="zh-CN" sz="2000"/>
              <a:t>ID</a:t>
            </a:r>
            <a:r>
              <a:rPr lang="zh-CN" altLang="en-US" sz="2000"/>
              <a:t>作为</a:t>
            </a:r>
            <a:r>
              <a:rPr lang="en-US" altLang="zh-CN" sz="2000"/>
              <a:t>Key</a:t>
            </a:r>
            <a:r>
              <a:rPr lang="zh-CN" altLang="en-US" sz="2000"/>
              <a:t>的</a:t>
            </a:r>
            <a:r>
              <a:rPr lang="en-US" altLang="zh-CN" sz="2000"/>
              <a:t>value</a:t>
            </a:r>
            <a:r>
              <a:rPr lang="zh-CN" altLang="en-US" sz="2000"/>
              <a:t>，然后用户每次发送消息的时候，检索这个映射表，发送给指定用户，对应用户监听到消息后，显示在页面</a:t>
            </a:r>
            <a:r>
              <a:rPr lang="zh-CN" altLang="en-US" sz="2000"/>
              <a:t>中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579370"/>
            <a:ext cx="2355215" cy="41027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0" y="2579370"/>
            <a:ext cx="2292350" cy="40170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475" y="1013460"/>
            <a:ext cx="1946275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朋友圈</a:t>
            </a:r>
            <a:r>
              <a:rPr lang="zh-CN" altLang="en-US" sz="2400"/>
              <a:t>列表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244475" y="1529080"/>
            <a:ext cx="11947525" cy="7277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zh-CN" altLang="en-US" sz="2000"/>
              <a:t>点击底部菜单的朋友圈即可进入朋友圈列表，这里会展示好友发布的朋友圈</a:t>
            </a:r>
            <a:r>
              <a:rPr lang="zh-CN" altLang="en-US" sz="2000"/>
              <a:t>信息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136775"/>
            <a:ext cx="2654300" cy="45827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475" y="1015365"/>
            <a:ext cx="1538605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发布</a:t>
            </a:r>
            <a:r>
              <a:rPr lang="zh-CN" altLang="en-US" sz="2400"/>
              <a:t>动态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244475" y="1529080"/>
            <a:ext cx="11947525" cy="4514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zh-CN" altLang="en-US" sz="2000"/>
              <a:t>点击顶部导航栏加号，在弹出框中点击发布动态，即可进入发布动态页面，点击下方的相机可以选择本地相册进行图片的发布，点击右上角发布后即可发布一条朋友圈</a:t>
            </a:r>
            <a:r>
              <a:rPr lang="zh-CN" altLang="en-US" sz="2000"/>
              <a:t>信息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131695"/>
            <a:ext cx="2566035" cy="45307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系统设计及其</a:t>
                </a:r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实现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03.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615" y="1015365"/>
            <a:ext cx="3387090" cy="436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朋友圈的点赞和</a:t>
            </a:r>
            <a:r>
              <a:rPr lang="zh-CN" altLang="en-US" sz="2400"/>
              <a:t>评论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244475" y="1529080"/>
            <a:ext cx="11947525" cy="13296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 fontAlgn="auto"/>
            <a:r>
              <a:rPr lang="zh-CN" altLang="en-US" sz="2000"/>
              <a:t>在朋友圈列表可以选择一条朋友圈，点击进去查看详情，点击点赞图标即可进行点赞，点赞后图标点亮，并且会在下方展示点赞人，点击下方输入框即可发送</a:t>
            </a:r>
            <a:r>
              <a:rPr lang="zh-CN" altLang="en-US" sz="2000"/>
              <a:t>评论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640965"/>
            <a:ext cx="2381885" cy="40862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12">
        <p:random/>
      </p:transition>
    </mc:Choice>
    <mc:Fallback>
      <p:transition spd="slow" advTm="301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5803900" y="395605"/>
            <a:ext cx="45720" cy="4572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-2846530" y="-1770744"/>
            <a:ext cx="8399978" cy="7688943"/>
            <a:chOff x="-2846530" y="-1770744"/>
            <a:chExt cx="8399978" cy="7688943"/>
          </a:xfrm>
        </p:grpSpPr>
        <p:sp>
          <p:nvSpPr>
            <p:cNvPr id="2" name="椭圆 1"/>
            <p:cNvSpPr/>
            <p:nvPr/>
          </p:nvSpPr>
          <p:spPr>
            <a:xfrm>
              <a:off x="-2846530" y="-1770744"/>
              <a:ext cx="7688943" cy="7688943"/>
            </a:xfrm>
            <a:prstGeom prst="ellipse">
              <a:avLst/>
            </a:prstGeom>
            <a:solidFill>
              <a:srgbClr val="D8EFFD"/>
            </a:solidFill>
            <a:ln>
              <a:noFill/>
            </a:ln>
            <a:effectLst>
              <a:outerShdw blurRad="2794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-1214742" y="1161142"/>
              <a:ext cx="6768190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3900" dirty="0">
                  <a:solidFill>
                    <a:srgbClr val="10507E"/>
                  </a:solidFill>
                  <a:effectLst>
                    <a:outerShdw blurRad="63500" sx="101000" sy="101000" algn="ctr" rotWithShape="0">
                      <a:prstClr val="black">
                        <a:alpha val="40000"/>
                      </a:prstClr>
                    </a:outerShdw>
                  </a:effectLst>
                  <a:cs typeface="+mn-ea"/>
                  <a:sym typeface="+mn-lt"/>
                </a:rPr>
                <a:t>04</a:t>
              </a:r>
              <a:endParaRPr lang="zh-CN" altLang="en-US" sz="23900" dirty="0">
                <a:solidFill>
                  <a:srgbClr val="10507E"/>
                </a:solidFill>
                <a:effectLst>
                  <a:outerShdw blurRad="63500" sx="101000" sy="101000" algn="ctr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140956" y="2474962"/>
            <a:ext cx="6477909" cy="1142621"/>
            <a:chOff x="5862081" y="2617371"/>
            <a:chExt cx="6477909" cy="1142621"/>
          </a:xfrm>
        </p:grpSpPr>
        <p:sp>
          <p:nvSpPr>
            <p:cNvPr id="16" name="文本框 15"/>
            <p:cNvSpPr txBox="1"/>
            <p:nvPr/>
          </p:nvSpPr>
          <p:spPr>
            <a:xfrm>
              <a:off x="5862082" y="2617371"/>
              <a:ext cx="6006236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论文</a:t>
              </a:r>
              <a:r>
                <a:rPr lang="zh-CN" altLang="en-US" sz="6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小结</a:t>
              </a:r>
              <a:endPara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862081" y="3506076"/>
              <a:ext cx="64779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 dirty="0">
                  <a:cs typeface="+mn-ea"/>
                  <a:sym typeface="+mn-lt"/>
                </a:rPr>
                <a:t>RESEARCH BACKGROUND AND CURRENT SITUATION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</p:grpSp>
      <p:sp>
        <p:nvSpPr>
          <p:cNvPr id="19" name="圆: 空心 18"/>
          <p:cNvSpPr/>
          <p:nvPr/>
        </p:nvSpPr>
        <p:spPr>
          <a:xfrm>
            <a:off x="10808543" y="5670073"/>
            <a:ext cx="2766913" cy="2766913"/>
          </a:xfrm>
          <a:prstGeom prst="donut">
            <a:avLst/>
          </a:prstGeom>
          <a:solidFill>
            <a:srgbClr val="105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135">
        <p:random/>
      </p:transition>
    </mc:Choice>
    <mc:Fallback>
      <p:transition spd="slow" advTm="2135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9441"/>
            <a:chOff x="145646" y="165322"/>
            <a:chExt cx="4862917" cy="769441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9441"/>
              <a:chOff x="107546" y="317722"/>
              <a:chExt cx="4521604" cy="76944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论文小结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04.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í$lïdé"/>
          <p:cNvSpPr/>
          <p:nvPr/>
        </p:nvSpPr>
        <p:spPr bwMode="auto">
          <a:xfrm>
            <a:off x="1496825" y="2003684"/>
            <a:ext cx="1231094" cy="1231094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9C0E1"/>
          </a:soli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0 1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0" name="íŝḻîďé"/>
          <p:cNvSpPr/>
          <p:nvPr/>
        </p:nvSpPr>
        <p:spPr bwMode="auto">
          <a:xfrm>
            <a:off x="4181780" y="2003684"/>
            <a:ext cx="1231094" cy="1231094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9C0E1"/>
          </a:soli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0 2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1" name="íšlîḑé"/>
          <p:cNvSpPr/>
          <p:nvPr/>
        </p:nvSpPr>
        <p:spPr bwMode="auto">
          <a:xfrm>
            <a:off x="6866735" y="2003684"/>
            <a:ext cx="1231094" cy="1231094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9C0E1"/>
          </a:soli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0 3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ïŝlîḓè"/>
          <p:cNvSpPr/>
          <p:nvPr/>
        </p:nvSpPr>
        <p:spPr bwMode="auto">
          <a:xfrm>
            <a:off x="9551690" y="2003684"/>
            <a:ext cx="1231094" cy="1231094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9C0E1"/>
          </a:soli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0 4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051124" y="2619231"/>
            <a:ext cx="864000" cy="0"/>
          </a:xfrm>
          <a:prstGeom prst="straightConnector1">
            <a:avLst/>
          </a:prstGeom>
          <a:ln w="3175" cap="rnd">
            <a:solidFill>
              <a:schemeClr val="bg1">
                <a:lumMod val="85000"/>
              </a:schemeClr>
            </a:solidFill>
            <a:prstDash val="dash"/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5743546" y="2619231"/>
            <a:ext cx="864000" cy="0"/>
          </a:xfrm>
          <a:prstGeom prst="straightConnector1">
            <a:avLst/>
          </a:prstGeom>
          <a:ln w="3175" cap="rnd">
            <a:solidFill>
              <a:schemeClr val="bg1">
                <a:lumMod val="85000"/>
              </a:schemeClr>
            </a:solidFill>
            <a:prstDash val="dash"/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8435967" y="2619231"/>
            <a:ext cx="864000" cy="0"/>
          </a:xfrm>
          <a:prstGeom prst="straightConnector1">
            <a:avLst/>
          </a:prstGeom>
          <a:ln w="3175" cap="rnd">
            <a:solidFill>
              <a:schemeClr val="bg1">
                <a:lumMod val="85000"/>
              </a:schemeClr>
            </a:solidFill>
            <a:prstDash val="dash"/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857885" y="3353435"/>
            <a:ext cx="25095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目前即时通讯应用已经完善，微信和</a:t>
            </a:r>
            <a:r>
              <a:rPr lang="en-US" altLang="zh-CN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QQ</a:t>
            </a:r>
            <a:r>
              <a:rPr lang="zh-CN" altLang="en-US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等主流聊天软件，本应用最大的亮点就是可以跨平台使用，一套代码可以适应不同</a:t>
            </a:r>
            <a:r>
              <a:rPr lang="zh-CN" altLang="en-US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平台</a:t>
            </a:r>
            <a:endParaRPr lang="zh-CN" altLang="en-US" sz="1400" spc="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547745" y="3472180"/>
            <a:ext cx="250952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本系统功能还比较简单，在以后的工作生活中，可以继续对本系统进行完善。</a:t>
            </a:r>
            <a:endParaRPr lang="zh-CN" altLang="en-US" sz="1400" spc="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351905" y="3470910"/>
            <a:ext cx="25095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uni-app</a:t>
            </a:r>
            <a:r>
              <a:rPr lang="zh-CN" altLang="en-US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发展多年，生态系统非常丰富，有很多开发项目的插件和工具库可以使用，可以快速开发一套跨平台的</a:t>
            </a:r>
            <a:r>
              <a:rPr lang="zh-CN" altLang="en-US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应用</a:t>
            </a:r>
            <a:endParaRPr lang="zh-CN" altLang="en-US" sz="1400" spc="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021445" y="3470910"/>
            <a:ext cx="25095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本应用后端使用的是</a:t>
            </a:r>
            <a:r>
              <a:rPr lang="en-US" altLang="zh-CN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Node.js,</a:t>
            </a:r>
            <a:r>
              <a:rPr lang="zh-CN" altLang="en-US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使用了事件驱动、非阻塞</a:t>
            </a:r>
            <a:r>
              <a:rPr lang="en-US" altLang="zh-CN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I/O</a:t>
            </a:r>
            <a:r>
              <a:rPr lang="zh-CN" altLang="en-US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模型，使其轻量且高效，特别适合处理高并发的</a:t>
            </a:r>
            <a:r>
              <a:rPr lang="en-US" altLang="zh-CN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Web</a:t>
            </a:r>
            <a:r>
              <a:rPr lang="zh-CN" altLang="en-US" sz="1400" spc="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应用</a:t>
            </a:r>
            <a:endParaRPr lang="zh-CN" altLang="en-US" sz="1400" spc="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19">
        <p:random/>
      </p:transition>
    </mc:Choice>
    <mc:Fallback>
      <p:transition spd="slow" advTm="4019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11036300" y="395605"/>
            <a:ext cx="45720" cy="4572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-2846530" y="-1770744"/>
            <a:ext cx="8399978" cy="7688943"/>
            <a:chOff x="-2846530" y="-1770744"/>
            <a:chExt cx="8399978" cy="7688943"/>
          </a:xfrm>
        </p:grpSpPr>
        <p:sp>
          <p:nvSpPr>
            <p:cNvPr id="2" name="椭圆 1"/>
            <p:cNvSpPr/>
            <p:nvPr/>
          </p:nvSpPr>
          <p:spPr>
            <a:xfrm>
              <a:off x="-2846530" y="-1770744"/>
              <a:ext cx="7688943" cy="7688943"/>
            </a:xfrm>
            <a:prstGeom prst="ellipse">
              <a:avLst/>
            </a:prstGeom>
            <a:solidFill>
              <a:srgbClr val="D8EFFD"/>
            </a:solidFill>
            <a:ln>
              <a:noFill/>
            </a:ln>
            <a:effectLst>
              <a:outerShdw blurRad="2794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-1214742" y="1161142"/>
              <a:ext cx="6768190" cy="3769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3900" dirty="0">
                  <a:solidFill>
                    <a:srgbClr val="10507E"/>
                  </a:solidFill>
                  <a:effectLst>
                    <a:outerShdw blurRad="63500" sx="101000" sy="101000" algn="ctr" rotWithShape="0">
                      <a:prstClr val="black">
                        <a:alpha val="40000"/>
                      </a:prstClr>
                    </a:outerShdw>
                  </a:effectLst>
                  <a:cs typeface="+mn-ea"/>
                  <a:sym typeface="+mn-lt"/>
                </a:rPr>
                <a:t>05</a:t>
              </a:r>
              <a:endParaRPr lang="zh-CN" altLang="en-US" sz="23900" dirty="0">
                <a:solidFill>
                  <a:srgbClr val="10507E"/>
                </a:solidFill>
                <a:effectLst>
                  <a:outerShdw blurRad="63500" sx="101000" sy="101000" algn="ctr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140956" y="2474962"/>
            <a:ext cx="6477909" cy="1142621"/>
            <a:chOff x="5862081" y="2617371"/>
            <a:chExt cx="6477909" cy="1142621"/>
          </a:xfrm>
        </p:grpSpPr>
        <p:sp>
          <p:nvSpPr>
            <p:cNvPr id="16" name="文本框 15"/>
            <p:cNvSpPr txBox="1"/>
            <p:nvPr/>
          </p:nvSpPr>
          <p:spPr>
            <a:xfrm>
              <a:off x="5862082" y="2617371"/>
              <a:ext cx="6006236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致谢</a:t>
              </a:r>
              <a:endPara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862081" y="3506076"/>
              <a:ext cx="64779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 dirty="0">
                  <a:cs typeface="+mn-ea"/>
                  <a:sym typeface="+mn-lt"/>
                </a:rPr>
                <a:t>RESEARCH BACKGROUND AND CURRENT SITUATION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</p:grpSp>
      <p:sp>
        <p:nvSpPr>
          <p:cNvPr id="19" name="圆: 空心 18"/>
          <p:cNvSpPr/>
          <p:nvPr/>
        </p:nvSpPr>
        <p:spPr>
          <a:xfrm>
            <a:off x="10808543" y="5670073"/>
            <a:ext cx="2766913" cy="2766913"/>
          </a:xfrm>
          <a:prstGeom prst="donut">
            <a:avLst/>
          </a:prstGeom>
          <a:solidFill>
            <a:srgbClr val="105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135">
        <p:random/>
      </p:transition>
    </mc:Choice>
    <mc:Fallback>
      <p:transition spd="slow" advTm="2135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706" y="165322"/>
            <a:ext cx="4862917" cy="768350"/>
            <a:chOff x="145646" y="165322"/>
            <a:chExt cx="4862917" cy="768350"/>
          </a:xfrm>
        </p:grpSpPr>
        <p:grpSp>
          <p:nvGrpSpPr>
            <p:cNvPr id="17" name="组合 16"/>
            <p:cNvGrpSpPr/>
            <p:nvPr/>
          </p:nvGrpSpPr>
          <p:grpSpPr>
            <a:xfrm>
              <a:off x="145646" y="165322"/>
              <a:ext cx="4521604" cy="768350"/>
              <a:chOff x="107546" y="317722"/>
              <a:chExt cx="4521604" cy="768350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996748" y="317722"/>
                <a:ext cx="3632402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致谢</a:t>
                </a:r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7546" y="317722"/>
                <a:ext cx="1003704" cy="76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rgbClr val="69C0E1"/>
                    </a:solidFill>
                    <a:cs typeface="+mn-ea"/>
                    <a:sym typeface="+mn-lt"/>
                  </a:rPr>
                  <a:t>05.</a:t>
                </a:r>
                <a:endParaRPr lang="zh-CN" altLang="en-US" sz="4400" dirty="0">
                  <a:solidFill>
                    <a:srgbClr val="69C0E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77711" y="640874"/>
              <a:ext cx="3930852" cy="21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solidFill>
                    <a:srgbClr val="10507E"/>
                  </a:solidFill>
                  <a:cs typeface="+mn-ea"/>
                  <a:sym typeface="+mn-lt"/>
                </a:rPr>
                <a:t>RESEARCH BACKGROUND AND CURRENT SITUATION</a:t>
              </a:r>
              <a:endParaRPr lang="zh-CN" altLang="en-US" sz="800" dirty="0">
                <a:solidFill>
                  <a:srgbClr val="10507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81000" y="859320"/>
            <a:ext cx="10756900" cy="45719"/>
          </a:xfrm>
          <a:prstGeom prst="rect">
            <a:avLst/>
          </a:prstGeom>
          <a:gradFill flip="none" rotWithShape="1">
            <a:gsLst>
              <a:gs pos="37000">
                <a:srgbClr val="69C0E1">
                  <a:alpha val="30000"/>
                </a:srgbClr>
              </a:gs>
              <a:gs pos="1000">
                <a:srgbClr val="69C0E1">
                  <a:alpha val="0"/>
                </a:srgbClr>
              </a:gs>
              <a:gs pos="74000">
                <a:srgbClr val="69C0E1">
                  <a:alpha val="52000"/>
                </a:srgbClr>
              </a:gs>
              <a:gs pos="83000">
                <a:srgbClr val="69C0E1"/>
              </a:gs>
              <a:gs pos="100000">
                <a:srgbClr val="69C0E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0700" y="1337310"/>
            <a:ext cx="10617200" cy="4011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indent="457200" algn="l" fontAlgn="auto"/>
            <a:r>
              <a:rPr lang="zh-CN" altLang="en-US"/>
              <a:t>大学四年时光飞逝，在完成基于</a:t>
            </a:r>
            <a:r>
              <a:rPr lang="en-US" altLang="zh-CN"/>
              <a:t> Uni - app </a:t>
            </a:r>
            <a:r>
              <a:rPr lang="zh-CN" altLang="en-US"/>
              <a:t>的即时通讯项目毕业论文之际，满心感恩，诸多情谊，难以言表。</a:t>
            </a:r>
            <a:endParaRPr lang="zh-CN" altLang="en-US"/>
          </a:p>
          <a:p>
            <a:pPr indent="457200" algn="l" fontAlgn="auto"/>
            <a:r>
              <a:rPr lang="zh-CN" altLang="en-US"/>
              <a:t>我要诚挚感谢我的导师，从项目选题的迷茫阶段，到系统结构设计的反复雕琢，再到测试环节的细致把控，导师始终以渊博的专业知识和丰富的经验为我指引方向。每当我在研究中陷入困境，导师总能耐心倾听，给出建设性的意见，助我拨云见日。导师严谨的治学态度与精益求精的精神，如明灯照亮我学术探索之路，激励我不断追求卓越，为论文的顺利完成奠定了坚实基础。</a:t>
            </a:r>
            <a:endParaRPr lang="zh-CN" altLang="en-US"/>
          </a:p>
          <a:p>
            <a:pPr indent="457200" algn="l" fontAlgn="auto"/>
            <a:r>
              <a:rPr lang="zh-CN" altLang="en-US"/>
              <a:t>还要感谢我的同窗好友们，在项目开发过程中，我们相互交流、彼此启发。面对技术难题时，大家围坐一起热烈讨论，思维的火花在碰撞中绽放。那些一起熬夜调试代码、攻克难关的日子，成为我学术生涯中难忘的回忆。他们的陪伴与鼓励，让枯燥的研究工作充满温暖与力量，也让我在团队协作中收获了宝贵的经验。</a:t>
            </a:r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9199880" y="694639"/>
            <a:ext cx="1504033" cy="1158528"/>
            <a:chOff x="2498090" y="1943411"/>
            <a:chExt cx="1504033" cy="1158528"/>
          </a:xfrm>
        </p:grpSpPr>
        <p:grpSp>
          <p:nvGrpSpPr>
            <p:cNvPr id="23" name="组合 22"/>
            <p:cNvGrpSpPr/>
            <p:nvPr/>
          </p:nvGrpSpPr>
          <p:grpSpPr>
            <a:xfrm>
              <a:off x="2847021" y="1946837"/>
              <a:ext cx="1155102" cy="1155102"/>
              <a:chOff x="928913" y="3135085"/>
              <a:chExt cx="2032000" cy="2032000"/>
            </a:xfrm>
          </p:grpSpPr>
          <p:sp>
            <p:nvSpPr>
              <p:cNvPr id="28" name="泪滴形 27"/>
              <p:cNvSpPr/>
              <p:nvPr/>
            </p:nvSpPr>
            <p:spPr>
              <a:xfrm rot="8255537">
                <a:off x="928913" y="3135085"/>
                <a:ext cx="2032000" cy="2032000"/>
              </a:xfrm>
              <a:prstGeom prst="teardrop">
                <a:avLst/>
              </a:prstGeom>
              <a:solidFill>
                <a:srgbClr val="1050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1210490" y="3416662"/>
                <a:ext cx="1468847" cy="146884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2498090" y="1943411"/>
              <a:ext cx="709714" cy="483375"/>
              <a:chOff x="2498090" y="1943411"/>
              <a:chExt cx="709714" cy="483375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2608627" y="1943411"/>
                <a:ext cx="483375" cy="483375"/>
              </a:xfrm>
              <a:prstGeom prst="ellipse">
                <a:avLst/>
              </a:prstGeom>
              <a:solidFill>
                <a:srgbClr val="69C0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2498090" y="1989641"/>
                <a:ext cx="70971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478">
        <p:random/>
      </p:transition>
    </mc:Choice>
    <mc:Fallback>
      <p:transition spd="slow" advTm="2478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/>
        </p:nvGrpSpPr>
        <p:grpSpPr>
          <a:xfrm>
            <a:off x="-1" y="-1"/>
            <a:ext cx="12192001" cy="5928853"/>
            <a:chOff x="-1" y="-1"/>
            <a:chExt cx="12192001" cy="5928853"/>
          </a:xfrm>
        </p:grpSpPr>
        <p:pic>
          <p:nvPicPr>
            <p:cNvPr id="56" name="图片 55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832" r="9949" b="533"/>
            <a:stretch>
              <a:fillRect/>
            </a:stretch>
          </p:blipFill>
          <p:spPr>
            <a:xfrm>
              <a:off x="1" y="-1"/>
              <a:ext cx="12191999" cy="5928853"/>
            </a:xfrm>
            <a:prstGeom prst="rect">
              <a:avLst/>
            </a:prstGeom>
          </p:spPr>
        </p:pic>
        <p:sp>
          <p:nvSpPr>
            <p:cNvPr id="57" name="矩形 56"/>
            <p:cNvSpPr/>
            <p:nvPr/>
          </p:nvSpPr>
          <p:spPr>
            <a:xfrm>
              <a:off x="-1" y="-1"/>
              <a:ext cx="12192000" cy="5928852"/>
            </a:xfrm>
            <a:prstGeom prst="rect">
              <a:avLst/>
            </a:prstGeom>
            <a:solidFill>
              <a:schemeClr val="bg1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6" name="任意多边形: 形状 15"/>
          <p:cNvSpPr/>
          <p:nvPr/>
        </p:nvSpPr>
        <p:spPr>
          <a:xfrm>
            <a:off x="-3788173" y="4952991"/>
            <a:ext cx="16805241" cy="3532144"/>
          </a:xfrm>
          <a:custGeom>
            <a:avLst/>
            <a:gdLst>
              <a:gd name="connsiteX0" fmla="*/ 206773 w 16805241"/>
              <a:gd name="connsiteY0" fmla="*/ 914409 h 3532144"/>
              <a:gd name="connsiteX1" fmla="*/ 2949973 w 16805241"/>
              <a:gd name="connsiteY1" fmla="*/ 9 h 3532144"/>
              <a:gd name="connsiteX2" fmla="*/ 6569473 w 16805241"/>
              <a:gd name="connsiteY2" fmla="*/ 933459 h 3532144"/>
              <a:gd name="connsiteX3" fmla="*/ 9655573 w 16805241"/>
              <a:gd name="connsiteY3" fmla="*/ 95259 h 3532144"/>
              <a:gd name="connsiteX4" fmla="*/ 12627373 w 16805241"/>
              <a:gd name="connsiteY4" fmla="*/ 819159 h 3532144"/>
              <a:gd name="connsiteX5" fmla="*/ 15065773 w 16805241"/>
              <a:gd name="connsiteY5" fmla="*/ 228609 h 3532144"/>
              <a:gd name="connsiteX6" fmla="*/ 16799323 w 16805241"/>
              <a:gd name="connsiteY6" fmla="*/ 571509 h 3532144"/>
              <a:gd name="connsiteX7" fmla="*/ 15218173 w 16805241"/>
              <a:gd name="connsiteY7" fmla="*/ 3467109 h 3532144"/>
              <a:gd name="connsiteX8" fmla="*/ 7064773 w 16805241"/>
              <a:gd name="connsiteY8" fmla="*/ 2571759 h 3532144"/>
              <a:gd name="connsiteX9" fmla="*/ 987823 w 16805241"/>
              <a:gd name="connsiteY9" fmla="*/ 2381259 h 3532144"/>
              <a:gd name="connsiteX10" fmla="*/ 263923 w 16805241"/>
              <a:gd name="connsiteY10" fmla="*/ 895359 h 3532144"/>
              <a:gd name="connsiteX11" fmla="*/ 206773 w 16805241"/>
              <a:gd name="connsiteY11" fmla="*/ 819159 h 3532144"/>
              <a:gd name="connsiteX12" fmla="*/ 206773 w 16805241"/>
              <a:gd name="connsiteY12" fmla="*/ 914409 h 3532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805241" h="3532144">
                <a:moveTo>
                  <a:pt x="206773" y="914409"/>
                </a:moveTo>
                <a:cubicBezTo>
                  <a:pt x="663973" y="777884"/>
                  <a:pt x="1889523" y="-3166"/>
                  <a:pt x="2949973" y="9"/>
                </a:cubicBezTo>
                <a:cubicBezTo>
                  <a:pt x="4010423" y="3184"/>
                  <a:pt x="5451873" y="917584"/>
                  <a:pt x="6569473" y="933459"/>
                </a:cubicBezTo>
                <a:cubicBezTo>
                  <a:pt x="7687073" y="949334"/>
                  <a:pt x="8645923" y="114309"/>
                  <a:pt x="9655573" y="95259"/>
                </a:cubicBezTo>
                <a:cubicBezTo>
                  <a:pt x="10665223" y="76209"/>
                  <a:pt x="11725673" y="796934"/>
                  <a:pt x="12627373" y="819159"/>
                </a:cubicBezTo>
                <a:cubicBezTo>
                  <a:pt x="13529073" y="841384"/>
                  <a:pt x="14370448" y="269884"/>
                  <a:pt x="15065773" y="228609"/>
                </a:cubicBezTo>
                <a:cubicBezTo>
                  <a:pt x="15761098" y="187334"/>
                  <a:pt x="16773923" y="31759"/>
                  <a:pt x="16799323" y="571509"/>
                </a:cubicBezTo>
                <a:cubicBezTo>
                  <a:pt x="16824723" y="1111259"/>
                  <a:pt x="16840598" y="3133734"/>
                  <a:pt x="15218173" y="3467109"/>
                </a:cubicBezTo>
                <a:cubicBezTo>
                  <a:pt x="13595748" y="3800484"/>
                  <a:pt x="9436498" y="2752734"/>
                  <a:pt x="7064773" y="2571759"/>
                </a:cubicBezTo>
                <a:cubicBezTo>
                  <a:pt x="4693048" y="2390784"/>
                  <a:pt x="2121298" y="2660659"/>
                  <a:pt x="987823" y="2381259"/>
                </a:cubicBezTo>
                <a:cubicBezTo>
                  <a:pt x="-145652" y="2101859"/>
                  <a:pt x="394098" y="1155709"/>
                  <a:pt x="263923" y="895359"/>
                </a:cubicBezTo>
                <a:cubicBezTo>
                  <a:pt x="133748" y="635009"/>
                  <a:pt x="222648" y="815984"/>
                  <a:pt x="206773" y="819159"/>
                </a:cubicBezTo>
                <a:cubicBezTo>
                  <a:pt x="190898" y="822334"/>
                  <a:pt x="-250427" y="1050934"/>
                  <a:pt x="206773" y="91440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-1997473" y="5505441"/>
            <a:ext cx="16805241" cy="3532144"/>
          </a:xfrm>
          <a:custGeom>
            <a:avLst/>
            <a:gdLst>
              <a:gd name="connsiteX0" fmla="*/ 206773 w 16805241"/>
              <a:gd name="connsiteY0" fmla="*/ 914409 h 3532144"/>
              <a:gd name="connsiteX1" fmla="*/ 2949973 w 16805241"/>
              <a:gd name="connsiteY1" fmla="*/ 9 h 3532144"/>
              <a:gd name="connsiteX2" fmla="*/ 6569473 w 16805241"/>
              <a:gd name="connsiteY2" fmla="*/ 933459 h 3532144"/>
              <a:gd name="connsiteX3" fmla="*/ 9655573 w 16805241"/>
              <a:gd name="connsiteY3" fmla="*/ 95259 h 3532144"/>
              <a:gd name="connsiteX4" fmla="*/ 12627373 w 16805241"/>
              <a:gd name="connsiteY4" fmla="*/ 819159 h 3532144"/>
              <a:gd name="connsiteX5" fmla="*/ 15065773 w 16805241"/>
              <a:gd name="connsiteY5" fmla="*/ 228609 h 3532144"/>
              <a:gd name="connsiteX6" fmla="*/ 16799323 w 16805241"/>
              <a:gd name="connsiteY6" fmla="*/ 571509 h 3532144"/>
              <a:gd name="connsiteX7" fmla="*/ 15218173 w 16805241"/>
              <a:gd name="connsiteY7" fmla="*/ 3467109 h 3532144"/>
              <a:gd name="connsiteX8" fmla="*/ 7064773 w 16805241"/>
              <a:gd name="connsiteY8" fmla="*/ 2571759 h 3532144"/>
              <a:gd name="connsiteX9" fmla="*/ 987823 w 16805241"/>
              <a:gd name="connsiteY9" fmla="*/ 2381259 h 3532144"/>
              <a:gd name="connsiteX10" fmla="*/ 263923 w 16805241"/>
              <a:gd name="connsiteY10" fmla="*/ 895359 h 3532144"/>
              <a:gd name="connsiteX11" fmla="*/ 206773 w 16805241"/>
              <a:gd name="connsiteY11" fmla="*/ 819159 h 3532144"/>
              <a:gd name="connsiteX12" fmla="*/ 206773 w 16805241"/>
              <a:gd name="connsiteY12" fmla="*/ 914409 h 3532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805241" h="3532144">
                <a:moveTo>
                  <a:pt x="206773" y="914409"/>
                </a:moveTo>
                <a:cubicBezTo>
                  <a:pt x="663973" y="777884"/>
                  <a:pt x="1889523" y="-3166"/>
                  <a:pt x="2949973" y="9"/>
                </a:cubicBezTo>
                <a:cubicBezTo>
                  <a:pt x="4010423" y="3184"/>
                  <a:pt x="5451873" y="917584"/>
                  <a:pt x="6569473" y="933459"/>
                </a:cubicBezTo>
                <a:cubicBezTo>
                  <a:pt x="7687073" y="949334"/>
                  <a:pt x="8645923" y="114309"/>
                  <a:pt x="9655573" y="95259"/>
                </a:cubicBezTo>
                <a:cubicBezTo>
                  <a:pt x="10665223" y="76209"/>
                  <a:pt x="11725673" y="796934"/>
                  <a:pt x="12627373" y="819159"/>
                </a:cubicBezTo>
                <a:cubicBezTo>
                  <a:pt x="13529073" y="841384"/>
                  <a:pt x="14370448" y="269884"/>
                  <a:pt x="15065773" y="228609"/>
                </a:cubicBezTo>
                <a:cubicBezTo>
                  <a:pt x="15761098" y="187334"/>
                  <a:pt x="16773923" y="31759"/>
                  <a:pt x="16799323" y="571509"/>
                </a:cubicBezTo>
                <a:cubicBezTo>
                  <a:pt x="16824723" y="1111259"/>
                  <a:pt x="16840598" y="3133734"/>
                  <a:pt x="15218173" y="3467109"/>
                </a:cubicBezTo>
                <a:cubicBezTo>
                  <a:pt x="13595748" y="3800484"/>
                  <a:pt x="9436498" y="2752734"/>
                  <a:pt x="7064773" y="2571759"/>
                </a:cubicBezTo>
                <a:cubicBezTo>
                  <a:pt x="4693048" y="2390784"/>
                  <a:pt x="2121298" y="2660659"/>
                  <a:pt x="987823" y="2381259"/>
                </a:cubicBezTo>
                <a:cubicBezTo>
                  <a:pt x="-145652" y="2101859"/>
                  <a:pt x="394098" y="1155709"/>
                  <a:pt x="263923" y="895359"/>
                </a:cubicBezTo>
                <a:cubicBezTo>
                  <a:pt x="133748" y="635009"/>
                  <a:pt x="222648" y="815984"/>
                  <a:pt x="206773" y="819159"/>
                </a:cubicBezTo>
                <a:cubicBezTo>
                  <a:pt x="190898" y="822334"/>
                  <a:pt x="-250427" y="1050934"/>
                  <a:pt x="206773" y="914409"/>
                </a:cubicBezTo>
                <a:close/>
              </a:path>
            </a:pathLst>
          </a:custGeom>
          <a:solidFill>
            <a:srgbClr val="69C0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任意多边形: 形状 16"/>
          <p:cNvSpPr/>
          <p:nvPr/>
        </p:nvSpPr>
        <p:spPr>
          <a:xfrm>
            <a:off x="-9315449" y="5505441"/>
            <a:ext cx="24898350" cy="5233163"/>
          </a:xfrm>
          <a:custGeom>
            <a:avLst/>
            <a:gdLst>
              <a:gd name="connsiteX0" fmla="*/ 206773 w 16805241"/>
              <a:gd name="connsiteY0" fmla="*/ 914409 h 3532144"/>
              <a:gd name="connsiteX1" fmla="*/ 2949973 w 16805241"/>
              <a:gd name="connsiteY1" fmla="*/ 9 h 3532144"/>
              <a:gd name="connsiteX2" fmla="*/ 6569473 w 16805241"/>
              <a:gd name="connsiteY2" fmla="*/ 933459 h 3532144"/>
              <a:gd name="connsiteX3" fmla="*/ 9655573 w 16805241"/>
              <a:gd name="connsiteY3" fmla="*/ 95259 h 3532144"/>
              <a:gd name="connsiteX4" fmla="*/ 12627373 w 16805241"/>
              <a:gd name="connsiteY4" fmla="*/ 819159 h 3532144"/>
              <a:gd name="connsiteX5" fmla="*/ 15065773 w 16805241"/>
              <a:gd name="connsiteY5" fmla="*/ 228609 h 3532144"/>
              <a:gd name="connsiteX6" fmla="*/ 16799323 w 16805241"/>
              <a:gd name="connsiteY6" fmla="*/ 571509 h 3532144"/>
              <a:gd name="connsiteX7" fmla="*/ 15218173 w 16805241"/>
              <a:gd name="connsiteY7" fmla="*/ 3467109 h 3532144"/>
              <a:gd name="connsiteX8" fmla="*/ 7064773 w 16805241"/>
              <a:gd name="connsiteY8" fmla="*/ 2571759 h 3532144"/>
              <a:gd name="connsiteX9" fmla="*/ 987823 w 16805241"/>
              <a:gd name="connsiteY9" fmla="*/ 2381259 h 3532144"/>
              <a:gd name="connsiteX10" fmla="*/ 263923 w 16805241"/>
              <a:gd name="connsiteY10" fmla="*/ 895359 h 3532144"/>
              <a:gd name="connsiteX11" fmla="*/ 206773 w 16805241"/>
              <a:gd name="connsiteY11" fmla="*/ 819159 h 3532144"/>
              <a:gd name="connsiteX12" fmla="*/ 206773 w 16805241"/>
              <a:gd name="connsiteY12" fmla="*/ 914409 h 3532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805241" h="3532144">
                <a:moveTo>
                  <a:pt x="206773" y="914409"/>
                </a:moveTo>
                <a:cubicBezTo>
                  <a:pt x="663973" y="777884"/>
                  <a:pt x="1889523" y="-3166"/>
                  <a:pt x="2949973" y="9"/>
                </a:cubicBezTo>
                <a:cubicBezTo>
                  <a:pt x="4010423" y="3184"/>
                  <a:pt x="5451873" y="917584"/>
                  <a:pt x="6569473" y="933459"/>
                </a:cubicBezTo>
                <a:cubicBezTo>
                  <a:pt x="7687073" y="949334"/>
                  <a:pt x="8645923" y="114309"/>
                  <a:pt x="9655573" y="95259"/>
                </a:cubicBezTo>
                <a:cubicBezTo>
                  <a:pt x="10665223" y="76209"/>
                  <a:pt x="11725673" y="796934"/>
                  <a:pt x="12627373" y="819159"/>
                </a:cubicBezTo>
                <a:cubicBezTo>
                  <a:pt x="13529073" y="841384"/>
                  <a:pt x="14370448" y="269884"/>
                  <a:pt x="15065773" y="228609"/>
                </a:cubicBezTo>
                <a:cubicBezTo>
                  <a:pt x="15761098" y="187334"/>
                  <a:pt x="16773923" y="31759"/>
                  <a:pt x="16799323" y="571509"/>
                </a:cubicBezTo>
                <a:cubicBezTo>
                  <a:pt x="16824723" y="1111259"/>
                  <a:pt x="16840598" y="3133734"/>
                  <a:pt x="15218173" y="3467109"/>
                </a:cubicBezTo>
                <a:cubicBezTo>
                  <a:pt x="13595748" y="3800484"/>
                  <a:pt x="9436498" y="2752734"/>
                  <a:pt x="7064773" y="2571759"/>
                </a:cubicBezTo>
                <a:cubicBezTo>
                  <a:pt x="4693048" y="2390784"/>
                  <a:pt x="2121298" y="2660659"/>
                  <a:pt x="987823" y="2381259"/>
                </a:cubicBezTo>
                <a:cubicBezTo>
                  <a:pt x="-145652" y="2101859"/>
                  <a:pt x="394098" y="1155709"/>
                  <a:pt x="263923" y="895359"/>
                </a:cubicBezTo>
                <a:cubicBezTo>
                  <a:pt x="133748" y="635009"/>
                  <a:pt x="222648" y="815984"/>
                  <a:pt x="206773" y="819159"/>
                </a:cubicBezTo>
                <a:cubicBezTo>
                  <a:pt x="190898" y="822334"/>
                  <a:pt x="-250427" y="1050934"/>
                  <a:pt x="206773" y="914409"/>
                </a:cubicBezTo>
                <a:close/>
              </a:path>
            </a:pathLst>
          </a:custGeom>
          <a:solidFill>
            <a:srgbClr val="105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495425" y="1771650"/>
            <a:ext cx="1943100" cy="0"/>
          </a:xfrm>
          <a:prstGeom prst="line">
            <a:avLst/>
          </a:prstGeom>
          <a:ln w="34925">
            <a:solidFill>
              <a:srgbClr val="105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753475" y="1771650"/>
            <a:ext cx="1943100" cy="0"/>
          </a:xfrm>
          <a:prstGeom prst="line">
            <a:avLst/>
          </a:prstGeom>
          <a:ln w="34925">
            <a:solidFill>
              <a:srgbClr val="105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100137" y="1417707"/>
            <a:ext cx="59917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69C0E1"/>
                </a:solidFill>
                <a:cs typeface="+mn-ea"/>
                <a:sym typeface="+mn-lt"/>
              </a:rPr>
              <a:t>GRADUATION REPLY</a:t>
            </a:r>
            <a:endParaRPr lang="zh-CN" altLang="en-US" sz="4000" dirty="0">
              <a:solidFill>
                <a:srgbClr val="69C0E1"/>
              </a:solidFill>
              <a:cs typeface="+mn-ea"/>
              <a:sym typeface="+mn-lt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1886854" y="2130842"/>
            <a:ext cx="8495705" cy="1577355"/>
            <a:chOff x="1886854" y="2092742"/>
            <a:chExt cx="8495705" cy="1577355"/>
          </a:xfrm>
        </p:grpSpPr>
        <p:sp>
          <p:nvSpPr>
            <p:cNvPr id="37" name="文本框 36"/>
            <p:cNvSpPr txBox="1"/>
            <p:nvPr/>
          </p:nvSpPr>
          <p:spPr>
            <a:xfrm>
              <a:off x="1886854" y="2092742"/>
              <a:ext cx="8495705" cy="1445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88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  <a:cs typeface="+mn-ea"/>
                  <a:sym typeface="+mn-lt"/>
                </a:rPr>
                <a:t>谢谢</a:t>
              </a:r>
              <a:r>
                <a:rPr lang="zh-CN" altLang="en-US" sz="88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  <a:cs typeface="+mn-ea"/>
                  <a:sym typeface="+mn-lt"/>
                </a:rPr>
                <a:t>大家</a:t>
              </a:r>
              <a:endParaRPr lang="zh-CN" altLang="en-US" sz="8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312591" y="3408487"/>
              <a:ext cx="7566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100" dirty="0">
                  <a:cs typeface="+mn-ea"/>
                  <a:sym typeface="+mn-lt"/>
                </a:rPr>
                <a:t>SIMPLE GRADUATION DEFENSE</a:t>
              </a:r>
              <a:endParaRPr lang="zh-CN" altLang="en-US" sz="1100" dirty="0">
                <a:cs typeface="+mn-ea"/>
                <a:sym typeface="+mn-lt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134888" y="4059851"/>
            <a:ext cx="2189998" cy="337185"/>
            <a:chOff x="4408975" y="3969165"/>
            <a:chExt cx="2189998" cy="337185"/>
          </a:xfrm>
        </p:grpSpPr>
        <p:grpSp>
          <p:nvGrpSpPr>
            <p:cNvPr id="42" name="组合 41"/>
            <p:cNvGrpSpPr/>
            <p:nvPr/>
          </p:nvGrpSpPr>
          <p:grpSpPr>
            <a:xfrm>
              <a:off x="4408975" y="3971205"/>
              <a:ext cx="334475" cy="334475"/>
              <a:chOff x="4408975" y="3968750"/>
              <a:chExt cx="334475" cy="334475"/>
            </a:xfrm>
          </p:grpSpPr>
          <p:sp>
            <p:nvSpPr>
              <p:cNvPr id="39" name="椭圆 38"/>
              <p:cNvSpPr/>
              <p:nvPr/>
            </p:nvSpPr>
            <p:spPr>
              <a:xfrm>
                <a:off x="4408975" y="3968750"/>
                <a:ext cx="334475" cy="334475"/>
              </a:xfrm>
              <a:prstGeom prst="ellipse">
                <a:avLst/>
              </a:prstGeom>
              <a:solidFill>
                <a:srgbClr val="1050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41" name="图片 4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88687" y="4048462"/>
                <a:ext cx="175050" cy="175050"/>
              </a:xfrm>
              <a:prstGeom prst="rect">
                <a:avLst/>
              </a:prstGeom>
            </p:spPr>
          </p:pic>
        </p:grpSp>
        <p:sp>
          <p:nvSpPr>
            <p:cNvPr id="43" name="文本框 42"/>
            <p:cNvSpPr txBox="1"/>
            <p:nvPr/>
          </p:nvSpPr>
          <p:spPr>
            <a:xfrm>
              <a:off x="4743448" y="3969165"/>
              <a:ext cx="18555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cs typeface="+mn-ea"/>
                  <a:sym typeface="+mn-lt"/>
                </a:rPr>
                <a:t>答辩人</a:t>
              </a:r>
              <a:r>
                <a:rPr lang="zh-CN" altLang="en-US" sz="1600" dirty="0" smtClean="0">
                  <a:cs typeface="+mn-ea"/>
                  <a:sym typeface="+mn-lt"/>
                </a:rPr>
                <a:t>：</a:t>
              </a:r>
              <a:r>
                <a:rPr lang="zh-CN" altLang="en-US" sz="1600" dirty="0" smtClean="0">
                  <a:cs typeface="+mn-ea"/>
                  <a:sym typeface="+mn-lt"/>
                </a:rPr>
                <a:t>肖志伟</a:t>
              </a:r>
              <a:endParaRPr lang="zh-CN" altLang="en-US" sz="1600" dirty="0" smtClean="0">
                <a:cs typeface="+mn-ea"/>
                <a:sym typeface="+mn-lt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423607" y="4059851"/>
            <a:ext cx="2212393" cy="337185"/>
            <a:chOff x="6249439" y="3970951"/>
            <a:chExt cx="2212393" cy="337185"/>
          </a:xfrm>
        </p:grpSpPr>
        <p:grpSp>
          <p:nvGrpSpPr>
            <p:cNvPr id="45" name="组合 44"/>
            <p:cNvGrpSpPr/>
            <p:nvPr/>
          </p:nvGrpSpPr>
          <p:grpSpPr>
            <a:xfrm>
              <a:off x="6249439" y="3970951"/>
              <a:ext cx="2212393" cy="337185"/>
              <a:chOff x="4408975" y="3969165"/>
              <a:chExt cx="2212393" cy="337185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4408975" y="3971205"/>
                <a:ext cx="334475" cy="334475"/>
              </a:xfrm>
              <a:prstGeom prst="ellipse">
                <a:avLst/>
              </a:prstGeom>
              <a:solidFill>
                <a:srgbClr val="1050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4743449" y="3969165"/>
                <a:ext cx="1877919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cs typeface="+mn-ea"/>
                    <a:sym typeface="+mn-lt"/>
                  </a:rPr>
                  <a:t>指导教师</a:t>
                </a:r>
                <a:r>
                  <a:rPr lang="zh-CN" altLang="en-US" sz="1600" dirty="0" smtClean="0">
                    <a:cs typeface="+mn-ea"/>
                    <a:sym typeface="+mn-lt"/>
                  </a:rPr>
                  <a:t>：朱</a:t>
                </a:r>
                <a:r>
                  <a:rPr lang="zh-CN" altLang="en-US" sz="1600" dirty="0" smtClean="0">
                    <a:cs typeface="+mn-ea"/>
                    <a:sym typeface="+mn-lt"/>
                  </a:rPr>
                  <a:t>素英</a:t>
                </a:r>
                <a:endParaRPr lang="zh-CN" altLang="en-US" sz="1600" dirty="0" smtClean="0">
                  <a:cs typeface="+mn-ea"/>
                  <a:sym typeface="+mn-lt"/>
                </a:endParaRPr>
              </a:p>
            </p:txBody>
          </p:sp>
        </p:grp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4887" y="4052703"/>
              <a:ext cx="178791" cy="178791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75" y="264795"/>
            <a:ext cx="2964180" cy="5943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0100" y="0"/>
            <a:ext cx="1136650" cy="11239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651">
        <p:random/>
      </p:transition>
    </mc:Choice>
    <mc:Fallback>
      <p:transition spd="slow" advTm="1651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tags/tag1.xml><?xml version="1.0" encoding="utf-8"?>
<p:tagLst xmlns:p="http://schemas.openxmlformats.org/presentationml/2006/main">
  <p:tag name="TIMING" val="|0.7|0.6|0.5|1"/>
</p:tagLst>
</file>

<file path=ppt/tags/tag2.xml><?xml version="1.0" encoding="utf-8"?>
<p:tagLst xmlns:p="http://schemas.openxmlformats.org/presentationml/2006/main">
  <p:tag name="TIMING" val="|0.5|0.5|0.4"/>
</p:tagLst>
</file>

<file path=ppt/tags/tag3.xml><?xml version="1.0" encoding="utf-8"?>
<p:tagLst xmlns:p="http://schemas.openxmlformats.org/presentationml/2006/main">
  <p:tag name="TIMING" val="|0.4|0.3|0.3|0.4"/>
</p:tagLst>
</file>

<file path=ppt/tags/tag4.xml><?xml version="1.0" encoding="utf-8"?>
<p:tagLst xmlns:p="http://schemas.openxmlformats.org/presentationml/2006/main">
  <p:tag name="TIMING" val="|0.4|0.4|0.4"/>
</p:tagLst>
</file>

<file path=ppt/tags/tag5.xml><?xml version="1.0" encoding="utf-8"?>
<p:tagLst xmlns:p="http://schemas.openxmlformats.org/presentationml/2006/main">
  <p:tag name="TIMING" val="|0.4|0.4|0.4"/>
</p:tagLst>
</file>

<file path=ppt/tags/tag6.xml><?xml version="1.0" encoding="utf-8"?>
<p:tagLst xmlns:p="http://schemas.openxmlformats.org/presentationml/2006/main">
  <p:tag name="TIMING" val="|0.4|0.4|0.4"/>
</p:tagLst>
</file>

<file path=ppt/tags/tag7.xml><?xml version="1.0" encoding="utf-8"?>
<p:tagLst xmlns:p="http://schemas.openxmlformats.org/presentationml/2006/main">
  <p:tag name="TIMING" val="|0.4|0.4|0.4"/>
</p:tagLst>
</file>

<file path=ppt/tags/tag8.xml><?xml version="1.0" encoding="utf-8"?>
<p:tagLst xmlns:p="http://schemas.openxmlformats.org/presentationml/2006/main">
  <p:tag name="TIMING" val="|0.3|0.3|0.3|0.4"/>
</p:tagLst>
</file>

<file path=ppt/tags/tag9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10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11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12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13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14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15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16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17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18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19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20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21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22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23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24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25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26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27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28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29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30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31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32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33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34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35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36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37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38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39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40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41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42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43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44.xml><?xml version="1.0" encoding="utf-8"?>
<p:tagLst xmlns:p="http://schemas.openxmlformats.org/presentationml/2006/main">
  <p:tag name="KSO_WM_DIAGRAM_VIRTUALLY_FRAME" val="{&quot;height&quot;:287.93110236220474,&quot;left&quot;:22.49787401574803,&quot;top&quot;:150.85338582677167,&quot;width&quot;:899.0042519685039}"/>
</p:tagLst>
</file>

<file path=ppt/tags/tag45.xml><?xml version="1.0" encoding="utf-8"?>
<p:tagLst xmlns:p="http://schemas.openxmlformats.org/presentationml/2006/main">
  <p:tag name="TIMING" val="|0.3|0.3"/>
</p:tagLst>
</file>

<file path=ppt/tags/tag46.xml><?xml version="1.0" encoding="utf-8"?>
<p:tagLst xmlns:p="http://schemas.openxmlformats.org/presentationml/2006/main">
  <p:tag name="TIMING" val="|0.3|0.3|0.3"/>
</p:tagLst>
</file>

<file path=ppt/tags/tag47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48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49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50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51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52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53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54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55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56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57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58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59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60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61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62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63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64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65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66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67.xml><?xml version="1.0" encoding="utf-8"?>
<p:tagLst xmlns:p="http://schemas.openxmlformats.org/presentationml/2006/main">
  <p:tag name="KSO_WM_DIAGRAM_VIRTUALLY_FRAME" val="{&quot;height&quot;:412.61748031496063,&quot;left&quot;:89.28409448818897,&quot;top&quot;:88.92858267716535,&quot;width&quot;:781.431968503937}"/>
</p:tagLst>
</file>

<file path=ppt/tags/tag68.xml><?xml version="1.0" encoding="utf-8"?>
<p:tagLst xmlns:p="http://schemas.openxmlformats.org/presentationml/2006/main">
  <p:tag name="TIMING" val="|0.3"/>
</p:tagLst>
</file>

<file path=ppt/tags/tag69.xml><?xml version="1.0" encoding="utf-8"?>
<p:tagLst xmlns:p="http://schemas.openxmlformats.org/presentationml/2006/main">
  <p:tag name="KSO_WM_DIAGRAM_VIRTUALLY_FRAME" val="{&quot;height&quot;:298.9770866141733,&quot;left&quot;:453.5,&quot;top&quot;:137.3367716535433,&quot;width&quot;:436.7029921259842}"/>
</p:tagLst>
</file>

<file path=ppt/tags/tag70.xml><?xml version="1.0" encoding="utf-8"?>
<p:tagLst xmlns:p="http://schemas.openxmlformats.org/presentationml/2006/main">
  <p:tag name="KSO_WM_DIAGRAM_VIRTUALLY_FRAME" val="{&quot;height&quot;:298.9770866141733,&quot;left&quot;:453.5,&quot;top&quot;:137.3367716535433,&quot;width&quot;:436.7029921259842}"/>
</p:tagLst>
</file>

<file path=ppt/tags/tag71.xml><?xml version="1.0" encoding="utf-8"?>
<p:tagLst xmlns:p="http://schemas.openxmlformats.org/presentationml/2006/main">
  <p:tag name="KSO_WM_DIAGRAM_VIRTUALLY_FRAME" val="{&quot;height&quot;:298.9770866141733,&quot;left&quot;:453.5,&quot;top&quot;:137.3367716535433,&quot;width&quot;:436.7029921259842}"/>
</p:tagLst>
</file>

<file path=ppt/tags/tag72.xml><?xml version="1.0" encoding="utf-8"?>
<p:tagLst xmlns:p="http://schemas.openxmlformats.org/presentationml/2006/main">
  <p:tag name="KSO_WM_DIAGRAM_VIRTUALLY_FRAME" val="{&quot;height&quot;:298.9770866141733,&quot;left&quot;:453.5,&quot;top&quot;:137.3367716535433,&quot;width&quot;:436.7029921259842}"/>
</p:tagLst>
</file>

<file path=ppt/tags/tag73.xml><?xml version="1.0" encoding="utf-8"?>
<p:tagLst xmlns:p="http://schemas.openxmlformats.org/presentationml/2006/main">
  <p:tag name="KSO_WM_DIAGRAM_VIRTUALLY_FRAME" val="{&quot;height&quot;:298.9770866141733,&quot;left&quot;:453.5,&quot;top&quot;:137.3367716535433,&quot;width&quot;:436.7029921259842}"/>
</p:tagLst>
</file>

<file path=ppt/tags/tag74.xml><?xml version="1.0" encoding="utf-8"?>
<p:tagLst xmlns:p="http://schemas.openxmlformats.org/presentationml/2006/main">
  <p:tag name="KSO_WM_DIAGRAM_VIRTUALLY_FRAME" val="{&quot;height&quot;:298.9770866141733,&quot;left&quot;:453.5,&quot;top&quot;:137.3367716535433,&quot;width&quot;:436.7029921259842}"/>
</p:tagLst>
</file>

<file path=ppt/tags/tag75.xml><?xml version="1.0" encoding="utf-8"?>
<p:tagLst xmlns:p="http://schemas.openxmlformats.org/presentationml/2006/main">
  <p:tag name="TIMING" val="|0.3|0.3|0.4"/>
</p:tagLst>
</file>

<file path=ppt/tags/tag76.xml><?xml version="1.0" encoding="utf-8"?>
<p:tagLst xmlns:p="http://schemas.openxmlformats.org/presentationml/2006/main">
  <p:tag name="TIMING" val="|0.3|0.4|0.3|0.3"/>
</p:tagLst>
</file>

<file path=ppt/tags/tag77.xml><?xml version="1.0" encoding="utf-8"?>
<p:tagLst xmlns:p="http://schemas.openxmlformats.org/presentationml/2006/main">
  <p:tag name="TIMING" val="|0.3"/>
</p:tagLst>
</file>

<file path=ppt/tags/tag78.xml><?xml version="1.0" encoding="utf-8"?>
<p:tagLst xmlns:p="http://schemas.openxmlformats.org/presentationml/2006/main">
  <p:tag name="TIMING" val="|0.3|0.4|0.4|0.4|0.3|0.2|0.2"/>
</p:tagLst>
</file>

<file path=ppt/tags/tag79.xml><?xml version="1.0" encoding="utf-8"?>
<p:tagLst xmlns:p="http://schemas.openxmlformats.org/presentationml/2006/main">
  <p:tag name="TIMING" val="|0.3|0.4|0.4|0.4|0.3|0.2|0.2"/>
</p:tagLst>
</file>

<file path=ppt/tags/tag80.xml><?xml version="1.0" encoding="utf-8"?>
<p:tagLst xmlns:p="http://schemas.openxmlformats.org/presentationml/2006/main">
  <p:tag name="TIMING" val="|0.3|0.4|0.4|0.4|0.3|0.2|0.2"/>
</p:tagLst>
</file>

<file path=ppt/tags/tag81.xml><?xml version="1.0" encoding="utf-8"?>
<p:tagLst xmlns:p="http://schemas.openxmlformats.org/presentationml/2006/main">
  <p:tag name="TIMING" val="|0.3|0.4|0.4|0.4|0.3|0.2|0.2"/>
</p:tagLst>
</file>

<file path=ppt/tags/tag82.xml><?xml version="1.0" encoding="utf-8"?>
<p:tagLst xmlns:p="http://schemas.openxmlformats.org/presentationml/2006/main">
  <p:tag name="TIMING" val="|0.3|0.4|0.4|0.4|0.3|0.2|0.2"/>
</p:tagLst>
</file>

<file path=ppt/tags/tag83.xml><?xml version="1.0" encoding="utf-8"?>
<p:tagLst xmlns:p="http://schemas.openxmlformats.org/presentationml/2006/main">
  <p:tag name="TIMING" val="|0.3|0.4|0.4|0.4|0.3|0.2|0.2"/>
</p:tagLst>
</file>

<file path=ppt/tags/tag84.xml><?xml version="1.0" encoding="utf-8"?>
<p:tagLst xmlns:p="http://schemas.openxmlformats.org/presentationml/2006/main">
  <p:tag name="TIMING" val="|0.3|0.4|0.4|0.4|0.3|0.2|0.2"/>
</p:tagLst>
</file>

<file path=ppt/tags/tag85.xml><?xml version="1.0" encoding="utf-8"?>
<p:tagLst xmlns:p="http://schemas.openxmlformats.org/presentationml/2006/main">
  <p:tag name="TIMING" val="|0.3|0.4|0.4|0.4|0.3|0.2|0.2"/>
</p:tagLst>
</file>

<file path=ppt/tags/tag86.xml><?xml version="1.0" encoding="utf-8"?>
<p:tagLst xmlns:p="http://schemas.openxmlformats.org/presentationml/2006/main">
  <p:tag name="TIMING" val="|0.3|0.4|0.4|0.4|0.3|0.2|0.2"/>
</p:tagLst>
</file>

<file path=ppt/tags/tag87.xml><?xml version="1.0" encoding="utf-8"?>
<p:tagLst xmlns:p="http://schemas.openxmlformats.org/presentationml/2006/main">
  <p:tag name="TIMING" val="|0.3|0.4|0.4|0.4|0.3|0.2|0.2"/>
</p:tagLst>
</file>

<file path=ppt/tags/tag88.xml><?xml version="1.0" encoding="utf-8"?>
<p:tagLst xmlns:p="http://schemas.openxmlformats.org/presentationml/2006/main">
  <p:tag name="TIMING" val="|0.3|0.4|0.4|0.4|0.3|0.2|0.2"/>
</p:tagLst>
</file>

<file path=ppt/tags/tag89.xml><?xml version="1.0" encoding="utf-8"?>
<p:tagLst xmlns:p="http://schemas.openxmlformats.org/presentationml/2006/main">
  <p:tag name="TIMING" val="|0.3|0.4|0.4|0.4|0.3|0.2|0.2"/>
</p:tagLst>
</file>

<file path=ppt/tags/tag90.xml><?xml version="1.0" encoding="utf-8"?>
<p:tagLst xmlns:p="http://schemas.openxmlformats.org/presentationml/2006/main">
  <p:tag name="TIMING" val="|0.3|0.4|0.4|0.4|0.3|0.2|0.2"/>
</p:tagLst>
</file>

<file path=ppt/tags/tag91.xml><?xml version="1.0" encoding="utf-8"?>
<p:tagLst xmlns:p="http://schemas.openxmlformats.org/presentationml/2006/main">
  <p:tag name="TIMING" val="|0.3|0.4|0.4|0.4|0.3|0.2|0.2"/>
</p:tagLst>
</file>

<file path=ppt/tags/tag92.xml><?xml version="1.0" encoding="utf-8"?>
<p:tagLst xmlns:p="http://schemas.openxmlformats.org/presentationml/2006/main">
  <p:tag name="TIMING" val="|0.3|0.3|0.3|0.4"/>
</p:tagLst>
</file>

<file path=ppt/tags/tag93.xml><?xml version="1.0" encoding="utf-8"?>
<p:tagLst xmlns:p="http://schemas.openxmlformats.org/presentationml/2006/main">
  <p:tag name="TIMING" val="|0.3|0.2|0.1|0.2|0.3|0.2|0.3|0.3|0.3|0.3|0.3|0.3"/>
</p:tagLst>
</file>

<file path=ppt/tags/tag94.xml><?xml version="1.0" encoding="utf-8"?>
<p:tagLst xmlns:p="http://schemas.openxmlformats.org/presentationml/2006/main">
  <p:tag name="TIMING" val="|0.3|0.3|0.3|0.4"/>
</p:tagLst>
</file>

<file path=ppt/tags/tag95.xml><?xml version="1.0" encoding="utf-8"?>
<p:tagLst xmlns:p="http://schemas.openxmlformats.org/presentationml/2006/main">
  <p:tag name="TIMING" val="|0.3|0.3|0.3|0.3|0.3"/>
</p:tagLst>
</file>

<file path=ppt/tags/tag96.xml><?xml version="1.0" encoding="utf-8"?>
<p:tagLst xmlns:p="http://schemas.openxmlformats.org/presentationml/2006/main">
  <p:tag name="TIMING" val="|0.3|0.2|0.2|0.2"/>
</p:tagLst>
</file>

<file path=ppt/tags/tag97.xml><?xml version="1.0" encoding="utf-8"?>
<p:tagLst xmlns:p="http://schemas.openxmlformats.org/presentationml/2006/main">
  <p:tag name="COMMONDATA" val="eyJoZGlkIjoiN2E1NmRjNzhlMjE3N2Q3ZjMyMTFkMWQ1ZmM5MTFhNjYifQ=="/>
  <p:tag name="KSO_WPP_MARK_KEY" val="67848404-78da-4217-895d-bac7dbbd95fd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yqzmw0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6600</Words>
  <Application>WPS 演示</Application>
  <PresentationFormat>自定义</PresentationFormat>
  <Paragraphs>435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方正正黑简体</vt:lpstr>
      <vt:lpstr>黑体</vt:lpstr>
      <vt:lpstr>微软雅黑</vt:lpstr>
      <vt:lpstr>Arial Unicode MS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dc:description>www.1ppt.com</dc:description>
  <cp:lastModifiedBy>刘哲</cp:lastModifiedBy>
  <cp:revision>255</cp:revision>
  <dcterms:created xsi:type="dcterms:W3CDTF">2021-05-17T01:01:00Z</dcterms:created>
  <dcterms:modified xsi:type="dcterms:W3CDTF">2025-05-10T13:12:23Z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49EE6D884B1F481DB210A0B3FEF2E640_12</vt:lpwstr>
  </property>
  <property fmtid="{D5CDD505-2E9C-101B-9397-08002B2CF9AE}" pid="3" name="KSOProductBuildVer">
    <vt:lpwstr>2052-12.1.0.20305</vt:lpwstr>
  </property>
</Properties>
</file>